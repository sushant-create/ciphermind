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3"/>
  </p:notesMasterIdLst>
  <p:sldIdLst>
    <p:sldId id="256" r:id="rId2"/>
    <p:sldId id="292" r:id="rId3"/>
    <p:sldId id="257" r:id="rId4"/>
    <p:sldId id="296" r:id="rId5"/>
    <p:sldId id="293" r:id="rId6"/>
    <p:sldId id="294" r:id="rId7"/>
    <p:sldId id="298" r:id="rId8"/>
    <p:sldId id="306" r:id="rId9"/>
    <p:sldId id="299" r:id="rId10"/>
    <p:sldId id="307" r:id="rId11"/>
    <p:sldId id="308" r:id="rId12"/>
    <p:sldId id="295" r:id="rId13"/>
    <p:sldId id="301" r:id="rId14"/>
    <p:sldId id="302" r:id="rId15"/>
    <p:sldId id="309" r:id="rId16"/>
    <p:sldId id="310" r:id="rId17"/>
    <p:sldId id="313" r:id="rId18"/>
    <p:sldId id="303" r:id="rId19"/>
    <p:sldId id="311" r:id="rId20"/>
    <p:sldId id="336" r:id="rId21"/>
    <p:sldId id="330" r:id="rId22"/>
    <p:sldId id="331" r:id="rId23"/>
    <p:sldId id="332" r:id="rId24"/>
    <p:sldId id="333" r:id="rId25"/>
    <p:sldId id="334" r:id="rId26"/>
    <p:sldId id="335" r:id="rId27"/>
    <p:sldId id="258" r:id="rId28"/>
    <p:sldId id="259" r:id="rId29"/>
    <p:sldId id="260" r:id="rId30"/>
    <p:sldId id="316" r:id="rId31"/>
    <p:sldId id="314" r:id="rId32"/>
    <p:sldId id="317" r:id="rId33"/>
    <p:sldId id="274" r:id="rId34"/>
    <p:sldId id="264" r:id="rId35"/>
    <p:sldId id="265" r:id="rId36"/>
    <p:sldId id="266" r:id="rId37"/>
    <p:sldId id="275" r:id="rId38"/>
    <p:sldId id="276" r:id="rId39"/>
    <p:sldId id="277" r:id="rId40"/>
    <p:sldId id="315" r:id="rId41"/>
    <p:sldId id="283" r:id="rId42"/>
    <p:sldId id="284" r:id="rId43"/>
    <p:sldId id="343" r:id="rId44"/>
    <p:sldId id="344" r:id="rId45"/>
    <p:sldId id="279" r:id="rId46"/>
    <p:sldId id="348" r:id="rId47"/>
    <p:sldId id="349" r:id="rId48"/>
    <p:sldId id="350" r:id="rId49"/>
    <p:sldId id="351" r:id="rId50"/>
    <p:sldId id="339" r:id="rId51"/>
    <p:sldId id="342" r:id="rId52"/>
    <p:sldId id="346" r:id="rId53"/>
    <p:sldId id="340" r:id="rId54"/>
    <p:sldId id="272" r:id="rId55"/>
    <p:sldId id="280" r:id="rId56"/>
    <p:sldId id="281" r:id="rId57"/>
    <p:sldId id="347" r:id="rId58"/>
    <p:sldId id="285" r:id="rId59"/>
    <p:sldId id="286" r:id="rId60"/>
    <p:sldId id="287" r:id="rId61"/>
    <p:sldId id="288" r:id="rId62"/>
    <p:sldId id="289" r:id="rId63"/>
    <p:sldId id="290" r:id="rId64"/>
    <p:sldId id="291" r:id="rId65"/>
    <p:sldId id="326" r:id="rId66"/>
    <p:sldId id="327" r:id="rId67"/>
    <p:sldId id="328" r:id="rId68"/>
    <p:sldId id="329" r:id="rId69"/>
    <p:sldId id="324" r:id="rId70"/>
    <p:sldId id="337" r:id="rId71"/>
    <p:sldId id="338" r:id="rId72"/>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363" autoAdjust="0"/>
    <p:restoredTop sz="94660"/>
  </p:normalViewPr>
  <p:slideViewPr>
    <p:cSldViewPr>
      <p:cViewPr>
        <p:scale>
          <a:sx n="33" d="100"/>
          <a:sy n="33" d="100"/>
        </p:scale>
        <p:origin x="1712" y="8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ink/ink1.xml><?xml version="1.0" encoding="utf-8"?>
<inkml:ink xmlns:inkml="http://www.w3.org/2003/InkML">
  <inkml:definitions>
    <inkml:context xml:id="ctx0">
      <inkml:inkSource xml:id="inkSrc0">
        <inkml:traceFormat>
          <inkml:channel name="X" type="integer" max="12072" units="cm"/>
          <inkml:channel name="Y" type="integer" max="7544"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0" timeString="2025-08-08T03:25:30.456"/>
    </inkml:context>
    <inkml:brush xml:id="br0">
      <inkml:brushProperty name="width" value="0.05292" units="cm"/>
      <inkml:brushProperty name="height" value="0.05292" units="cm"/>
      <inkml:brushProperty name="color" value="#FF0000"/>
    </inkml:brush>
  </inkml:definitions>
  <inkml:trace contextRef="#ctx0" brushRef="#br0">12082 9065 0,'0'0'0,"0"0"16,0 0-16,0 0 0,0 0 16,-61 76-1,48-48-15,1 2 16,-3 3-16,7 0 15,3 2-15,5 3 16,8 20-16,2 8 16,10 15-16,10-1 15,3 1-15,12-2 16,1-1-16,2-5 16,7-2-16,-2-6 15,-5-4-15,0-8 16,5 0-16,11-2 15,6 2-15,-4-8 16,7-2-16,-2-5 16,-1-5-16,9-8 15,7 0-15,10-2 16,-1-3-16,6-5 16,-2-5-16,-1-2 15,-4-8-15,-8-5 16,12-8-16,6-12 15,-1-15-15,8-21 16,-17-15 0,-19 3-1,-11-10-15,-9-1 0,-15-4 16,-9 5-16,-8-1 16,-11 9-16,-7 6 15,-5 6-15,-5 0 16,-7-2-16,-6 1 15,-7 1-15,-1 13 16,-6 4-16,-4-2 16,-7 5-16,-12 0 15,-6 1-15,-10 4 16,-2 0-16,-3 2 16,-14 1-16,-6 5 15,-13 2-15,-17 5 16,-18 3-16,-15 18 15,-13 12-15,-15 10 16,-2 15-16,32 3 16,24 8-16,4 9 15,-43 64 1,-2 60-16,50 15 16,53 29-16,21 12 15</inkml:trace>
  <inkml:trace contextRef="#ctx0" brushRef="#br0" timeOffset="34088.44">12044 9111 0,'0'0'0,"0"0"0,0 0 0,0 0 0,0 0 0,0 0 16,0 0-16,-91 93 15,71-62-15,-1 12 16,1 10-16,3 15 16,1 5-16,1 5 15,8-7-15,2-13 16,2-2-16,6-3 16,-1 5-16,6 0 15,7 5-15,3-2 16,2-1-16,2-7 15,4-2-15,2-3 16,7 0-16,0 2 16,11 1-16,-1-6 15,3-5 1,5 1-16,0-6 16,5-2-16,-2-5 15,4 0-15,-2-3 16,3-2-16,0-1 15,-1 1-15,-2-3 16,0-5-16,-2 1 16,-3-4-16,8-2 15,-1 0-15,6-2 16,-3-3-16,0-2 16,0-3-16,5-6 15,0-1-15,1-6 16,-4 1-16,1-6 15,2-7-15,-7-3 16,-8-2-16,7-8 16,-4-3-16,-3-2 15,0-5-15,0-2 16,-3 2-16,-7 0 16,-2-3-16,-8 4 15,-3-7-15,0-4 16,-2-5-1,-8 5-15,-2 3 16,-6 9-16,-1 1 16,-4 2-16,-4 2 15,-3 9-15,-5-6 16,0-3-16,-8-2 16,-2 0-16,-8 1 15,0 1-15,-4 3 16,-9-2-16,-2 4 15,-5 4-15,-2-1 16,-3 5-16,-3 0 16,-9 0-16,2 3 15,-8-3-15,1 3 16,1 2 0,4 3-16,2 0 0,2 5 15,1 0-15,-1 2 16,-5 3-1,1 2-15,-3 3 0,-3 5 16,3 0-16,0-2 16,0 4-16,2 1 15,6-1-15,2 4 16,-3 4 0,0 2-16,1 6 15,-1 2-15,6 0 16,-1 3-16,6 0 15,2 0-15,5-1 16,3 1-16,-1 5 16,6 0-16,-3 7 15,-2 8-15,5 7 16,-6 8-16,9 3 16,-1 2-16,8-2 15,4-1-15,4 11 16,2 15-16,7 7 15,8 3-15,18 33 16,27 25-16,31 48 16,10 15-16</inkml:trace>
</inkml:ink>
</file>

<file path=ppt/ink/ink2.xml><?xml version="1.0" encoding="utf-8"?>
<inkml:ink xmlns:inkml="http://www.w3.org/2003/InkML">
  <inkml:definitions>
    <inkml:context xml:id="ctx0">
      <inkml:inkSource xml:id="inkSrc0">
        <inkml:traceFormat>
          <inkml:channel name="X" type="integer" max="12072" units="cm"/>
          <inkml:channel name="Y" type="integer" max="7544"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0" timeString="2025-08-08T03:26:38.060"/>
    </inkml:context>
    <inkml:brush xml:id="br0">
      <inkml:brushProperty name="width" value="0.05292" units="cm"/>
      <inkml:brushProperty name="height" value="0.05292" units="cm"/>
      <inkml:brushProperty name="color" value="#FF0000"/>
    </inkml:brush>
  </inkml:definitions>
  <inkml:trace contextRef="#ctx0" brushRef="#br0">19914 9366 0,'0'0'0,"0"0"0,0 0 0,0 0 15,0 0-15,0 0 16,0 0-16,0 0 16,0 0-16,0 0 15,0 0-15</inkml:trace>
  <inkml:trace contextRef="#ctx0" brushRef="#br0" timeOffset="664.2">21747 8545 0,'0'0'0,"0"0"0,0 0 0,0 0 0,0 0 16,0 0-16,0 0 15</inkml:trace>
  <inkml:trace contextRef="#ctx0" brushRef="#br0" timeOffset="73190.89">21810 14462 0,'0'0'15,"0"0"-15,0 0 0,0 0 0</inkml:trace>
</inkml:ink>
</file>

<file path=ppt/ink/ink3.xml><?xml version="1.0" encoding="utf-8"?>
<inkml:ink xmlns:inkml="http://www.w3.org/2003/InkML">
  <inkml:definitions>
    <inkml:context xml:id="ctx0">
      <inkml:inkSource xml:id="inkSrc0">
        <inkml:traceFormat>
          <inkml:channel name="X" type="integer" max="12072" units="cm"/>
          <inkml:channel name="Y" type="integer" max="7544"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0" timeString="2025-08-08T03:28:51.827"/>
    </inkml:context>
    <inkml:brush xml:id="br0">
      <inkml:brushProperty name="width" value="0.05292" units="cm"/>
      <inkml:brushProperty name="height" value="0.05292" units="cm"/>
      <inkml:brushProperty name="color" value="#FF0000"/>
    </inkml:brush>
  </inkml:definitions>
  <inkml:trace contextRef="#ctx0" brushRef="#br0">15566 7538 0,'0'0'0,"0"0"0,0 0 0,0 0 15,5 159-15,5-3 16,-5 56-16,13 28 16,-3 25-16,-2 6 15,2 19-15,-8 16 16,13 52-16,-17-14 15,0-6-15,19 51 16,-17-48-16,3 22 16,-8-4-16,5-28 15,2-8-15,-9-12 16,7-44-16,-2 1 16,4-43-16,-7-8 15,0-35-15,8 5 16,-11-33-16,-2-31 15,0-17-15,0-10 16,0-25-16,0-20 16,0-16-16,0-10 15,0-7-15,2-8 16,1-5-16,-3-5 16</inkml:trace>
  <inkml:trace contextRef="#ctx0" brushRef="#br0" timeOffset="970.3">15371 7134 0,'0'0'0,"0"0"0,0 0 0,0 0 16,79 7-16,29 11 15,51 2 1,43-2-16,13-3 0,20-15 16,17 0-16,18-10 15,38-18-15,6 5 16,34-22 0,8 10-16,-13-11 15,34-9-15,1-16 16,9 8-16,1-13 15,-29-2-15,-33 9 16,4 9-16,-37 2 16,-55 10-16,4 7 15,-43 4-15,-4 1 16,-18 6-16,-36 10 16,-7 5-16,-18 4 15,-23 1-15,-24 0 16,-14 10-16,-12 0 15,-8 5-15,-9 0 16,-6 0-16,-2 5 16,-3 1-1,-3 14-15,-2 0 0,-2 13 16,-3 10-16,-5 40 16,-3 54-16,-9 32 15,-6 41-15,11 9 16,-1 21-1,-5 15-15,3-20 0,0 15 16,15 8-16,-10 5 16,3-26-1,-8 16-15,7-8 16,-4 10-16,-1 2 16,-2 6-16,2 40 15,-12-13-15,10-14 16,-3 37-16,-2-10 15,-15-20-15,27-3 16,-19-37-16,1 57 16,9-60-16,4-20 15,1-38-15,4-18 16,-2-33 0,3-35-16,2-17 0,0-11 15,0-15-15,-3-10 16,1-8-16,-1-9 15,-2-6-15,0-2 16,-3-3-16,3-5 16,-12 3-16,-14 2 15</inkml:trace>
  <inkml:trace contextRef="#ctx0" brushRef="#br0" timeOffset="1749.27">15440 14942 0,'0'0'0,"0"0"0,0 0 0,0 0 16,0 0-16,0 0 16,0 0-16,0 0 15,80-6-15,-14 4 16,45-1-16,33-2 16,13 3-16,12-1 15,25 3-15,6 0 16,19 0-16,16-5 15,13 0-15,-9 0 16,16 0-16,3-2 16,-11 7-16,16-3 15,0 3-15,22-8 16,-10-4-16,10-3 16,1-18-16,-19 18 15,-14-8-15,-6 3 16,-9 0-16,-14-3 15,4 0-15,-11 5 16,0 1-16,-15 2 16,-15-3-16,-8-2 15,-33 2 1,-7-2-16,-15 0 16,0 4-16,-33-1 15,-16 4-15,-1 6 16,-11-1-16,-10 0 15,-10 6-15,-3-1 16,-5 1-16,-12 2 16,-5-3-16,-3 3 15,-5 0-15,-5 0 16,-2 0-16,-6 0 16,1 0-16</inkml:trace>
  <inkml:trace contextRef="#ctx0" brushRef="#br0" timeOffset="2949.55">15811 9891 0,'0'0'0,"0"0"0,0 0 16,0 0-16,0 0 0,0 0 16,111 0-16,-28-2 15,28-3-15,28-3 16,38-10 0,5 3-16,20-3 0,2-7 15,11 5-15,-1-8 16,11-2-16,2 2 15,3-2-15,-3 0 16,-25 2-16,-17 10 16,-31-2-16,-20 2 15,-3 8 1,-38-2-16,-12 4 0,-20 3 16,-6-3-1,-12 3-15,-13 3 16,-12-1-16,-5 1 15,-6-1-15,-2-4 16,-5-6-16</inkml:trace>
  <inkml:trace contextRef="#ctx0" brushRef="#br0" timeOffset="3447.85">19694 6959 0,'0'0'0,"0"0"0,0 0 16,0 0-16,0 0 15,0 0-15,0 0 16,10 81-16,-7-25 16,-1 25-16,6 22 15,-1 21-15,-4 22 16,2 6-16,0 12 16,-15-2-16,5 7 15,-8-8-15,3-9 16,0 2-16,5-8 15,-8-9-15,1-14 16,7-19-16,0-18 16,0-13-16,-3-7 15,3-13-15,0-8 16,2-4-16,3-11 16,0-5-16,0-5 15,0-4-15,0-4 16,0-2-16,0-2 15,3-3-15,-1-3 16,1-2 0</inkml:trace>
  <inkml:trace contextRef="#ctx0" brushRef="#br0" timeOffset="4849.64">21078 7545 0,'0'0'0,"0"0"0,0 0 0,-116 91 16,57-38-16,6 0 16,3-7-16,17-1 15,8-10-15,7-9 16,6-9-16,4-4 15,3-3-15,5 0 16,5-2-16,5-1 16,10 3-16,11 3 15,17-3-15,20 3 16,13-1-16,2 4 16,-10 4-16,-5 8 15,-2 7-15,-13 3 16,-15-3-16,-5 8 15,-11 0-15,-4-3 16,-15-4-16,-9-3 16,-6 7-16,-11 11 15,-7-11-15,-18 0 16,-10-2-16,0-13 16,2-12-16,3-8 15,10-5 1,8-5-16,0-2 15,4-4-15,8 1 16,3 0-16,5 0 16,3-3-16,4 3 15,8 10-15,53-133 16</inkml:trace>
  <inkml:trace contextRef="#ctx0" brushRef="#br0" timeOffset="5065.95">21845 8058 0,'0'0'0,"0"0"0,0 0 0,0 0 0,0 0 0,18 88 16,-5 6-16,-8 67 15,2 34 1,3-1-16</inkml:trace>
  <inkml:trace contextRef="#ctx0" brushRef="#br0" timeOffset="6901.46">21472 10689 0,'0'0'16,"0"0"-16,0 0 0,0 0 16,0 0-16,0 0 15,0 0-15,0 0 16,0 0-16,0 0 15,0 0-15,0 0 16,0 0-16,0 0 16,-89-2-16,59 4 15,-11 3-15,1 0 16,-3 5-16,3 3 16,-3 2-16,5 5 15,-10 6-15,5 6 16,3 9-16,2 4 15,10-2-15,8-10 16,7 0-16,3-5 16,5-1-16,5-1 15,3 4-15,4 3 16,11 5 0,12 7-16,11-2 0,4-5 15,3-5 1,7 0-16,-9-6 15,4 4-15,-4-4 16,-3-1-16,-8 1 16,-2 1-16,-8 0 15,-5 7-15,-4 6 16,-11 2-16,-10 2 16,-6 3-16,-9 8 15,-10-1-15,-5-9 16,-3-8-16,0-13 15,-3-10-15,6-5 16,-5-7-16,4-3 16,1-5-16,0-8 15,-1-2-15,6-5 16,7 2-16,3 0 16,7 1-16,6-11 15,7 28-15,23-74 16</inkml:trace>
  <inkml:trace contextRef="#ctx0" brushRef="#br0" timeOffset="7383.3">22123 11654 0,'0'0'16,"0"0"-16,0 0 0,0 0 15,0 0-15,0 0 16,0 0-16,0 0 16,0 0-16,0 0 15,0 0-15,0 0 16,0 0-16,0 0 15,0 0-15,0 0 16,0 0-16,0 0 16,30 116-16,-32-38 15,-8 6 1,-13-1-16,0-12 0,3-13 16,2-15-16,3-13 15,5-10-15,5-5 16,0-5-1,5-5-15,5-2 16,-5-3-16,0 0 16,98-30-16,-39 9 15,-4 4-15,1 2 16,-8 4-16,-8 9 16,3 2-16</inkml:trace>
  <inkml:trace contextRef="#ctx0" brushRef="#br0" timeOffset="8584.94">21686 13330 0,'0'0'0,"0"0"0,0 0 0,0 0 0,0 0 16,0 0-16,0 0 16,0 0-16,0 0 15,0 0-15,0 0 16,0 0-16,-78-7 15,50 7-15,-5 5 16,-2 0-16,-3 3 16,-2 4-1,2 3 204,0 6-219,0-1 0,10 2 0,6 1 16,4 0-16,3-3 0,2 3 0,8 2 0,5 0 0,8 11 0,12 12 0,10 2 0,11 6 0,12-3 0,0-5 0,5 0 0,2 0 0,1 0 0,-6-5 15,-12-3-15,-7-5 0,-9-4 0,-9-1 0,-8-2 0,-5-3 0,-5-2 0,-7 7 0,-16 10 0,-23 16 0,-14 0 0,-26-1 0,3-15 0,-8-7 16,0-10-16,8-8 16,-1-7-16,14-6 15,12 3-15,12-5 16,6-2-16,12-1 15,5-4 1,6-1-16,11-4 16,4-4-16,2 16 15</inkml:trace>
  <inkml:trace contextRef="#ctx0" brushRef="#br0" timeOffset="9100.6">22305 14098 0,'0'0'0,"0"0"0,0 0 0,0 0 15,0 0-15,0 0 16,0 0-16,0 0 15,0 0 1,0 0-16,0 0 0,75-35 16,-67 35-1,0 5-15,-3 2 16,-3 9-16,-2 9 16,0-25-16,-15 83 15,5-35-15,2-10 16,3-8-16,5-7 15,5 2-15,8 6 16,17 19-16,18 6 16,23 2-16,-5-3 15,14 24-15,-16-1 16,-22-5-16,-19-15 16,-28-10-16,-23 5 15,-10-2-15,-50 29 16,-15-24-16,-21-13 15,-15-30-15,-10-56 16,-25-31-16,2-22 16,18-25-16,13-10 15</inkml:trace>
  <inkml:trace contextRef="#ctx0" brushRef="#br0" timeOffset="13251.7">8037 11949 0,'0'0'0,"0"0"0,0 0 0,0 0 0,0 0 16,0 0-16,0 0 15,0 0-15,0 0 16,0 0-16,-20 78 15,30-70-15,5 0 16,5-3-16,8 0 16,2 0-16,0-3 15,3-4-15,5-8 16,20-13-16,28-35 16,25-38-16,5-18 15,-2 1-15,0-9 16,-1-4-16,-7 25 15,-12 10-15,-9 15 16,-9 8 0,-10 8-16,-13 17 0,-5 12 15,-13 14 1,-7 12-16,-5 5 16</inkml:trace>
  <inkml:trace contextRef="#ctx0" brushRef="#br0" timeOffset="14919.68">13609 12977 0,'0'0'0,"0"0"16,0 0-16,0 0 0,0 0 0,0 0 15,0 0-15,0 0 16,81 73-16,-53-50 16,-1 0-16,-1-6 15,-1-2-15,0-7 16,-2-8-1,7-8-15,16-14 16,14-21-16,19-25 16,4-21-16,-5-14 15,-7 14-15,-11 11 16,-9 22-16,-11 16 16,-9 10-16,-6 7 15,-7 10-15,-6 3 16,-4 8-16,-3 2 15</inkml:trace>
  <inkml:trace contextRef="#ctx0" brushRef="#br0" timeOffset="22482.58">7764 460 0,'0'0'0,"0"0"0,-101-101 0,3 45 0,-18 16 16,-31 4-16,-20 21 15,1 5-15,-21 0 16,-5 0-16,10 10 16,-10-5-16,-5 5 15,-10 0-15,5 15 16,-10 0-16,-5 15 16,-5 21-16,-10 9 15,15 26-15,10-15 16,20 5-16,0-6 15,20 16-15,21 0 16,4 10-16,21 0 16,10 5-16,20 15 15,5 5-15,11 11 16,14-1-16,16 5 16,14-19-16,16-16 15,10 10 1,10-5-16,10 10 15,21 5-15,9 16 16,26-1-16,20-15 16,15-10-16,20-5 15,20-5-15,21-10 16,15-15-16,-5-31 16,20-9-16,15-6 15,30-10-15,5 0 16,16-9-16,20-11 15,20 0-15,15-21 16,5-9-16,-5-15 16,-15-6-16,5-25 15,-5-25-15,-28-5 16,-20-10-16,-37 0 16,-16-5-16,-38 10 15,-25 5-15,-13-21 16,-28 6-16,-32 30 15,-16-10-15,-19-10 16,-14-5-16,-14 20 16,-11-5-1,-9-5-15,-24-15 16,-12 20-16,-23 0 16,-7 10-16,-8 5 15,-7 10-15,-8-5 16,0 21-16,-8 9 15,11 16-15,-16 0 16,-23 9-16,-1 11 16,-1 15-16,-8 15 15,-12 46-15,-8 15 16,1 15-16</inkml:trace>
  <inkml:trace contextRef="#ctx0" brushRef="#br0" timeOffset="23604.18">18368 9222 0,'0'0'0,"0"0"0,0 0 0,0 0 15,0 0-15,0 0 16,0 0-16,94 114 16,-51-56-16,7 10 15,3 8-15,13 9 16,12 1-16,1-2 16,4 14-16,-2 13 15,10-10-15,7 3 16,-5-1-16,-4 3 15,-6 3-15,-7-13 16,-8-3-16,8 11 16,-11-6-16,-12-24 15,-7-11-15,-8-10 16,-8-3-16,0-4 16,-2 2-16,-3-8 15,1-2-15,1-3 16,-1-7-16,-9-5 15,1 0 1,-3-8-16,-5-5 0,-2-5 16,-3-5-16,0-5 15,-3-3 1</inkml:trace>
  <inkml:trace contextRef="#ctx0" brushRef="#br0" timeOffset="24016.86">19921 10853 0,'0'0'0,"0"0"0,0 0 0,0 0 15,0 0-15,0 0 16,0 0-16,0 0 16,0 0-16,0 0 15,0 0-15,20 104 16,13-46-16,8 13 15,2 7-15,2 10 16,3-2-16,-10-15 16,-5-11-16,-5-9 15,-3-6-15,-3-9 16,-4-9-16,-5-4 16,-6-3-16,-2-7 15,-2-3 1,-3-2-16,-3-1 15,-4 1-15,-8-1 16,-13-2-16,-15-2 16,-15-8-16,-8-8 15,-9-7-15,-4-3 16,-4-7-16,7-8 16,3-15-16,-23-25 15,-13-21-15</inkml:trace>
  <inkml:trace contextRef="#ctx0" brushRef="#br0" timeOffset="24502.02">18730 9427 0,'0'0'0,"0"0"0,0 0 0,0 0 0,0 0 16,0 0-16,106 0 16,-10-11-16,35-14 15,15-8-15,1-5 16,-1-7-16,6-11 16,-16 1-16,0 4 15,-14 11-15,-11 2 16,-18 5-16,-15 8 15,-20 7-15,-7 3 16,-13 3-16,-10 1 16,-11 6-16,-4-2 15,-6 2-15,-2 0 16,-2 0-16,-3-3 16,-5-7-1</inkml:trace>
  <inkml:trace contextRef="#ctx0" brushRef="#br0" timeOffset="24800.32">20007 8828 0,'0'0'0,"0"0"0,0 0 0,0 0 16,0 0-16,0 0 16,0 0-16,0 0 15,0 0-15,0 0 16,106-10-16,-38 0 15,11-5-15,-4 0 16,1 2-16,-13 3 16,-5 0-16,-7 7 15,-13 1-15,-8 4 16,-5 3-16,-5 5 16,-4 3-16,-9 7 15,-7-20-15,-48 149 16,-60 61-16,-29 45 15,8-18 1</inkml:trace>
</inkml:ink>
</file>

<file path=ppt/ink/ink4.xml><?xml version="1.0" encoding="utf-8"?>
<inkml:ink xmlns:inkml="http://www.w3.org/2003/InkML">
  <inkml:definitions>
    <inkml:context xml:id="ctx0">
      <inkml:inkSource xml:id="inkSrc0">
        <inkml:traceFormat>
          <inkml:channel name="X" type="integer" max="12072" units="cm"/>
          <inkml:channel name="Y" type="integer" max="7544"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0" timeString="2025-08-08T03:29:41.064"/>
    </inkml:context>
    <inkml:brush xml:id="br0">
      <inkml:brushProperty name="width" value="0.05292" units="cm"/>
      <inkml:brushProperty name="height" value="0.05292" units="cm"/>
      <inkml:brushProperty name="color" value="#FF0000"/>
    </inkml:brush>
  </inkml:definitions>
  <inkml:trace contextRef="#ctx0" brushRef="#br0">19967 12520 0,'0'0'0,"0"0"16,0 0-16,0 0 0,75-8 0,-6-2 0,16-2 15,11-14-15,13-19 16,22-21-16,-2-7 15,20-13-15,-3-15 16,31-23-16,5-9 16,-3 24-16,-42 21 15,-24 22-15,-7 10 16,-10 6-16,-28 15 16,-15 9-16,-17 11 15,-11 5-15,-5 2 16,-7 3-16,-3 3 15,-5-1-15,0 1 16,-2 2-16,-1 0 16,1 0-16,-3 0 15,0 0-15,0 0 16,0 0-16</inkml:trace>
  <inkml:trace contextRef="#ctx0" brushRef="#br0" timeOffset="668.84">23534 13543 0,'0'0'0,"0"0"0,0 0 15,0 0-15,0 0 16,0 0-16,53 96 16,-2-71-16,17-10 15,20-18-15,41-24 16,35-26-16,21-26 16,-14-14-16,-7-1 15,-2-12-15,-18 0 16,-15 26-16,-13 14 15,-3 10-15,-17 11 16,-22 10-16,-14 7 16,-2 8-1,-17 7-15,-14 3 0,-9 7 16,-8 3-16,-10 0 16,0 0-16,0 0 15</inkml:trace>
  <inkml:trace contextRef="#ctx0" brushRef="#br0" timeOffset="1049.52">22800 15429 0,'0'0'0,"0"0"0,0 0 15,0 0-15,93 73 16,-25-53-16,5-15 15,28-22 1,51-41-16,17-33 0,15-43 16,23-23-1,-35 16-15,0 20 16,-1 15-16,-32 22 0,-20 21 16,-8 23-1,-23 12-15,-17 20 16,-28 8-16,-10 5 15</inkml:trace>
  <inkml:trace contextRef="#ctx0" brushRef="#br0" timeOffset="1454.01">21868 17527 0,'0'0'0,"0"0"0,0 0 0,0 0 0,0 0 0,0 0 15,81 15-15,15-42 16,53-41-1,17-28-15,21-16 16,-8-19-16,8-13 16,-23 0-16,11-5 15,4-10-15,-5 0 16,-5 35-16,-5 11 16,-22 29-16,-19 19 15,-19 24-15,-23 24 16,-18 4-16,-18 8 15,-4 13-15,2 2 16,5 0-16</inkml:trace>
  <inkml:trace contextRef="#ctx0" brushRef="#br0" timeOffset="10566.87">758 15045 0,'0'0'0,"0"0"0,0 0 0,0 0 16,0 0-16,0 0 0,0 0 15,50 81-15,6-10 16,14 25 0,16 2-16,0-17 15,0-23-15,0-23 0,0-22 16,15-21 0,35-40-16,26-30 0,9-23 15,6-13 1,-5-27-16,-1 2 15,-4 28-15,-5 2 16,4-7-16,-14 13 16,-11 22-16,-20 23 15,0 2-15,-20 11 16,-10 12-16,-10 5 16,-15 11-16,-1 9 15,-9 10-15,5 19 16,14 32-16,11 30 15</inkml:trace>
  <inkml:trace contextRef="#ctx0" brushRef="#br0" timeOffset="11331.78">813 16939 0,'0'0'0,"0"0"0,0 0 15,0 0-15,0 0 16,0 0-1,0 0-15,0 0 16,0 0-16,96 45 16,-50-29-16,4 1 15,6-4-15,4 2 16,-4 0-16,4-5 16,-4-2-16,10-3 15,-6-8-15,16-4 16,5-13-16,20-23 15,5-28-15,10-17 16,-10-3-16,0 2 16,-5 1-16,0-18 15,-10 5-15,-5 23 16,-11 19-16,-19 17 16,-6 6-16,1 6 15,10 5-15,-1 7 16,11 10-1,10 8-15</inkml:trace>
</inkml:ink>
</file>

<file path=ppt/ink/ink5.xml><?xml version="1.0" encoding="utf-8"?>
<inkml:ink xmlns:inkml="http://www.w3.org/2003/InkML">
  <inkml:definitions>
    <inkml:context xml:id="ctx0">
      <inkml:inkSource xml:id="inkSrc0">
        <inkml:traceFormat>
          <inkml:channel name="X" type="integer" max="12072" units="cm"/>
          <inkml:channel name="Y" type="integer" max="7544"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0" timeString="2025-08-08T03:36:25.675"/>
    </inkml:context>
    <inkml:brush xml:id="br0">
      <inkml:brushProperty name="width" value="0.05292" units="cm"/>
      <inkml:brushProperty name="height" value="0.05292" units="cm"/>
      <inkml:brushProperty name="color" value="#FF0000"/>
    </inkml:brush>
  </inkml:definitions>
  <inkml:trace contextRef="#ctx0" brushRef="#br0">14223 6876 0,'0'0'15,"0"0"-15,0 0 0,0 0 16,0 0-16,0 0 16,101-2-16,-23 14 0,33 6 15,18 5-15,20-6 16,22 3-16,11-9 15,10-6 1,20-3-16,68 6 16,-4-1-16,34 8 15,36-2-15,0 0 16,8 4-16,39 4 16,6-11-16,5-3 15,-10 6-15,-8-6 16,-4 11-16,7 2 15,-3 13-15,-17 5 16,4 5-16,-24-3 16,9 16-16,-30-18 15,-40-10-15,10 9 16,-28-4-16,-25-5 16,-2 2-16,-46-9 15,-16-6-15,-17-3 16,-30 1-16,-25-5 15,-16-1-15,-9-2 16,-24 0-16,-30-2 16,-19-3-16,-14 0 15,-7 0 1</inkml:trace>
  <inkml:trace contextRef="#ctx0" brushRef="#br0" timeOffset="777.32">4141 8101 0,'0'0'0,"0"0"0,0 0 16,0 0-16,0 0 15,0 0-15,0 0 16,96 7-16,10 11 16,40 5-1,36 2-15,25 0 0,15-2 16,21-5-16,9-3 16,11 0-16,25-7 15,5 2-15,5-5 16,30 2-16,-10 1 15,0-3-15,15 8 16,-7-8-16,12-3 16,-4 3-16,22-10 15,-26 0-15,21-13 16,-17 6-16,-21-1 16,2 6-1,-12-9-15,-22 9 16,-16-3-16,0 0 15,-53 2-15,-18-2 16,-25 5-16,-25 2 16,-22 1-16,-21 4 15,-23 6-15,-15 2 16,-3 13-16,-1 7 16</inkml:trace>
  <inkml:trace contextRef="#ctx0" brushRef="#br0" timeOffset="4677.39">21169 16843 0,'0'0'0,"0"0"0,0 0 0,0 0 0,0 0 16,0 0-16,0 0 16,0 0-16,0 0 0,0 0 15,58 109 1,-8-69-16,13-2 15,3-8-15,7-7 16,-2-18-16,5-10 16,17-20-16,31-41 15,40-50-15,-8-5 16,6-23-16,12-23 16,-10 13-16,5 2 15,8-9-15,-13 7 16,-12 28-16,7 2 15,-25 15-15,-23 33 16,-15 11-16,-16 14 16,-26 21-16,-17 7 15,-9 8-15,-10 8 16,-8 2-16,-5 2 16,-2 3-16,-9 0 15,6 0 1</inkml:trace>
</inkml:ink>
</file>

<file path=ppt/ink/ink6.xml><?xml version="1.0" encoding="utf-8"?>
<inkml:ink xmlns:inkml="http://www.w3.org/2003/InkML">
  <inkml:definitions>
    <inkml:context xml:id="ctx0">
      <inkml:inkSource xml:id="inkSrc0">
        <inkml:traceFormat>
          <inkml:channel name="X" type="integer" max="12072" units="cm"/>
          <inkml:channel name="Y" type="integer" max="7544"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0" timeString="2025-08-08T03:38:58.975"/>
    </inkml:context>
    <inkml:brush xml:id="br0">
      <inkml:brushProperty name="width" value="0.05292" units="cm"/>
      <inkml:brushProperty name="height" value="0.05292" units="cm"/>
      <inkml:brushProperty name="color" value="#FF0000"/>
    </inkml:brush>
  </inkml:definitions>
  <inkml:trace contextRef="#ctx0" brushRef="#br0">7110 5707 0,'0'0'0,"0"0"0,0 0 0,0 0 0,0 0 16,0 0-16,0 0 0,0 0 15,142 91-15,-36-46 16,40 6-16,26-6 16,25 1-16,25-1 15,15-4-15,8-16 16,38-5-16,-8-15 16,26 0-1,19-20-15,-7 5 0,3-10 16,-3-11-1,-7 11-15,-9-5 0,-11 5 16,-3 5 0,-8 4-16,-35 1 15,-8 5-15,-25 5 16,-33 0-16,-10 5 16,-25-5-16,-20 5 15,-26-5-15,-9 0 16,-16 0-16,-20-5 15,-13 5-15,-10-5 16,-5 5-16,-4-5 16,-6 5-16,-3 0 15,-2 0-15,-2 0 16,-1 0-16,-2 0 16,0 0-16</inkml:trace>
  <inkml:trace contextRef="#ctx0" brushRef="#br0" timeOffset="1096.66">10297 8730 0,'0'0'0,"0"0"0,0 0 16,0 0-16,0 0 0,0 0 16,123-8-16,-32-20 15,38-25-15,30-20 16,0-3-16,5 0 16,3-4-16,-18-9 15,0-2-15,-13 16 16,-15 9-1,-20 13-15,-12 13 16,-14 4-16,-17 11 16,-12 12-16,-21 6 15,-10 2-15,-10 5 16,-5 0-16,0 0 16</inkml:trace>
  <inkml:trace contextRef="#ctx0" brushRef="#br0" timeOffset="1446.13">10117 9088 0,'0'0'0,"0"0"0,0 0 15,0 0-15,0 0 0,0 0 16,0 0-1,124 68-15,-53-55 0,12-11 16,18-12-16,25-12 16,18-14-16,3-7 15,9-10-15,11-2 16,-3-6-16,5-12 16,13-10-1,-16-3-15,-29 10 16,-13 5-16,-26 26 0,-22 9 15,-21 9 1,-14 9-16,-16 8 16,-10 7-16,-7 3 15,-3 3-15</inkml:trace>
  <inkml:trace contextRef="#ctx0" brushRef="#br0" timeOffset="1814.5">10880 9876 0,'0'0'0,"0"0"0,0 0 0,0 0 0,0 0 16,0 0-16,0 0 15,0 0-15,93 45 16,-35-45-1,33-12-15,63-29 16,48-27-16,30-33 16,6-17-16,-21 6 15,-23 14-15,-7-8 16,0 2-16,-28 11 16,-2 5-16,-19 19 15,-31 14-15,-19 12 16,-15 8-16,-17 7 15,-16 8-15,-10 7 16,-9 5-16,-9 6 16,-2-3-16,-2-3 15</inkml:trace>
</inkml:ink>
</file>

<file path=ppt/ink/ink7.xml><?xml version="1.0" encoding="utf-8"?>
<inkml:ink xmlns:inkml="http://www.w3.org/2003/InkML">
  <inkml:definitions>
    <inkml:context xml:id="ctx0">
      <inkml:inkSource xml:id="inkSrc0">
        <inkml:traceFormat>
          <inkml:channel name="X" type="integer" max="12072" units="cm"/>
          <inkml:channel name="Y" type="integer" max="7544"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0" timeString="2025-08-08T03:39:05.906"/>
    </inkml:context>
    <inkml:brush xml:id="br0">
      <inkml:brushProperty name="width" value="0.05292" units="cm"/>
      <inkml:brushProperty name="height" value="0.05292" units="cm"/>
      <inkml:brushProperty name="color" value="#FF0000"/>
    </inkml:brush>
  </inkml:definitions>
  <inkml:trace contextRef="#ctx0" brushRef="#br0">3202 1444 0,'0'0'0,"0"0"0,0 0 0,0 0 0,0 0 0,0 0 15,-31 81-15,16-20 0,0 25 16,5 15 0,0 5-16,-5 20 0,5 15 15,-5 1 1,4 4-16,1 16 0,5-6 16,5-4-16,-5-11 15,5-14 1,0-16-16,-5-10 15,5-20-15,-5-11 16,5-9-16,-5-6 16,5-9-16,0-11 15,5 6-15,-5-6 16,5-5-16,0-4 16,0 4-16,0-5 15,5 5-15,1-4 16,-1-1-16,5-5 15,5 5-15,0-4 16,10-1-16,1 5 16,14-5-16,6 0 15,9 1-15,21-1 16,10 0-16,25-10 16,10 5-16,21-5 15,4-10-15,16-5 16,10 0-16,10-10 15,15 0-15,5 0 16,0-5 0,-5 10-16,5-1 15,-5 6-15,15 5 16,5 5-16,0-5 16,10 16-16,1-16 15,4 5-15,-10-5 16,-2-5-16,0 0 15,-1-1-15,-19-9 16,-6 0-16,-12 5 16,-13-5-16,-2 0 15,-20 0-15,-14-1 16,-14 1-16,-23 0 16,-12 0-16,-19 0 15,-12-5-15,-15-1 16,-7 6-16,-11 0 15,0 0-15,-10 0 16,-5-5-16,-2-1 16,-1-4-16,1-10 15,-3-16-15,0-4 16,0-16-16,0-5 16,-5-10-16,0 1 15,0-11 1,3 0-16,-8 0 15,-3-5-15,1 0 16,-4 0-16,1 10 16,-7-5-16,-1 5 15,3 10-15,-5-5 16,-1-5-16,1 16 16,-2 4-16,-1 10 15,3 6-15,-3 4 16,-2 11-16,-6 4 15,-1 1-15,-16 0 16,-5 4-16,-23 1 16,-15 0-16,-18 5 15,-40-6-15,8 11 16,-16 5-16,-12 15 16,-12 5-16,-19 20 15,-7-5-15,2 6 16,1-1-16,10 5 15,-13-4 1,5-1-16,-11-5 16,6 0-16,5 0 15,11-10-15,9 1 16,-5-1-16,-10 5 16,5 0-16,-5 0 15,0 5-15,5 1 16,16 4-16,14-5 15,0 5-15,6-5 16,9 6-16,6-1 16,25-5-16,5 0 15,5 1-15,15-1 16,10 0-16,5-5 16,21-5-16,4 0 15,11-5-15,5 0 16,4 0-16,6 1 15,5-1-15,10 0 16,0 0-16,-1 0 16,-4 10-16</inkml:trace>
  <inkml:trace contextRef="#ctx0" brushRef="#br0" timeOffset="30082.16">8352 5237 0,'0'0'0,"0"0"0,0 0 0,0 0 0,0 0 16,0 0-16,0 0 0,58 81 16,-42-61-16,1-5 15,4 1-15,-1-1 16,5-10-16,8-5 16,17-5-16,31-21 15,33-19-15,22-21 16,13-4-16,-5-16 15,2 10-15,-14 0 16,-21 16-16,-20 14 16,-18 11-16,-18 10 15,-14 9-15,-8 6 16,-6 10-16,-6-5 16,-6 5-16,0 0 15,-2 5-15,2 0 16,5 11-1</inkml:trace>
  <inkml:trace contextRef="#ctx0" brushRef="#br0" timeOffset="33619.61">7870 6237 0,'0'0'0,"0"0"0,0 0 0,0 0 0,0 0 15,0 0-15,0 0 16,0 0-16,0 0 16,0 0-16,0 0 15,0 0-15,0 0 16,0 0-16,0 0 15,0 0-15,0 0 16,-5 81-16,5-71 16,0 0-16,3 0 15,-1-2-15,1-1 16,-1 1-16,3 0 16,0-1-1,3 1-15,2-3 16,3 0-16,2-3 15,5-2-15,10 0 16,8-5-16,10-2 16,13-6-16,9-5 15,11-7-15,3-5 16,14-10-16,3-1 16,0-4-16,8-6 15,7-4-15,5-6 16,5-5-16,-2 1 15,0 4-15,-8 11 16,-10-1-16,-3 11 16,-7-6-1,-12 11-15,-6 5 0,-18 4 16,-14 6-16,-16 10 16,-10 5-16,-2 0 15,-5 0-15,-3 5 16,-3 0-16,-2 0 15,-5 0-15,0 0 16</inkml:trace>
  <inkml:trace contextRef="#ctx0" brushRef="#br0" timeOffset="37133.57">7120 6959 0,'0'0'0,"0"0"15,0 0-15,0 0 0,0 0 0,0 0 16,0 0-16,0 0 0,0 0 15,61 89-15,-41-74 16,0-2 0,6-1-16,-6 1 0,0-1 15,0 1 1,-5 0-16,5-3 16,-4 0-16,-1-3 15,5 1-15,-5 0 16,0-3-16,-5 0 15,6-3-15,-6 1 16,0-1-16,-5-2 16,5 0-16,0-2 15,5-1-15,0-2 16,11-2-16,4-6 16,15-5-16,6-4 15,9-4-15,11-1 16,5-9-16,7-2 15,11 0-15,-1-7 16,5-5-16,-2-1 16,-5 3-16,13-2 15,-8 7-15,-15 5 16,-8 2-16,-5 6 16,-8 0-16,-6 5 15,-4 4-15,-10 1 16,-7 5-1,-5 5-15,-8 2 16,3 1-16,0-1 16,-1-2-16</inkml:trace>
  <inkml:trace contextRef="#ctx0" brushRef="#br0" timeOffset="38816.14">6898 7773 0,'0'0'0,"0"0"0,0 0 16,0 0-16,0 0 15,0 0-15,0 0 0,0 0 16,0 0-16,0 0 16,0 0-16,66 85 15,-46-59-15,5 1 16,-5-1-16,11-1 15,-6 0 1,5-5-16,1 1 0,-1-4 16,-5-7-1,5 0-15,6-5 0,-1-7 16,21-8 0,14-13-16,31-17 15,20-13-15,1-13 16,9-17-16,0 2 15,-10 0-15,-9 15 16,-22 16-16,-9 4 16,-8 9-16,-4 6 15,-14 6-15,-9 7 16,-8 8-16,-6 3 16,1 2-16,8-3 15,9 1-15</inkml:trace>
  <inkml:trace contextRef="#ctx0" brushRef="#br0" timeOffset="58999.57">23075 3156 0,'0'0'0,"0"0"0,0 0 0,0 0 15,0 0-15,0 0 0,98-75 16,-75 75-16,5 5 15,10 15-15,10 20 16,-8 11-16,-5 20 16,-17 4-16,-18 26 15,-15 16-15,-13 39 16,-5 11-16,-10 20 16,3-11-16,0 21 15,-6-20-15,6-5 16,7 0-16,10-16 15,-2-4 1,0-16-16,20-10 16,7-15-16,6-5 15,12 5-15,10-10 16,6-15-16,14 0 16,18-10-16,11 0 15,4-21-15,-2-9 16,-23-19-16,-13-6 15,-15-9-15,-7-4 16,-5-1-16,-11-1 16,-2-1-16,-5 0 15,-10 7-15,-22 14 16,-37 16-16,-29 27 16,7 6-16,15 1 15,13 5-15,10-3 16,8 6-16,-1 19 15,8 13-15,16-7 16,12 9-16,-1 19 16,22 4-1,6 11-15,6-3 16,7-3-16,1-22 0,-4-8 16,-9-22-1,5-14-15,-11-14 16,-2-18-16,-5-10 15,1-8-15,-4-2 16,-2-8-16,-2-5 16,-4 3-16,-4 0 15,-7-1-15,-9 1 16,-1-3-16,-4 0 16,-1-2-16,-1-3 15,-5 0-15,5-2 16,3-1-16,2-2 15,0 0-15,5-2 16,6-1-16,2 1 16,2-3-16,0 0 15,1-3-15,-1 1 16,3 2-16,0-3 16,0 1-16,0-3 15,2 2-15,3 1 16,0-1-16,0 1 15,0-1-15,0 3 16,0-2-16,0-1 16,0 1-1,0-1-15,0 1 16,2 2-16,3-3 16,0 1-16,0 2 15,0 0-15,0 0 16,172-38-16,-74 17 15,-4-4-15,-1-3 16,-2-9-16,-13-4 16,-7-7-16,-18 0 15,-10-5-15,-13 5 16,-10 0-16,-4 3 16,-11 2-16,-5 0 15,-10-13-15,-8-9 16,-12-11-16,-23-5 15,10 10-15,2 11 16,-7-1-16,0 1 16,3-1-16,-1 3 15,1-8-15,7 6 16,0-9 0,5-4-16,-4-10 15,9 2-15,15 0 16,-5 6-16,13 6 15,5-6-15,18-19 16,17-9-16,18-3 16,0 7-16,3 3 15,17 3-15,8 4 16,2 19-16,-2 9 16,-18 16-16,-10 4 15,-7 11-15,-11 5 16,-12 9-16,0-4 15,-8 5-15,-3 5 16,-4 0-16,-6-5 16,1 5-16,-3 0 15,-5-11-15,-8 1 16,-4-10-16,-11-6 16,-10-4-16,-13-5 15,-12-11-15,-7 1 16,9-16-16,3-5 15,10-10 1,-8 0-16,8-5 16,3-5-16,7-10 15,5 5-15,-7-5 16,10-15-16,2 0 16,8 0-16,10 15 15,-1-21-15,4-4 16,7 20-16,-5-15 15,2 15-15,13-6 16,-7 16-16,-1 11 16,-4 4-16,2 0 15,-3 5-15,-2 10 16,0 16-16,-5 9 16,-2 6-16,1 10 15,-4 4-15,-2 6 16,-4 5-16,1 5 15,3 5-15,1 0 16,1 5-16,-25 15 16,-38 35-1</inkml:trace>
  <inkml:trace contextRef="#ctx0" brushRef="#br0" timeOffset="68401.48">15876 11212 0,'0'0'0,"0"0"0,0 0 0,0 0 0,79-10 0,-19 2 16,14 1-16,-1 4 15,13 1-15,10 4 16,10 6-16,-13-3 0,3 0 16,7-3-1,9 1-15,-6-1 16,2-2-16,1 5 15,12 0-15,-7-2 16,-6 2-16,1-8 16,4 1-16,-4-6 15,-11 8-15,8-5 16,-2 0-16,4 3 16,-7 2-16,11 5 15,-4-5-15,6 2 16,-6 1-16,6-6 15,-3 1-15,5 2 16,-7-3-16,-13 3 16,10 0-1,7 0-15,1 0 0,-16-2 16,8-6-16,3 6 16,0 2-16,-6 0 31,11 2-31,-6 1 0,6-3 0,-3-5 15,-10 0-15,13-6 16,2 6-16,-5-5 16,-13 0-16,6 0 15,-11-3 1,8-4-16,-15 2 16,-13 0-16,-7-6 15,-3 1-15,-10 0 16,-5-8-16,-7-2 15,-9-8-15,1-5 16,-5-2-16,-3-6 16,-7 3-16,-3 0 15,-2-2-15,-1-6 16,-4-2-16,2-28 16,-5 10-16,-2-7 15,-1-5-15,-2 7 16,0 10-16,-2 8 15,2 13-15,-3 4 16,-2-2-16,-3 8 16,1 7-16,-6 0 15,-2 5-15,2 3 16,-4 2-16,-1 6 16,-7 1-1,-8 1-15,-7 3 16,-8 2-16,-10 2 15,-21 0-15,-24 3 16,-13 5-16,-6 3 16,-11 4-16,-11-1 15,5-1-15,-8 2 16,-12 3-16,20-2 16,-20-1-16,-12 1 15,7 2-15,-11 10 16,-11-2-16,-1-5 15,-3-1-15,16-4 16,-8-1-16,-2-2 16,7-5-16,-5 0 15,11 8-15,2-6 16,-3-2-16,13 6 16,-8 4-16,-7 0 15,25-8-15,-10 1 16,-3 2-16,13-3 15,-5-2-15,-5 3 16,10 4-16,0-7 16,3 6-16,2 1 15,0 1 1,-12 2-16,7 0 16,-5 0-16,-3 0 15,21-2-15,-1-6 16,4-2-16,-6 0 15,0 5-15,-3-5 16,1 5-16,7-5 16,-2 0-16,-8 3 15,0-8-15,0-3 16,3 1-16,-11-4 16,11 6-16,-1-2 15,-1 2-15,16 2 16,-7 1-16,-7-3 15,17 7-15,-2 3 16,-3 5-16,3 0 16,15 6-16,2-1 15,8 2-15,11 4 16,6 1-16,11 1 16,12 2-16,16 1 15,12-1-15,8 0 16,2 8-1,8 0-15,5 0 16,2 2-16,6 3 16,2 2-16,5 11 15,2 12-15,6 0 16,7 8-16,-2-11 16,0 1-16,2-6 15,5 6-15,0-5 16,-4-8-16,-1-3 15,-3-7-15,4-5 16,-4-5-16,1-6 16,2-2-16,8 3 15,7 0-15,3 0 16,10-1-16,10 1 16,10-3-16,11 3 15,14-5-15,8-3 16,10-3-16,3-4 15,9 0-15,6-3 16,10 0-16,5-3 16,-3 1-16,8-1 15,16 3 1,-11-2-16,-3 2 16,8-8-16,-7 1 15,7-3-15,10 0 16,-23 2-16,13-2 15,-2 0-15,-1 0 16,3 0-16,1 0 16,4-3-16,10-4 15,3-3-15,-6 5 16,9-1-16,-6-1 16,-3-1-16,6-2 15,0-3-15,0 1 16,12-1-16,-7-2 15,17-3-15,-9-2 16,7-8 0,25-2-16,-3-6 0,-1-2 15,6 3-15,9 2 16</inkml:trace>
</inkml:ink>
</file>

<file path=ppt/ink/ink8.xml><?xml version="1.0" encoding="utf-8"?>
<inkml:ink xmlns:inkml="http://www.w3.org/2003/InkML">
  <inkml:definitions>
    <inkml:context xml:id="ctx0">
      <inkml:inkSource xml:id="inkSrc0">
        <inkml:traceFormat>
          <inkml:channel name="X" type="integer" max="12072" units="cm"/>
          <inkml:channel name="Y" type="integer" max="7544"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0" timeString="2025-08-08T03:41:35.610"/>
    </inkml:context>
    <inkml:brush xml:id="br0">
      <inkml:brushProperty name="width" value="0.05292" units="cm"/>
      <inkml:brushProperty name="height" value="0.05292" units="cm"/>
      <inkml:brushProperty name="color" value="#FF0000"/>
    </inkml:brush>
  </inkml:definitions>
  <inkml:trace contextRef="#ctx0" brushRef="#br0">14336 10656 0,'0'0'0,"0"0"0,0 0 0,0 0 16,0 0-16,0 0 0,0 0 16,0 0-16,0 0 0,0 0 15,0 0-15,0 0 16,0 0-16,0 0 16,79 111-16,-44-70 15,3 2-15,0-8 16,7-5-1,-2-7-15,2-5 16,1-6-16,2-7 16,10-10-16,18-17 15,32-21-15,21-25 16,23-13-16,19-8 16,-2-14-16,-7-1 15,-3 11-15,-12 12 16,-6 5-16,-10 1 15,-15 1-15,-12 14 16,-13 4-16,-8 11 16,-10 12-16,-15 5 15,-15 5-15,-15 11 16,-10 2-16,-6 5 16,-4 0-16,-6 5 15,-2 2-15,0-2 16,0 0-16</inkml:trace>
  <inkml:trace contextRef="#ctx0" brushRef="#br0" timeOffset="2180.91">1348 11636 0,'0'0'0,"0"0"15,0 0-15,0 0 16,0 0-16,0 0 15,-20 121-15,15-48 16,0 11 0,0 9-16,5 13 0,-5 3 15,5-13-15,-5-10 16,5-11-16,0-1 16,0-9-16,0-9 15,0-13-15,0-10 16,0-11-16,-5-6 15,5-6-15,0-5 16,0-5-16,0 0 16,0 0-16,0 0 15</inkml:trace>
  <inkml:trace contextRef="#ctx0" brushRef="#br0" timeOffset="3183.03">1434 11487 0,'0'0'0,"0"0"0,0 0 0,0 0 16,0 0-16,101 58 15,-35-45-15,30-3 16,20-5-16,30-8 16,26-7-16,30-7 15,15-1-15,16 3 16,-11 2-16,5 1 16,0-4-16,0 1 15,-4-10-15,-6 5 16,0-5-16,-5-3 15,-10-3-15,-25 4 16,-16 4-16,-14 5 16,-26 6-16,-10 2 15,-10 2-15,-10 3 16,-5 2-16,-5 6 16,-11-1-1,-14 1-15,-6 2 16,-9 0-16,-11 0 15,-5 0-15,1 3 16,-6 2-16,0 8 16,5 12-16,5 18 15,1 23-15,4 9 16,0 19-16,-4 19 16,4 1-16,-15-15 15,6-6-15,-11-12 16,0-15-16,-10-16 15,0-17-15,0-8 16,-5-7-16,0-3 16,-5-2-16,-5 0 15,-5-3-15,-5-2 16,-16-1-16,-4-2 16,-11-2-1,-14-6-15,-11 3 16,-5-2-16,-15-1 15,-10 4-15,-15 1 0,-5-2 16,-11 8 0,6-3-16,-15 0 15,-16 3-15,-5-1 16,6-2-16,-11 3 16,-10 2-16,1 3 15,-6 7-15,0 0 16,-10 8-16,10-5 15,0-5-15,0-6 16,11-7-16,4-7 16,5-8-16,6-3 15,-1-7-15,11-3 16,9-2-16,16-2 16,10 1-16,15 6 15,15 5-15,20 0 16,11 5-16,9 5 15,6 0-15,5 2 16,-1 9-16,6-4 16,5 1-16</inkml:trace>
  <inkml:trace contextRef="#ctx0" brushRef="#br0" timeOffset="3547.51">1126 12765 0,'0'0'16,"0"0"-16,0 0 0,0 0 15,0 0-15,0 0 16,0 98-16,5 6 15,-5 35-15,5 5 16,0 17-16,0-2 16,6-22-16,-6-16 15,5-10-15,-5-18 16,0-22 0,0-15-16,-5-8 0,5-15 15,-5-11-15,0-4 16,5-8-1,-5-5-15,0-5 0,0 0 16,0 0 0,-5-164-16</inkml:trace>
  <inkml:trace contextRef="#ctx0" brushRef="#br0" timeOffset="4517.67">1364 12479 0,'0'0'0,"0"0"15,0 0-15,0 0 16,0 0-16,75 61 16,-4-8-16,30 8 15,5-13-15,15-3 16,16-12-16,-1-10 15,26-6-15,19-1 16,11-1-16,25-5 16,1-3-16,4 3 15,15-5 1,-20-2-16,5 0 0,-15-1 16,0-2-1,0-5-15,1-10 16,-17 0-16,1-5 15,-20-1-15,0-1 16,-16-1-16,-19 3 16,-11-1-16,-10 1 15,-10 0-15,-25 2 16,-11 3-16,-14 0 16,-11 2-16,-9 1 15,-11 4-15,-5 3 16,-10 3-16,0 2 15,-4 0-15,-1 5 16,0 5-16,-5 10 16,0 10-16,0-30 15,-5 104-15,0-36 16,-6 10-16,1 11 16,0 4-16,0-4 15,5-6-15,-5-5 16,0-5-1,0-4-15,0-6 16,0-13-16,-6-9 0,6-6 16,-10-5-1,5-5-15,0-2 16,-10 0-16,-6 0 16,-9-6-16,-21 1 15,-14-5-15,-37-3 16,-19 0-16,-10-3 15,-11 1-15,-4-3 16,-11 0-16,-10 3 16,-25 4-16,-10 3 15,5 3-15,0 2 16,0-2-16,0 2 16,-5 0-16,-5 3 15,5 2-15,20-2 16,10 0-16,5 2 15,6 0-15,9 3 16,21-5-16,9-3 16,26-2-16,15-3 15,16-3-15,19-4 16,11 0 0,20-6-16,4 1 15,11-3-15,5 0 16,5-3-16,0 3 15,0 0-15</inkml:trace>
  <inkml:trace contextRef="#ctx0" brushRef="#br0" timeOffset="9181.57">17659 6030 0,'0'0'0,"0"0"0,0 0 0,0 0 0,0 0 15,0 0-15,0 0 16,0 0-16,83 46 15,-25-36-15,13 0 16,20-5-16,28 0 16,25 0-16,7-5 15,26 5-15,5 0 16,7-5-16,28 0 16,-2 5-16,14-5 15,-11-5-15,21 5 16,-6 0-16,7 0 15,2-15-15,5 10 16,-27-5-16,20 0 16,-13-6-16,11-4 15,-36 0-15,-8 5 16,-20 0-16,-30 0 16,5 5-16,-30-6 15,-31 11-15,-20-5 16,-12 5-1,-18 5-15,-8-5 0,-5 5 16,-7 5 0,-8 0-16,-5 0 0,-5 5 15</inkml:trace>
  <inkml:trace contextRef="#ctx0" brushRef="#br0" timeOffset="13031.78">9085 7616 0,'0'0'0,"0"0"16,0 0-16,0 0 0,0 0 0,0 0 15,96-8-15,-59 6 16,6-1-16,5 1 16,3-1-16,9 1 15,1-3-15,-3 0 16,3 0-16,-1 2 15,3-2-15,6 3 16,4-1-16,-3 0 16,6 6-16,-3 0 15,1-6-15,-4 3 16,9 3-16,1-6 16,4 6-16,9 2 15,-4-5-15,6 2 16,-1-2-16,2 8 15,7-3-15,-2 0 16,8 0-16,-3-3 16,5 1-16,-2-6 15,2 3-15,0 0 16,-5-2-16,5 2 16,8-3-1,-16 1-15,6 2 0,-1 0 16,11 0-1,-10-3-15,-6 6 16,8-1-16,-2-4 16,9-1-16,-7 3 15,8-2-15,-3-3 16,11-3-16,-11 3 16,12-3-16,1 6 15,-5-6-15,7 3 16,-7 5-16,7 0 15,-17 0-15,12-2 16,0-3-16,-2 2 16,-8-4-16,8-3 15,0 4-15,-11-1 16,-9-1-16,-13 3 16,0-2-16,-11 4 15,1-2-15,-13 0 16,-10 3-16,-10-1 15,-5 0-15,-5 1 16,-3-1 0,-4 1-16,-6-1 15,-2 1-15,-3-1 16,-5 3-16,-2-2 16,-3 2-16,-3 0 15,-2 0-15,-2 0 16,0-3-16,-1 1 15,1-8-15,2-8 16</inkml:trace>
  <inkml:trace contextRef="#ctx0" brushRef="#br0" timeOffset="14116.94">17752 7543 0,'0'0'0,"0"0"0,0 0 0,0 0 16,0 0-16,106 7 15,-42-4-15,19-1 16,13-2-16,10 3 15,5-3-15,-2-5 16,2 5-16,12-3 16,4 3-16,-9 0 15,14 3-15,-1-1 16,-2-2-16,-1 0 16,16 3-16,-12-3 15,9 5-15,0 0 16,-4-2-16,-8 2 15,4-5-15,1-3 16,0 3-16,2-2 16,8-4-16,-15 4 15,-3 2 1,8 0-16,10 0 0,-13 2 16,1 4-16,1 1 15,-14-2 1,0 0-16,-1 0 15,14 0-15,-16 0 16,-5 3-16,13-1 16,-3-4-16,-8-3 15,-4 5-15,5-5 16,4 3-16,-19-3 16,-11 0-16,-7-3 15,-3 3-15,-2 0 16,-10-5-16,-11 0 15,-7 2-15,-5 1 16,-13-1-16,-4 3 16,-6 0-16,-5-2 15,-2-1-15,-3 1 16,-5-1-16,-3 1 16,-2-1-16,0 3 15,0 0-15,0 0 16</inkml:trace>
  <inkml:trace contextRef="#ctx0" brushRef="#br0" timeOffset="15517.28">6085 8704 0,'0'0'0,"0"0"0,0 0 0,0 0 16,136 10-16,-45 1 15,10 4-15,10-5 16,6 2-16,4 4 15,10 4-15,-5 0 16,6-2-16,9 4 16,5-1-16,-4 4 15,9 0-15,-2 0 16,3 1-16,-6-4 16,6-2-16,4 1 15,-2-4-15,-5-7 16,18 1-1,-8-6-15,13 0 16,7-3-16,-2-2 16,2 3-16,-7-3 15,9 0-15,11-3 16,3 1-16,-3-1 16,-8-7-16,8 5 15,-3-3-15,0 3 16,3-2-16,-5-3 15,15 2-15,-5-2 16,-8 0-16,6-5 16,2 5-16,2-11 15,-14 9-15,-1-3 16,3 0-16,-10-3 16,-13 10-16,-10-7 15,-15 3-15,-6 1 16,-4 4-16,-25-1 15,-11 1-15,-7 2 16,-18 2 0,-12-2-16,-11 3 0,-7 2 15,-5 0 1,-8-3-16,-5 0 16,-7 3-16,-1-5 15,-12-2-15,0 7 16</inkml:trace>
  <inkml:trace contextRef="#ctx0" brushRef="#br0" timeOffset="19719.02">11796 16512 0,'0'0'0,"0"0"0,0 0 0,0 0 0,79 25 0,-24-14 15,18-4-15,21-2 16,9 0-16,16-2 16,10-1-16,7 6 15,8-6-15,15-4 16,0-3-16,15-3 15,8 1-15,10-3 16,-5-1-16,0 1 16,15 0-16,12-2 15,3-4-15,8-4 16,7 3-16,-9-6 16,4 5-16,0-2 15,-2 2-15,-16 3 16,-2 3-1,-17 1-15,-21 4 16,-10-1-16,-13-2 16,-24-2-16,-9-4 15,-24-1-15,-14-1 16,-14 3-16,-11 0 16,-9 2-16,-8 3 15,-3 0-15,-7 5 16,-8 2-16,-3-2 15,-4 3-15,-3-1 16,-2 3-16,-3 0 16,-3 0-16,3 0 15,0 0-15,0 0 16,-162 106-16,36-43 16</inkml:trace>
  <inkml:trace contextRef="#ctx0" brushRef="#br0" timeOffset="20697.93">20166 16146 0,'0'0'16,"0"0"-16,0 0 0,0 0 0,0 0 16,0 0-16,0 0 15,0 0 1,94 25-16,-59-20 0,13-2 15,10-1-15,8 1 16,19-1-16,1-2 16,10 3-16,8-6 15,25 3 1,-1-2-16,11-3 16,10-3-16,13 3 15,-1-5-15,3-2 16,-2-1-16,10 0 15,10-4-15,-16 1 16,8 1-16,3 8 16,-20-6-16,2 3 15,-5 5-15,-18 0 16,-15 2-16,-12-2 16,-13 0-16,-15 5 15,-16-2-15,-9-1 16,-13 3-16,-10 0 15,-6 3-15,-7-3 16,-7 0-16,-10 0 16,-3 0-16,0 0 15,0 0-15</inkml:trace>
  <inkml:trace contextRef="#ctx0" brushRef="#br0" timeOffset="21531.23">2949 17535 0,'0'0'0,"0"0"0,0 0 16,0 0-16,0 0 16,0 0-16,0 0 15,0 0-15,0 0 0,96-5 16,-15 5 0,30 2-16,20 3 0,16 3 15,-1-3 1,6 0-16,-1 0 15,6-7-15,4-1 16,1-7-16,-6 2 16,6-4-16,-5-1 15,-11 1-15,-5-4 16,-4 6-16,-11-2 16,-15 4-16,0 3 15,-15 3-15,-10-1 16,-5 0-16,-5-2 15,-11-2-15,-9-1 16</inkml:trace>
</inkml:ink>
</file>

<file path=ppt/ink/ink9.xml><?xml version="1.0" encoding="utf-8"?>
<inkml:ink xmlns:inkml="http://www.w3.org/2003/InkML">
  <inkml:definitions>
    <inkml:context xml:id="ctx0">
      <inkml:inkSource xml:id="inkSrc0">
        <inkml:traceFormat>
          <inkml:channel name="X" type="integer" max="12072" units="cm"/>
          <inkml:channel name="Y" type="integer" max="7544"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0" timeString="2025-08-06T08:26:26.887"/>
    </inkml:context>
    <inkml:brush xml:id="br0">
      <inkml:brushProperty name="width" value="0.05292" units="cm"/>
      <inkml:brushProperty name="height" value="0.05292" units="cm"/>
      <inkml:brushProperty name="color" value="#FF0000"/>
    </inkml:brush>
  </inkml:definitions>
  <inkml:trace contextRef="#ctx0" brushRef="#br0">17356 6487 0,'0'0'0,"0"0"0,0 0 0,0 0 16,0 0-16,0 0 0,101-45 15,28-21-15,42-22 16,16-8-16,0 5 16,5 0-16,-20 5 15,-6 5-15,-24 21 16,-26 14-16,-8 1 16,-7 9-16,-12 6 15,-24 10-15,-17 5 16,-12 5-16,-19 0 15,-6 10-15,-9 0 16,-2 0-16,0 0 16,0 0-16,-222 171 15</inkml:trace>
  <inkml:trace contextRef="#ctx0" brushRef="#br0" timeOffset="365.74">16818 7964 0,'0'0'0,"0"0"16,0 0-16,0 0 0,51 106 15,-3-75-15,7-19 16,13-17-16,44-27 15,44-37-15,23-37 16,21-25-16,-34 10 16,-12 5-1,-12 15-15,7-3 0,-10 11 16,-18 19-16,-10 19 16,-10 2-16,-25 17 15,-21 6 1,-2 5-16,-12 2 0,-6 3 15,3 2 1,-5 6 0,-6 2-16,1 0 0</inkml:trace>
</inkml:ink>
</file>

<file path=ppt/ink/ink10.xml><?xml version="1.0" encoding="utf-8"?>
<inkml:ink xmlns:inkml="http://www.w3.org/2003/InkML">
  <inkml:definitions>
    <inkml:context xml:id="ctx0">
      <inkml:inkSource xml:id="inkSrc0">
        <inkml:traceFormat>
          <inkml:channel name="X" type="integer" max="12072" units="cm"/>
          <inkml:channel name="Y" type="integer" max="7544"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0" timeString="2025-08-08T03:42:05.208"/>
    </inkml:context>
    <inkml:brush xml:id="br0">
      <inkml:brushProperty name="width" value="0.05292" units="cm"/>
      <inkml:brushProperty name="height" value="0.05292" units="cm"/>
      <inkml:brushProperty name="color" value="#FF0000"/>
    </inkml:brush>
  </inkml:definitions>
  <inkml:trace contextRef="#ctx0" brushRef="#br0">17414 6401 0,'0'0'0,"0"0"0,0 0 15,0 0-15,0 0 0,0 0 0,0 0 16,0 0-16,0 0 15,0 0-15,0 0 16,0 0-16,76 10 16,15-55-16,78-38 15,30-8-15,26-25 16,2-16-16,28-4 16,-27 15-16,1-6 15,-17 6-15,-10 15 16,-22 15-16,-41 16 15,-11 9-15,-12 5 16,-22 11-16,-23 14 16,-23 16-16,-13 5 15,-10 0 1,-12 10-16,-11 5 16,-2 0-16,0 0 15</inkml:trace>
  <inkml:trace contextRef="#ctx0" brushRef="#br0" timeOffset="567.07">16932 7558 0,'0'0'0,"0"0"0,0 0 0,0 0 16,0 0-16,0 0 15,0 0-15,0 0 0,0 0 16,63 98-16,-13-77 15,16-9 1,22-9-16,29-13 16,27-16-16,27-22 15,26-12-15,13-19 16,17-29-16,15-28 16,-2 12-16,-40-5 15,19-15-15,-37 18 16,-15 15-16,-6 2 15,-19 8-15,-29 23 16,-4 7-16,-23 21 16,-21 14-16,-14 11 15,-18 10-15,-5 0 16,-8 5-16,-8 5 16,1-6-16,-3 6 15,0 0 1,-2 0-16,-3 0 0,0 0 15,0-5-15,5 0 16,3 0 0</inkml:trace>
  <inkml:trace contextRef="#ctx0" brushRef="#br0" timeOffset="1254.58">16700 6202 0,'0'0'0,"0"0"0,0 0 0,0 0 16,0 0-16,108 25 15,-47-10-15,2 0 16,-5-4-16,0-6 16,0 0-16,10-10 15,26-16-15,22-14 16,25-21-16,31-19 16,15-21-16,12-20 15,8 4-15,-10-4 16,10 0-16,-30 5 15,-10 15-15,-21 20 16,-30 26-16,-17 4 16,-16 11-1,-5 0-15,-17 14 16,-16 6-16,-17 10 16,-23 5-16,-5 0 15</inkml:trace>
  <inkml:trace contextRef="#ctx0" brushRef="#br0" timeOffset="1784.81">16498 8093 0,'0'0'0,"0"0"0,0 0 0,0 0 0,0 0 0,0 0 16,0 0 0,0 0-16,0 0 0,0 0 15,0 0 1,0 0-16,126 38 15,-30-20-15,27-8 16,24-15-16,22-20 16,43-34-16,-2-21 15,12-26-15,0-28 16,15-18-16,-37 11 16,22-26-16,-25 13 15,-5 20-15,-8 3 16,-32 22-16,-1 21 15,-19 20-15,-19 7 16,-17 13-16,-13 5 16,-9 5-16,-19 13 15,-14 3-15,-11 4 16,-7 5-16,-8 3 16,-3 5-1,-4 0-15,-3 0 0,-5 5 16,-5 0-16,-10 0 15</inkml:trace>
</inkml:ink>
</file>

<file path=ppt/ink/ink11.xml><?xml version="1.0" encoding="utf-8"?>
<inkml:ink xmlns:inkml="http://www.w3.org/2003/InkML">
  <inkml:definitions>
    <inkml:context xml:id="ctx0">
      <inkml:inkSource xml:id="inkSrc0">
        <inkml:traceFormat>
          <inkml:channel name="X" type="integer" max="12072" units="cm"/>
          <inkml:channel name="Y" type="integer" max="7544"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0" timeString="2025-08-08T03:42:36.077"/>
    </inkml:context>
    <inkml:brush xml:id="br0">
      <inkml:brushProperty name="width" value="0.05292" units="cm"/>
      <inkml:brushProperty name="height" value="0.05292" units="cm"/>
      <inkml:brushProperty name="color" value="#FF0000"/>
    </inkml:brush>
  </inkml:definitions>
  <inkml:trace contextRef="#ctx0" brushRef="#br0">23464 16411 0,'0'0'0,"0"0"0,0 0 0,0 0 0,0 0 16,0 0-16,0 0 0,0 0 16,0 0-16,0 0 0,0 0 15,0 0 1,0 0-16,0 0 16,0 0-16,0 0 15,0 0-15,0 0 16,0 0-16,0 0 15,0 0-15,0 0 16,0 0-16,0 0 16,0 0-16,0 0 15,0 0-15,0 0 16,-21 76-16,16-68 16,0-1-16,0 1 15,0-1-15,0 1 16,0-1-16,0 1 15,0 0-15,0-1 16,0 1-16,0-3 16,0 2-16,0 1 15,0-1-15,0 1 16,2 0 0,-2-3-16,3 0 0,-1 2 15,-2 1-15,2-1 16,-2 1-1,0 0-15,3-1 0,-3 1 16,2-3 0,1 0-16,-1 0 15,1 0-15,-1 0 16,-2 0-16,0 3 16,3-3-16,-1 0 15,1 0-15,-4 0 16,1 0-16,3-3 15,-1 1-15,1-1 16,-1 4-16,1-1 16,-1-3-16,3 3 15,0-2-15,-2 2 16,-1 0-16,1 0 16</inkml:trace>
  <inkml:trace contextRef="#ctx0" brushRef="#br0" timeOffset="30165.82">3394 13636 0,'0'0'0,"0"0"0,0 0 0,0 0 0,0 0 0,0 0 15,0 0-15,0 0 0,0 0 16,0 0-16,0 0 16,0 0-16,-56 81 15,46-58 1,-5 2-16,-10 8 0,4 7 15,-9 5 1,0 6-16,-6 2 16,-4 3-16,0-6 15,-6-2-15,-4 0 16,4-5-16,-4-3 16,4-2-16,6 5 15,5-2-15,4-1 16,1-5-16,-5 1 15,4-1-15,6-2 16,0-5-16,0-3 16,-1-2-16,-4 4 15,10-1-15,0-4 16,-1-6-16,6-1 16,0-5-16,0-3 15,10 1-15,0-6 16,5 3-16,-5 1 15</inkml:trace>
  <inkml:trace contextRef="#ctx0" brushRef="#br0" timeOffset="32618.29">10163 17292 0,'0'0'16,"0"0"-16,0 0 0,0 0 0,0 0 15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5T17:08:04.119"/>
    </inkml:context>
    <inkml:brush xml:id="br0">
      <inkml:brushProperty name="width" value="0.035" units="cm"/>
      <inkml:brushProperty name="height" value="0.035" units="cm"/>
      <inkml:brushProperty name="color" value="#004F8B"/>
    </inkml:brush>
  </inkml:definitions>
  <inkml:trace contextRef="#ctx0" brushRef="#br0">1 1 24575,'4'3'0,"69"43"0,1-3 0,2-3 0,3-3 0,0-4 0,2-4 0,122 28 0,326 28 0,9-43 0,-253-23 0,752 29 0,-800-51 0,-1-11 0,323-60 0,-376 31 0,-154 34 0,0-2 0,-1 0 0,-1-2 0,31-19 0,-56 31-95,-1 1 38,0-1-1,0 1 0,0-1 0,0 1 1,0-1-1,0 0 0,0 0 0,0 1 1,-1-1-1,1 0 0,0 0 0,0 0 1,-1 0-1,1 0 0,0 0 0,-1 0 1,1 0-1,-1 0 0,1 0 0,-1 0 1,1-1-1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5T17:10:27.946"/>
    </inkml:context>
    <inkml:brush xml:id="br0">
      <inkml:brushProperty name="width" value="0.035" units="cm"/>
      <inkml:brushProperty name="height" value="0.035" units="cm"/>
      <inkml:brushProperty name="color" value="#004F8B"/>
    </inkml:brush>
  </inkml:definitions>
  <inkml:trace contextRef="#ctx0" brushRef="#br0">1 1790 24575,'3'-1'0,"1"1"0,0-1 0,0 1 0,0-1 0,-1 0 0,1-1 0,0 1 0,-1-1 0,1 1 0,-1-1 0,1 0 0,2-3 0,37-33 0,-33 28 0,303-305 0,-223 226 0,73-67 0,-111 110 0,74-49 0,31-18 0,-74 51 0,114-65 0,74 1 0,8 20 0,-10 5 0,-112 36 0,187-72 0,-305 124 0,1 2 0,1 2 0,-1 1 0,2 2 0,-1 2 0,59 2 0,-75 3 0,83-3 0,-99 1 0,1 0 0,-1 0 0,0-1 0,1 0 0,-1-1 0,0 0 0,-1-1 0,15-7 0,-22 11 0,0-1 0,0 1 0,0 0 0,-1-1 0,1 0 0,0 1 0,0-1 0,-1 1 0,1-1 0,0 0 0,-1 1 0,1-1 0,0 0 0,-1 0 0,1 1 0,-1-1 0,0 0 0,1 0 0,-1 0 0,0 0 0,1 0 0,-1 0 0,0 0 0,0 0 0,0-1 0,0 1 0,0 0 0,-1 0 0,0 0 0,1 0 0,-1 0 0,0 0 0,1 0 0,-1 1 0,0-1 0,0 0 0,0 0 0,0 1 0,0-1 0,0 0 0,0 1 0,0-1 0,-1 0 0,-10-3 0,1 0 0,-1 0 0,-13-1 0,18 3 0,-156-44 0,162 45 0,1 1 0,-1 0 0,1-1 0,-1 1 0,0 0 0,1 0 0,-1 0 0,1-1 0,-1 1 0,0 0 0,1 0 0,-1 0 0,0 0 0,1 0 0,-1 0 0,0 0 0,1 0 0,-1 0 0,0 1 0,1-1 0,-1 0 0,0 0 0,1 0 0,-1 1 0,1-1 0,-1 0 0,0 1 0,1-1 0,-1 1 0,1-1 0,-1 1 0,0 1 0,1-1 0,0 0 0,1 0 0,-1 1 0,0-1 0,0 0 0,0 0 0,1 1 0,-1-1 0,1 0 0,-1 0 0,1 0 0,-1 0 0,2 3 0,4 4 0,0 0 0,0 0 0,9 9 0,74 55 0,-56-47 0,33 32 0,-62-54 0,0 1 0,0 1 0,-1-1 0,0 0 0,1 1 0,-2 0 0,1 0 0,2 5 0,-4-8 0,0 1 0,-1 0 0,1 0 0,-1 0 0,1 0 0,-1 0 0,0 0 0,0 0 0,0 0 0,-1-1 0,1 1 0,-1 0 0,1 0 0,-1 0 0,0 0 0,0-1 0,-2 4 0,-10 16 0,0-1 0,-2-1 0,-1 0 0,-19 20 0,10-12 0,-13 11 0,-12 16 0,45-49 0,1 0 0,0 1 0,0 0 0,1 0 0,0 0 0,0 0 0,-3 12 0,4-12-103,0 3-149,-1 0-1,0 0 1,0-1-1,-6 12 1,0-7-6574</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5T17:10:29.346"/>
    </inkml:context>
    <inkml:brush xml:id="br0">
      <inkml:brushProperty name="width" value="0.035" units="cm"/>
      <inkml:brushProperty name="height" value="0.035" units="cm"/>
      <inkml:brushProperty name="color" value="#004F8B"/>
    </inkml:brush>
  </inkml:definitions>
  <inkml:trace contextRef="#ctx0" brushRef="#br0">1 0 24575,'0'0'0,"0"0"0,2 5 0,58 147 0,-6 3 0,51 241 0,-102-380 0,66 371 0,-67-376-195,-2 0 0,1 0 0,-1 0 0,-1 0 0,0 0 0,-3 13 0,0-10-6631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5T17:10:29.838"/>
    </inkml:context>
    <inkml:brush xml:id="br0">
      <inkml:brushProperty name="width" value="0.035" units="cm"/>
      <inkml:brushProperty name="height" value="0.035" units="cm"/>
      <inkml:brushProperty name="color" value="#004F8B"/>
    </inkml:brush>
  </inkml:definitions>
  <inkml:trace contextRef="#ctx0" brushRef="#br0">0 535 24575,'0'0'0,"0"0"0,4-3 0,556-439 0,-542 427-120,40-29 373,-52 40-440,0 0-1,1 0 1,0 1 0,0-1 0,0 2-1,0-1 1,9-1 0,4 2-6639</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5T17:10:30.564"/>
    </inkml:context>
    <inkml:brush xml:id="br0">
      <inkml:brushProperty name="width" value="0.035" units="cm"/>
      <inkml:brushProperty name="height" value="0.035" units="cm"/>
      <inkml:brushProperty name="color" value="#004F8B"/>
    </inkml:brush>
  </inkml:definitions>
  <inkml:trace contextRef="#ctx0" brushRef="#br0">1 1 24575,'0'0'0,"2"4"0,33 60 0,-2 0 0,-4 2 0,-2 2 0,28 116 0,-36-99 0,-4 1 0,-3 1 0,0 138 0,-12-219 0,-1 0 0,1-1 0,0 1 0,1 0 0,0-1 0,2 11 0,-3-15 0,1 0 0,-1 0 0,1 0 0,-1 0 0,1 0 0,-1 0 0,1 0 0,0 0 0,0 0 0,-1 0 0,1-1 0,0 1 0,0 0 0,0 0 0,0-1 0,0 1 0,0-1 0,0 1 0,0-1 0,0 1 0,0-1 0,0 0 0,0 1 0,0-1 0,0 0 0,0 0 0,1 0 0,-1 0 0,0 0 0,0 0 0,0 0 0,0 0 0,0 0 0,0-1 0,2 0 0,18-5 0,-1-2 0,-1 0 0,0-2 0,0 0 0,29-20 0,-16 9 0,204-138-1365,-227 152-5461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5T17:10:30.909"/>
    </inkml:context>
    <inkml:brush xml:id="br0">
      <inkml:brushProperty name="width" value="0.035" units="cm"/>
      <inkml:brushProperty name="height" value="0.035" units="cm"/>
      <inkml:brushProperty name="color" value="#004F8B"/>
    </inkml:brush>
  </inkml:definitions>
  <inkml:trace contextRef="#ctx0" brushRef="#br0">0 0 24575,'6'18'0,"-1"-7"0,48 152 0,-7 2 0,32 215 0,-72-322-1365,-6-39-5461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5T17:10:31.463"/>
    </inkml:context>
    <inkml:brush xml:id="br0">
      <inkml:brushProperty name="width" value="0.035" units="cm"/>
      <inkml:brushProperty name="height" value="0.035" units="cm"/>
      <inkml:brushProperty name="color" value="#004F8B"/>
    </inkml:brush>
  </inkml:definitions>
  <inkml:trace contextRef="#ctx0" brushRef="#br0">1 493 24575,'0'0'0,"0"0"0,0-4 0,2-23 0,1 0 0,1 0 0,2 1 0,0-1 0,2 2 0,1-1 0,1 1 0,1 0 0,1 1 0,17-24 0,-20 33 0,1 2 0,0-1 0,1 2 0,1-1 0,0 2 0,1-1 0,0 2 0,1 0 0,0 0 0,0 1 0,1 1 0,0 1 0,0 0 0,1 0 0,0 2 0,0 0 0,25-4 0,-15 6 0,0 2 0,0 0 0,0 2 0,-1 1 0,1 0 0,0 2 0,-1 2 0,0 0 0,0 1 0,28 13 0,-31-11 0,0 1 0,-1 2 0,0 0 0,-1 1 0,-1 1 0,0 0 0,-1 2 0,0 0 0,-2 1 0,1 1 0,14 22 0,-24-30 0,-1 1 0,0 0 0,0 0 0,-1 1 0,0-1 0,-1 1 0,-1 0 0,0 0 0,0 1 0,-1-1 0,-1 1 0,0-1 0,0 1 0,-2-1 0,1 1 0,-2-1 0,0 0 0,0 1 0,-1-1 0,0 0 0,-9 19 0,-7 12 0,-1-1 0,-2-1 0,-53 73 0,20-44 0,-70 70 0,91-104 0,-1-3 0,-1 0 0,-2-3 0,-55 34 0,83-58-273,0-1 0,-1 0 0,0-1 0,-14 3 0,-3 0-6553</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5T17:10:33.419"/>
    </inkml:context>
    <inkml:brush xml:id="br0">
      <inkml:brushProperty name="width" value="0.035" units="cm"/>
      <inkml:brushProperty name="height" value="0.035" units="cm"/>
      <inkml:brushProperty name="color" value="#004F8B"/>
    </inkml:brush>
  </inkml:definitions>
  <inkml:trace contextRef="#ctx0" brushRef="#br0">1 1 24575,'0'0'0,"0"0"0,0 0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F0193CF0-5BB1-44ED-877E-7EF1D234B4FC}" type="datetimeFigureOut">
              <a:rPr lang="en-US" smtClean="0"/>
              <a:t>8/8/2025</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297BE8EC-EE39-43C7-B3B0-9C62E8E720E8}" type="slidenum">
              <a:rPr lang="en-US" smtClean="0"/>
              <a:t>‹#›</a:t>
            </a:fld>
            <a:endParaRPr lang="en-US"/>
          </a:p>
        </p:txBody>
      </p:sp>
    </p:spTree>
    <p:extLst>
      <p:ext uri="{BB962C8B-B14F-4D97-AF65-F5344CB8AC3E}">
        <p14:creationId xmlns:p14="http://schemas.microsoft.com/office/powerpoint/2010/main" val="2910646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297BE8EC-EE39-43C7-B3B0-9C62E8E720E8}" type="slidenum">
              <a:rPr lang="en-US" smtClean="0"/>
              <a:t>16</a:t>
            </a:fld>
            <a:endParaRPr lang="en-US"/>
          </a:p>
        </p:txBody>
      </p:sp>
    </p:spTree>
    <p:extLst>
      <p:ext uri="{BB962C8B-B14F-4D97-AF65-F5344CB8AC3E}">
        <p14:creationId xmlns:p14="http://schemas.microsoft.com/office/powerpoint/2010/main" val="1111548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7BE8EC-EE39-43C7-B3B0-9C62E8E720E8}" type="slidenum">
              <a:rPr lang="en-US" smtClean="0"/>
              <a:t>17</a:t>
            </a:fld>
            <a:endParaRPr lang="en-US"/>
          </a:p>
        </p:txBody>
      </p:sp>
    </p:spTree>
    <p:extLst>
      <p:ext uri="{BB962C8B-B14F-4D97-AF65-F5344CB8AC3E}">
        <p14:creationId xmlns:p14="http://schemas.microsoft.com/office/powerpoint/2010/main" val="2894490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2900" b="0" i="0">
                <a:solidFill>
                  <a:schemeClr val="tx1"/>
                </a:solidFill>
                <a:latin typeface="Franklin Gothic Medium"/>
                <a:cs typeface="Franklin Gothic Medium"/>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8/8/2025</a:t>
            </a:fld>
            <a:endParaRPr lang="en-US"/>
          </a:p>
        </p:txBody>
      </p:sp>
      <p:sp>
        <p:nvSpPr>
          <p:cNvPr id="6" name="Holder 6"/>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91440">
              <a:lnSpc>
                <a:spcPts val="1664"/>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0" i="0">
                <a:solidFill>
                  <a:schemeClr val="tx1"/>
                </a:solidFill>
                <a:latin typeface="Franklin Gothic Medium"/>
                <a:cs typeface="Franklin Gothic Medium"/>
              </a:defRPr>
            </a:lvl1pPr>
          </a:lstStyle>
          <a:p>
            <a:endParaRPr/>
          </a:p>
        </p:txBody>
      </p:sp>
      <p:sp>
        <p:nvSpPr>
          <p:cNvPr id="3" name="Holder 3"/>
          <p:cNvSpPr>
            <a:spLocks noGrp="1"/>
          </p:cNvSpPr>
          <p:nvPr>
            <p:ph type="body" idx="1"/>
          </p:nvPr>
        </p:nvSpPr>
        <p:spPr/>
        <p:txBody>
          <a:bodyPr lIns="0" tIns="0" rIns="0" bIns="0"/>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8/8/2025</a:t>
            </a:fld>
            <a:endParaRPr lang="en-US"/>
          </a:p>
        </p:txBody>
      </p:sp>
      <p:sp>
        <p:nvSpPr>
          <p:cNvPr id="6" name="Holder 6"/>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91440">
              <a:lnSpc>
                <a:spcPts val="1664"/>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0" i="0">
                <a:solidFill>
                  <a:schemeClr val="tx1"/>
                </a:solidFill>
                <a:latin typeface="Franklin Gothic Medium"/>
                <a:cs typeface="Franklin Gothic Medium"/>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8/8/2025</a:t>
            </a:fld>
            <a:endParaRPr lang="en-US"/>
          </a:p>
        </p:txBody>
      </p:sp>
      <p:sp>
        <p:nvSpPr>
          <p:cNvPr id="7" name="Holder 7"/>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91440">
              <a:lnSpc>
                <a:spcPts val="1664"/>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0" i="0">
                <a:solidFill>
                  <a:schemeClr val="tx1"/>
                </a:solidFill>
                <a:latin typeface="Franklin Gothic Medium"/>
                <a:cs typeface="Franklin Gothic Medium"/>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8/8/2025</a:t>
            </a:fld>
            <a:endParaRPr lang="en-US"/>
          </a:p>
        </p:txBody>
      </p:sp>
      <p:sp>
        <p:nvSpPr>
          <p:cNvPr id="5" name="Holder 5"/>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91440">
              <a:lnSpc>
                <a:spcPts val="1664"/>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8/8/2025</a:t>
            </a:fld>
            <a:endParaRPr lang="en-US"/>
          </a:p>
        </p:txBody>
      </p:sp>
      <p:sp>
        <p:nvSpPr>
          <p:cNvPr id="4" name="Holder 4"/>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91440">
              <a:lnSpc>
                <a:spcPts val="1664"/>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4007" y="69722"/>
            <a:ext cx="9013825" cy="6693534"/>
          </a:xfrm>
          <a:custGeom>
            <a:avLst/>
            <a:gdLst/>
            <a:ahLst/>
            <a:cxnLst/>
            <a:rect l="l" t="t" r="r" b="b"/>
            <a:pathLst>
              <a:path w="9013825" h="6693534">
                <a:moveTo>
                  <a:pt x="0" y="329946"/>
                </a:moveTo>
                <a:lnTo>
                  <a:pt x="3577" y="281184"/>
                </a:lnTo>
                <a:lnTo>
                  <a:pt x="13968" y="234645"/>
                </a:lnTo>
                <a:lnTo>
                  <a:pt x="30664" y="190840"/>
                </a:lnTo>
                <a:lnTo>
                  <a:pt x="53153" y="150277"/>
                </a:lnTo>
                <a:lnTo>
                  <a:pt x="80925" y="113468"/>
                </a:lnTo>
                <a:lnTo>
                  <a:pt x="113469" y="80923"/>
                </a:lnTo>
                <a:lnTo>
                  <a:pt x="150276" y="53151"/>
                </a:lnTo>
                <a:lnTo>
                  <a:pt x="190835" y="30662"/>
                </a:lnTo>
                <a:lnTo>
                  <a:pt x="234636" y="13967"/>
                </a:lnTo>
                <a:lnTo>
                  <a:pt x="281168" y="3576"/>
                </a:lnTo>
                <a:lnTo>
                  <a:pt x="329920" y="0"/>
                </a:lnTo>
                <a:lnTo>
                  <a:pt x="8683498" y="0"/>
                </a:lnTo>
                <a:lnTo>
                  <a:pt x="8732228" y="3576"/>
                </a:lnTo>
                <a:lnTo>
                  <a:pt x="8778740" y="13967"/>
                </a:lnTo>
                <a:lnTo>
                  <a:pt x="8822525" y="30662"/>
                </a:lnTo>
                <a:lnTo>
                  <a:pt x="8863071" y="53151"/>
                </a:lnTo>
                <a:lnTo>
                  <a:pt x="8899868" y="80923"/>
                </a:lnTo>
                <a:lnTo>
                  <a:pt x="8932405" y="113468"/>
                </a:lnTo>
                <a:lnTo>
                  <a:pt x="8960172" y="150277"/>
                </a:lnTo>
                <a:lnTo>
                  <a:pt x="8982656" y="190840"/>
                </a:lnTo>
                <a:lnTo>
                  <a:pt x="8999349" y="234645"/>
                </a:lnTo>
                <a:lnTo>
                  <a:pt x="9009740" y="281184"/>
                </a:lnTo>
                <a:lnTo>
                  <a:pt x="9013317" y="329946"/>
                </a:lnTo>
                <a:lnTo>
                  <a:pt x="9013317" y="6363525"/>
                </a:lnTo>
                <a:lnTo>
                  <a:pt x="9009740" y="6412277"/>
                </a:lnTo>
                <a:lnTo>
                  <a:pt x="8999349" y="6458809"/>
                </a:lnTo>
                <a:lnTo>
                  <a:pt x="8982656" y="6502609"/>
                </a:lnTo>
                <a:lnTo>
                  <a:pt x="8960172" y="6543167"/>
                </a:lnTo>
                <a:lnTo>
                  <a:pt x="8932405" y="6579973"/>
                </a:lnTo>
                <a:lnTo>
                  <a:pt x="8899868" y="6612517"/>
                </a:lnTo>
                <a:lnTo>
                  <a:pt x="8863071" y="6640288"/>
                </a:lnTo>
                <a:lnTo>
                  <a:pt x="8822525" y="6662776"/>
                </a:lnTo>
                <a:lnTo>
                  <a:pt x="8778740" y="6679471"/>
                </a:lnTo>
                <a:lnTo>
                  <a:pt x="8732228" y="6689862"/>
                </a:lnTo>
                <a:lnTo>
                  <a:pt x="8683498" y="6693439"/>
                </a:lnTo>
                <a:lnTo>
                  <a:pt x="329920" y="6693439"/>
                </a:lnTo>
                <a:lnTo>
                  <a:pt x="281168" y="6689862"/>
                </a:lnTo>
                <a:lnTo>
                  <a:pt x="234636" y="6679471"/>
                </a:lnTo>
                <a:lnTo>
                  <a:pt x="190835" y="6662776"/>
                </a:lnTo>
                <a:lnTo>
                  <a:pt x="150276" y="6640288"/>
                </a:lnTo>
                <a:lnTo>
                  <a:pt x="113469" y="6612517"/>
                </a:lnTo>
                <a:lnTo>
                  <a:pt x="80925" y="6579973"/>
                </a:lnTo>
                <a:lnTo>
                  <a:pt x="53153" y="6543167"/>
                </a:lnTo>
                <a:lnTo>
                  <a:pt x="30664" y="6502609"/>
                </a:lnTo>
                <a:lnTo>
                  <a:pt x="13968" y="6458809"/>
                </a:lnTo>
                <a:lnTo>
                  <a:pt x="3577" y="6412277"/>
                </a:lnTo>
                <a:lnTo>
                  <a:pt x="0" y="6363525"/>
                </a:lnTo>
                <a:lnTo>
                  <a:pt x="0" y="329946"/>
                </a:lnTo>
                <a:close/>
              </a:path>
            </a:pathLst>
          </a:custGeom>
          <a:ln w="6350">
            <a:solidFill>
              <a:srgbClr val="000000"/>
            </a:solidFill>
          </a:ln>
        </p:spPr>
        <p:txBody>
          <a:bodyPr wrap="square" lIns="0" tIns="0" rIns="0" bIns="0" rtlCol="0"/>
          <a:lstStyle/>
          <a:p>
            <a:endParaRPr/>
          </a:p>
        </p:txBody>
      </p:sp>
      <p:sp>
        <p:nvSpPr>
          <p:cNvPr id="2" name="Holder 2"/>
          <p:cNvSpPr>
            <a:spLocks noGrp="1"/>
          </p:cNvSpPr>
          <p:nvPr>
            <p:ph type="title"/>
          </p:nvPr>
        </p:nvSpPr>
        <p:spPr>
          <a:xfrm>
            <a:off x="307340" y="247599"/>
            <a:ext cx="8529319" cy="574675"/>
          </a:xfrm>
          <a:prstGeom prst="rect">
            <a:avLst/>
          </a:prstGeom>
        </p:spPr>
        <p:txBody>
          <a:bodyPr wrap="square" lIns="0" tIns="0" rIns="0" bIns="0">
            <a:spAutoFit/>
          </a:bodyPr>
          <a:lstStyle>
            <a:lvl1pPr>
              <a:defRPr sz="2900" b="0" i="0">
                <a:solidFill>
                  <a:schemeClr val="tx1"/>
                </a:solidFill>
                <a:latin typeface="Franklin Gothic Medium"/>
                <a:cs typeface="Franklin Gothic Medium"/>
              </a:defRPr>
            </a:lvl1pPr>
          </a:lstStyle>
          <a:p>
            <a:endParaRPr/>
          </a:p>
        </p:txBody>
      </p:sp>
      <p:sp>
        <p:nvSpPr>
          <p:cNvPr id="3" name="Holder 3"/>
          <p:cNvSpPr>
            <a:spLocks noGrp="1"/>
          </p:cNvSpPr>
          <p:nvPr>
            <p:ph type="body" idx="1"/>
          </p:nvPr>
        </p:nvSpPr>
        <p:spPr>
          <a:xfrm>
            <a:off x="307340" y="1057402"/>
            <a:ext cx="8301355" cy="2555875"/>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8/8/2025</a:t>
            </a:fld>
            <a:endParaRPr lang="en-US"/>
          </a:p>
        </p:txBody>
      </p:sp>
      <p:sp>
        <p:nvSpPr>
          <p:cNvPr id="6" name="Holder 6"/>
          <p:cNvSpPr>
            <a:spLocks noGrp="1"/>
          </p:cNvSpPr>
          <p:nvPr>
            <p:ph type="sldNum" sz="quarter" idx="7"/>
          </p:nvPr>
        </p:nvSpPr>
        <p:spPr>
          <a:xfrm>
            <a:off x="230733" y="6329531"/>
            <a:ext cx="299720" cy="227965"/>
          </a:xfrm>
          <a:prstGeom prst="rect">
            <a:avLst/>
          </a:prstGeom>
        </p:spPr>
        <p:txBody>
          <a:bodyPr wrap="square" lIns="0" tIns="0" rIns="0" bIns="0">
            <a:spAutoFit/>
          </a:bodyPr>
          <a:lstStyle>
            <a:lvl1pPr>
              <a:defRPr sz="1400" b="0" i="0">
                <a:solidFill>
                  <a:schemeClr val="bg1"/>
                </a:solidFill>
                <a:latin typeface="Franklin Gothic Medium"/>
                <a:cs typeface="Franklin Gothic Medium"/>
              </a:defRPr>
            </a:lvl1pPr>
          </a:lstStyle>
          <a:p>
            <a:pPr marL="91440">
              <a:lnSpc>
                <a:spcPts val="1664"/>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customXml" Target="../ink/ink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6.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7.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ustomXml" Target="../ink/ink9.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customXml" Target="../ink/ink10.xml"/></Relationships>
</file>

<file path=ppt/slides/_rels/slide19.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7" Type="http://schemas.openxmlformats.org/officeDocument/2006/relationships/image" Target="../media/image110.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customXml" Target="../ink/ink16.xml"/><Relationship Id="rId13" Type="http://schemas.openxmlformats.org/officeDocument/2006/relationships/image" Target="../media/image170.png"/><Relationship Id="rId3" Type="http://schemas.openxmlformats.org/officeDocument/2006/relationships/image" Target="../media/image120.png"/><Relationship Id="rId7" Type="http://schemas.openxmlformats.org/officeDocument/2006/relationships/image" Target="../media/image140.png"/><Relationship Id="rId12" Type="http://schemas.openxmlformats.org/officeDocument/2006/relationships/customXml" Target="../ink/ink18.xml"/><Relationship Id="rId2" Type="http://schemas.openxmlformats.org/officeDocument/2006/relationships/customXml" Target="../ink/ink13.xml"/><Relationship Id="rId1" Type="http://schemas.openxmlformats.org/officeDocument/2006/relationships/slideLayout" Target="../slideLayouts/slideLayout2.xml"/><Relationship Id="rId6" Type="http://schemas.openxmlformats.org/officeDocument/2006/relationships/customXml" Target="../ink/ink15.xml"/><Relationship Id="rId11" Type="http://schemas.openxmlformats.org/officeDocument/2006/relationships/image" Target="../media/image160.png"/><Relationship Id="rId5" Type="http://schemas.openxmlformats.org/officeDocument/2006/relationships/image" Target="../media/image130.png"/><Relationship Id="rId15" Type="http://schemas.openxmlformats.org/officeDocument/2006/relationships/image" Target="../media/image180.png"/><Relationship Id="rId10" Type="http://schemas.openxmlformats.org/officeDocument/2006/relationships/customXml" Target="../ink/ink17.xml"/><Relationship Id="rId4" Type="http://schemas.openxmlformats.org/officeDocument/2006/relationships/customXml" Target="../ink/ink14.xml"/><Relationship Id="rId9" Type="http://schemas.openxmlformats.org/officeDocument/2006/relationships/image" Target="../media/image150.png"/><Relationship Id="rId14" Type="http://schemas.openxmlformats.org/officeDocument/2006/relationships/customXml" Target="../ink/ink19.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66547"/>
            <a:ext cx="9132570" cy="6698615"/>
            <a:chOff x="0" y="66547"/>
            <a:chExt cx="9132570" cy="6698615"/>
          </a:xfrm>
        </p:grpSpPr>
        <p:pic>
          <p:nvPicPr>
            <p:cNvPr id="3" name="object 3"/>
            <p:cNvPicPr/>
            <p:nvPr/>
          </p:nvPicPr>
          <p:blipFill>
            <a:blip r:embed="rId2" cstate="print"/>
            <a:stretch>
              <a:fillRect/>
            </a:stretch>
          </p:blipFill>
          <p:spPr>
            <a:xfrm>
              <a:off x="65313" y="69722"/>
              <a:ext cx="9013408" cy="6692231"/>
            </a:xfrm>
            <a:prstGeom prst="rect">
              <a:avLst/>
            </a:prstGeom>
          </p:spPr>
        </p:pic>
        <p:sp>
          <p:nvSpPr>
            <p:cNvPr id="4" name="object 4"/>
            <p:cNvSpPr/>
            <p:nvPr/>
          </p:nvSpPr>
          <p:spPr>
            <a:xfrm>
              <a:off x="65313" y="69722"/>
              <a:ext cx="9013825" cy="6692265"/>
            </a:xfrm>
            <a:custGeom>
              <a:avLst/>
              <a:gdLst/>
              <a:ahLst/>
              <a:cxnLst/>
              <a:rect l="l" t="t" r="r" b="b"/>
              <a:pathLst>
                <a:path w="9013825" h="6692265">
                  <a:moveTo>
                    <a:pt x="0" y="329946"/>
                  </a:moveTo>
                  <a:lnTo>
                    <a:pt x="3576" y="281184"/>
                  </a:lnTo>
                  <a:lnTo>
                    <a:pt x="13965" y="234645"/>
                  </a:lnTo>
                  <a:lnTo>
                    <a:pt x="30657" y="190840"/>
                  </a:lnTo>
                  <a:lnTo>
                    <a:pt x="53141" y="150277"/>
                  </a:lnTo>
                  <a:lnTo>
                    <a:pt x="80907" y="113468"/>
                  </a:lnTo>
                  <a:lnTo>
                    <a:pt x="113445" y="80923"/>
                  </a:lnTo>
                  <a:lnTo>
                    <a:pt x="150245" y="53151"/>
                  </a:lnTo>
                  <a:lnTo>
                    <a:pt x="190796" y="30662"/>
                  </a:lnTo>
                  <a:lnTo>
                    <a:pt x="234589" y="13967"/>
                  </a:lnTo>
                  <a:lnTo>
                    <a:pt x="281114" y="3576"/>
                  </a:lnTo>
                  <a:lnTo>
                    <a:pt x="329859" y="0"/>
                  </a:lnTo>
                  <a:lnTo>
                    <a:pt x="8683462" y="0"/>
                  </a:lnTo>
                  <a:lnTo>
                    <a:pt x="8732224" y="3576"/>
                  </a:lnTo>
                  <a:lnTo>
                    <a:pt x="8778762" y="13967"/>
                  </a:lnTo>
                  <a:lnTo>
                    <a:pt x="8822568" y="30662"/>
                  </a:lnTo>
                  <a:lnTo>
                    <a:pt x="8863130" y="53151"/>
                  </a:lnTo>
                  <a:lnTo>
                    <a:pt x="8899939" y="80923"/>
                  </a:lnTo>
                  <a:lnTo>
                    <a:pt x="8932485" y="113468"/>
                  </a:lnTo>
                  <a:lnTo>
                    <a:pt x="8960257" y="150277"/>
                  </a:lnTo>
                  <a:lnTo>
                    <a:pt x="8982745" y="190840"/>
                  </a:lnTo>
                  <a:lnTo>
                    <a:pt x="8999440" y="234645"/>
                  </a:lnTo>
                  <a:lnTo>
                    <a:pt x="9009831" y="281184"/>
                  </a:lnTo>
                  <a:lnTo>
                    <a:pt x="9013408" y="329946"/>
                  </a:lnTo>
                  <a:lnTo>
                    <a:pt x="9013408" y="6362369"/>
                  </a:lnTo>
                  <a:lnTo>
                    <a:pt x="9009831" y="6411115"/>
                  </a:lnTo>
                  <a:lnTo>
                    <a:pt x="8999440" y="6457639"/>
                  </a:lnTo>
                  <a:lnTo>
                    <a:pt x="8982745" y="6501432"/>
                  </a:lnTo>
                  <a:lnTo>
                    <a:pt x="8960257" y="6541984"/>
                  </a:lnTo>
                  <a:lnTo>
                    <a:pt x="8932485" y="6578785"/>
                  </a:lnTo>
                  <a:lnTo>
                    <a:pt x="8899939" y="6611323"/>
                  </a:lnTo>
                  <a:lnTo>
                    <a:pt x="8863130" y="6639090"/>
                  </a:lnTo>
                  <a:lnTo>
                    <a:pt x="8822568" y="6661574"/>
                  </a:lnTo>
                  <a:lnTo>
                    <a:pt x="8778762" y="6678266"/>
                  </a:lnTo>
                  <a:lnTo>
                    <a:pt x="8732224" y="6688655"/>
                  </a:lnTo>
                  <a:lnTo>
                    <a:pt x="8683462" y="6692231"/>
                  </a:lnTo>
                  <a:lnTo>
                    <a:pt x="329859" y="6692231"/>
                  </a:lnTo>
                  <a:lnTo>
                    <a:pt x="281114" y="6688655"/>
                  </a:lnTo>
                  <a:lnTo>
                    <a:pt x="234589" y="6678266"/>
                  </a:lnTo>
                  <a:lnTo>
                    <a:pt x="190796" y="6661574"/>
                  </a:lnTo>
                  <a:lnTo>
                    <a:pt x="150245" y="6639090"/>
                  </a:lnTo>
                  <a:lnTo>
                    <a:pt x="113445" y="6611323"/>
                  </a:lnTo>
                  <a:lnTo>
                    <a:pt x="80907" y="6578785"/>
                  </a:lnTo>
                  <a:lnTo>
                    <a:pt x="53141" y="6541984"/>
                  </a:lnTo>
                  <a:lnTo>
                    <a:pt x="30657" y="6501432"/>
                  </a:lnTo>
                  <a:lnTo>
                    <a:pt x="13965" y="6457639"/>
                  </a:lnTo>
                  <a:lnTo>
                    <a:pt x="3576" y="6411115"/>
                  </a:lnTo>
                  <a:lnTo>
                    <a:pt x="0" y="6362369"/>
                  </a:lnTo>
                  <a:lnTo>
                    <a:pt x="0" y="329946"/>
                  </a:lnTo>
                  <a:close/>
                </a:path>
              </a:pathLst>
            </a:custGeom>
            <a:ln w="6350">
              <a:solidFill>
                <a:srgbClr val="000000"/>
              </a:solidFill>
            </a:ln>
          </p:spPr>
          <p:txBody>
            <a:bodyPr wrap="square" lIns="0" tIns="0" rIns="0" bIns="0" rtlCol="0"/>
            <a:lstStyle/>
            <a:p>
              <a:endParaRPr/>
            </a:p>
          </p:txBody>
        </p:sp>
        <p:sp>
          <p:nvSpPr>
            <p:cNvPr id="5" name="object 5"/>
            <p:cNvSpPr/>
            <p:nvPr/>
          </p:nvSpPr>
          <p:spPr>
            <a:xfrm>
              <a:off x="62931" y="1517269"/>
              <a:ext cx="9022080" cy="1459865"/>
            </a:xfrm>
            <a:custGeom>
              <a:avLst/>
              <a:gdLst/>
              <a:ahLst/>
              <a:cxnLst/>
              <a:rect l="l" t="t" r="r" b="b"/>
              <a:pathLst>
                <a:path w="9022080" h="1459864">
                  <a:moveTo>
                    <a:pt x="0" y="1459356"/>
                  </a:moveTo>
                  <a:lnTo>
                    <a:pt x="9021572" y="1459356"/>
                  </a:lnTo>
                  <a:lnTo>
                    <a:pt x="9021572" y="0"/>
                  </a:lnTo>
                  <a:lnTo>
                    <a:pt x="0" y="0"/>
                  </a:lnTo>
                  <a:lnTo>
                    <a:pt x="0" y="1459356"/>
                  </a:lnTo>
                  <a:close/>
                </a:path>
              </a:pathLst>
            </a:custGeom>
            <a:solidFill>
              <a:srgbClr val="D24717"/>
            </a:solidFill>
          </p:spPr>
          <p:txBody>
            <a:bodyPr wrap="square" lIns="0" tIns="0" rIns="0" bIns="0" rtlCol="0"/>
            <a:lstStyle/>
            <a:p>
              <a:endParaRPr/>
            </a:p>
          </p:txBody>
        </p:sp>
        <p:sp>
          <p:nvSpPr>
            <p:cNvPr id="6" name="object 6"/>
            <p:cNvSpPr/>
            <p:nvPr/>
          </p:nvSpPr>
          <p:spPr>
            <a:xfrm>
              <a:off x="62931" y="1396688"/>
              <a:ext cx="9022080" cy="120650"/>
            </a:xfrm>
            <a:custGeom>
              <a:avLst/>
              <a:gdLst/>
              <a:ahLst/>
              <a:cxnLst/>
              <a:rect l="l" t="t" r="r" b="b"/>
              <a:pathLst>
                <a:path w="9022080" h="120650">
                  <a:moveTo>
                    <a:pt x="9021572" y="0"/>
                  </a:moveTo>
                  <a:lnTo>
                    <a:pt x="0" y="0"/>
                  </a:lnTo>
                  <a:lnTo>
                    <a:pt x="0" y="120580"/>
                  </a:lnTo>
                  <a:lnTo>
                    <a:pt x="9021572" y="120580"/>
                  </a:lnTo>
                  <a:lnTo>
                    <a:pt x="9021572" y="0"/>
                  </a:lnTo>
                  <a:close/>
                </a:path>
              </a:pathLst>
            </a:custGeom>
            <a:solidFill>
              <a:srgbClr val="E6B0AB"/>
            </a:solidFill>
          </p:spPr>
          <p:txBody>
            <a:bodyPr wrap="square" lIns="0" tIns="0" rIns="0" bIns="0" rtlCol="0"/>
            <a:lstStyle/>
            <a:p>
              <a:endParaRPr/>
            </a:p>
          </p:txBody>
        </p:sp>
        <p:sp>
          <p:nvSpPr>
            <p:cNvPr id="7" name="object 7"/>
            <p:cNvSpPr/>
            <p:nvPr/>
          </p:nvSpPr>
          <p:spPr>
            <a:xfrm>
              <a:off x="62931" y="2976711"/>
              <a:ext cx="9022080" cy="111125"/>
            </a:xfrm>
            <a:custGeom>
              <a:avLst/>
              <a:gdLst/>
              <a:ahLst/>
              <a:cxnLst/>
              <a:rect l="l" t="t" r="r" b="b"/>
              <a:pathLst>
                <a:path w="9022080" h="111125">
                  <a:moveTo>
                    <a:pt x="9021572" y="0"/>
                  </a:moveTo>
                  <a:lnTo>
                    <a:pt x="0" y="0"/>
                  </a:lnTo>
                  <a:lnTo>
                    <a:pt x="0" y="110531"/>
                  </a:lnTo>
                  <a:lnTo>
                    <a:pt x="9021572" y="110531"/>
                  </a:lnTo>
                  <a:lnTo>
                    <a:pt x="9021572" y="0"/>
                  </a:lnTo>
                  <a:close/>
                </a:path>
              </a:pathLst>
            </a:custGeom>
            <a:solidFill>
              <a:srgbClr val="918485"/>
            </a:solidFill>
          </p:spPr>
          <p:txBody>
            <a:bodyPr wrap="square" lIns="0" tIns="0" rIns="0" bIns="0" rtlCol="0"/>
            <a:lstStyle/>
            <a:p>
              <a:endParaRPr/>
            </a:p>
          </p:txBody>
        </p:sp>
        <p:pic>
          <p:nvPicPr>
            <p:cNvPr id="8" name="object 8"/>
            <p:cNvPicPr/>
            <p:nvPr/>
          </p:nvPicPr>
          <p:blipFill>
            <a:blip r:embed="rId3" cstate="print"/>
            <a:stretch>
              <a:fillRect/>
            </a:stretch>
          </p:blipFill>
          <p:spPr>
            <a:xfrm>
              <a:off x="0" y="757428"/>
              <a:ext cx="9132570" cy="3051810"/>
            </a:xfrm>
            <a:prstGeom prst="rect">
              <a:avLst/>
            </a:prstGeom>
          </p:spPr>
        </p:pic>
      </p:grpSp>
      <p:sp>
        <p:nvSpPr>
          <p:cNvPr id="9" name="object 9"/>
          <p:cNvSpPr txBox="1">
            <a:spLocks noGrp="1"/>
          </p:cNvSpPr>
          <p:nvPr>
            <p:ph type="title"/>
          </p:nvPr>
        </p:nvSpPr>
        <p:spPr>
          <a:xfrm>
            <a:off x="1632966" y="1880997"/>
            <a:ext cx="5864860" cy="696595"/>
          </a:xfrm>
          <a:prstGeom prst="rect">
            <a:avLst/>
          </a:prstGeom>
        </p:spPr>
        <p:txBody>
          <a:bodyPr vert="horz" wrap="square" lIns="0" tIns="13335" rIns="0" bIns="0" rtlCol="0">
            <a:spAutoFit/>
          </a:bodyPr>
          <a:lstStyle/>
          <a:p>
            <a:pPr marL="12700">
              <a:lnSpc>
                <a:spcPct val="100000"/>
              </a:lnSpc>
              <a:spcBef>
                <a:spcPts val="105"/>
              </a:spcBef>
            </a:pPr>
            <a:r>
              <a:rPr sz="4400" b="1" spc="-125" dirty="0">
                <a:solidFill>
                  <a:srgbClr val="001F5F"/>
                </a:solidFill>
                <a:latin typeface="Times New Roman"/>
                <a:cs typeface="Times New Roman"/>
              </a:rPr>
              <a:t>AWS</a:t>
            </a:r>
            <a:r>
              <a:rPr sz="4400" b="1" spc="-75" dirty="0">
                <a:solidFill>
                  <a:srgbClr val="001F5F"/>
                </a:solidFill>
                <a:latin typeface="Times New Roman"/>
                <a:cs typeface="Times New Roman"/>
              </a:rPr>
              <a:t> </a:t>
            </a:r>
            <a:r>
              <a:rPr sz="4400" b="1" dirty="0">
                <a:solidFill>
                  <a:srgbClr val="001F5F"/>
                </a:solidFill>
                <a:latin typeface="Times New Roman"/>
                <a:cs typeface="Times New Roman"/>
              </a:rPr>
              <a:t>Cloud</a:t>
            </a:r>
            <a:r>
              <a:rPr sz="4400" b="1" spc="-85" dirty="0">
                <a:solidFill>
                  <a:srgbClr val="001F5F"/>
                </a:solidFill>
                <a:latin typeface="Times New Roman"/>
                <a:cs typeface="Times New Roman"/>
              </a:rPr>
              <a:t> </a:t>
            </a:r>
            <a:r>
              <a:rPr sz="4400" b="1" spc="-10" dirty="0">
                <a:solidFill>
                  <a:srgbClr val="001F5F"/>
                </a:solidFill>
                <a:latin typeface="Times New Roman"/>
                <a:cs typeface="Times New Roman"/>
              </a:rPr>
              <a:t>Practitioner</a:t>
            </a:r>
            <a:endParaRPr sz="4400" dirty="0">
              <a:latin typeface="Times New Roman"/>
              <a:cs typeface="Times New Roman"/>
            </a:endParaRPr>
          </a:p>
        </p:txBody>
      </p:sp>
      <p:pic>
        <p:nvPicPr>
          <p:cNvPr id="12" name="Picture 11">
            <a:extLst>
              <a:ext uri="{FF2B5EF4-FFF2-40B4-BE49-F238E27FC236}">
                <a16:creationId xmlns:a16="http://schemas.microsoft.com/office/drawing/2014/main" id="{5994B281-AF24-B330-20F2-79749F7BCF6A}"/>
              </a:ext>
            </a:extLst>
          </p:cNvPr>
          <p:cNvPicPr>
            <a:picLocks noChangeAspect="1"/>
          </p:cNvPicPr>
          <p:nvPr/>
        </p:nvPicPr>
        <p:blipFill>
          <a:blip r:embed="rId4"/>
          <a:stretch>
            <a:fillRect/>
          </a:stretch>
        </p:blipFill>
        <p:spPr>
          <a:xfrm>
            <a:off x="59440" y="3374136"/>
            <a:ext cx="8773887" cy="1282095"/>
          </a:xfrm>
          <a:prstGeom prst="rect">
            <a:avLst/>
          </a:prstGeom>
        </p:spPr>
      </p:pic>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3B19B0B4-FB7B-2483-18B8-9F6AD24C30E6}"/>
                  </a:ext>
                </a:extLst>
              </p14:cNvPr>
              <p14:cNvContentPartPr/>
              <p14:nvPr/>
            </p14:nvContentPartPr>
            <p14:xfrm>
              <a:off x="4216680" y="3213720"/>
              <a:ext cx="1013760" cy="685800"/>
            </p14:xfrm>
          </p:contentPart>
        </mc:Choice>
        <mc:Fallback xmlns="">
          <p:pic>
            <p:nvPicPr>
              <p:cNvPr id="10" name="Ink 9">
                <a:extLst>
                  <a:ext uri="{FF2B5EF4-FFF2-40B4-BE49-F238E27FC236}">
                    <a16:creationId xmlns:a16="http://schemas.microsoft.com/office/drawing/2014/main" id="{3B19B0B4-FB7B-2483-18B8-9F6AD24C30E6}"/>
                  </a:ext>
                </a:extLst>
              </p:cNvPr>
              <p:cNvPicPr/>
              <p:nvPr/>
            </p:nvPicPr>
            <p:blipFill>
              <a:blip r:embed="rId6"/>
              <a:stretch>
                <a:fillRect/>
              </a:stretch>
            </p:blipFill>
            <p:spPr>
              <a:xfrm>
                <a:off x="4207320" y="3204360"/>
                <a:ext cx="1032480" cy="70452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96FEE-F2DD-F46E-8017-7F215D76BF8A}"/>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B64A9EFD-8312-0535-1F24-42BEC5B0C40A}"/>
              </a:ext>
            </a:extLst>
          </p:cNvPr>
          <p:cNvPicPr>
            <a:picLocks noChangeAspect="1"/>
          </p:cNvPicPr>
          <p:nvPr/>
        </p:nvPicPr>
        <p:blipFill>
          <a:blip r:embed="rId2"/>
          <a:stretch>
            <a:fillRect/>
          </a:stretch>
        </p:blipFill>
        <p:spPr>
          <a:xfrm>
            <a:off x="307340" y="1447800"/>
            <a:ext cx="8457693" cy="4167292"/>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3942EA21-717B-A05A-01E5-60B95815D755}"/>
                  </a:ext>
                </a:extLst>
              </p14:cNvPr>
              <p14:cNvContentPartPr/>
              <p14:nvPr/>
            </p14:nvContentPartPr>
            <p14:xfrm>
              <a:off x="7169040" y="3076200"/>
              <a:ext cx="682920" cy="2130480"/>
            </p14:xfrm>
          </p:contentPart>
        </mc:Choice>
        <mc:Fallback xmlns="">
          <p:pic>
            <p:nvPicPr>
              <p:cNvPr id="3" name="Ink 2">
                <a:extLst>
                  <a:ext uri="{FF2B5EF4-FFF2-40B4-BE49-F238E27FC236}">
                    <a16:creationId xmlns:a16="http://schemas.microsoft.com/office/drawing/2014/main" id="{3942EA21-717B-A05A-01E5-60B95815D755}"/>
                  </a:ext>
                </a:extLst>
              </p:cNvPr>
              <p:cNvPicPr/>
              <p:nvPr/>
            </p:nvPicPr>
            <p:blipFill>
              <a:blip r:embed="rId4"/>
              <a:stretch>
                <a:fillRect/>
              </a:stretch>
            </p:blipFill>
            <p:spPr>
              <a:xfrm>
                <a:off x="7159680" y="3066840"/>
                <a:ext cx="701640" cy="2149200"/>
              </a:xfrm>
              <a:prstGeom prst="rect">
                <a:avLst/>
              </a:prstGeom>
            </p:spPr>
          </p:pic>
        </mc:Fallback>
      </mc:AlternateContent>
    </p:spTree>
    <p:extLst>
      <p:ext uri="{BB962C8B-B14F-4D97-AF65-F5344CB8AC3E}">
        <p14:creationId xmlns:p14="http://schemas.microsoft.com/office/powerpoint/2010/main" val="777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3600" spc="-240" dirty="0"/>
              <a:t>AWS</a:t>
            </a:r>
            <a:r>
              <a:rPr sz="3600" spc="-5" dirty="0"/>
              <a:t> </a:t>
            </a:r>
            <a:r>
              <a:rPr sz="3600" spc="-40" dirty="0"/>
              <a:t>Route</a:t>
            </a:r>
            <a:r>
              <a:rPr sz="3600" spc="-170" dirty="0"/>
              <a:t> </a:t>
            </a:r>
            <a:r>
              <a:rPr sz="3600" spc="-25" dirty="0"/>
              <a:t>53</a:t>
            </a:r>
            <a:endParaRPr sz="3600"/>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38429" y="946149"/>
            <a:ext cx="8308975" cy="4454525"/>
          </a:xfrm>
          <a:prstGeom prst="rect">
            <a:avLst/>
          </a:prstGeom>
        </p:spPr>
        <p:txBody>
          <a:bodyPr vert="horz" wrap="square" lIns="0" tIns="12065" rIns="0" bIns="0" rtlCol="0">
            <a:spAutoFit/>
          </a:bodyPr>
          <a:lstStyle/>
          <a:p>
            <a:pPr marL="12700" marR="5080" algn="just">
              <a:lnSpc>
                <a:spcPct val="100000"/>
              </a:lnSpc>
              <a:spcBef>
                <a:spcPts val="95"/>
              </a:spcBef>
            </a:pPr>
            <a:r>
              <a:rPr sz="2200" spc="-110" dirty="0">
                <a:latin typeface="Times New Roman"/>
                <a:cs typeface="Times New Roman"/>
              </a:rPr>
              <a:t>Amazon</a:t>
            </a:r>
            <a:r>
              <a:rPr sz="2200" spc="-5" dirty="0">
                <a:latin typeface="Times New Roman"/>
                <a:cs typeface="Times New Roman"/>
              </a:rPr>
              <a:t> </a:t>
            </a:r>
            <a:r>
              <a:rPr sz="2200" dirty="0">
                <a:latin typeface="Times New Roman"/>
                <a:cs typeface="Times New Roman"/>
              </a:rPr>
              <a:t>Route</a:t>
            </a:r>
            <a:r>
              <a:rPr sz="2200" spc="-20" dirty="0">
                <a:latin typeface="Times New Roman"/>
                <a:cs typeface="Times New Roman"/>
              </a:rPr>
              <a:t> </a:t>
            </a:r>
            <a:r>
              <a:rPr sz="2200" dirty="0">
                <a:latin typeface="Times New Roman"/>
                <a:cs typeface="Times New Roman"/>
              </a:rPr>
              <a:t>53 is</a:t>
            </a:r>
            <a:r>
              <a:rPr sz="2200" spc="-5" dirty="0">
                <a:latin typeface="Times New Roman"/>
                <a:cs typeface="Times New Roman"/>
              </a:rPr>
              <a:t> </a:t>
            </a:r>
            <a:r>
              <a:rPr sz="2200" spc="-10" dirty="0">
                <a:latin typeface="Times New Roman"/>
                <a:cs typeface="Times New Roman"/>
              </a:rPr>
              <a:t>used</a:t>
            </a:r>
            <a:r>
              <a:rPr sz="2200" dirty="0">
                <a:latin typeface="Times New Roman"/>
                <a:cs typeface="Times New Roman"/>
              </a:rPr>
              <a:t> to</a:t>
            </a:r>
            <a:r>
              <a:rPr sz="2200" spc="-5" dirty="0">
                <a:latin typeface="Times New Roman"/>
                <a:cs typeface="Times New Roman"/>
              </a:rPr>
              <a:t> </a:t>
            </a:r>
            <a:r>
              <a:rPr sz="2200" spc="-25" dirty="0">
                <a:latin typeface="Times New Roman"/>
                <a:cs typeface="Times New Roman"/>
              </a:rPr>
              <a:t>register</a:t>
            </a:r>
            <a:r>
              <a:rPr sz="2200" spc="-10" dirty="0">
                <a:latin typeface="Times New Roman"/>
                <a:cs typeface="Times New Roman"/>
              </a:rPr>
              <a:t> </a:t>
            </a:r>
            <a:r>
              <a:rPr sz="2200" dirty="0">
                <a:latin typeface="Times New Roman"/>
                <a:cs typeface="Times New Roman"/>
              </a:rPr>
              <a:t>new </a:t>
            </a:r>
            <a:r>
              <a:rPr sz="2200" spc="-75" dirty="0">
                <a:latin typeface="Times New Roman"/>
                <a:cs typeface="Times New Roman"/>
              </a:rPr>
              <a:t>domains,</a:t>
            </a:r>
            <a:r>
              <a:rPr sz="2200" spc="-60" dirty="0">
                <a:latin typeface="Times New Roman"/>
                <a:cs typeface="Times New Roman"/>
              </a:rPr>
              <a:t> </a:t>
            </a:r>
            <a:r>
              <a:rPr sz="2200" spc="-35" dirty="0">
                <a:latin typeface="Times New Roman"/>
                <a:cs typeface="Times New Roman"/>
              </a:rPr>
              <a:t>transfer</a:t>
            </a:r>
            <a:r>
              <a:rPr sz="2200" spc="-5" dirty="0">
                <a:latin typeface="Times New Roman"/>
                <a:cs typeface="Times New Roman"/>
              </a:rPr>
              <a:t> </a:t>
            </a:r>
            <a:r>
              <a:rPr sz="2200" spc="-70" dirty="0">
                <a:latin typeface="Times New Roman"/>
                <a:cs typeface="Times New Roman"/>
              </a:rPr>
              <a:t>existing</a:t>
            </a:r>
            <a:r>
              <a:rPr sz="2200" spc="-5" dirty="0">
                <a:latin typeface="Times New Roman"/>
                <a:cs typeface="Times New Roman"/>
              </a:rPr>
              <a:t> </a:t>
            </a:r>
            <a:r>
              <a:rPr sz="2200" spc="-65" dirty="0">
                <a:latin typeface="Times New Roman"/>
                <a:cs typeface="Times New Roman"/>
              </a:rPr>
              <a:t>domains, </a:t>
            </a:r>
            <a:r>
              <a:rPr sz="2200" spc="-10" dirty="0">
                <a:latin typeface="Times New Roman"/>
                <a:cs typeface="Times New Roman"/>
              </a:rPr>
              <a:t>route</a:t>
            </a:r>
            <a:r>
              <a:rPr sz="2200" spc="-130" dirty="0">
                <a:latin typeface="Times New Roman"/>
                <a:cs typeface="Times New Roman"/>
              </a:rPr>
              <a:t> </a:t>
            </a:r>
            <a:r>
              <a:rPr sz="2200" spc="-90" dirty="0">
                <a:latin typeface="Times New Roman"/>
                <a:cs typeface="Times New Roman"/>
              </a:rPr>
              <a:t>traffic</a:t>
            </a:r>
            <a:r>
              <a:rPr sz="2200" spc="-45" dirty="0">
                <a:latin typeface="Times New Roman"/>
                <a:cs typeface="Times New Roman"/>
              </a:rPr>
              <a:t> </a:t>
            </a:r>
            <a:r>
              <a:rPr sz="2200" dirty="0">
                <a:latin typeface="Times New Roman"/>
                <a:cs typeface="Times New Roman"/>
              </a:rPr>
              <a:t>for</a:t>
            </a:r>
            <a:r>
              <a:rPr sz="2200" spc="-140" dirty="0">
                <a:latin typeface="Times New Roman"/>
                <a:cs typeface="Times New Roman"/>
              </a:rPr>
              <a:t> </a:t>
            </a:r>
            <a:r>
              <a:rPr sz="2200" spc="-50" dirty="0">
                <a:latin typeface="Times New Roman"/>
                <a:cs typeface="Times New Roman"/>
              </a:rPr>
              <a:t>your</a:t>
            </a:r>
            <a:r>
              <a:rPr sz="2200" spc="-35" dirty="0">
                <a:latin typeface="Times New Roman"/>
                <a:cs typeface="Times New Roman"/>
              </a:rPr>
              <a:t> </a:t>
            </a:r>
            <a:r>
              <a:rPr sz="2200" spc="-100" dirty="0">
                <a:latin typeface="Times New Roman"/>
                <a:cs typeface="Times New Roman"/>
              </a:rPr>
              <a:t>domain</a:t>
            </a:r>
            <a:r>
              <a:rPr sz="2200" spc="-35" dirty="0">
                <a:latin typeface="Times New Roman"/>
                <a:cs typeface="Times New Roman"/>
              </a:rPr>
              <a:t> </a:t>
            </a:r>
            <a:r>
              <a:rPr sz="2200" dirty="0">
                <a:latin typeface="Times New Roman"/>
                <a:cs typeface="Times New Roman"/>
              </a:rPr>
              <a:t>to</a:t>
            </a:r>
            <a:r>
              <a:rPr sz="2200" spc="-25" dirty="0">
                <a:latin typeface="Times New Roman"/>
                <a:cs typeface="Times New Roman"/>
              </a:rPr>
              <a:t> </a:t>
            </a:r>
            <a:r>
              <a:rPr sz="2200" spc="-50" dirty="0">
                <a:latin typeface="Times New Roman"/>
                <a:cs typeface="Times New Roman"/>
              </a:rPr>
              <a:t>your</a:t>
            </a:r>
            <a:r>
              <a:rPr sz="2200" spc="-25" dirty="0">
                <a:latin typeface="Times New Roman"/>
                <a:cs typeface="Times New Roman"/>
              </a:rPr>
              <a:t> </a:t>
            </a:r>
            <a:r>
              <a:rPr sz="2200" spc="-315" dirty="0">
                <a:latin typeface="Times New Roman"/>
                <a:cs typeface="Times New Roman"/>
              </a:rPr>
              <a:t>AWS</a:t>
            </a:r>
            <a:r>
              <a:rPr sz="2200" spc="180" dirty="0">
                <a:latin typeface="Times New Roman"/>
                <a:cs typeface="Times New Roman"/>
              </a:rPr>
              <a:t> </a:t>
            </a:r>
            <a:r>
              <a:rPr sz="2200" spc="-75" dirty="0">
                <a:latin typeface="Times New Roman"/>
                <a:cs typeface="Times New Roman"/>
              </a:rPr>
              <a:t>and</a:t>
            </a:r>
            <a:r>
              <a:rPr sz="2200" spc="-35" dirty="0">
                <a:latin typeface="Times New Roman"/>
                <a:cs typeface="Times New Roman"/>
              </a:rPr>
              <a:t> </a:t>
            </a:r>
            <a:r>
              <a:rPr sz="2200" spc="-45" dirty="0">
                <a:latin typeface="Times New Roman"/>
                <a:cs typeface="Times New Roman"/>
              </a:rPr>
              <a:t>external</a:t>
            </a:r>
            <a:r>
              <a:rPr sz="2200" spc="-20" dirty="0">
                <a:latin typeface="Times New Roman"/>
                <a:cs typeface="Times New Roman"/>
              </a:rPr>
              <a:t> </a:t>
            </a:r>
            <a:r>
              <a:rPr sz="2200" spc="-65" dirty="0">
                <a:latin typeface="Times New Roman"/>
                <a:cs typeface="Times New Roman"/>
              </a:rPr>
              <a:t>resources,</a:t>
            </a:r>
            <a:r>
              <a:rPr sz="2200" spc="-70" dirty="0">
                <a:latin typeface="Times New Roman"/>
                <a:cs typeface="Times New Roman"/>
              </a:rPr>
              <a:t> </a:t>
            </a:r>
            <a:r>
              <a:rPr sz="2200" spc="-50" dirty="0">
                <a:latin typeface="Times New Roman"/>
                <a:cs typeface="Times New Roman"/>
              </a:rPr>
              <a:t>and</a:t>
            </a:r>
            <a:r>
              <a:rPr sz="2200" spc="-25" dirty="0">
                <a:latin typeface="Times New Roman"/>
                <a:cs typeface="Times New Roman"/>
              </a:rPr>
              <a:t> </a:t>
            </a:r>
            <a:r>
              <a:rPr sz="2200" spc="-10" dirty="0">
                <a:latin typeface="Times New Roman"/>
                <a:cs typeface="Times New Roman"/>
              </a:rPr>
              <a:t>monitor </a:t>
            </a:r>
            <a:r>
              <a:rPr sz="2200" spc="-75" dirty="0">
                <a:latin typeface="Times New Roman"/>
                <a:cs typeface="Times New Roman"/>
              </a:rPr>
              <a:t>the</a:t>
            </a:r>
            <a:r>
              <a:rPr sz="2200" spc="-45" dirty="0">
                <a:latin typeface="Times New Roman"/>
                <a:cs typeface="Times New Roman"/>
              </a:rPr>
              <a:t> </a:t>
            </a:r>
            <a:r>
              <a:rPr sz="2200" spc="-110" dirty="0">
                <a:latin typeface="Times New Roman"/>
                <a:cs typeface="Times New Roman"/>
              </a:rPr>
              <a:t>health</a:t>
            </a:r>
            <a:r>
              <a:rPr sz="2200" spc="-40" dirty="0">
                <a:latin typeface="Times New Roman"/>
                <a:cs typeface="Times New Roman"/>
              </a:rPr>
              <a:t> </a:t>
            </a:r>
            <a:r>
              <a:rPr sz="2200" spc="-145" dirty="0">
                <a:latin typeface="Times New Roman"/>
                <a:cs typeface="Times New Roman"/>
              </a:rPr>
              <a:t>of</a:t>
            </a:r>
            <a:r>
              <a:rPr sz="2200" spc="-40" dirty="0">
                <a:latin typeface="Times New Roman"/>
                <a:cs typeface="Times New Roman"/>
              </a:rPr>
              <a:t> </a:t>
            </a:r>
            <a:r>
              <a:rPr sz="2200" spc="-100" dirty="0">
                <a:latin typeface="Times New Roman"/>
                <a:cs typeface="Times New Roman"/>
              </a:rPr>
              <a:t>your</a:t>
            </a:r>
            <a:r>
              <a:rPr sz="2200" spc="-10" dirty="0">
                <a:latin typeface="Times New Roman"/>
                <a:cs typeface="Times New Roman"/>
              </a:rPr>
              <a:t> resources.</a:t>
            </a:r>
            <a:endParaRPr sz="2200" dirty="0">
              <a:latin typeface="Times New Roman"/>
              <a:cs typeface="Times New Roman"/>
            </a:endParaRPr>
          </a:p>
          <a:p>
            <a:pPr>
              <a:lnSpc>
                <a:spcPct val="100000"/>
              </a:lnSpc>
              <a:spcBef>
                <a:spcPts val="1230"/>
              </a:spcBef>
            </a:pPr>
            <a:endParaRPr sz="2200" dirty="0">
              <a:latin typeface="Times New Roman"/>
              <a:cs typeface="Times New Roman"/>
            </a:endParaRPr>
          </a:p>
          <a:p>
            <a:pPr marL="12700">
              <a:lnSpc>
                <a:spcPct val="100000"/>
              </a:lnSpc>
            </a:pPr>
            <a:r>
              <a:rPr sz="2800" b="1" spc="-320" dirty="0">
                <a:latin typeface="Times New Roman"/>
                <a:cs typeface="Times New Roman"/>
              </a:rPr>
              <a:t>AWS</a:t>
            </a:r>
            <a:r>
              <a:rPr sz="2800" b="1" spc="-65" dirty="0">
                <a:latin typeface="Times New Roman"/>
                <a:cs typeface="Times New Roman"/>
              </a:rPr>
              <a:t> </a:t>
            </a:r>
            <a:r>
              <a:rPr sz="2800" b="1" dirty="0">
                <a:latin typeface="Times New Roman"/>
                <a:cs typeface="Times New Roman"/>
              </a:rPr>
              <a:t>Route</a:t>
            </a:r>
            <a:r>
              <a:rPr sz="2800" b="1" spc="-75" dirty="0">
                <a:latin typeface="Times New Roman"/>
                <a:cs typeface="Times New Roman"/>
              </a:rPr>
              <a:t> </a:t>
            </a:r>
            <a:r>
              <a:rPr sz="2800" b="1" spc="-135" dirty="0">
                <a:latin typeface="Times New Roman"/>
                <a:cs typeface="Times New Roman"/>
              </a:rPr>
              <a:t>53</a:t>
            </a:r>
            <a:r>
              <a:rPr sz="2800" b="1" spc="-55" dirty="0">
                <a:latin typeface="Times New Roman"/>
                <a:cs typeface="Times New Roman"/>
              </a:rPr>
              <a:t> </a:t>
            </a:r>
            <a:r>
              <a:rPr sz="2800" b="1" spc="-10" dirty="0">
                <a:latin typeface="Times New Roman"/>
                <a:cs typeface="Times New Roman"/>
              </a:rPr>
              <a:t>functions:-</a:t>
            </a:r>
            <a:endParaRPr sz="2800" dirty="0">
              <a:latin typeface="Times New Roman"/>
              <a:cs typeface="Times New Roman"/>
            </a:endParaRPr>
          </a:p>
          <a:p>
            <a:pPr>
              <a:lnSpc>
                <a:spcPct val="100000"/>
              </a:lnSpc>
              <a:spcBef>
                <a:spcPts val="1735"/>
              </a:spcBef>
            </a:pPr>
            <a:endParaRPr sz="2800" dirty="0">
              <a:latin typeface="Times New Roman"/>
              <a:cs typeface="Times New Roman"/>
            </a:endParaRPr>
          </a:p>
          <a:p>
            <a:pPr marL="12700" marR="5920105">
              <a:lnSpc>
                <a:spcPct val="119200"/>
              </a:lnSpc>
            </a:pPr>
            <a:r>
              <a:rPr sz="2600" spc="-229" dirty="0">
                <a:latin typeface="Times New Roman"/>
                <a:cs typeface="Times New Roman"/>
              </a:rPr>
              <a:t>DNS</a:t>
            </a:r>
            <a:r>
              <a:rPr sz="2600" spc="-55" dirty="0">
                <a:latin typeface="Times New Roman"/>
                <a:cs typeface="Times New Roman"/>
              </a:rPr>
              <a:t> </a:t>
            </a:r>
            <a:r>
              <a:rPr sz="2600" spc="-40" dirty="0">
                <a:latin typeface="Times New Roman"/>
                <a:cs typeface="Times New Roman"/>
              </a:rPr>
              <a:t>management </a:t>
            </a:r>
            <a:r>
              <a:rPr sz="2600" spc="-170" dirty="0">
                <a:latin typeface="Times New Roman"/>
                <a:cs typeface="Times New Roman"/>
              </a:rPr>
              <a:t>Traffic</a:t>
            </a:r>
            <a:r>
              <a:rPr sz="2600" spc="-15" dirty="0">
                <a:latin typeface="Times New Roman"/>
                <a:cs typeface="Times New Roman"/>
              </a:rPr>
              <a:t> </a:t>
            </a:r>
            <a:r>
              <a:rPr sz="2600" spc="-140" dirty="0">
                <a:latin typeface="Times New Roman"/>
                <a:cs typeface="Times New Roman"/>
              </a:rPr>
              <a:t>management</a:t>
            </a:r>
            <a:endParaRPr sz="2600" dirty="0">
              <a:latin typeface="Times New Roman"/>
              <a:cs typeface="Times New Roman"/>
            </a:endParaRPr>
          </a:p>
          <a:p>
            <a:pPr marL="12700" marR="3775710">
              <a:lnSpc>
                <a:spcPct val="119200"/>
              </a:lnSpc>
            </a:pPr>
            <a:r>
              <a:rPr sz="2600" spc="-180" dirty="0">
                <a:latin typeface="Times New Roman"/>
                <a:cs typeface="Times New Roman"/>
              </a:rPr>
              <a:t>Availability</a:t>
            </a:r>
            <a:r>
              <a:rPr sz="2600" spc="5" dirty="0">
                <a:latin typeface="Times New Roman"/>
                <a:cs typeface="Times New Roman"/>
              </a:rPr>
              <a:t> </a:t>
            </a:r>
            <a:r>
              <a:rPr sz="2600" spc="-105" dirty="0">
                <a:latin typeface="Times New Roman"/>
                <a:cs typeface="Times New Roman"/>
              </a:rPr>
              <a:t>monitoring</a:t>
            </a:r>
            <a:r>
              <a:rPr sz="2600" spc="35" dirty="0">
                <a:latin typeface="Times New Roman"/>
                <a:cs typeface="Times New Roman"/>
              </a:rPr>
              <a:t> </a:t>
            </a:r>
            <a:r>
              <a:rPr sz="2600" spc="-120" dirty="0">
                <a:latin typeface="Times New Roman"/>
                <a:cs typeface="Times New Roman"/>
              </a:rPr>
              <a:t>(health</a:t>
            </a:r>
            <a:r>
              <a:rPr sz="2600" spc="-15" dirty="0">
                <a:latin typeface="Times New Roman"/>
                <a:cs typeface="Times New Roman"/>
              </a:rPr>
              <a:t> </a:t>
            </a:r>
            <a:r>
              <a:rPr sz="2600" spc="-100" dirty="0">
                <a:latin typeface="Times New Roman"/>
                <a:cs typeface="Times New Roman"/>
              </a:rPr>
              <a:t>check) </a:t>
            </a:r>
            <a:r>
              <a:rPr sz="2600" spc="-110" dirty="0">
                <a:latin typeface="Times New Roman"/>
                <a:cs typeface="Times New Roman"/>
              </a:rPr>
              <a:t>Registration</a:t>
            </a:r>
            <a:r>
              <a:rPr sz="2600" spc="-55" dirty="0">
                <a:latin typeface="Times New Roman"/>
                <a:cs typeface="Times New Roman"/>
              </a:rPr>
              <a:t> </a:t>
            </a:r>
            <a:r>
              <a:rPr sz="2600" spc="-165" dirty="0">
                <a:latin typeface="Times New Roman"/>
                <a:cs typeface="Times New Roman"/>
              </a:rPr>
              <a:t>of</a:t>
            </a:r>
            <a:r>
              <a:rPr sz="2600" spc="-35" dirty="0">
                <a:latin typeface="Times New Roman"/>
                <a:cs typeface="Times New Roman"/>
              </a:rPr>
              <a:t> </a:t>
            </a:r>
            <a:r>
              <a:rPr sz="2600" spc="-10" dirty="0">
                <a:latin typeface="Times New Roman"/>
                <a:cs typeface="Times New Roman"/>
              </a:rPr>
              <a:t>domain</a:t>
            </a:r>
            <a:endParaRPr sz="2600" dirty="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91440">
              <a:lnSpc>
                <a:spcPts val="1664"/>
              </a:lnSpc>
            </a:pPr>
            <a:fld id="{81D60167-4931-47E6-BA6A-407CBD079E47}" type="slidenum">
              <a:rPr spc="-50" dirty="0"/>
              <a:t>3</a:t>
            </a:fld>
            <a:endParaRPr spc="-50" dirty="0"/>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49C22B8E-47B7-EFD9-E7D7-3D17015EE167}"/>
                  </a:ext>
                </a:extLst>
              </p14:cNvPr>
              <p14:cNvContentPartPr/>
              <p14:nvPr/>
            </p14:nvContentPartPr>
            <p14:xfrm>
              <a:off x="1019880" y="63720"/>
              <a:ext cx="7425720" cy="5424840"/>
            </p14:xfrm>
          </p:contentPart>
        </mc:Choice>
        <mc:Fallback xmlns="">
          <p:pic>
            <p:nvPicPr>
              <p:cNvPr id="6" name="Ink 5">
                <a:extLst>
                  <a:ext uri="{FF2B5EF4-FFF2-40B4-BE49-F238E27FC236}">
                    <a16:creationId xmlns:a16="http://schemas.microsoft.com/office/drawing/2014/main" id="{49C22B8E-47B7-EFD9-E7D7-3D17015EE167}"/>
                  </a:ext>
                </a:extLst>
              </p:cNvPr>
              <p:cNvPicPr/>
              <p:nvPr/>
            </p:nvPicPr>
            <p:blipFill>
              <a:blip r:embed="rId3"/>
              <a:stretch>
                <a:fillRect/>
              </a:stretch>
            </p:blipFill>
            <p:spPr>
              <a:xfrm>
                <a:off x="1010520" y="54360"/>
                <a:ext cx="7444440" cy="5443560"/>
              </a:xfrm>
              <a:prstGeom prst="rect">
                <a:avLst/>
              </a:prstGeom>
            </p:spPr>
          </p:pic>
        </mc:Fallback>
      </mc:AlternateContent>
    </p:spTree>
    <p:extLst>
      <p:ext uri="{BB962C8B-B14F-4D97-AF65-F5344CB8AC3E}">
        <p14:creationId xmlns:p14="http://schemas.microsoft.com/office/powerpoint/2010/main" val="1082606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CA5B4-37C3-2CF5-8F0F-05C3A5CCDED1}"/>
              </a:ext>
            </a:extLst>
          </p:cNvPr>
          <p:cNvSpPr>
            <a:spLocks noGrp="1"/>
          </p:cNvSpPr>
          <p:nvPr>
            <p:ph type="title"/>
          </p:nvPr>
        </p:nvSpPr>
        <p:spPr>
          <a:xfrm>
            <a:off x="307340" y="247599"/>
            <a:ext cx="8529319" cy="446276"/>
          </a:xfrm>
        </p:spPr>
        <p:txBody>
          <a:bodyPr/>
          <a:lstStyle/>
          <a:p>
            <a:r>
              <a:rPr lang="en-US" dirty="0"/>
              <a:t>Example</a:t>
            </a:r>
          </a:p>
        </p:txBody>
      </p:sp>
      <p:sp>
        <p:nvSpPr>
          <p:cNvPr id="3" name="Rectangle 1">
            <a:extLst>
              <a:ext uri="{FF2B5EF4-FFF2-40B4-BE49-F238E27FC236}">
                <a16:creationId xmlns:a16="http://schemas.microsoft.com/office/drawing/2014/main" id="{AE283372-6909-813A-5861-77CBAF0A19C3}"/>
              </a:ext>
            </a:extLst>
          </p:cNvPr>
          <p:cNvSpPr>
            <a:spLocks noChangeArrowheads="1"/>
          </p:cNvSpPr>
          <p:nvPr/>
        </p:nvSpPr>
        <p:spPr bwMode="auto">
          <a:xfrm>
            <a:off x="170688" y="1066800"/>
            <a:ext cx="87630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You type </a:t>
            </a:r>
            <a:r>
              <a:rPr kumimoji="0" lang="en-US" altLang="en-US" sz="2000" b="1" i="0" u="none" strike="noStrike" cap="none" normalizeH="0" baseline="0" dirty="0">
                <a:ln>
                  <a:noFill/>
                </a:ln>
                <a:solidFill>
                  <a:schemeClr val="tx1"/>
                </a:solidFill>
                <a:effectLst/>
                <a:highlight>
                  <a:srgbClr val="FFFF00"/>
                </a:highlight>
                <a:latin typeface="Arial" panose="020B0604020202020204" pitchFamily="34" charset="0"/>
              </a:rPr>
              <a:t>www.google.com</a:t>
            </a:r>
            <a:r>
              <a:rPr kumimoji="0" lang="en-US" altLang="en-US" sz="2000" b="0" i="0" u="none" strike="noStrike" cap="none" normalizeH="0" baseline="0" dirty="0">
                <a:ln>
                  <a:noFill/>
                </a:ln>
                <a:solidFill>
                  <a:schemeClr val="tx1"/>
                </a:solidFill>
                <a:effectLst/>
                <a:highlight>
                  <a:srgbClr val="FFFF00"/>
                </a:highligh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in your browser (like knowing your friend's name).</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But your computer doesn’t know where that is — it needs an </a:t>
            </a:r>
            <a:r>
              <a:rPr kumimoji="0" lang="en-US" altLang="en-US" sz="2000" b="1" i="0" u="none" strike="noStrike" cap="none" normalizeH="0" baseline="0" dirty="0">
                <a:ln>
                  <a:noFill/>
                </a:ln>
                <a:solidFill>
                  <a:schemeClr val="tx1"/>
                </a:solidFill>
                <a:effectLst/>
                <a:latin typeface="Arial" panose="020B0604020202020204" pitchFamily="34" charset="0"/>
              </a:rPr>
              <a:t>IP address</a:t>
            </a:r>
            <a:r>
              <a:rPr kumimoji="0" lang="en-US" altLang="en-US" sz="2000" b="0" i="0" u="none" strike="noStrike" cap="none" normalizeH="0" baseline="0" dirty="0">
                <a:ln>
                  <a:noFill/>
                </a:ln>
                <a:solidFill>
                  <a:schemeClr val="tx1"/>
                </a:solidFill>
                <a:effectLst/>
                <a:latin typeface="Arial" panose="020B0604020202020204" pitchFamily="34" charset="0"/>
              </a:rPr>
              <a:t> (like an actual home address).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So, it asks </a:t>
            </a:r>
            <a:r>
              <a:rPr kumimoji="0" lang="en-US" altLang="en-US" sz="2000" b="1" i="0" u="none" strike="noStrike" cap="none" normalizeH="0" baseline="0" dirty="0">
                <a:ln>
                  <a:noFill/>
                </a:ln>
                <a:solidFill>
                  <a:schemeClr val="tx1"/>
                </a:solidFill>
                <a:effectLst/>
                <a:highlight>
                  <a:srgbClr val="FFFF00"/>
                </a:highlight>
                <a:latin typeface="Arial" panose="020B0604020202020204" pitchFamily="34" charset="0"/>
              </a:rPr>
              <a:t>Route 53 (the phone book)</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“Where is www.google.com?”</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Route 53 says: “Here’s the IP address: 12.34.56.78”</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Now your computer can go to that address and open Google.</a:t>
            </a:r>
          </a:p>
        </p:txBody>
      </p:sp>
      <p:sp>
        <p:nvSpPr>
          <p:cNvPr id="5" name="Rectangle 3">
            <a:extLst>
              <a:ext uri="{FF2B5EF4-FFF2-40B4-BE49-F238E27FC236}">
                <a16:creationId xmlns:a16="http://schemas.microsoft.com/office/drawing/2014/main" id="{D8888FB3-CBB2-727F-8DE8-5A9ECD8856DF}"/>
              </a:ext>
            </a:extLst>
          </p:cNvPr>
          <p:cNvSpPr>
            <a:spLocks noChangeArrowheads="1"/>
          </p:cNvSpPr>
          <p:nvPr/>
        </p:nvSpPr>
        <p:spPr bwMode="auto">
          <a:xfrm>
            <a:off x="161544" y="3537104"/>
            <a:ext cx="8704072"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Arial" panose="020B0604020202020204" pitchFamily="34" charset="0"/>
              </a:rPr>
              <a:t> What about different record types?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1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Arial" panose="020B0604020202020204" pitchFamily="34" charset="0"/>
              </a:rPr>
              <a:t>A Record</a:t>
            </a:r>
            <a:r>
              <a:rPr kumimoji="0" lang="en-US" altLang="en-US" sz="2100" b="0" i="0" u="none" strike="noStrike" cap="none" normalizeH="0" baseline="0" dirty="0">
                <a:ln>
                  <a:noFill/>
                </a:ln>
                <a:solidFill>
                  <a:schemeClr val="tx1"/>
                </a:solidFill>
                <a:effectLst/>
                <a:latin typeface="Arial" panose="020B0604020202020204" pitchFamily="34" charset="0"/>
              </a:rPr>
              <a:t> = “John lives at 12 Main Street” (</a:t>
            </a:r>
            <a:r>
              <a:rPr kumimoji="0" lang="en-US" altLang="en-US" sz="2100" b="0" i="0" u="none" strike="noStrike" cap="none" normalizeH="0" baseline="0" dirty="0">
                <a:ln>
                  <a:noFill/>
                </a:ln>
                <a:solidFill>
                  <a:schemeClr val="tx1"/>
                </a:solidFill>
                <a:effectLst/>
                <a:highlight>
                  <a:srgbClr val="FFFF00"/>
                </a:highlight>
                <a:latin typeface="Arial" panose="020B0604020202020204" pitchFamily="34" charset="0"/>
              </a:rPr>
              <a:t>IPv4 address</a:t>
            </a:r>
            <a:r>
              <a:rPr kumimoji="0" lang="en-US" altLang="en-US" sz="21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Arial" panose="020B0604020202020204" pitchFamily="34" charset="0"/>
              </a:rPr>
              <a:t>AAAA Record</a:t>
            </a:r>
            <a:r>
              <a:rPr kumimoji="0" lang="en-US" altLang="en-US" sz="2100" b="0" i="0" u="none" strike="noStrike" cap="none" normalizeH="0" baseline="0" dirty="0">
                <a:ln>
                  <a:noFill/>
                </a:ln>
                <a:solidFill>
                  <a:schemeClr val="tx1"/>
                </a:solidFill>
                <a:effectLst/>
                <a:latin typeface="Arial" panose="020B0604020202020204" pitchFamily="34" charset="0"/>
              </a:rPr>
              <a:t> = “John lives at a newer address with a longer format” (</a:t>
            </a:r>
            <a:r>
              <a:rPr kumimoji="0" lang="en-US" altLang="en-US" sz="2100" b="0" i="0" u="none" strike="noStrike" cap="none" normalizeH="0" baseline="0" dirty="0">
                <a:ln>
                  <a:noFill/>
                </a:ln>
                <a:solidFill>
                  <a:schemeClr val="tx1"/>
                </a:solidFill>
                <a:effectLst/>
                <a:highlight>
                  <a:srgbClr val="FFFF00"/>
                </a:highlight>
                <a:latin typeface="Arial" panose="020B0604020202020204" pitchFamily="34" charset="0"/>
              </a:rPr>
              <a:t>IPv6</a:t>
            </a:r>
            <a:r>
              <a:rPr kumimoji="0" lang="en-US" altLang="en-US" sz="21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Arial" panose="020B0604020202020204" pitchFamily="34" charset="0"/>
              </a:rPr>
              <a:t>CNAME Record</a:t>
            </a:r>
            <a:r>
              <a:rPr kumimoji="0" lang="en-US" altLang="en-US" sz="2100" b="0" i="0" u="none" strike="noStrike" cap="none" normalizeH="0" baseline="0" dirty="0">
                <a:ln>
                  <a:noFill/>
                </a:ln>
                <a:solidFill>
                  <a:schemeClr val="tx1"/>
                </a:solidFill>
                <a:effectLst/>
                <a:latin typeface="Arial" panose="020B0604020202020204" pitchFamily="34" charset="0"/>
              </a:rPr>
              <a:t> = “Search for John at his office” → redirects to “John’s home” (one name pointing to another name)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Arial" panose="020B0604020202020204" pitchFamily="34" charset="0"/>
              </a:rPr>
              <a:t>Alias Record</a:t>
            </a:r>
            <a:r>
              <a:rPr kumimoji="0" lang="en-US" altLang="en-US" sz="2100" b="0" i="0" u="none" strike="noStrike" cap="none" normalizeH="0" baseline="0" dirty="0">
                <a:ln>
                  <a:noFill/>
                </a:ln>
                <a:solidFill>
                  <a:schemeClr val="tx1"/>
                </a:solidFill>
                <a:effectLst/>
                <a:latin typeface="Arial" panose="020B0604020202020204" pitchFamily="34" charset="0"/>
              </a:rPr>
              <a:t> = Like </a:t>
            </a:r>
            <a:r>
              <a:rPr kumimoji="0" lang="en-US" altLang="en-US" sz="2100" i="0" u="none" strike="noStrike" cap="none" normalizeH="0" baseline="0" dirty="0">
                <a:ln>
                  <a:noFill/>
                </a:ln>
                <a:solidFill>
                  <a:schemeClr val="tx1"/>
                </a:solidFill>
                <a:effectLst/>
                <a:latin typeface="Arial" panose="020B0604020202020204" pitchFamily="34" charset="0"/>
              </a:rPr>
              <a:t>a shortcut to known places in your AWS town — ELB, S3, etc.</a:t>
            </a:r>
            <a:endParaRPr kumimoji="0" lang="en-US" altLang="en-US" sz="21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D788E201-191D-5A7F-A881-323EE1C14FEF}"/>
                  </a:ext>
                </a:extLst>
              </p14:cNvPr>
              <p14:cNvContentPartPr/>
              <p14:nvPr/>
            </p14:nvContentPartPr>
            <p14:xfrm>
              <a:off x="272880" y="4089960"/>
              <a:ext cx="8963280" cy="2225520"/>
            </p14:xfrm>
          </p:contentPart>
        </mc:Choice>
        <mc:Fallback xmlns="">
          <p:pic>
            <p:nvPicPr>
              <p:cNvPr id="4" name="Ink 3">
                <a:extLst>
                  <a:ext uri="{FF2B5EF4-FFF2-40B4-BE49-F238E27FC236}">
                    <a16:creationId xmlns:a16="http://schemas.microsoft.com/office/drawing/2014/main" id="{D788E201-191D-5A7F-A881-323EE1C14FEF}"/>
                  </a:ext>
                </a:extLst>
              </p:cNvPr>
              <p:cNvPicPr/>
              <p:nvPr/>
            </p:nvPicPr>
            <p:blipFill>
              <a:blip r:embed="rId3"/>
              <a:stretch>
                <a:fillRect/>
              </a:stretch>
            </p:blipFill>
            <p:spPr>
              <a:xfrm>
                <a:off x="263520" y="4080600"/>
                <a:ext cx="8982000" cy="2244240"/>
              </a:xfrm>
              <a:prstGeom prst="rect">
                <a:avLst/>
              </a:prstGeom>
            </p:spPr>
          </p:pic>
        </mc:Fallback>
      </mc:AlternateContent>
    </p:spTree>
    <p:extLst>
      <p:ext uri="{BB962C8B-B14F-4D97-AF65-F5344CB8AC3E}">
        <p14:creationId xmlns:p14="http://schemas.microsoft.com/office/powerpoint/2010/main" val="756468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E51AC-DA1F-190E-24E9-EAA582B55B9D}"/>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6823EC25-E188-F3F5-B982-045366F079BB}"/>
              </a:ext>
            </a:extLst>
          </p:cNvPr>
          <p:cNvPicPr>
            <a:picLocks noChangeAspect="1"/>
          </p:cNvPicPr>
          <p:nvPr/>
        </p:nvPicPr>
        <p:blipFill>
          <a:blip r:embed="rId2"/>
          <a:stretch>
            <a:fillRect/>
          </a:stretch>
        </p:blipFill>
        <p:spPr>
          <a:xfrm>
            <a:off x="800063" y="1447800"/>
            <a:ext cx="7543874" cy="4659276"/>
          </a:xfrm>
          <a:prstGeom prst="rect">
            <a:avLst/>
          </a:prstGeom>
        </p:spPr>
      </p:pic>
    </p:spTree>
    <p:extLst>
      <p:ext uri="{BB962C8B-B14F-4D97-AF65-F5344CB8AC3E}">
        <p14:creationId xmlns:p14="http://schemas.microsoft.com/office/powerpoint/2010/main" val="2075711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0A245-D979-E994-46FA-16C7E9E4F5C7}"/>
              </a:ext>
            </a:extLst>
          </p:cNvPr>
          <p:cNvSpPr>
            <a:spLocks noGrp="1"/>
          </p:cNvSpPr>
          <p:nvPr>
            <p:ph type="title"/>
          </p:nvPr>
        </p:nvSpPr>
        <p:spPr>
          <a:xfrm>
            <a:off x="307340" y="247599"/>
            <a:ext cx="8529319" cy="446276"/>
          </a:xfrm>
        </p:spPr>
        <p:txBody>
          <a:bodyPr/>
          <a:lstStyle/>
          <a:p>
            <a:r>
              <a:rPr lang="en-US" dirty="0"/>
              <a:t>Route 53 Routing Policies</a:t>
            </a:r>
          </a:p>
        </p:txBody>
      </p:sp>
      <p:pic>
        <p:nvPicPr>
          <p:cNvPr id="4" name="Picture 3">
            <a:extLst>
              <a:ext uri="{FF2B5EF4-FFF2-40B4-BE49-F238E27FC236}">
                <a16:creationId xmlns:a16="http://schemas.microsoft.com/office/drawing/2014/main" id="{6A1AD05D-DAAF-DE99-6B47-775771EDC7E2}"/>
              </a:ext>
            </a:extLst>
          </p:cNvPr>
          <p:cNvPicPr>
            <a:picLocks noChangeAspect="1"/>
          </p:cNvPicPr>
          <p:nvPr/>
        </p:nvPicPr>
        <p:blipFill>
          <a:blip r:embed="rId2"/>
          <a:srcRect t="25231"/>
          <a:stretch>
            <a:fillRect/>
          </a:stretch>
        </p:blipFill>
        <p:spPr>
          <a:xfrm>
            <a:off x="457200" y="1905089"/>
            <a:ext cx="8077199" cy="3047821"/>
          </a:xfrm>
          <a:prstGeom prst="rect">
            <a:avLst/>
          </a:prstGeom>
        </p:spPr>
      </p:pic>
    </p:spTree>
    <p:extLst>
      <p:ext uri="{BB962C8B-B14F-4D97-AF65-F5344CB8AC3E}">
        <p14:creationId xmlns:p14="http://schemas.microsoft.com/office/powerpoint/2010/main" val="3270096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FA4FE-C775-EC6C-BA46-CC0CE5A0B282}"/>
              </a:ext>
            </a:extLst>
          </p:cNvPr>
          <p:cNvSpPr>
            <a:spLocks noGrp="1"/>
          </p:cNvSpPr>
          <p:nvPr>
            <p:ph type="title"/>
          </p:nvPr>
        </p:nvSpPr>
        <p:spPr>
          <a:xfrm>
            <a:off x="307340" y="247599"/>
            <a:ext cx="8529319" cy="677108"/>
          </a:xfrm>
        </p:spPr>
        <p:txBody>
          <a:bodyPr/>
          <a:lstStyle/>
          <a:p>
            <a:pPr rtl="0"/>
            <a:r>
              <a:rPr lang="en-US" altLang="en-US" sz="2200" b="1" dirty="0">
                <a:highlight>
                  <a:srgbClr val="FFFF00"/>
                </a:highlight>
                <a:latin typeface="Arial" panose="020B0604020202020204" pitchFamily="34" charset="0"/>
              </a:rPr>
              <a:t>1. Simple Routing Policy (Left Side)</a:t>
            </a:r>
            <a:br>
              <a:rPr lang="en-US" altLang="en-US" sz="2200" b="1" dirty="0">
                <a:highlight>
                  <a:srgbClr val="FFFF00"/>
                </a:highlight>
                <a:latin typeface="Arial" panose="020B0604020202020204" pitchFamily="34" charset="0"/>
              </a:rPr>
            </a:br>
            <a:endParaRPr lang="en-US" sz="2200" dirty="0"/>
          </a:p>
        </p:txBody>
      </p:sp>
      <p:sp>
        <p:nvSpPr>
          <p:cNvPr id="3" name="Rectangle 1">
            <a:extLst>
              <a:ext uri="{FF2B5EF4-FFF2-40B4-BE49-F238E27FC236}">
                <a16:creationId xmlns:a16="http://schemas.microsoft.com/office/drawing/2014/main" id="{6164F26E-4C69-96B1-56B0-CEF187495DA4}"/>
              </a:ext>
            </a:extLst>
          </p:cNvPr>
          <p:cNvSpPr>
            <a:spLocks noChangeArrowheads="1"/>
          </p:cNvSpPr>
          <p:nvPr/>
        </p:nvSpPr>
        <p:spPr bwMode="auto">
          <a:xfrm>
            <a:off x="307340" y="2108031"/>
            <a:ext cx="8529319"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It maps </a:t>
            </a:r>
            <a:r>
              <a:rPr kumimoji="0" lang="en-US" altLang="en-US" sz="2200" i="0" u="none" strike="noStrike" cap="none" normalizeH="0" baseline="0" dirty="0">
                <a:ln>
                  <a:noFill/>
                </a:ln>
                <a:solidFill>
                  <a:schemeClr val="tx1"/>
                </a:solidFill>
                <a:effectLst/>
                <a:latin typeface="Arial" panose="020B0604020202020204" pitchFamily="34" charset="0"/>
              </a:rPr>
              <a:t>one domain name (like </a:t>
            </a:r>
            <a:r>
              <a:rPr kumimoji="0" lang="en-US" altLang="en-US" sz="2200" i="0" u="none" strike="noStrike" cap="none" normalizeH="0" baseline="0" dirty="0">
                <a:ln>
                  <a:noFill/>
                </a:ln>
                <a:solidFill>
                  <a:schemeClr val="tx1"/>
                </a:solidFill>
                <a:effectLst/>
                <a:latin typeface="Arial Unicode MS"/>
              </a:rPr>
              <a:t>foo.example.com</a:t>
            </a:r>
            <a:r>
              <a:rPr kumimoji="0" lang="en-US" altLang="en-US" sz="2200" i="0" u="none" strike="noStrike" cap="none" normalizeH="0" baseline="0" dirty="0">
                <a:ln>
                  <a:noFill/>
                </a:ln>
                <a:solidFill>
                  <a:schemeClr val="tx1"/>
                </a:solidFill>
                <a:effectLst/>
              </a:rPr>
              <a:t>) to </a:t>
            </a:r>
            <a:r>
              <a:rPr kumimoji="0" lang="en-US" altLang="en-US" sz="2200" i="0" u="none" strike="noStrike" cap="none" normalizeH="0" baseline="0" dirty="0">
                <a:ln>
                  <a:noFill/>
                </a:ln>
                <a:solidFill>
                  <a:schemeClr val="tx1"/>
                </a:solidFill>
                <a:effectLst/>
                <a:latin typeface="Arial" panose="020B0604020202020204" pitchFamily="34" charset="0"/>
              </a:rPr>
              <a:t>one IP address (like </a:t>
            </a:r>
            <a:r>
              <a:rPr kumimoji="0" lang="en-US" altLang="en-US" sz="2200" i="0" u="none" strike="noStrike" cap="none" normalizeH="0" baseline="0" dirty="0">
                <a:ln>
                  <a:noFill/>
                </a:ln>
                <a:solidFill>
                  <a:schemeClr val="tx1"/>
                </a:solidFill>
                <a:effectLst/>
                <a:latin typeface="Arial Unicode MS"/>
              </a:rPr>
              <a:t>11.22.33.44</a:t>
            </a:r>
            <a:r>
              <a:rPr kumimoji="0" lang="en-US" altLang="en-US" sz="2200" i="0" u="none" strike="noStrike" cap="none" normalizeH="0" baseline="0" dirty="0">
                <a:ln>
                  <a:noFill/>
                </a:ln>
                <a:solidFill>
                  <a:schemeClr val="tx1"/>
                </a:solidFill>
                <a:effectLst/>
              </a:rPr>
              <a:t>).</a:t>
            </a:r>
            <a:endParaRPr kumimoji="0" lang="en-US" altLang="en-US" sz="220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i="0" u="none" strike="noStrike" cap="none" normalizeH="0" baseline="0" dirty="0">
                <a:ln>
                  <a:noFill/>
                </a:ln>
                <a:solidFill>
                  <a:srgbClr val="FF0000"/>
                </a:solidFill>
                <a:effectLst/>
                <a:latin typeface="Arial" panose="020B0604020202020204" pitchFamily="34" charset="0"/>
              </a:rPr>
              <a:t>No load balancing, no failover, no health checks.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Arial" panose="020B0604020202020204" pitchFamily="34" charset="0"/>
              </a:rPr>
              <a:t>Example: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Arial" panose="020B0604020202020204" pitchFamily="34" charset="0"/>
              </a:rPr>
              <a:t>If someone visits </a:t>
            </a:r>
            <a:r>
              <a:rPr kumimoji="0" lang="en-US" altLang="en-US" sz="2200" b="0" i="0" u="none" strike="noStrike" cap="none" normalizeH="0" baseline="0" dirty="0">
                <a:ln>
                  <a:noFill/>
                </a:ln>
                <a:solidFill>
                  <a:schemeClr val="tx1"/>
                </a:solidFill>
                <a:effectLst/>
                <a:latin typeface="Arial Unicode MS"/>
              </a:rPr>
              <a:t>foo.example.</a:t>
            </a:r>
            <a:r>
              <a:rPr kumimoji="0" lang="en-US" altLang="en-US" sz="2200" i="0" u="none" strike="noStrike" cap="none" normalizeH="0" baseline="0" dirty="0">
                <a:ln>
                  <a:noFill/>
                </a:ln>
                <a:solidFill>
                  <a:schemeClr val="tx1"/>
                </a:solidFill>
                <a:effectLst/>
                <a:latin typeface="Arial Unicode MS"/>
              </a:rPr>
              <a:t>com</a:t>
            </a:r>
            <a:r>
              <a:rPr kumimoji="0" lang="en-US" altLang="en-US" sz="2200" i="0" u="none" strike="noStrike" cap="none" normalizeH="0" baseline="0" dirty="0">
                <a:ln>
                  <a:noFill/>
                </a:ln>
                <a:solidFill>
                  <a:schemeClr val="tx1"/>
                </a:solidFill>
                <a:effectLst/>
              </a:rPr>
              <a:t>, Route 53 </a:t>
            </a:r>
            <a:r>
              <a:rPr kumimoji="0" lang="en-US" altLang="en-US" sz="2200" i="0" u="none" strike="noStrike" cap="none" normalizeH="0" baseline="0" dirty="0">
                <a:ln>
                  <a:noFill/>
                </a:ln>
                <a:solidFill>
                  <a:schemeClr val="tx1"/>
                </a:solidFill>
                <a:effectLst/>
                <a:latin typeface="Arial" panose="020B0604020202020204" pitchFamily="34" charset="0"/>
              </a:rPr>
              <a:t>always responds with the same IP.</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Arial" panose="020B0604020202020204" pitchFamily="34" charset="0"/>
              </a:rPr>
              <a:t>Real world scenario:</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Arial" panose="020B0604020202020204" pitchFamily="34" charset="0"/>
              </a:rPr>
              <a:t>Think of it </a:t>
            </a:r>
            <a:r>
              <a:rPr kumimoji="0" lang="en-US" altLang="en-US" sz="2200" i="0" u="none" strike="noStrike" cap="none" normalizeH="0" baseline="0" dirty="0">
                <a:ln>
                  <a:noFill/>
                </a:ln>
                <a:solidFill>
                  <a:schemeClr val="tx1"/>
                </a:solidFill>
                <a:effectLst/>
                <a:latin typeface="Arial" panose="020B0604020202020204" pitchFamily="34" charset="0"/>
              </a:rPr>
              <a:t>like giving only one restaurant's address to everyone who asks, regardless of </a:t>
            </a:r>
            <a:r>
              <a:rPr kumimoji="0" lang="en-US" altLang="en-US" sz="2200" b="0" i="0" u="none" strike="noStrike" cap="none" normalizeH="0" baseline="0" dirty="0">
                <a:ln>
                  <a:noFill/>
                </a:ln>
                <a:solidFill>
                  <a:schemeClr val="tx1"/>
                </a:solidFill>
                <a:effectLst/>
                <a:latin typeface="Arial" panose="020B0604020202020204" pitchFamily="34" charset="0"/>
              </a:rPr>
              <a:t>traffic or whether it’s open or closed.</a:t>
            </a:r>
          </a:p>
        </p:txBody>
      </p:sp>
    </p:spTree>
    <p:extLst>
      <p:ext uri="{BB962C8B-B14F-4D97-AF65-F5344CB8AC3E}">
        <p14:creationId xmlns:p14="http://schemas.microsoft.com/office/powerpoint/2010/main" val="1501123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A67F0-B651-26C6-2FD6-9257D3585938}"/>
              </a:ext>
            </a:extLst>
          </p:cNvPr>
          <p:cNvSpPr>
            <a:spLocks noGrp="1"/>
          </p:cNvSpPr>
          <p:nvPr>
            <p:ph type="title"/>
          </p:nvPr>
        </p:nvSpPr>
        <p:spPr>
          <a:xfrm>
            <a:off x="307340" y="247599"/>
            <a:ext cx="8529319" cy="446276"/>
          </a:xfrm>
        </p:spPr>
        <p:txBody>
          <a:bodyPr/>
          <a:lstStyle/>
          <a:p>
            <a:r>
              <a:rPr lang="en-US" dirty="0"/>
              <a:t>Understand</a:t>
            </a:r>
          </a:p>
        </p:txBody>
      </p:sp>
      <p:sp>
        <p:nvSpPr>
          <p:cNvPr id="3" name="Rectangle 1">
            <a:extLst>
              <a:ext uri="{FF2B5EF4-FFF2-40B4-BE49-F238E27FC236}">
                <a16:creationId xmlns:a16="http://schemas.microsoft.com/office/drawing/2014/main" id="{8D44F216-00C3-476D-B57B-0FCD96101A2B}"/>
              </a:ext>
            </a:extLst>
          </p:cNvPr>
          <p:cNvSpPr>
            <a:spLocks noChangeArrowheads="1"/>
          </p:cNvSpPr>
          <p:nvPr/>
        </p:nvSpPr>
        <p:spPr bwMode="auto">
          <a:xfrm>
            <a:off x="152400" y="1371600"/>
            <a:ext cx="871778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1. ❌ No Load Balancing :</a:t>
            </a:r>
            <a:r>
              <a:rPr kumimoji="0" lang="en-US" altLang="en-US" sz="2000" b="0" i="0" u="none" strike="noStrike" cap="none" normalizeH="0" baseline="0" dirty="0">
                <a:ln>
                  <a:noFill/>
                </a:ln>
                <a:solidFill>
                  <a:schemeClr val="tx1"/>
                </a:solidFill>
                <a:effectLst/>
                <a:latin typeface="Arial" panose="020B0604020202020204" pitchFamily="34" charset="0"/>
              </a:rPr>
              <a:t>It </a:t>
            </a:r>
            <a:r>
              <a:rPr kumimoji="0" lang="en-US" altLang="en-US" sz="2000" i="0" u="none" strike="noStrike" cap="none" normalizeH="0" baseline="0" dirty="0">
                <a:ln>
                  <a:noFill/>
                </a:ln>
                <a:solidFill>
                  <a:schemeClr val="tx1"/>
                </a:solidFill>
                <a:effectLst/>
                <a:latin typeface="Arial" panose="020B0604020202020204" pitchFamily="34" charset="0"/>
              </a:rPr>
              <a:t>does not distribute traffic across multiple servers. </a:t>
            </a:r>
            <a:r>
              <a:rPr lang="en-US" altLang="en-US" sz="2000" dirty="0">
                <a:solidFill>
                  <a:schemeClr val="tx1"/>
                </a:solidFill>
                <a:latin typeface="Arial" panose="020B0604020202020204" pitchFamily="34" charset="0"/>
              </a:rPr>
              <a:t>As a result </a:t>
            </a:r>
            <a:r>
              <a:rPr kumimoji="0" lang="en-US" altLang="en-US" sz="2000" i="0" u="none" strike="noStrike" cap="none" normalizeH="0" baseline="0" dirty="0">
                <a:ln>
                  <a:noFill/>
                </a:ln>
                <a:solidFill>
                  <a:schemeClr val="tx1"/>
                </a:solidFill>
                <a:effectLst/>
                <a:latin typeface="Arial" panose="020B0604020202020204" pitchFamily="34" charset="0"/>
              </a:rPr>
              <a:t>All users </a:t>
            </a:r>
            <a:r>
              <a:rPr kumimoji="0" lang="en-US" altLang="en-US" sz="2000" b="0" i="0" u="none" strike="noStrike" cap="none" normalizeH="0" baseline="0" dirty="0">
                <a:ln>
                  <a:noFill/>
                </a:ln>
                <a:solidFill>
                  <a:schemeClr val="tx1"/>
                </a:solidFill>
                <a:effectLst/>
                <a:latin typeface="Arial" panose="020B0604020202020204" pitchFamily="34" charset="0"/>
              </a:rPr>
              <a:t>are sent to </a:t>
            </a:r>
            <a:r>
              <a:rPr lang="en-US" altLang="en-US" dirty="0"/>
              <a:t>one specific IP address or server,</a:t>
            </a:r>
            <a:r>
              <a:rPr kumimoji="0" lang="en-US" altLang="en-US" sz="2000" b="0" i="0" u="none" strike="noStrike" cap="none" normalizeH="0" baseline="0" dirty="0">
                <a:ln>
                  <a:noFill/>
                </a:ln>
                <a:solidFill>
                  <a:schemeClr val="tx1"/>
                </a:solidFill>
                <a:effectLst/>
                <a:latin typeface="Arial" panose="020B0604020202020204" pitchFamily="34" charset="0"/>
              </a:rPr>
              <a:t> even if it's slow or overloaded. </a:t>
            </a:r>
            <a:r>
              <a:rPr kumimoji="0" lang="en-US" altLang="en-US" sz="2000" b="1" i="0" u="none" strike="noStrike" cap="none" normalizeH="0" baseline="0" dirty="0">
                <a:ln>
                  <a:noFill/>
                </a:ln>
                <a:solidFill>
                  <a:schemeClr val="tx1"/>
                </a:solidFill>
                <a:effectLst/>
                <a:latin typeface="Arial" panose="020B0604020202020204" pitchFamily="34" charset="0"/>
              </a:rPr>
              <a:t>Example: </a:t>
            </a:r>
            <a:r>
              <a:rPr kumimoji="0" lang="en-US" altLang="en-US" sz="2000" b="0" i="0" u="none" strike="noStrike" cap="none" normalizeH="0" baseline="0" dirty="0">
                <a:ln>
                  <a:noFill/>
                </a:ln>
                <a:solidFill>
                  <a:schemeClr val="tx1"/>
                </a:solidFill>
                <a:effectLst/>
                <a:latin typeface="Arial" panose="020B0604020202020204" pitchFamily="34" charset="0"/>
              </a:rPr>
              <a:t>If 10,000 people visit your site, they are all sent to the same server — which may crash.</a:t>
            </a:r>
          </a:p>
        </p:txBody>
      </p:sp>
      <p:sp>
        <p:nvSpPr>
          <p:cNvPr id="5" name="Rectangle 3">
            <a:extLst>
              <a:ext uri="{FF2B5EF4-FFF2-40B4-BE49-F238E27FC236}">
                <a16:creationId xmlns:a16="http://schemas.microsoft.com/office/drawing/2014/main" id="{1230AA34-F9AF-23F1-FBB7-5C9A310FDABC}"/>
              </a:ext>
            </a:extLst>
          </p:cNvPr>
          <p:cNvSpPr>
            <a:spLocks noChangeArrowheads="1"/>
          </p:cNvSpPr>
          <p:nvPr/>
        </p:nvSpPr>
        <p:spPr bwMode="auto">
          <a:xfrm>
            <a:off x="152400" y="3218764"/>
            <a:ext cx="883920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2. ❌ No Failover: </a:t>
            </a:r>
            <a:r>
              <a:rPr kumimoji="0" lang="en-US" altLang="en-US" sz="2000" b="0" i="0" u="none" strike="noStrike" cap="none" normalizeH="0" baseline="0" dirty="0">
                <a:ln>
                  <a:noFill/>
                </a:ln>
                <a:solidFill>
                  <a:schemeClr val="tx1"/>
                </a:solidFill>
                <a:effectLst/>
                <a:latin typeface="Arial" panose="020B0604020202020204" pitchFamily="34" charset="0"/>
              </a:rPr>
              <a:t>It doesn’t automatically switch to a </a:t>
            </a:r>
            <a:r>
              <a:rPr kumimoji="0" lang="en-US" altLang="en-US" sz="2000" i="0" u="none" strike="noStrike" cap="none" normalizeH="0" baseline="0" dirty="0">
                <a:ln>
                  <a:noFill/>
                </a:ln>
                <a:solidFill>
                  <a:schemeClr val="tx1"/>
                </a:solidFill>
                <a:effectLst/>
                <a:latin typeface="Arial" panose="020B0604020202020204" pitchFamily="34" charset="0"/>
              </a:rPr>
              <a:t>backup server if </a:t>
            </a:r>
            <a:r>
              <a:rPr kumimoji="0" lang="en-US" altLang="en-US" sz="2000" b="0" i="0" u="none" strike="noStrike" cap="none" normalizeH="0" baseline="0" dirty="0">
                <a:ln>
                  <a:noFill/>
                </a:ln>
                <a:solidFill>
                  <a:schemeClr val="tx1"/>
                </a:solidFill>
                <a:effectLst/>
                <a:latin typeface="Arial" panose="020B0604020202020204" pitchFamily="34" charset="0"/>
              </a:rPr>
              <a:t>the main one goes down. As a result </a:t>
            </a:r>
            <a:r>
              <a:rPr lang="en-US" altLang="en-US" sz="2000" dirty="0">
                <a:solidFill>
                  <a:schemeClr val="tx1"/>
                </a:solidFill>
                <a:latin typeface="Arial" panose="020B0604020202020204" pitchFamily="34" charset="0"/>
              </a:rPr>
              <a:t>i</a:t>
            </a:r>
            <a:r>
              <a:rPr kumimoji="0" lang="en-US" altLang="en-US" sz="2000" b="0" i="0" u="none" strike="noStrike" cap="none" normalizeH="0" baseline="0" dirty="0">
                <a:ln>
                  <a:noFill/>
                </a:ln>
                <a:solidFill>
                  <a:schemeClr val="tx1"/>
                </a:solidFill>
                <a:effectLst/>
                <a:latin typeface="Arial" panose="020B0604020202020204" pitchFamily="34" charset="0"/>
              </a:rPr>
              <a:t>f your server is </a:t>
            </a:r>
            <a:r>
              <a:rPr kumimoji="0" lang="en-US" altLang="en-US" sz="2000" i="0" u="none" strike="noStrike" cap="none" normalizeH="0" baseline="0" dirty="0">
                <a:ln>
                  <a:noFill/>
                </a:ln>
                <a:solidFill>
                  <a:schemeClr val="tx1"/>
                </a:solidFill>
                <a:effectLst/>
                <a:latin typeface="Arial" panose="020B0604020202020204" pitchFamily="34" charset="0"/>
              </a:rPr>
              <a:t>unavailable or crashes</a:t>
            </a:r>
            <a:r>
              <a:rPr kumimoji="0" lang="en-US" altLang="en-US" sz="2000" b="0" i="0" u="none" strike="noStrike" cap="none" normalizeH="0" baseline="0" dirty="0">
                <a:ln>
                  <a:noFill/>
                </a:ln>
                <a:solidFill>
                  <a:schemeClr val="tx1"/>
                </a:solidFill>
                <a:effectLst/>
                <a:latin typeface="Arial" panose="020B0604020202020204" pitchFamily="34" charset="0"/>
              </a:rPr>
              <a:t>, the users will see errors or your site will be down. </a:t>
            </a:r>
            <a:r>
              <a:rPr kumimoji="0" lang="en-US" altLang="en-US" sz="2000" b="1" i="0" u="none" strike="noStrike" cap="none" normalizeH="0" baseline="0" dirty="0">
                <a:ln>
                  <a:noFill/>
                </a:ln>
                <a:solidFill>
                  <a:schemeClr val="tx1"/>
                </a:solidFill>
                <a:effectLst/>
                <a:latin typeface="Arial" panose="020B0604020202020204" pitchFamily="34" charset="0"/>
              </a:rPr>
              <a:t>Example</a:t>
            </a:r>
            <a:r>
              <a:rPr lang="en-US" altLang="en-US" sz="2000" b="1" dirty="0">
                <a:solidFill>
                  <a:schemeClr val="tx1"/>
                </a:solidFill>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If Server A is offline, Route 53 will still try to send users to it — because it doesn’t know it’s down.</a:t>
            </a:r>
          </a:p>
        </p:txBody>
      </p:sp>
      <p:sp>
        <p:nvSpPr>
          <p:cNvPr id="7" name="Rectangle 5">
            <a:extLst>
              <a:ext uri="{FF2B5EF4-FFF2-40B4-BE49-F238E27FC236}">
                <a16:creationId xmlns:a16="http://schemas.microsoft.com/office/drawing/2014/main" id="{D2BA70CA-B942-C877-5AD7-ABE8F1452590}"/>
              </a:ext>
            </a:extLst>
          </p:cNvPr>
          <p:cNvSpPr>
            <a:spLocks noChangeArrowheads="1"/>
          </p:cNvSpPr>
          <p:nvPr/>
        </p:nvSpPr>
        <p:spPr bwMode="auto">
          <a:xfrm>
            <a:off x="152400" y="4902241"/>
            <a:ext cx="8839201"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Arial" panose="020B0604020202020204" pitchFamily="34" charset="0"/>
              </a:rPr>
              <a:t>3. ❌ No Health Checks: </a:t>
            </a:r>
            <a:r>
              <a:rPr kumimoji="0" lang="en-US" altLang="en-US" sz="2100" b="0" i="0" u="none" strike="noStrike" cap="none" normalizeH="0" baseline="0" dirty="0">
                <a:ln>
                  <a:noFill/>
                </a:ln>
                <a:solidFill>
                  <a:schemeClr val="tx1"/>
                </a:solidFill>
                <a:effectLst/>
                <a:latin typeface="Arial" panose="020B0604020202020204" pitchFamily="34" charset="0"/>
              </a:rPr>
              <a:t>Route </a:t>
            </a:r>
            <a:r>
              <a:rPr kumimoji="0" lang="en-US" altLang="en-US" sz="2100" i="0" u="none" strike="noStrike" cap="none" normalizeH="0" baseline="0" dirty="0">
                <a:ln>
                  <a:noFill/>
                </a:ln>
                <a:solidFill>
                  <a:schemeClr val="tx1"/>
                </a:solidFill>
                <a:effectLst/>
                <a:latin typeface="Arial" panose="020B0604020202020204" pitchFamily="34" charset="0"/>
              </a:rPr>
              <a:t>53 does not monitor the server to check if it's working properly. As a result Even if the server </a:t>
            </a:r>
            <a:r>
              <a:rPr kumimoji="0" lang="en-US" altLang="en-US" sz="2100" b="0" i="0" u="none" strike="noStrike" cap="none" normalizeH="0" baseline="0" dirty="0">
                <a:ln>
                  <a:noFill/>
                </a:ln>
                <a:solidFill>
                  <a:schemeClr val="tx1"/>
                </a:solidFill>
                <a:effectLst/>
                <a:latin typeface="Arial" panose="020B0604020202020204" pitchFamily="34" charset="0"/>
              </a:rPr>
              <a:t>is not responding (unhealthy), Route 53 will continue to route traffic to it. </a:t>
            </a:r>
            <a:r>
              <a:rPr kumimoji="0" lang="en-US" altLang="en-US" sz="2100" b="1" i="0" u="none" strike="noStrike" cap="none" normalizeH="0" baseline="0" dirty="0">
                <a:ln>
                  <a:noFill/>
                </a:ln>
                <a:solidFill>
                  <a:schemeClr val="tx1"/>
                </a:solidFill>
                <a:effectLst/>
                <a:latin typeface="Arial" panose="020B0604020202020204" pitchFamily="34" charset="0"/>
              </a:rPr>
              <a:t>Example: </a:t>
            </a:r>
            <a:r>
              <a:rPr kumimoji="0" lang="en-US" altLang="en-US" sz="2100" b="0" i="0" u="none" strike="noStrike" cap="none" normalizeH="0" baseline="0" dirty="0">
                <a:ln>
                  <a:noFill/>
                </a:ln>
                <a:solidFill>
                  <a:schemeClr val="tx1"/>
                </a:solidFill>
                <a:effectLst/>
                <a:latin typeface="Arial" panose="020B0604020202020204" pitchFamily="34" charset="0"/>
              </a:rPr>
              <a:t>Unlike advanced routing, </a:t>
            </a:r>
            <a:r>
              <a:rPr kumimoji="0" lang="en-US" altLang="en-US" sz="2100" i="0" u="none" strike="noStrike" cap="none" normalizeH="0" baseline="0" dirty="0">
                <a:ln>
                  <a:noFill/>
                </a:ln>
                <a:solidFill>
                  <a:schemeClr val="tx1"/>
                </a:solidFill>
                <a:effectLst/>
                <a:latin typeface="Arial" panose="020B0604020202020204" pitchFamily="34" charset="0"/>
              </a:rPr>
              <a:t>Simple Routing doesn’t check if </a:t>
            </a:r>
            <a:r>
              <a:rPr kumimoji="0" lang="en-US" altLang="en-US" sz="2100" b="0" i="0" u="none" strike="noStrike" cap="none" normalizeH="0" baseline="0" dirty="0">
                <a:ln>
                  <a:noFill/>
                </a:ln>
                <a:solidFill>
                  <a:schemeClr val="tx1"/>
                </a:solidFill>
                <a:effectLst/>
                <a:latin typeface="Arial" panose="020B0604020202020204" pitchFamily="34" charset="0"/>
              </a:rPr>
              <a:t>the destination is online or offline.</a:t>
            </a:r>
          </a:p>
        </p:txBody>
      </p:sp>
    </p:spTree>
    <p:extLst>
      <p:ext uri="{BB962C8B-B14F-4D97-AF65-F5344CB8AC3E}">
        <p14:creationId xmlns:p14="http://schemas.microsoft.com/office/powerpoint/2010/main" val="1829586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848415-ABBE-A258-4D08-50620903FE6C}"/>
              </a:ext>
            </a:extLst>
          </p:cNvPr>
          <p:cNvSpPr txBox="1"/>
          <p:nvPr/>
        </p:nvSpPr>
        <p:spPr>
          <a:xfrm>
            <a:off x="114300" y="533400"/>
            <a:ext cx="8953500" cy="6334170"/>
          </a:xfrm>
          <a:prstGeom prst="rect">
            <a:avLst/>
          </a:prstGeom>
          <a:noFill/>
        </p:spPr>
        <p:txBody>
          <a:bodyPr wrap="square">
            <a:spAutoFit/>
          </a:bodyPr>
          <a:lstStyle/>
          <a:p>
            <a:pPr>
              <a:lnSpc>
                <a:spcPct val="150000"/>
              </a:lnSpc>
              <a:buNone/>
            </a:pPr>
            <a:r>
              <a:rPr lang="en-US" sz="2200" b="1" dirty="0">
                <a:highlight>
                  <a:srgbClr val="FFFF00"/>
                </a:highlight>
              </a:rPr>
              <a:t>2. Weighted Routing Policy </a:t>
            </a:r>
          </a:p>
          <a:p>
            <a:pPr>
              <a:lnSpc>
                <a:spcPct val="150000"/>
              </a:lnSpc>
              <a:buFont typeface="Arial" panose="020B0604020202020204" pitchFamily="34" charset="0"/>
              <a:buChar char="•"/>
            </a:pPr>
            <a:r>
              <a:rPr lang="en-US" sz="2100" dirty="0"/>
              <a:t>Allows you to distribute traffic across multiple servers/resources.</a:t>
            </a:r>
          </a:p>
          <a:p>
            <a:pPr>
              <a:lnSpc>
                <a:spcPct val="150000"/>
              </a:lnSpc>
              <a:buFont typeface="Arial" panose="020B0604020202020204" pitchFamily="34" charset="0"/>
              <a:buChar char="•"/>
            </a:pPr>
            <a:r>
              <a:rPr lang="en-US" sz="2100" dirty="0"/>
              <a:t>You assign a weight (in %) to each server, controlling how much traffic goes to each one. </a:t>
            </a:r>
            <a:r>
              <a:rPr lang="en-US" sz="2100" b="1" dirty="0"/>
              <a:t>Such as 70% of the requests go to the first server, 20% to the second, 10% to the third.</a:t>
            </a:r>
          </a:p>
          <a:p>
            <a:pPr>
              <a:lnSpc>
                <a:spcPct val="150000"/>
              </a:lnSpc>
              <a:buNone/>
            </a:pPr>
            <a:r>
              <a:rPr lang="en-US" sz="2100" b="1" dirty="0"/>
              <a:t>This is useful for:</a:t>
            </a:r>
          </a:p>
          <a:p>
            <a:pPr>
              <a:lnSpc>
                <a:spcPct val="150000"/>
              </a:lnSpc>
              <a:buFont typeface="Arial" panose="020B0604020202020204" pitchFamily="34" charset="0"/>
              <a:buChar char="•"/>
            </a:pPr>
            <a:r>
              <a:rPr lang="en-US" sz="2100" dirty="0"/>
              <a:t>Load testing new servers,</a:t>
            </a:r>
          </a:p>
          <a:p>
            <a:pPr>
              <a:lnSpc>
                <a:spcPct val="150000"/>
              </a:lnSpc>
              <a:buFont typeface="Arial" panose="020B0604020202020204" pitchFamily="34" charset="0"/>
              <a:buChar char="•"/>
            </a:pPr>
            <a:r>
              <a:rPr lang="en-US" sz="2100" dirty="0"/>
              <a:t>Gradually shifting traffic during migrations,</a:t>
            </a:r>
          </a:p>
          <a:p>
            <a:pPr>
              <a:lnSpc>
                <a:spcPct val="150000"/>
              </a:lnSpc>
              <a:buFont typeface="Arial" panose="020B0604020202020204" pitchFamily="34" charset="0"/>
              <a:buChar char="•"/>
            </a:pPr>
            <a:r>
              <a:rPr lang="en-US" sz="2100" dirty="0"/>
              <a:t>Running different versions of an app (A/B testing).</a:t>
            </a:r>
          </a:p>
          <a:p>
            <a:pPr>
              <a:lnSpc>
                <a:spcPct val="150000"/>
              </a:lnSpc>
              <a:buNone/>
            </a:pPr>
            <a:r>
              <a:rPr lang="en-US" sz="2100" b="1" dirty="0"/>
              <a:t> Real world scenario: </a:t>
            </a:r>
            <a:r>
              <a:rPr lang="en-US" sz="2100" dirty="0"/>
              <a:t>You’re spreading out the crowd intentionally.</a:t>
            </a:r>
            <a:endParaRPr lang="en-US" sz="2100" b="1" dirty="0"/>
          </a:p>
          <a:p>
            <a:pPr>
              <a:lnSpc>
                <a:spcPct val="150000"/>
              </a:lnSpc>
              <a:buNone/>
            </a:pPr>
            <a:r>
              <a:rPr lang="en-US" sz="2100" dirty="0"/>
              <a:t>Imagine you run 3 food stalls and you tell people:</a:t>
            </a:r>
          </a:p>
          <a:p>
            <a:pPr>
              <a:lnSpc>
                <a:spcPct val="150000"/>
              </a:lnSpc>
              <a:buFont typeface="Arial" panose="020B0604020202020204" pitchFamily="34" charset="0"/>
              <a:buChar char="•"/>
            </a:pPr>
            <a:r>
              <a:rPr lang="en-US" sz="2100" dirty="0"/>
              <a:t>"Go to stall A 70% of the time, stall B 20%, and stall C 10%."</a:t>
            </a:r>
            <a:br>
              <a:rPr lang="en-US" sz="2100" dirty="0"/>
            </a:br>
            <a:endParaRPr lang="en-US" sz="2100" dirty="0"/>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9806C156-27E7-7AB1-BD61-F8962C9C7F94}"/>
                  </a:ext>
                </a:extLst>
              </p14:cNvPr>
              <p14:cNvContentPartPr/>
              <p14:nvPr/>
            </p14:nvContentPartPr>
            <p14:xfrm>
              <a:off x="1490760" y="2474640"/>
              <a:ext cx="7429320" cy="3677400"/>
            </p14:xfrm>
          </p:contentPart>
        </mc:Choice>
        <mc:Fallback xmlns="">
          <p:pic>
            <p:nvPicPr>
              <p:cNvPr id="2" name="Ink 1">
                <a:extLst>
                  <a:ext uri="{FF2B5EF4-FFF2-40B4-BE49-F238E27FC236}">
                    <a16:creationId xmlns:a16="http://schemas.microsoft.com/office/drawing/2014/main" id="{9806C156-27E7-7AB1-BD61-F8962C9C7F94}"/>
                  </a:ext>
                </a:extLst>
              </p:cNvPr>
              <p:cNvPicPr/>
              <p:nvPr/>
            </p:nvPicPr>
            <p:blipFill>
              <a:blip r:embed="rId3"/>
              <a:stretch>
                <a:fillRect/>
              </a:stretch>
            </p:blipFill>
            <p:spPr>
              <a:xfrm>
                <a:off x="1481400" y="2465280"/>
                <a:ext cx="7448040" cy="3696120"/>
              </a:xfrm>
              <a:prstGeom prst="rect">
                <a:avLst/>
              </a:prstGeom>
            </p:spPr>
          </p:pic>
        </mc:Fallback>
      </mc:AlternateContent>
    </p:spTree>
    <p:extLst>
      <p:ext uri="{BB962C8B-B14F-4D97-AF65-F5344CB8AC3E}">
        <p14:creationId xmlns:p14="http://schemas.microsoft.com/office/powerpoint/2010/main" val="390108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CACFD-C339-EA69-1F40-8AA05889E390}"/>
              </a:ext>
            </a:extLst>
          </p:cNvPr>
          <p:cNvSpPr>
            <a:spLocks noGrp="1"/>
          </p:cNvSpPr>
          <p:nvPr>
            <p:ph type="title"/>
          </p:nvPr>
        </p:nvSpPr>
        <p:spPr/>
        <p:txBody>
          <a:bodyPr/>
          <a:lstStyle/>
          <a:p>
            <a:endParaRPr lang="en-US"/>
          </a:p>
        </p:txBody>
      </p:sp>
      <p:sp>
        <p:nvSpPr>
          <p:cNvPr id="4" name="TextBox 3">
            <a:extLst>
              <a:ext uri="{FF2B5EF4-FFF2-40B4-BE49-F238E27FC236}">
                <a16:creationId xmlns:a16="http://schemas.microsoft.com/office/drawing/2014/main" id="{F9A1B966-0252-C5A2-4B00-1EA81ECE71BC}"/>
              </a:ext>
            </a:extLst>
          </p:cNvPr>
          <p:cNvSpPr txBox="1"/>
          <p:nvPr/>
        </p:nvSpPr>
        <p:spPr>
          <a:xfrm>
            <a:off x="381000" y="1303244"/>
            <a:ext cx="9519412" cy="430887"/>
          </a:xfrm>
          <a:prstGeom prst="rect">
            <a:avLst/>
          </a:prstGeom>
          <a:noFill/>
        </p:spPr>
        <p:txBody>
          <a:bodyPr wrap="square">
            <a:spAutoFit/>
          </a:bodyPr>
          <a:lstStyle/>
          <a:p>
            <a:r>
              <a:rPr lang="en-US" sz="2200" dirty="0"/>
              <a:t>How to distribute traffic across multiple servers/resources?</a:t>
            </a:r>
          </a:p>
        </p:txBody>
      </p:sp>
      <p:sp>
        <p:nvSpPr>
          <p:cNvPr id="5" name="Rectangle 1">
            <a:extLst>
              <a:ext uri="{FF2B5EF4-FFF2-40B4-BE49-F238E27FC236}">
                <a16:creationId xmlns:a16="http://schemas.microsoft.com/office/drawing/2014/main" id="{D4ACC77B-72D7-92BA-3B20-5010297ADC2E}"/>
              </a:ext>
            </a:extLst>
          </p:cNvPr>
          <p:cNvSpPr>
            <a:spLocks noChangeArrowheads="1"/>
          </p:cNvSpPr>
          <p:nvPr/>
        </p:nvSpPr>
        <p:spPr bwMode="auto">
          <a:xfrm>
            <a:off x="685800" y="2148046"/>
            <a:ext cx="7924800"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0" i="0" u="none" strike="noStrike" cap="none" normalizeH="0" baseline="0" dirty="0">
                <a:ln>
                  <a:noFill/>
                </a:ln>
                <a:solidFill>
                  <a:schemeClr val="tx1"/>
                </a:solidFill>
                <a:effectLst/>
                <a:latin typeface="Arial" panose="020B0604020202020204" pitchFamily="34" charset="0"/>
              </a:rPr>
              <a:t>When users visit </a:t>
            </a:r>
            <a:r>
              <a:rPr kumimoji="0" lang="en-US" altLang="en-US" sz="2100" b="0" i="0" u="none" strike="noStrike" cap="none" normalizeH="0" baseline="0" dirty="0">
                <a:ln>
                  <a:noFill/>
                </a:ln>
                <a:solidFill>
                  <a:schemeClr val="tx1"/>
                </a:solidFill>
                <a:effectLst/>
                <a:latin typeface="Arial Unicode MS"/>
              </a:rPr>
              <a:t>www.example.com</a:t>
            </a:r>
            <a:r>
              <a:rPr kumimoji="0" lang="en-US" altLang="en-US" sz="2100" b="0" i="0" u="none" strike="noStrike" cap="none" normalizeH="0" baseline="0" dirty="0">
                <a:ln>
                  <a:noFill/>
                </a:ln>
                <a:solidFill>
                  <a:schemeClr val="tx1"/>
                </a:solidFill>
                <a:effectLst/>
              </a:rPr>
              <a:t>, Route 53 will:</a:t>
            </a: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Send </a:t>
            </a:r>
            <a:r>
              <a:rPr kumimoji="0" lang="en-US" altLang="en-US" sz="2100" b="1" i="0" u="none" strike="noStrike" cap="none" normalizeH="0" baseline="0" dirty="0">
                <a:ln>
                  <a:noFill/>
                </a:ln>
                <a:solidFill>
                  <a:schemeClr val="tx1"/>
                </a:solidFill>
                <a:effectLst/>
                <a:latin typeface="Arial" panose="020B0604020202020204" pitchFamily="34" charset="0"/>
              </a:rPr>
              <a:t>80% of traffic to EC2-1 (Mumbai)</a:t>
            </a: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Send </a:t>
            </a:r>
            <a:r>
              <a:rPr kumimoji="0" lang="en-US" altLang="en-US" sz="2100" b="1" i="0" u="none" strike="noStrike" cap="none" normalizeH="0" baseline="0" dirty="0">
                <a:ln>
                  <a:noFill/>
                </a:ln>
                <a:solidFill>
                  <a:schemeClr val="tx1"/>
                </a:solidFill>
                <a:effectLst/>
                <a:latin typeface="Arial" panose="020B0604020202020204" pitchFamily="34" charset="0"/>
              </a:rPr>
              <a:t>20% of traffic to EC2-2 (Ohio)</a:t>
            </a: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0" i="0" u="none" strike="noStrike" cap="none" normalizeH="0" baseline="0" dirty="0">
                <a:ln>
                  <a:noFill/>
                </a:ln>
                <a:solidFill>
                  <a:schemeClr val="tx1"/>
                </a:solidFill>
                <a:effectLst/>
                <a:latin typeface="Arial" panose="020B0604020202020204" pitchFamily="34" charset="0"/>
              </a:rPr>
              <a:t>This is useful when: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You are testing a </a:t>
            </a:r>
            <a:r>
              <a:rPr kumimoji="0" lang="en-US" altLang="en-US" sz="2100" b="1" i="0" u="none" strike="noStrike" cap="none" normalizeH="0" baseline="0" dirty="0">
                <a:ln>
                  <a:noFill/>
                </a:ln>
                <a:solidFill>
                  <a:schemeClr val="tx1"/>
                </a:solidFill>
                <a:effectLst/>
                <a:latin typeface="Arial" panose="020B0604020202020204" pitchFamily="34" charset="0"/>
              </a:rPr>
              <a:t>new version</a:t>
            </a:r>
            <a:r>
              <a:rPr kumimoji="0" lang="en-US" altLang="en-US" sz="2100" b="0" i="0" u="none" strike="noStrike" cap="none" normalizeH="0" baseline="0" dirty="0">
                <a:ln>
                  <a:noFill/>
                </a:ln>
                <a:solidFill>
                  <a:schemeClr val="tx1"/>
                </a:solidFill>
                <a:effectLst/>
                <a:latin typeface="Arial" panose="020B0604020202020204" pitchFamily="34" charset="0"/>
              </a:rPr>
              <a:t> on one EC2 instance.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You want to </a:t>
            </a:r>
            <a:r>
              <a:rPr kumimoji="0" lang="en-US" altLang="en-US" sz="2100" b="1" i="0" u="none" strike="noStrike" cap="none" normalizeH="0" baseline="0" dirty="0">
                <a:ln>
                  <a:noFill/>
                </a:ln>
                <a:solidFill>
                  <a:schemeClr val="tx1"/>
                </a:solidFill>
                <a:effectLst/>
                <a:latin typeface="Arial" panose="020B0604020202020204" pitchFamily="34" charset="0"/>
              </a:rPr>
              <a:t>gradually shift traffic</a:t>
            </a:r>
            <a:r>
              <a:rPr kumimoji="0" lang="en-US" altLang="en-US" sz="2100" b="0" i="0" u="none" strike="noStrike" cap="none" normalizeH="0" baseline="0" dirty="0">
                <a:ln>
                  <a:noFill/>
                </a:ln>
                <a:solidFill>
                  <a:schemeClr val="tx1"/>
                </a:solidFill>
                <a:effectLst/>
                <a:latin typeface="Arial" panose="020B0604020202020204" pitchFamily="34" charset="0"/>
              </a:rPr>
              <a:t> to a new server.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You want to </a:t>
            </a:r>
            <a:r>
              <a:rPr kumimoji="0" lang="en-US" altLang="en-US" sz="2100" b="1" i="0" u="none" strike="noStrike" cap="none" normalizeH="0" baseline="0" dirty="0">
                <a:ln>
                  <a:noFill/>
                </a:ln>
                <a:solidFill>
                  <a:schemeClr val="tx1"/>
                </a:solidFill>
                <a:effectLst/>
                <a:latin typeface="Arial" panose="020B0604020202020204" pitchFamily="34" charset="0"/>
              </a:rPr>
              <a:t>balance traffic</a:t>
            </a:r>
            <a:r>
              <a:rPr kumimoji="0" lang="en-US" altLang="en-US" sz="2100" b="0" i="0" u="none" strike="noStrike" cap="none" normalizeH="0" baseline="0" dirty="0">
                <a:ln>
                  <a:noFill/>
                </a:ln>
                <a:solidFill>
                  <a:schemeClr val="tx1"/>
                </a:solidFill>
                <a:effectLst/>
                <a:latin typeface="Arial" panose="020B0604020202020204" pitchFamily="34" charset="0"/>
              </a:rPr>
              <a:t> based on capacity or cost.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603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1BB21-8D89-8A27-0429-73795FF5DD76}"/>
              </a:ext>
            </a:extLst>
          </p:cNvPr>
          <p:cNvSpPr>
            <a:spLocks noGrp="1"/>
          </p:cNvSpPr>
          <p:nvPr>
            <p:ph type="title"/>
          </p:nvPr>
        </p:nvSpPr>
        <p:spPr>
          <a:xfrm>
            <a:off x="457200" y="360414"/>
            <a:ext cx="8529319" cy="492443"/>
          </a:xfrm>
        </p:spPr>
        <p:txBody>
          <a:bodyPr/>
          <a:lstStyle/>
          <a:p>
            <a:pPr rtl="0"/>
            <a:r>
              <a:rPr lang="en-US" altLang="en-US" sz="3200" b="1" dirty="0">
                <a:latin typeface="Arial" panose="020B0604020202020204" pitchFamily="34" charset="0"/>
              </a:rPr>
              <a:t>How to Set It Up in Route 53:</a:t>
            </a:r>
            <a:endParaRPr lang="en-US" dirty="0"/>
          </a:p>
        </p:txBody>
      </p:sp>
      <p:sp>
        <p:nvSpPr>
          <p:cNvPr id="3" name="Rectangle 1">
            <a:extLst>
              <a:ext uri="{FF2B5EF4-FFF2-40B4-BE49-F238E27FC236}">
                <a16:creationId xmlns:a16="http://schemas.microsoft.com/office/drawing/2014/main" id="{932DE39E-1D9B-0256-E164-E5CE3B9BC35E}"/>
              </a:ext>
            </a:extLst>
          </p:cNvPr>
          <p:cNvSpPr>
            <a:spLocks noChangeArrowheads="1"/>
          </p:cNvSpPr>
          <p:nvPr/>
        </p:nvSpPr>
        <p:spPr bwMode="auto">
          <a:xfrm>
            <a:off x="466344" y="2166008"/>
            <a:ext cx="8382000"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100" b="0" i="0" u="none" strike="noStrike" cap="none" normalizeH="0" baseline="0" dirty="0">
                <a:ln>
                  <a:noFill/>
                </a:ln>
                <a:solidFill>
                  <a:schemeClr val="tx1"/>
                </a:solidFill>
                <a:effectLst/>
                <a:latin typeface="Arial" panose="020B0604020202020204" pitchFamily="34" charset="0"/>
              </a:rPr>
              <a:t>Go to </a:t>
            </a:r>
            <a:r>
              <a:rPr kumimoji="0" lang="en-US" altLang="en-US" sz="2100" b="1" i="0" u="none" strike="noStrike" cap="none" normalizeH="0" baseline="0" dirty="0">
                <a:ln>
                  <a:noFill/>
                </a:ln>
                <a:solidFill>
                  <a:schemeClr val="tx1"/>
                </a:solidFill>
                <a:effectLst/>
                <a:latin typeface="Arial" panose="020B0604020202020204" pitchFamily="34" charset="0"/>
              </a:rPr>
              <a:t>Route 53 → Hosted Zones → Your Domain</a:t>
            </a: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100" b="0" i="0" u="none" strike="noStrike" cap="none" normalizeH="0" baseline="0" dirty="0">
                <a:ln>
                  <a:noFill/>
                </a:ln>
                <a:solidFill>
                  <a:schemeClr val="tx1"/>
                </a:solidFill>
                <a:effectLst/>
                <a:latin typeface="Arial" panose="020B0604020202020204" pitchFamily="34" charset="0"/>
              </a:rPr>
              <a:t>Click </a:t>
            </a:r>
            <a:r>
              <a:rPr kumimoji="0" lang="en-US" altLang="en-US" sz="2100" b="1" i="0" u="none" strike="noStrike" cap="none" normalizeH="0" baseline="0" dirty="0">
                <a:ln>
                  <a:noFill/>
                </a:ln>
                <a:solidFill>
                  <a:schemeClr val="tx1"/>
                </a:solidFill>
                <a:effectLst/>
                <a:latin typeface="Arial" panose="020B0604020202020204" pitchFamily="34" charset="0"/>
              </a:rPr>
              <a:t>Create Record</a:t>
            </a: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100" b="0" i="0" u="none" strike="noStrike" cap="none" normalizeH="0" baseline="0" dirty="0">
                <a:ln>
                  <a:noFill/>
                </a:ln>
                <a:solidFill>
                  <a:schemeClr val="tx1"/>
                </a:solidFill>
                <a:effectLst/>
                <a:latin typeface="Arial" panose="020B0604020202020204" pitchFamily="34" charset="0"/>
              </a:rPr>
              <a:t>Add: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Name: </a:t>
            </a:r>
            <a:r>
              <a:rPr kumimoji="0" lang="en-US" altLang="en-US" sz="2100" b="0" i="0" u="none" strike="noStrike" cap="none" normalizeH="0" baseline="0" dirty="0">
                <a:ln>
                  <a:noFill/>
                </a:ln>
                <a:solidFill>
                  <a:schemeClr val="tx1"/>
                </a:solidFill>
                <a:effectLst/>
                <a:latin typeface="Arial Unicode MS"/>
              </a:rPr>
              <a:t>www.example.com</a:t>
            </a:r>
            <a:endParaRPr kumimoji="0" lang="en-US" altLang="en-US" sz="21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Record type: </a:t>
            </a:r>
            <a:r>
              <a:rPr kumimoji="0" lang="en-US" altLang="en-US" sz="2100" b="0" i="0" u="none" strike="noStrike" cap="none" normalizeH="0" baseline="0" dirty="0">
                <a:ln>
                  <a:noFill/>
                </a:ln>
                <a:solidFill>
                  <a:schemeClr val="tx1"/>
                </a:solidFill>
                <a:effectLst/>
                <a:latin typeface="Arial Unicode MS"/>
              </a:rPr>
              <a:t>A – IPv4 address</a:t>
            </a:r>
            <a:endParaRPr kumimoji="0" lang="en-US" altLang="en-US" sz="21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Routing Policy: </a:t>
            </a:r>
            <a:r>
              <a:rPr kumimoji="0" lang="en-US" altLang="en-US" sz="2100" b="1" i="0" u="none" strike="noStrike" cap="none" normalizeH="0" baseline="0" dirty="0">
                <a:ln>
                  <a:noFill/>
                </a:ln>
                <a:solidFill>
                  <a:schemeClr val="tx1"/>
                </a:solidFill>
                <a:effectLst/>
                <a:latin typeface="Arial" panose="020B0604020202020204" pitchFamily="34" charset="0"/>
              </a:rPr>
              <a:t>Weighted</a:t>
            </a: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IP address: </a:t>
            </a:r>
            <a:r>
              <a:rPr kumimoji="0" lang="en-US" altLang="en-US" sz="2100" b="0" i="0" u="none" strike="noStrike" cap="none" normalizeH="0" baseline="0" dirty="0">
                <a:ln>
                  <a:noFill/>
                </a:ln>
                <a:solidFill>
                  <a:schemeClr val="tx1"/>
                </a:solidFill>
                <a:effectLst/>
                <a:latin typeface="Arial Unicode MS"/>
              </a:rPr>
              <a:t>3.91.123.10</a:t>
            </a:r>
            <a:endParaRPr kumimoji="0" lang="en-US" altLang="en-US" sz="21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Weight: </a:t>
            </a:r>
            <a:r>
              <a:rPr kumimoji="0" lang="en-US" altLang="en-US" sz="2100" b="1" i="0" u="none" strike="noStrike" cap="none" normalizeH="0" baseline="0" dirty="0">
                <a:ln>
                  <a:noFill/>
                </a:ln>
                <a:solidFill>
                  <a:schemeClr val="tx1"/>
                </a:solidFill>
                <a:effectLst/>
                <a:latin typeface="Arial" panose="020B0604020202020204" pitchFamily="34" charset="0"/>
              </a:rPr>
              <a:t>80</a:t>
            </a: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100" b="0" i="0" u="none" strike="noStrike" cap="none" normalizeH="0" baseline="0" dirty="0">
                <a:ln>
                  <a:noFill/>
                </a:ln>
                <a:solidFill>
                  <a:schemeClr val="tx1"/>
                </a:solidFill>
                <a:effectLst/>
                <a:latin typeface="Arial" panose="020B0604020202020204" pitchFamily="34" charset="0"/>
              </a:rPr>
              <a:t>Add another record: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Same Name: </a:t>
            </a:r>
            <a:r>
              <a:rPr kumimoji="0" lang="en-US" altLang="en-US" sz="2100" b="0" i="0" u="none" strike="noStrike" cap="none" normalizeH="0" baseline="0" dirty="0">
                <a:ln>
                  <a:noFill/>
                </a:ln>
                <a:solidFill>
                  <a:schemeClr val="tx1"/>
                </a:solidFill>
                <a:effectLst/>
                <a:latin typeface="Arial Unicode MS"/>
              </a:rPr>
              <a:t>www.example.com</a:t>
            </a:r>
            <a:endParaRPr kumimoji="0" lang="en-US" altLang="en-US" sz="21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Type: </a:t>
            </a:r>
            <a:r>
              <a:rPr kumimoji="0" lang="en-US" altLang="en-US" sz="2100" b="0" i="0" u="none" strike="noStrike" cap="none" normalizeH="0" baseline="0" dirty="0">
                <a:ln>
                  <a:noFill/>
                </a:ln>
                <a:solidFill>
                  <a:schemeClr val="tx1"/>
                </a:solidFill>
                <a:effectLst/>
                <a:latin typeface="Arial Unicode MS"/>
              </a:rPr>
              <a:t>A</a:t>
            </a:r>
            <a:endParaRPr kumimoji="0" lang="en-US" altLang="en-US" sz="21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IP address: </a:t>
            </a:r>
            <a:r>
              <a:rPr kumimoji="0" lang="en-US" altLang="en-US" sz="2100" b="0" i="0" u="none" strike="noStrike" cap="none" normalizeH="0" baseline="0" dirty="0">
                <a:ln>
                  <a:noFill/>
                </a:ln>
                <a:solidFill>
                  <a:schemeClr val="tx1"/>
                </a:solidFill>
                <a:effectLst/>
                <a:latin typeface="Arial Unicode MS"/>
              </a:rPr>
              <a:t>52.91.45.200</a:t>
            </a:r>
            <a:endParaRPr kumimoji="0" lang="en-US" altLang="en-US" sz="21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Weight: </a:t>
            </a:r>
            <a:r>
              <a:rPr kumimoji="0" lang="en-US" altLang="en-US" sz="2100" b="1" i="0" u="none" strike="noStrike" cap="none" normalizeH="0" baseline="0" dirty="0">
                <a:ln>
                  <a:noFill/>
                </a:ln>
                <a:solidFill>
                  <a:schemeClr val="tx1"/>
                </a:solidFill>
                <a:effectLst/>
                <a:latin typeface="Arial" panose="020B0604020202020204" pitchFamily="34" charset="0"/>
              </a:rPr>
              <a:t>20</a:t>
            </a: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E744B96B-AA90-B799-7327-09FCF3489EA0}"/>
              </a:ext>
            </a:extLst>
          </p:cNvPr>
          <p:cNvSpPr txBox="1"/>
          <p:nvPr/>
        </p:nvSpPr>
        <p:spPr>
          <a:xfrm>
            <a:off x="445008" y="1143000"/>
            <a:ext cx="9519412" cy="769441"/>
          </a:xfrm>
          <a:prstGeom prst="rect">
            <a:avLst/>
          </a:prstGeom>
          <a:noFill/>
        </p:spPr>
        <p:txBody>
          <a:bodyPr wrap="square">
            <a:spAutoFit/>
          </a:bodyPr>
          <a:lstStyle/>
          <a:p>
            <a:r>
              <a:rPr lang="en-US" sz="2200" dirty="0">
                <a:highlight>
                  <a:srgbClr val="FFFF00"/>
                </a:highlight>
              </a:rPr>
              <a:t>Or practically </a:t>
            </a:r>
          </a:p>
          <a:p>
            <a:r>
              <a:rPr lang="en-US" sz="2200" dirty="0">
                <a:highlight>
                  <a:srgbClr val="FFFF00"/>
                </a:highlight>
              </a:rPr>
              <a:t>How to distribute traffic across multiple servers/resources?</a:t>
            </a:r>
          </a:p>
        </p:txBody>
      </p:sp>
    </p:spTree>
    <p:extLst>
      <p:ext uri="{BB962C8B-B14F-4D97-AF65-F5344CB8AC3E}">
        <p14:creationId xmlns:p14="http://schemas.microsoft.com/office/powerpoint/2010/main" val="2785036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601B0-A908-32AD-B77B-4A3300D5C97E}"/>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A68F5778-9B6E-1168-3C95-ED5F4E3A724A}"/>
              </a:ext>
            </a:extLst>
          </p:cNvPr>
          <p:cNvPicPr>
            <a:picLocks noChangeAspect="1"/>
          </p:cNvPicPr>
          <p:nvPr/>
        </p:nvPicPr>
        <p:blipFill>
          <a:blip r:embed="rId2"/>
          <a:stretch>
            <a:fillRect/>
          </a:stretch>
        </p:blipFill>
        <p:spPr>
          <a:xfrm>
            <a:off x="0" y="1115021"/>
            <a:ext cx="9144000" cy="4627957"/>
          </a:xfrm>
          <a:prstGeom prst="rect">
            <a:avLst/>
          </a:prstGeom>
        </p:spPr>
      </p:pic>
    </p:spTree>
    <p:extLst>
      <p:ext uri="{BB962C8B-B14F-4D97-AF65-F5344CB8AC3E}">
        <p14:creationId xmlns:p14="http://schemas.microsoft.com/office/powerpoint/2010/main" val="2569026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16B37-F555-87E4-09D0-914A01DD10A4}"/>
              </a:ext>
            </a:extLst>
          </p:cNvPr>
          <p:cNvSpPr>
            <a:spLocks noGrp="1"/>
          </p:cNvSpPr>
          <p:nvPr>
            <p:ph type="title"/>
          </p:nvPr>
        </p:nvSpPr>
        <p:spPr/>
        <p:txBody>
          <a:bodyPr/>
          <a:lstStyle/>
          <a:p>
            <a:endParaRPr lang="en-US"/>
          </a:p>
        </p:txBody>
      </p:sp>
      <p:sp>
        <p:nvSpPr>
          <p:cNvPr id="4" name="TextBox 3">
            <a:extLst>
              <a:ext uri="{FF2B5EF4-FFF2-40B4-BE49-F238E27FC236}">
                <a16:creationId xmlns:a16="http://schemas.microsoft.com/office/drawing/2014/main" id="{9B72B9FE-F9E7-8C73-5B81-6AD2C70CFDFC}"/>
              </a:ext>
            </a:extLst>
          </p:cNvPr>
          <p:cNvSpPr txBox="1"/>
          <p:nvPr/>
        </p:nvSpPr>
        <p:spPr>
          <a:xfrm>
            <a:off x="334772" y="1143000"/>
            <a:ext cx="8229600" cy="4939814"/>
          </a:xfrm>
          <a:prstGeom prst="rect">
            <a:avLst/>
          </a:prstGeom>
          <a:noFill/>
        </p:spPr>
        <p:txBody>
          <a:bodyPr wrap="square">
            <a:spAutoFit/>
          </a:bodyPr>
          <a:lstStyle/>
          <a:p>
            <a:pPr algn="just">
              <a:buNone/>
            </a:pPr>
            <a:r>
              <a:rPr lang="en-US" sz="2100" b="1" dirty="0"/>
              <a:t>1. Latency Routing Policy </a:t>
            </a:r>
          </a:p>
          <a:p>
            <a:pPr algn="just">
              <a:buNone/>
            </a:pPr>
            <a:br>
              <a:rPr lang="en-US" sz="2100" dirty="0"/>
            </a:br>
            <a:r>
              <a:rPr lang="en-US" sz="2100" dirty="0"/>
              <a:t>To route user requests to the AWS region that provides the lowest latency (fastest response time).</a:t>
            </a:r>
          </a:p>
          <a:p>
            <a:pPr algn="just">
              <a:buNone/>
            </a:pPr>
            <a:endParaRPr lang="en-US" sz="2100" dirty="0"/>
          </a:p>
          <a:p>
            <a:pPr algn="just">
              <a:buFont typeface="Arial" panose="020B0604020202020204" pitchFamily="34" charset="0"/>
              <a:buChar char="•"/>
            </a:pPr>
            <a:r>
              <a:rPr lang="en-US" sz="2100" dirty="0"/>
              <a:t>The world map shows users distributed across different regions.</a:t>
            </a:r>
          </a:p>
          <a:p>
            <a:pPr algn="just">
              <a:buFont typeface="Arial" panose="020B0604020202020204" pitchFamily="34" charset="0"/>
              <a:buChar char="•"/>
            </a:pPr>
            <a:r>
              <a:rPr lang="en-US" sz="2100" dirty="0"/>
              <a:t>Each user is directed to the nearest AWS region based on latency, not geography.</a:t>
            </a:r>
          </a:p>
          <a:p>
            <a:pPr algn="just">
              <a:buFont typeface="Arial" panose="020B0604020202020204" pitchFamily="34" charset="0"/>
              <a:buChar char="•"/>
            </a:pPr>
            <a:r>
              <a:rPr lang="en-US" sz="2100" dirty="0"/>
              <a:t>For example:</a:t>
            </a:r>
          </a:p>
          <a:p>
            <a:pPr marL="742950" lvl="1" indent="-285750" algn="just">
              <a:buFont typeface="Arial" panose="020B0604020202020204" pitchFamily="34" charset="0"/>
              <a:buChar char="•"/>
            </a:pPr>
            <a:r>
              <a:rPr lang="en-US" sz="2100" dirty="0"/>
              <a:t>A user in Europe may be routed to a data center in Ireland if it has lower latency.</a:t>
            </a:r>
          </a:p>
          <a:p>
            <a:pPr marL="742950" lvl="1" indent="-285750" algn="just">
              <a:buFont typeface="Arial" panose="020B0604020202020204" pitchFamily="34" charset="0"/>
              <a:buChar char="•"/>
            </a:pPr>
            <a:r>
              <a:rPr lang="en-US" sz="2100" dirty="0"/>
              <a:t>A user in Asia may be routed to Singapore or Tokyo based on performance.</a:t>
            </a:r>
          </a:p>
          <a:p>
            <a:pPr algn="just">
              <a:buFont typeface="Arial" panose="020B0604020202020204" pitchFamily="34" charset="0"/>
              <a:buChar char="•"/>
            </a:pPr>
            <a:r>
              <a:rPr lang="en-US" sz="2100" dirty="0"/>
              <a:t>This is useful for improving application performance for global users.</a:t>
            </a:r>
          </a:p>
        </p:txBody>
      </p:sp>
    </p:spTree>
    <p:extLst>
      <p:ext uri="{BB962C8B-B14F-4D97-AF65-F5344CB8AC3E}">
        <p14:creationId xmlns:p14="http://schemas.microsoft.com/office/powerpoint/2010/main" val="3860017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F898C-0728-9B1B-412F-8ABA5F959A9C}"/>
              </a:ext>
            </a:extLst>
          </p:cNvPr>
          <p:cNvSpPr>
            <a:spLocks noGrp="1"/>
          </p:cNvSpPr>
          <p:nvPr>
            <p:ph type="title"/>
          </p:nvPr>
        </p:nvSpPr>
        <p:spPr/>
        <p:txBody>
          <a:bodyPr/>
          <a:lstStyle/>
          <a:p>
            <a:endParaRPr lang="en-US" dirty="0"/>
          </a:p>
        </p:txBody>
      </p:sp>
      <p:sp>
        <p:nvSpPr>
          <p:cNvPr id="4" name="TextBox 3">
            <a:extLst>
              <a:ext uri="{FF2B5EF4-FFF2-40B4-BE49-F238E27FC236}">
                <a16:creationId xmlns:a16="http://schemas.microsoft.com/office/drawing/2014/main" id="{440A9E0E-CC21-C883-C0E0-B56CD227035F}"/>
              </a:ext>
            </a:extLst>
          </p:cNvPr>
          <p:cNvSpPr txBox="1"/>
          <p:nvPr/>
        </p:nvSpPr>
        <p:spPr>
          <a:xfrm>
            <a:off x="454659" y="1219200"/>
            <a:ext cx="8382000" cy="4524315"/>
          </a:xfrm>
          <a:prstGeom prst="rect">
            <a:avLst/>
          </a:prstGeom>
          <a:noFill/>
        </p:spPr>
        <p:txBody>
          <a:bodyPr wrap="square">
            <a:spAutoFit/>
          </a:bodyPr>
          <a:lstStyle/>
          <a:p>
            <a:pPr algn="just">
              <a:buNone/>
            </a:pPr>
            <a:r>
              <a:rPr lang="en-US" b="1" dirty="0"/>
              <a:t> </a:t>
            </a:r>
            <a:r>
              <a:rPr lang="en-US" b="1" dirty="0">
                <a:solidFill>
                  <a:srgbClr val="FF0000"/>
                </a:solidFill>
              </a:rPr>
              <a:t>Latency Routing Policy </a:t>
            </a:r>
            <a:r>
              <a:rPr lang="en-US" b="1" dirty="0"/>
              <a:t>– EXAMPLE </a:t>
            </a:r>
          </a:p>
          <a:p>
            <a:pPr algn="just">
              <a:buNone/>
            </a:pPr>
            <a:endParaRPr lang="en-US" b="1" dirty="0"/>
          </a:p>
          <a:p>
            <a:pPr algn="just">
              <a:buNone/>
            </a:pPr>
            <a:r>
              <a:rPr lang="en-US" dirty="0"/>
              <a:t>You run a </a:t>
            </a:r>
            <a:r>
              <a:rPr lang="en-US" b="1" dirty="0"/>
              <a:t>global video streaming platform</a:t>
            </a:r>
            <a:r>
              <a:rPr lang="en-US" dirty="0"/>
              <a:t> hosted on AWS with users in </a:t>
            </a:r>
            <a:r>
              <a:rPr lang="en-US" b="1" dirty="0"/>
              <a:t>India</a:t>
            </a:r>
            <a:r>
              <a:rPr lang="en-US" dirty="0"/>
              <a:t>, </a:t>
            </a:r>
            <a:r>
              <a:rPr lang="en-US" b="1" dirty="0"/>
              <a:t>USA</a:t>
            </a:r>
            <a:r>
              <a:rPr lang="en-US" dirty="0"/>
              <a:t>, and </a:t>
            </a:r>
            <a:r>
              <a:rPr lang="en-US" b="1" dirty="0"/>
              <a:t>Japan</a:t>
            </a:r>
            <a:r>
              <a:rPr lang="en-US" dirty="0"/>
              <a:t>.</a:t>
            </a:r>
          </a:p>
          <a:p>
            <a:pPr algn="just">
              <a:buNone/>
            </a:pPr>
            <a:r>
              <a:rPr lang="en-US" b="1" dirty="0"/>
              <a:t>🔸Setup:</a:t>
            </a:r>
          </a:p>
          <a:p>
            <a:pPr algn="just">
              <a:buFont typeface="Arial" panose="020B0604020202020204" pitchFamily="34" charset="0"/>
              <a:buChar char="•"/>
            </a:pPr>
            <a:r>
              <a:rPr lang="en-US" dirty="0"/>
              <a:t>You deploy your application in </a:t>
            </a:r>
            <a:r>
              <a:rPr lang="en-US" b="1" dirty="0"/>
              <a:t>three AWS regions</a:t>
            </a:r>
            <a:r>
              <a:rPr lang="en-US" dirty="0"/>
              <a:t>:</a:t>
            </a:r>
          </a:p>
          <a:p>
            <a:pPr marL="742950" lvl="1" indent="-285750" algn="just">
              <a:buFont typeface="Arial" panose="020B0604020202020204" pitchFamily="34" charset="0"/>
              <a:buChar char="•"/>
            </a:pPr>
            <a:r>
              <a:rPr lang="en-US" b="1" dirty="0"/>
              <a:t>Mumbai (ap-south-1)</a:t>
            </a:r>
            <a:endParaRPr lang="en-US" dirty="0"/>
          </a:p>
          <a:p>
            <a:pPr marL="742950" lvl="1" indent="-285750" algn="just">
              <a:buFont typeface="Arial" panose="020B0604020202020204" pitchFamily="34" charset="0"/>
              <a:buChar char="•"/>
            </a:pPr>
            <a:r>
              <a:rPr lang="en-US" b="1" dirty="0"/>
              <a:t>Oregon (us-west-2)</a:t>
            </a:r>
            <a:endParaRPr lang="en-US" dirty="0"/>
          </a:p>
          <a:p>
            <a:pPr marL="742950" lvl="1" indent="-285750" algn="just">
              <a:buFont typeface="Arial" panose="020B0604020202020204" pitchFamily="34" charset="0"/>
              <a:buChar char="•"/>
            </a:pPr>
            <a:r>
              <a:rPr lang="en-US" b="1" dirty="0"/>
              <a:t>Tokyo (ap-northeast-1)</a:t>
            </a:r>
            <a:endParaRPr lang="en-US" dirty="0"/>
          </a:p>
          <a:p>
            <a:pPr algn="just">
              <a:buFont typeface="Arial" panose="020B0604020202020204" pitchFamily="34" charset="0"/>
              <a:buChar char="•"/>
            </a:pPr>
            <a:r>
              <a:rPr lang="en-US" dirty="0"/>
              <a:t>Route 53 uses </a:t>
            </a:r>
            <a:r>
              <a:rPr lang="en-US" b="1" dirty="0"/>
              <a:t>latency routing</a:t>
            </a:r>
            <a:r>
              <a:rPr lang="en-US" dirty="0"/>
              <a:t> to direct users to the region that gives the </a:t>
            </a:r>
            <a:r>
              <a:rPr lang="en-US" b="1" dirty="0"/>
              <a:t>lowest network latency</a:t>
            </a:r>
            <a:r>
              <a:rPr lang="en-US" dirty="0"/>
              <a:t>.</a:t>
            </a:r>
          </a:p>
          <a:p>
            <a:pPr algn="just">
              <a:buNone/>
            </a:pPr>
            <a:r>
              <a:rPr lang="en-US" b="1" dirty="0"/>
              <a:t>🔸How it works:</a:t>
            </a:r>
          </a:p>
          <a:p>
            <a:pPr algn="just">
              <a:buFont typeface="Arial" panose="020B0604020202020204" pitchFamily="34" charset="0"/>
              <a:buChar char="•"/>
            </a:pPr>
            <a:r>
              <a:rPr lang="en-US" dirty="0"/>
              <a:t>A user in </a:t>
            </a:r>
            <a:r>
              <a:rPr lang="en-US" b="1" dirty="0"/>
              <a:t>Delhi</a:t>
            </a:r>
            <a:r>
              <a:rPr lang="en-US" dirty="0"/>
              <a:t> will be routed to </a:t>
            </a:r>
            <a:r>
              <a:rPr lang="en-US" b="1" dirty="0"/>
              <a:t>Mumbai region (ap-south-1)</a:t>
            </a:r>
            <a:r>
              <a:rPr lang="en-US" dirty="0"/>
              <a:t>.</a:t>
            </a:r>
          </a:p>
          <a:p>
            <a:pPr algn="just">
              <a:buFont typeface="Arial" panose="020B0604020202020204" pitchFamily="34" charset="0"/>
              <a:buChar char="•"/>
            </a:pPr>
            <a:r>
              <a:rPr lang="en-US" dirty="0"/>
              <a:t>A user in </a:t>
            </a:r>
            <a:r>
              <a:rPr lang="en-US" b="1" dirty="0"/>
              <a:t>Osaka</a:t>
            </a:r>
            <a:r>
              <a:rPr lang="en-US" dirty="0"/>
              <a:t> will be routed to </a:t>
            </a:r>
            <a:r>
              <a:rPr lang="en-US" b="1" dirty="0"/>
              <a:t>Tokyo region (ap-northeast-1)</a:t>
            </a:r>
            <a:r>
              <a:rPr lang="en-US" dirty="0"/>
              <a:t>.</a:t>
            </a:r>
          </a:p>
          <a:p>
            <a:pPr algn="just">
              <a:buNone/>
            </a:pPr>
            <a:r>
              <a:rPr lang="en-US" dirty="0"/>
              <a:t> This improves performance because users are connected to the </a:t>
            </a:r>
            <a:r>
              <a:rPr lang="en-US" b="1" dirty="0"/>
              <a:t>fastest responding server</a:t>
            </a:r>
            <a:r>
              <a:rPr lang="en-US" dirty="0"/>
              <a:t>, not just the geographically nearest one.</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65784274-9011-6B20-C66D-A3B94BAAAB19}"/>
                  </a:ext>
                </a:extLst>
              </p14:cNvPr>
              <p14:cNvContentPartPr/>
              <p14:nvPr/>
            </p14:nvContentPartPr>
            <p14:xfrm>
              <a:off x="2559600" y="2054520"/>
              <a:ext cx="2421720" cy="1517400"/>
            </p14:xfrm>
          </p:contentPart>
        </mc:Choice>
        <mc:Fallback xmlns="">
          <p:pic>
            <p:nvPicPr>
              <p:cNvPr id="3" name="Ink 2">
                <a:extLst>
                  <a:ext uri="{FF2B5EF4-FFF2-40B4-BE49-F238E27FC236}">
                    <a16:creationId xmlns:a16="http://schemas.microsoft.com/office/drawing/2014/main" id="{65784274-9011-6B20-C66D-A3B94BAAAB19}"/>
                  </a:ext>
                </a:extLst>
              </p:cNvPr>
              <p:cNvPicPr/>
              <p:nvPr/>
            </p:nvPicPr>
            <p:blipFill>
              <a:blip r:embed="rId3"/>
              <a:stretch>
                <a:fillRect/>
              </a:stretch>
            </p:blipFill>
            <p:spPr>
              <a:xfrm>
                <a:off x="2550240" y="2045160"/>
                <a:ext cx="2440440" cy="1536120"/>
              </a:xfrm>
              <a:prstGeom prst="rect">
                <a:avLst/>
              </a:prstGeom>
            </p:spPr>
          </p:pic>
        </mc:Fallback>
      </mc:AlternateContent>
    </p:spTree>
    <p:extLst>
      <p:ext uri="{BB962C8B-B14F-4D97-AF65-F5344CB8AC3E}">
        <p14:creationId xmlns:p14="http://schemas.microsoft.com/office/powerpoint/2010/main" val="3708486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F5C24-4D27-4BD2-27C6-1064AA76CE69}"/>
              </a:ext>
            </a:extLst>
          </p:cNvPr>
          <p:cNvSpPr>
            <a:spLocks noGrp="1"/>
          </p:cNvSpPr>
          <p:nvPr>
            <p:ph type="title"/>
          </p:nvPr>
        </p:nvSpPr>
        <p:spPr/>
        <p:txBody>
          <a:bodyPr/>
          <a:lstStyle/>
          <a:p>
            <a:endParaRPr lang="en-US"/>
          </a:p>
        </p:txBody>
      </p:sp>
      <p:sp>
        <p:nvSpPr>
          <p:cNvPr id="4" name="TextBox 3">
            <a:extLst>
              <a:ext uri="{FF2B5EF4-FFF2-40B4-BE49-F238E27FC236}">
                <a16:creationId xmlns:a16="http://schemas.microsoft.com/office/drawing/2014/main" id="{F2661281-7060-8FAE-E09C-A4127DD32637}"/>
              </a:ext>
            </a:extLst>
          </p:cNvPr>
          <p:cNvSpPr txBox="1"/>
          <p:nvPr/>
        </p:nvSpPr>
        <p:spPr>
          <a:xfrm>
            <a:off x="228600" y="990600"/>
            <a:ext cx="8991600" cy="2031325"/>
          </a:xfrm>
          <a:prstGeom prst="rect">
            <a:avLst/>
          </a:prstGeom>
          <a:noFill/>
        </p:spPr>
        <p:txBody>
          <a:bodyPr wrap="square">
            <a:spAutoFit/>
          </a:bodyPr>
          <a:lstStyle/>
          <a:p>
            <a:pPr algn="just">
              <a:buNone/>
            </a:pPr>
            <a:r>
              <a:rPr lang="en-US" sz="2100" b="1" dirty="0">
                <a:highlight>
                  <a:srgbClr val="FFFF00"/>
                </a:highlight>
              </a:rPr>
              <a:t>1. Why Closest ≠ Fastest:</a:t>
            </a:r>
          </a:p>
          <a:p>
            <a:pPr algn="just">
              <a:buNone/>
            </a:pPr>
            <a:r>
              <a:rPr lang="en-US" sz="2100" dirty="0"/>
              <a:t>Even if two regions are geographically close, latency depends on:</a:t>
            </a:r>
          </a:p>
          <a:p>
            <a:pPr algn="just">
              <a:buFont typeface="Arial" panose="020B0604020202020204" pitchFamily="34" charset="0"/>
              <a:buChar char="•"/>
            </a:pPr>
            <a:r>
              <a:rPr lang="en-US" sz="2100" dirty="0"/>
              <a:t>Internet congestion</a:t>
            </a:r>
          </a:p>
          <a:p>
            <a:pPr algn="just">
              <a:buFont typeface="Arial" panose="020B0604020202020204" pitchFamily="34" charset="0"/>
              <a:buChar char="•"/>
            </a:pPr>
            <a:r>
              <a:rPr lang="en-US" sz="2100" dirty="0"/>
              <a:t>ISP routing paths</a:t>
            </a:r>
          </a:p>
          <a:p>
            <a:pPr algn="just">
              <a:buFont typeface="Arial" panose="020B0604020202020204" pitchFamily="34" charset="0"/>
              <a:buChar char="•"/>
            </a:pPr>
            <a:r>
              <a:rPr lang="en-US" sz="2100" dirty="0"/>
              <a:t>Network health</a:t>
            </a:r>
          </a:p>
          <a:p>
            <a:pPr algn="just">
              <a:buFont typeface="Arial" panose="020B0604020202020204" pitchFamily="34" charset="0"/>
              <a:buChar char="•"/>
            </a:pPr>
            <a:r>
              <a:rPr lang="en-US" sz="2100" dirty="0"/>
              <a:t>Server load</a:t>
            </a:r>
          </a:p>
        </p:txBody>
      </p:sp>
      <p:sp>
        <p:nvSpPr>
          <p:cNvPr id="6" name="TextBox 5">
            <a:extLst>
              <a:ext uri="{FF2B5EF4-FFF2-40B4-BE49-F238E27FC236}">
                <a16:creationId xmlns:a16="http://schemas.microsoft.com/office/drawing/2014/main" id="{C53E0DF8-1DE9-78F0-9830-8FDCFE966D55}"/>
              </a:ext>
            </a:extLst>
          </p:cNvPr>
          <p:cNvSpPr txBox="1"/>
          <p:nvPr/>
        </p:nvSpPr>
        <p:spPr>
          <a:xfrm>
            <a:off x="121920" y="3609580"/>
            <a:ext cx="9064752" cy="3000821"/>
          </a:xfrm>
          <a:prstGeom prst="rect">
            <a:avLst/>
          </a:prstGeom>
          <a:noFill/>
        </p:spPr>
        <p:txBody>
          <a:bodyPr wrap="square">
            <a:spAutoFit/>
          </a:bodyPr>
          <a:lstStyle/>
          <a:p>
            <a:pPr>
              <a:buNone/>
            </a:pPr>
            <a:r>
              <a:rPr lang="en-US" sz="2100" b="1" dirty="0">
                <a:highlight>
                  <a:srgbClr val="FFFF00"/>
                </a:highlight>
              </a:rPr>
              <a:t>2. AWS Continuously Monitors Global Network Performance</a:t>
            </a:r>
          </a:p>
          <a:p>
            <a:pPr>
              <a:buFont typeface="Arial" panose="020B0604020202020204" pitchFamily="34" charset="0"/>
              <a:buChar char="•"/>
            </a:pPr>
            <a:r>
              <a:rPr lang="en-US" sz="2100" dirty="0"/>
              <a:t>AWS has a </a:t>
            </a:r>
            <a:r>
              <a:rPr lang="en-US" sz="2100" b="1" dirty="0"/>
              <a:t>vast global monitoring system</a:t>
            </a:r>
            <a:r>
              <a:rPr lang="en-US" sz="2100" dirty="0"/>
              <a:t>.</a:t>
            </a:r>
          </a:p>
          <a:p>
            <a:pPr>
              <a:buFont typeface="Arial" panose="020B0604020202020204" pitchFamily="34" charset="0"/>
              <a:buChar char="•"/>
            </a:pPr>
            <a:r>
              <a:rPr lang="en-US" sz="2100" dirty="0"/>
              <a:t>It collects </a:t>
            </a:r>
            <a:r>
              <a:rPr lang="en-US" sz="2100" b="1" dirty="0"/>
              <a:t>latency data between AWS regions and users</a:t>
            </a:r>
            <a:r>
              <a:rPr lang="en-US" sz="2100" dirty="0"/>
              <a:t> all over the world using:</a:t>
            </a:r>
          </a:p>
          <a:p>
            <a:pPr marL="742950" lvl="1" indent="-285750">
              <a:buFont typeface="Arial" panose="020B0604020202020204" pitchFamily="34" charset="0"/>
              <a:buChar char="•"/>
            </a:pPr>
            <a:r>
              <a:rPr lang="en-US" sz="2100" dirty="0"/>
              <a:t>Internal measurement tools</a:t>
            </a:r>
          </a:p>
          <a:p>
            <a:pPr marL="742950" lvl="1" indent="-285750">
              <a:buFont typeface="Arial" panose="020B0604020202020204" pitchFamily="34" charset="0"/>
              <a:buChar char="•"/>
            </a:pPr>
            <a:r>
              <a:rPr lang="en-US" sz="2100" dirty="0"/>
              <a:t>Route 53 latency records</a:t>
            </a:r>
          </a:p>
          <a:p>
            <a:pPr marL="742950" lvl="1" indent="-285750">
              <a:buFont typeface="Arial" panose="020B0604020202020204" pitchFamily="34" charset="0"/>
              <a:buChar char="•"/>
            </a:pPr>
            <a:r>
              <a:rPr lang="en-US" sz="2100" dirty="0"/>
              <a:t>Health checks</a:t>
            </a:r>
          </a:p>
          <a:p>
            <a:pPr marL="742950" lvl="1" indent="-285750">
              <a:buFont typeface="Arial" panose="020B0604020202020204" pitchFamily="34" charset="0"/>
              <a:buChar char="•"/>
            </a:pPr>
            <a:r>
              <a:rPr lang="en-US" sz="2100" dirty="0"/>
              <a:t>DNS queries</a:t>
            </a:r>
          </a:p>
          <a:p>
            <a:pPr>
              <a:buFont typeface="Arial" panose="020B0604020202020204" pitchFamily="34" charset="0"/>
              <a:buChar char="•"/>
            </a:pPr>
            <a:r>
              <a:rPr lang="en-US" sz="2100" dirty="0"/>
              <a:t>These tests measure </a:t>
            </a:r>
            <a:r>
              <a:rPr lang="en-US" sz="2100" b="1" dirty="0"/>
              <a:t>actual network travel time</a:t>
            </a:r>
            <a:r>
              <a:rPr lang="en-US" sz="2100" dirty="0"/>
              <a:t> (ping, round-trip time).</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B0581F8B-4520-E637-C7DB-0B965B2BF104}"/>
                  </a:ext>
                </a:extLst>
              </p14:cNvPr>
              <p14:cNvContentPartPr/>
              <p14:nvPr/>
            </p14:nvContentPartPr>
            <p14:xfrm>
              <a:off x="1092600" y="519840"/>
              <a:ext cx="7438320" cy="3539520"/>
            </p14:xfrm>
          </p:contentPart>
        </mc:Choice>
        <mc:Fallback xmlns="">
          <p:pic>
            <p:nvPicPr>
              <p:cNvPr id="3" name="Ink 2">
                <a:extLst>
                  <a:ext uri="{FF2B5EF4-FFF2-40B4-BE49-F238E27FC236}">
                    <a16:creationId xmlns:a16="http://schemas.microsoft.com/office/drawing/2014/main" id="{B0581F8B-4520-E637-C7DB-0B965B2BF104}"/>
                  </a:ext>
                </a:extLst>
              </p:cNvPr>
              <p:cNvPicPr/>
              <p:nvPr/>
            </p:nvPicPr>
            <p:blipFill>
              <a:blip r:embed="rId3"/>
              <a:stretch>
                <a:fillRect/>
              </a:stretch>
            </p:blipFill>
            <p:spPr>
              <a:xfrm>
                <a:off x="1083240" y="510480"/>
                <a:ext cx="7457040" cy="3558240"/>
              </a:xfrm>
              <a:prstGeom prst="rect">
                <a:avLst/>
              </a:prstGeom>
            </p:spPr>
          </p:pic>
        </mc:Fallback>
      </mc:AlternateContent>
    </p:spTree>
    <p:extLst>
      <p:ext uri="{BB962C8B-B14F-4D97-AF65-F5344CB8AC3E}">
        <p14:creationId xmlns:p14="http://schemas.microsoft.com/office/powerpoint/2010/main" val="28205697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BBEDC-3242-8504-136C-6EDF90F19D1B}"/>
              </a:ext>
            </a:extLst>
          </p:cNvPr>
          <p:cNvSpPr>
            <a:spLocks noGrp="1"/>
          </p:cNvSpPr>
          <p:nvPr>
            <p:ph type="title"/>
          </p:nvPr>
        </p:nvSpPr>
        <p:spPr/>
        <p:txBody>
          <a:bodyPr/>
          <a:lstStyle/>
          <a:p>
            <a:endParaRPr lang="en-US"/>
          </a:p>
        </p:txBody>
      </p:sp>
      <p:sp>
        <p:nvSpPr>
          <p:cNvPr id="4" name="TextBox 3">
            <a:extLst>
              <a:ext uri="{FF2B5EF4-FFF2-40B4-BE49-F238E27FC236}">
                <a16:creationId xmlns:a16="http://schemas.microsoft.com/office/drawing/2014/main" id="{9D2680C0-6CE4-E5D4-65FD-AE627BFCC93D}"/>
              </a:ext>
            </a:extLst>
          </p:cNvPr>
          <p:cNvSpPr txBox="1"/>
          <p:nvPr/>
        </p:nvSpPr>
        <p:spPr>
          <a:xfrm>
            <a:off x="457200" y="1371600"/>
            <a:ext cx="8686800" cy="3425681"/>
          </a:xfrm>
          <a:prstGeom prst="rect">
            <a:avLst/>
          </a:prstGeom>
          <a:noFill/>
        </p:spPr>
        <p:txBody>
          <a:bodyPr wrap="square">
            <a:spAutoFit/>
          </a:bodyPr>
          <a:lstStyle/>
          <a:p>
            <a:pPr>
              <a:lnSpc>
                <a:spcPct val="150000"/>
              </a:lnSpc>
              <a:buNone/>
            </a:pPr>
            <a:r>
              <a:rPr lang="en-US" sz="2100" b="1" dirty="0">
                <a:highlight>
                  <a:srgbClr val="FFFF00"/>
                </a:highlight>
              </a:rPr>
              <a:t>3. Route 53 Stores and Uses Latency Maps for the checkups</a:t>
            </a:r>
          </a:p>
          <a:p>
            <a:pPr>
              <a:lnSpc>
                <a:spcPct val="150000"/>
              </a:lnSpc>
              <a:buFont typeface="Arial" panose="020B0604020202020204" pitchFamily="34" charset="0"/>
              <a:buChar char="•"/>
            </a:pPr>
            <a:r>
              <a:rPr lang="en-US" sz="2100" dirty="0"/>
              <a:t>Based on the above monitoring, </a:t>
            </a:r>
            <a:r>
              <a:rPr lang="en-US" sz="2100" b="1" dirty="0"/>
              <a:t>AWS builds a latency map</a:t>
            </a:r>
            <a:r>
              <a:rPr lang="en-US" sz="2100" dirty="0"/>
              <a:t>.</a:t>
            </a:r>
          </a:p>
          <a:p>
            <a:pPr>
              <a:lnSpc>
                <a:spcPct val="150000"/>
              </a:lnSpc>
              <a:buFont typeface="Arial" panose="020B0604020202020204" pitchFamily="34" charset="0"/>
              <a:buChar char="•"/>
            </a:pPr>
            <a:r>
              <a:rPr lang="en-US" sz="2100" dirty="0"/>
              <a:t>For every geographic location (like a country or region), AWS knows:</a:t>
            </a:r>
          </a:p>
          <a:p>
            <a:pPr marL="742950" lvl="1" indent="-285750">
              <a:lnSpc>
                <a:spcPct val="150000"/>
              </a:lnSpc>
              <a:buFont typeface="Arial" panose="020B0604020202020204" pitchFamily="34" charset="0"/>
              <a:buChar char="•"/>
            </a:pPr>
            <a:r>
              <a:rPr lang="en-US" sz="2100" dirty="0"/>
              <a:t>"Users in this area reach </a:t>
            </a:r>
            <a:r>
              <a:rPr lang="en-US" sz="2100" b="1" dirty="0"/>
              <a:t>Ireland in 45 </a:t>
            </a:r>
            <a:r>
              <a:rPr lang="en-US" sz="2100" b="1" dirty="0" err="1"/>
              <a:t>ms</a:t>
            </a:r>
            <a:r>
              <a:rPr lang="en-US" sz="2100" dirty="0"/>
              <a:t>, </a:t>
            </a:r>
            <a:r>
              <a:rPr lang="en-US" sz="2100" b="1" dirty="0"/>
              <a:t>Paris in 60 </a:t>
            </a:r>
            <a:r>
              <a:rPr lang="en-US" sz="2100" b="1" dirty="0" err="1"/>
              <a:t>ms</a:t>
            </a:r>
            <a:r>
              <a:rPr lang="en-US" sz="2100" dirty="0"/>
              <a:t> today."</a:t>
            </a:r>
          </a:p>
          <a:p>
            <a:pPr>
              <a:lnSpc>
                <a:spcPct val="150000"/>
              </a:lnSpc>
              <a:buFont typeface="Arial" panose="020B0604020202020204" pitchFamily="34" charset="0"/>
              <a:buChar char="•"/>
            </a:pPr>
            <a:r>
              <a:rPr lang="en-US" sz="2100" dirty="0"/>
              <a:t>When a DNS query comes in, </a:t>
            </a:r>
            <a:r>
              <a:rPr lang="en-US" sz="2100" b="1" dirty="0"/>
              <a:t>Route 53 checks this map</a:t>
            </a:r>
            <a:r>
              <a:rPr lang="en-US" sz="2100" dirty="0"/>
              <a:t> and chooses the </a:t>
            </a:r>
            <a:r>
              <a:rPr lang="en-US" sz="2100" b="1" dirty="0"/>
              <a:t>fastest region</a:t>
            </a:r>
            <a:r>
              <a:rPr lang="en-US" sz="2100" dirty="0"/>
              <a:t>.</a:t>
            </a:r>
          </a:p>
        </p:txBody>
      </p:sp>
    </p:spTree>
    <p:extLst>
      <p:ext uri="{BB962C8B-B14F-4D97-AF65-F5344CB8AC3E}">
        <p14:creationId xmlns:p14="http://schemas.microsoft.com/office/powerpoint/2010/main" val="4268350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2AFE1-F18B-DF32-9C46-CBE2C686410E}"/>
              </a:ext>
            </a:extLst>
          </p:cNvPr>
          <p:cNvSpPr>
            <a:spLocks noGrp="1"/>
          </p:cNvSpPr>
          <p:nvPr>
            <p:ph type="title"/>
          </p:nvPr>
        </p:nvSpPr>
        <p:spPr/>
        <p:txBody>
          <a:bodyPr/>
          <a:lstStyle/>
          <a:p>
            <a:endParaRPr lang="en-US" dirty="0"/>
          </a:p>
        </p:txBody>
      </p:sp>
      <p:sp>
        <p:nvSpPr>
          <p:cNvPr id="4" name="TextBox 3">
            <a:extLst>
              <a:ext uri="{FF2B5EF4-FFF2-40B4-BE49-F238E27FC236}">
                <a16:creationId xmlns:a16="http://schemas.microsoft.com/office/drawing/2014/main" id="{28B6D263-7802-3D73-9DB5-3AF3D9168189}"/>
              </a:ext>
            </a:extLst>
          </p:cNvPr>
          <p:cNvSpPr txBox="1"/>
          <p:nvPr/>
        </p:nvSpPr>
        <p:spPr>
          <a:xfrm>
            <a:off x="459104" y="1744356"/>
            <a:ext cx="8225790" cy="5113644"/>
          </a:xfrm>
          <a:prstGeom prst="rect">
            <a:avLst/>
          </a:prstGeom>
          <a:noFill/>
        </p:spPr>
        <p:txBody>
          <a:bodyPr wrap="square">
            <a:spAutoFit/>
          </a:bodyPr>
          <a:lstStyle/>
          <a:p>
            <a:pPr algn="just">
              <a:lnSpc>
                <a:spcPct val="150000"/>
              </a:lnSpc>
            </a:pPr>
            <a:r>
              <a:rPr lang="en-US" sz="2000" b="1" dirty="0"/>
              <a:t>Failover Routing Policy</a:t>
            </a:r>
            <a:r>
              <a:rPr lang="en-US" sz="2000" dirty="0"/>
              <a:t> is used when you want high availability — that means if your primary server goes down, traffic is automatically redirected to a secondary (backup) server.</a:t>
            </a:r>
          </a:p>
          <a:p>
            <a:pPr algn="just">
              <a:lnSpc>
                <a:spcPct val="150000"/>
              </a:lnSpc>
            </a:pPr>
            <a:r>
              <a:rPr lang="en-US" sz="2000" dirty="0"/>
              <a:t>How it Works:</a:t>
            </a:r>
          </a:p>
          <a:p>
            <a:pPr algn="just">
              <a:lnSpc>
                <a:spcPct val="150000"/>
              </a:lnSpc>
            </a:pPr>
            <a:r>
              <a:rPr lang="en-US" sz="2000" dirty="0"/>
              <a:t>You configure two records in Route 53:</a:t>
            </a:r>
          </a:p>
          <a:p>
            <a:pPr lvl="1" algn="just">
              <a:lnSpc>
                <a:spcPct val="150000"/>
              </a:lnSpc>
            </a:pPr>
            <a:r>
              <a:rPr lang="en-US" sz="2000" dirty="0"/>
              <a:t>Primary record — points to the main server.</a:t>
            </a:r>
          </a:p>
          <a:p>
            <a:pPr lvl="1" algn="just">
              <a:lnSpc>
                <a:spcPct val="150000"/>
              </a:lnSpc>
            </a:pPr>
            <a:r>
              <a:rPr lang="en-US" sz="2000" dirty="0"/>
              <a:t>Secondary (failover) record — points to a backup server.</a:t>
            </a:r>
          </a:p>
          <a:p>
            <a:pPr algn="just">
              <a:lnSpc>
                <a:spcPct val="150000"/>
              </a:lnSpc>
            </a:pPr>
            <a:r>
              <a:rPr lang="en-US" sz="2000" dirty="0"/>
              <a:t>You enable health checks on the primary record.</a:t>
            </a:r>
          </a:p>
          <a:p>
            <a:pPr algn="just">
              <a:lnSpc>
                <a:spcPct val="150000"/>
              </a:lnSpc>
            </a:pPr>
            <a:r>
              <a:rPr lang="en-US" sz="2000" dirty="0"/>
              <a:t>If Route 53 sees that the primary server is unhealthy, it sends traffic to the secondary.</a:t>
            </a:r>
          </a:p>
          <a:p>
            <a:pPr algn="just">
              <a:lnSpc>
                <a:spcPct val="150000"/>
              </a:lnSpc>
            </a:pPr>
            <a:endParaRPr lang="en-US" sz="2000" dirty="0"/>
          </a:p>
        </p:txBody>
      </p:sp>
      <p:sp>
        <p:nvSpPr>
          <p:cNvPr id="6" name="TextBox 5">
            <a:extLst>
              <a:ext uri="{FF2B5EF4-FFF2-40B4-BE49-F238E27FC236}">
                <a16:creationId xmlns:a16="http://schemas.microsoft.com/office/drawing/2014/main" id="{DB255725-C9FE-573F-8D57-BBD242C25942}"/>
              </a:ext>
            </a:extLst>
          </p:cNvPr>
          <p:cNvSpPr txBox="1"/>
          <p:nvPr/>
        </p:nvSpPr>
        <p:spPr>
          <a:xfrm>
            <a:off x="533400" y="1110093"/>
            <a:ext cx="4572000" cy="430887"/>
          </a:xfrm>
          <a:prstGeom prst="rect">
            <a:avLst/>
          </a:prstGeom>
          <a:noFill/>
        </p:spPr>
        <p:txBody>
          <a:bodyPr wrap="square">
            <a:spAutoFit/>
          </a:bodyPr>
          <a:lstStyle/>
          <a:p>
            <a:r>
              <a:rPr lang="en-US" sz="2200" b="1" dirty="0">
                <a:highlight>
                  <a:srgbClr val="FFFF00"/>
                </a:highlight>
              </a:rPr>
              <a:t>Failover Routing Policy</a:t>
            </a:r>
            <a:r>
              <a:rPr lang="en-US" sz="2200" dirty="0">
                <a:highlight>
                  <a:srgbClr val="FFFF00"/>
                </a:highlight>
              </a:rPr>
              <a:t> </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7B22E4C1-AA77-BDB0-3C32-E5126028F8BF}"/>
                  </a:ext>
                </a:extLst>
              </p14:cNvPr>
              <p14:cNvContentPartPr/>
              <p14:nvPr/>
            </p14:nvContentPartPr>
            <p14:xfrm>
              <a:off x="405360" y="2134440"/>
              <a:ext cx="8298360" cy="4187520"/>
            </p14:xfrm>
          </p:contentPart>
        </mc:Choice>
        <mc:Fallback xmlns="">
          <p:pic>
            <p:nvPicPr>
              <p:cNvPr id="3" name="Ink 2">
                <a:extLst>
                  <a:ext uri="{FF2B5EF4-FFF2-40B4-BE49-F238E27FC236}">
                    <a16:creationId xmlns:a16="http://schemas.microsoft.com/office/drawing/2014/main" id="{7B22E4C1-AA77-BDB0-3C32-E5126028F8BF}"/>
                  </a:ext>
                </a:extLst>
              </p:cNvPr>
              <p:cNvPicPr/>
              <p:nvPr/>
            </p:nvPicPr>
            <p:blipFill>
              <a:blip r:embed="rId4"/>
              <a:stretch>
                <a:fillRect/>
              </a:stretch>
            </p:blipFill>
            <p:spPr>
              <a:xfrm>
                <a:off x="396000" y="2125080"/>
                <a:ext cx="8317080" cy="4206240"/>
              </a:xfrm>
              <a:prstGeom prst="rect">
                <a:avLst/>
              </a:prstGeom>
            </p:spPr>
          </p:pic>
        </mc:Fallback>
      </mc:AlternateContent>
    </p:spTree>
    <p:extLst>
      <p:ext uri="{BB962C8B-B14F-4D97-AF65-F5344CB8AC3E}">
        <p14:creationId xmlns:p14="http://schemas.microsoft.com/office/powerpoint/2010/main" val="158402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313AF-E674-97CD-3A92-4E8BD2C786F9}"/>
              </a:ext>
            </a:extLst>
          </p:cNvPr>
          <p:cNvSpPr>
            <a:spLocks noGrp="1"/>
          </p:cNvSpPr>
          <p:nvPr>
            <p:ph type="title"/>
          </p:nvPr>
        </p:nvSpPr>
        <p:spPr/>
        <p:txBody>
          <a:bodyPr/>
          <a:lstStyle/>
          <a:p>
            <a:endParaRPr lang="en-US"/>
          </a:p>
        </p:txBody>
      </p:sp>
      <p:sp>
        <p:nvSpPr>
          <p:cNvPr id="8" name="TextBox 7">
            <a:extLst>
              <a:ext uri="{FF2B5EF4-FFF2-40B4-BE49-F238E27FC236}">
                <a16:creationId xmlns:a16="http://schemas.microsoft.com/office/drawing/2014/main" id="{DADC96EB-41D0-E766-B0EA-7AA780446B71}"/>
              </a:ext>
            </a:extLst>
          </p:cNvPr>
          <p:cNvSpPr txBox="1"/>
          <p:nvPr/>
        </p:nvSpPr>
        <p:spPr>
          <a:xfrm>
            <a:off x="307340" y="785915"/>
            <a:ext cx="8684260" cy="5442516"/>
          </a:xfrm>
          <a:prstGeom prst="rect">
            <a:avLst/>
          </a:prstGeom>
          <a:noFill/>
        </p:spPr>
        <p:txBody>
          <a:bodyPr wrap="square">
            <a:spAutoFit/>
          </a:bodyPr>
          <a:lstStyle/>
          <a:p>
            <a:pPr algn="just">
              <a:lnSpc>
                <a:spcPct val="150000"/>
              </a:lnSpc>
              <a:buNone/>
            </a:pPr>
            <a:r>
              <a:rPr lang="en-US" b="1" dirty="0"/>
              <a:t>2. Failover Routing Policy – Real AWS Scenario</a:t>
            </a:r>
          </a:p>
          <a:p>
            <a:pPr algn="just">
              <a:lnSpc>
                <a:spcPct val="150000"/>
              </a:lnSpc>
              <a:buNone/>
            </a:pPr>
            <a:r>
              <a:rPr lang="en-US" dirty="0"/>
              <a:t>You host a critical banking web application.</a:t>
            </a:r>
          </a:p>
          <a:p>
            <a:pPr algn="just">
              <a:lnSpc>
                <a:spcPct val="150000"/>
              </a:lnSpc>
              <a:buNone/>
            </a:pPr>
            <a:r>
              <a:rPr lang="en-US" dirty="0"/>
              <a:t>🔸Setup:</a:t>
            </a:r>
          </a:p>
          <a:p>
            <a:pPr algn="just">
              <a:lnSpc>
                <a:spcPct val="150000"/>
              </a:lnSpc>
              <a:buFont typeface="Arial" panose="020B0604020202020204" pitchFamily="34" charset="0"/>
              <a:buChar char="•"/>
            </a:pPr>
            <a:r>
              <a:rPr lang="en-US" dirty="0"/>
              <a:t>You deploy the primary website in N. Virginia (us-east-1).</a:t>
            </a:r>
          </a:p>
          <a:p>
            <a:pPr algn="just">
              <a:lnSpc>
                <a:spcPct val="150000"/>
              </a:lnSpc>
              <a:buFont typeface="Arial" panose="020B0604020202020204" pitchFamily="34" charset="0"/>
              <a:buChar char="•"/>
            </a:pPr>
            <a:r>
              <a:rPr lang="en-US" dirty="0"/>
              <a:t>You deploy the failover backup site in Ohio (us-east-2).</a:t>
            </a:r>
          </a:p>
          <a:p>
            <a:pPr algn="just">
              <a:lnSpc>
                <a:spcPct val="150000"/>
              </a:lnSpc>
              <a:buFont typeface="Arial" panose="020B0604020202020204" pitchFamily="34" charset="0"/>
              <a:buChar char="•"/>
            </a:pPr>
            <a:r>
              <a:rPr lang="en-US" dirty="0"/>
              <a:t>You set up Route 53 health checks to monitor the primary application.</a:t>
            </a:r>
          </a:p>
          <a:p>
            <a:pPr algn="just">
              <a:lnSpc>
                <a:spcPct val="150000"/>
              </a:lnSpc>
              <a:buNone/>
            </a:pPr>
            <a:r>
              <a:rPr lang="en-US" dirty="0"/>
              <a:t>🔸How it works:</a:t>
            </a:r>
          </a:p>
          <a:p>
            <a:pPr algn="just">
              <a:lnSpc>
                <a:spcPct val="150000"/>
              </a:lnSpc>
              <a:buFont typeface="Arial" panose="020B0604020202020204" pitchFamily="34" charset="0"/>
              <a:buChar char="•"/>
            </a:pPr>
            <a:r>
              <a:rPr lang="en-US" dirty="0"/>
              <a:t>When the N. Virginia server is healthy, all traffic is routed there.</a:t>
            </a:r>
          </a:p>
          <a:p>
            <a:pPr algn="just">
              <a:lnSpc>
                <a:spcPct val="150000"/>
              </a:lnSpc>
              <a:buFont typeface="Arial" panose="020B0604020202020204" pitchFamily="34" charset="0"/>
              <a:buChar char="•"/>
            </a:pPr>
            <a:r>
              <a:rPr lang="en-US" dirty="0"/>
              <a:t>If that region goes down (e.g., outage, application failure), the health check fails.</a:t>
            </a:r>
          </a:p>
          <a:p>
            <a:pPr algn="just">
              <a:lnSpc>
                <a:spcPct val="150000"/>
              </a:lnSpc>
              <a:buFont typeface="Arial" panose="020B0604020202020204" pitchFamily="34" charset="0"/>
              <a:buChar char="•"/>
            </a:pPr>
            <a:r>
              <a:rPr lang="en-US" dirty="0"/>
              <a:t>Route 53 automatically redirects users to the Ohio region where the standby application is ready.</a:t>
            </a:r>
          </a:p>
          <a:p>
            <a:pPr algn="just">
              <a:lnSpc>
                <a:spcPct val="150000"/>
              </a:lnSpc>
              <a:buNone/>
            </a:pPr>
            <a:r>
              <a:rPr lang="en-US" dirty="0"/>
              <a:t>This ensures high availability and disaster recovery — your users won’t even notice the primary has failed.</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0EE4BA7E-A0AA-B769-56ED-8B935E47AD6E}"/>
                  </a:ext>
                </a:extLst>
              </p14:cNvPr>
              <p14:cNvContentPartPr/>
              <p14:nvPr/>
            </p14:nvContentPartPr>
            <p14:xfrm>
              <a:off x="6054480" y="2005560"/>
              <a:ext cx="928440" cy="915480"/>
            </p14:xfrm>
          </p:contentPart>
        </mc:Choice>
        <mc:Fallback xmlns="">
          <p:pic>
            <p:nvPicPr>
              <p:cNvPr id="3" name="Ink 2">
                <a:extLst>
                  <a:ext uri="{FF2B5EF4-FFF2-40B4-BE49-F238E27FC236}">
                    <a16:creationId xmlns:a16="http://schemas.microsoft.com/office/drawing/2014/main" id="{0EE4BA7E-A0AA-B769-56ED-8B935E47AD6E}"/>
                  </a:ext>
                </a:extLst>
              </p:cNvPr>
              <p:cNvPicPr/>
              <p:nvPr/>
            </p:nvPicPr>
            <p:blipFill>
              <a:blip r:embed="rId3"/>
              <a:stretch>
                <a:fillRect/>
              </a:stretch>
            </p:blipFill>
            <p:spPr>
              <a:xfrm>
                <a:off x="6045120" y="1996200"/>
                <a:ext cx="947160" cy="9342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453208A9-15E0-3329-71A7-D7863BE95E07}"/>
                  </a:ext>
                </a:extLst>
              </p14:cNvPr>
              <p14:cNvContentPartPr/>
              <p14:nvPr/>
            </p14:nvContentPartPr>
            <p14:xfrm>
              <a:off x="5939280" y="1763640"/>
              <a:ext cx="1410120" cy="1173960"/>
            </p14:xfrm>
          </p:contentPart>
        </mc:Choice>
        <mc:Fallback xmlns="">
          <p:pic>
            <p:nvPicPr>
              <p:cNvPr id="4" name="Ink 3">
                <a:extLst>
                  <a:ext uri="{FF2B5EF4-FFF2-40B4-BE49-F238E27FC236}">
                    <a16:creationId xmlns:a16="http://schemas.microsoft.com/office/drawing/2014/main" id="{453208A9-15E0-3329-71A7-D7863BE95E07}"/>
                  </a:ext>
                </a:extLst>
              </p:cNvPr>
              <p:cNvPicPr/>
              <p:nvPr/>
            </p:nvPicPr>
            <p:blipFill>
              <a:blip r:embed="rId5"/>
              <a:stretch>
                <a:fillRect/>
              </a:stretch>
            </p:blipFill>
            <p:spPr>
              <a:xfrm>
                <a:off x="5929920" y="1754280"/>
                <a:ext cx="1428840" cy="1192680"/>
              </a:xfrm>
              <a:prstGeom prst="rect">
                <a:avLst/>
              </a:prstGeom>
            </p:spPr>
          </p:pic>
        </mc:Fallback>
      </mc:AlternateContent>
    </p:spTree>
    <p:extLst>
      <p:ext uri="{BB962C8B-B14F-4D97-AF65-F5344CB8AC3E}">
        <p14:creationId xmlns:p14="http://schemas.microsoft.com/office/powerpoint/2010/main" val="989602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0B7B4-C9E4-850D-96A5-9FABB2E35C4A}"/>
              </a:ext>
            </a:extLst>
          </p:cNvPr>
          <p:cNvSpPr>
            <a:spLocks noGrp="1"/>
          </p:cNvSpPr>
          <p:nvPr>
            <p:ph type="title"/>
          </p:nvPr>
        </p:nvSpPr>
        <p:spPr>
          <a:xfrm>
            <a:off x="307340" y="247599"/>
            <a:ext cx="8529319" cy="446276"/>
          </a:xfrm>
        </p:spPr>
        <p:txBody>
          <a:bodyPr/>
          <a:lstStyle/>
          <a:p>
            <a:r>
              <a:rPr lang="en-US" dirty="0"/>
              <a:t>Route 53</a:t>
            </a:r>
          </a:p>
        </p:txBody>
      </p:sp>
      <p:sp>
        <p:nvSpPr>
          <p:cNvPr id="3" name="Text Placeholder 2">
            <a:extLst>
              <a:ext uri="{FF2B5EF4-FFF2-40B4-BE49-F238E27FC236}">
                <a16:creationId xmlns:a16="http://schemas.microsoft.com/office/drawing/2014/main" id="{3213A843-BEB7-8516-F575-35D7E1D885F8}"/>
              </a:ext>
            </a:extLst>
          </p:cNvPr>
          <p:cNvSpPr>
            <a:spLocks noGrp="1"/>
          </p:cNvSpPr>
          <p:nvPr>
            <p:ph type="body" idx="1"/>
          </p:nvPr>
        </p:nvSpPr>
        <p:spPr>
          <a:xfrm>
            <a:off x="535940" y="1350293"/>
            <a:ext cx="7678753" cy="2255483"/>
          </a:xfrm>
        </p:spPr>
        <p:txBody>
          <a:bodyPr/>
          <a:lstStyle/>
          <a:p>
            <a:endParaRPr lang="en-US" dirty="0"/>
          </a:p>
        </p:txBody>
      </p:sp>
      <p:pic>
        <p:nvPicPr>
          <p:cNvPr id="7170" name="Picture 2" descr="aws.amazon.com/blogs/arc...">
            <a:extLst>
              <a:ext uri="{FF2B5EF4-FFF2-40B4-BE49-F238E27FC236}">
                <a16:creationId xmlns:a16="http://schemas.microsoft.com/office/drawing/2014/main" id="{6AD1A5C7-B0F7-E0DC-2EA8-B9A34E93F9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 y="1053076"/>
            <a:ext cx="9012290" cy="51054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3A5689F9-41C2-B6E7-B137-77AD3E41AEEA}"/>
                  </a:ext>
                </a:extLst>
              </p14:cNvPr>
              <p14:cNvContentPartPr/>
              <p14:nvPr/>
            </p14:nvContentPartPr>
            <p14:xfrm>
              <a:off x="863640" y="4908960"/>
              <a:ext cx="7583760" cy="1316520"/>
            </p14:xfrm>
          </p:contentPart>
        </mc:Choice>
        <mc:Fallback xmlns="">
          <p:pic>
            <p:nvPicPr>
              <p:cNvPr id="4" name="Ink 3">
                <a:extLst>
                  <a:ext uri="{FF2B5EF4-FFF2-40B4-BE49-F238E27FC236}">
                    <a16:creationId xmlns:a16="http://schemas.microsoft.com/office/drawing/2014/main" id="{3A5689F9-41C2-B6E7-B137-77AD3E41AEEA}"/>
                  </a:ext>
                </a:extLst>
              </p:cNvPr>
              <p:cNvPicPr/>
              <p:nvPr/>
            </p:nvPicPr>
            <p:blipFill>
              <a:blip r:embed="rId4"/>
              <a:stretch>
                <a:fillRect/>
              </a:stretch>
            </p:blipFill>
            <p:spPr>
              <a:xfrm>
                <a:off x="854280" y="4899600"/>
                <a:ext cx="7602480" cy="1335240"/>
              </a:xfrm>
              <a:prstGeom prst="rect">
                <a:avLst/>
              </a:prstGeom>
            </p:spPr>
          </p:pic>
        </mc:Fallback>
      </mc:AlternateContent>
    </p:spTree>
    <p:extLst>
      <p:ext uri="{BB962C8B-B14F-4D97-AF65-F5344CB8AC3E}">
        <p14:creationId xmlns:p14="http://schemas.microsoft.com/office/powerpoint/2010/main" val="3335098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816C5-AD80-354B-B62D-8B06CE8B9515}"/>
              </a:ext>
            </a:extLst>
          </p:cNvPr>
          <p:cNvSpPr>
            <a:spLocks noGrp="1"/>
          </p:cNvSpPr>
          <p:nvPr>
            <p:ph type="title"/>
          </p:nvPr>
        </p:nvSpPr>
        <p:spPr>
          <a:xfrm>
            <a:off x="307340" y="247599"/>
            <a:ext cx="8529319" cy="446276"/>
          </a:xfrm>
        </p:spPr>
        <p:txBody>
          <a:bodyPr/>
          <a:lstStyle/>
          <a:p>
            <a:r>
              <a:rPr lang="en-US" dirty="0"/>
              <a:t>Components of Route 53</a:t>
            </a:r>
          </a:p>
        </p:txBody>
      </p:sp>
      <p:graphicFrame>
        <p:nvGraphicFramePr>
          <p:cNvPr id="4" name="Table 3">
            <a:extLst>
              <a:ext uri="{FF2B5EF4-FFF2-40B4-BE49-F238E27FC236}">
                <a16:creationId xmlns:a16="http://schemas.microsoft.com/office/drawing/2014/main" id="{DF839777-9E5C-8E08-B810-E1B876034D59}"/>
              </a:ext>
            </a:extLst>
          </p:cNvPr>
          <p:cNvGraphicFramePr>
            <a:graphicFrameLocks noGrp="1"/>
          </p:cNvGraphicFramePr>
          <p:nvPr>
            <p:extLst>
              <p:ext uri="{D42A27DB-BD31-4B8C-83A1-F6EECF244321}">
                <p14:modId xmlns:p14="http://schemas.microsoft.com/office/powerpoint/2010/main" val="2942146415"/>
              </p:ext>
            </p:extLst>
          </p:nvPr>
        </p:nvGraphicFramePr>
        <p:xfrm>
          <a:off x="701040" y="1447800"/>
          <a:ext cx="7985760" cy="4438660"/>
        </p:xfrm>
        <a:graphic>
          <a:graphicData uri="http://schemas.openxmlformats.org/drawingml/2006/table">
            <a:tbl>
              <a:tblPr>
                <a:tableStyleId>{284E427A-3D55-4303-BF80-6455036E1DE7}</a:tableStyleId>
              </a:tblPr>
              <a:tblGrid>
                <a:gridCol w="2359756">
                  <a:extLst>
                    <a:ext uri="{9D8B030D-6E8A-4147-A177-3AD203B41FA5}">
                      <a16:colId xmlns:a16="http://schemas.microsoft.com/office/drawing/2014/main" val="3011921375"/>
                    </a:ext>
                  </a:extLst>
                </a:gridCol>
                <a:gridCol w="2029476">
                  <a:extLst>
                    <a:ext uri="{9D8B030D-6E8A-4147-A177-3AD203B41FA5}">
                      <a16:colId xmlns:a16="http://schemas.microsoft.com/office/drawing/2014/main" val="344465185"/>
                    </a:ext>
                  </a:extLst>
                </a:gridCol>
                <a:gridCol w="3596528">
                  <a:extLst>
                    <a:ext uri="{9D8B030D-6E8A-4147-A177-3AD203B41FA5}">
                      <a16:colId xmlns:a16="http://schemas.microsoft.com/office/drawing/2014/main" val="1675641220"/>
                    </a:ext>
                  </a:extLst>
                </a:gridCol>
              </a:tblGrid>
              <a:tr h="217521">
                <a:tc>
                  <a:txBody>
                    <a:bodyPr/>
                    <a:lstStyle/>
                    <a:p>
                      <a:pPr>
                        <a:buNone/>
                      </a:pPr>
                      <a:r>
                        <a:rPr lang="en-US" sz="2100" b="1" dirty="0"/>
                        <a:t>From</a:t>
                      </a:r>
                    </a:p>
                  </a:txBody>
                  <a:tcPr marL="54380" marR="54380" marT="27190" marB="27190" anchor="ctr"/>
                </a:tc>
                <a:tc>
                  <a:txBody>
                    <a:bodyPr/>
                    <a:lstStyle/>
                    <a:p>
                      <a:pPr>
                        <a:buNone/>
                      </a:pPr>
                      <a:r>
                        <a:rPr lang="en-US" sz="2100" b="1" dirty="0"/>
                        <a:t>To</a:t>
                      </a:r>
                    </a:p>
                  </a:txBody>
                  <a:tcPr marL="54380" marR="54380" marT="27190" marB="27190" anchor="ctr"/>
                </a:tc>
                <a:tc>
                  <a:txBody>
                    <a:bodyPr/>
                    <a:lstStyle/>
                    <a:p>
                      <a:pPr>
                        <a:buNone/>
                      </a:pPr>
                      <a:r>
                        <a:rPr lang="en-US" sz="2100" b="1" dirty="0"/>
                        <a:t>Purpose</a:t>
                      </a:r>
                    </a:p>
                  </a:txBody>
                  <a:tcPr marL="54380" marR="54380" marT="27190" marB="27190" anchor="ctr"/>
                </a:tc>
                <a:extLst>
                  <a:ext uri="{0D108BD9-81ED-4DB2-BD59-A6C34878D82A}">
                    <a16:rowId xmlns:a16="http://schemas.microsoft.com/office/drawing/2014/main" val="2989597264"/>
                  </a:ext>
                </a:extLst>
              </a:tr>
              <a:tr h="217521">
                <a:tc>
                  <a:txBody>
                    <a:bodyPr/>
                    <a:lstStyle/>
                    <a:p>
                      <a:pPr>
                        <a:buNone/>
                      </a:pPr>
                      <a:r>
                        <a:rPr lang="en-US" sz="2100" b="1" dirty="0"/>
                        <a:t>Users</a:t>
                      </a:r>
                    </a:p>
                  </a:txBody>
                  <a:tcPr marL="54380" marR="54380" marT="27190" marB="27190" anchor="ctr"/>
                </a:tc>
                <a:tc>
                  <a:txBody>
                    <a:bodyPr/>
                    <a:lstStyle/>
                    <a:p>
                      <a:pPr>
                        <a:buNone/>
                      </a:pPr>
                      <a:r>
                        <a:rPr lang="en-US" sz="2100" b="1" dirty="0"/>
                        <a:t>Route 53</a:t>
                      </a:r>
                    </a:p>
                  </a:txBody>
                  <a:tcPr marL="54380" marR="54380" marT="27190" marB="27190" anchor="ctr"/>
                </a:tc>
                <a:tc>
                  <a:txBody>
                    <a:bodyPr/>
                    <a:lstStyle/>
                    <a:p>
                      <a:pPr>
                        <a:buNone/>
                      </a:pPr>
                      <a:r>
                        <a:rPr lang="en-US" sz="2100" dirty="0"/>
                        <a:t>DNS resolution</a:t>
                      </a:r>
                    </a:p>
                  </a:txBody>
                  <a:tcPr marL="54380" marR="54380" marT="27190" marB="27190" anchor="ctr"/>
                </a:tc>
                <a:extLst>
                  <a:ext uri="{0D108BD9-81ED-4DB2-BD59-A6C34878D82A}">
                    <a16:rowId xmlns:a16="http://schemas.microsoft.com/office/drawing/2014/main" val="3713808637"/>
                  </a:ext>
                </a:extLst>
              </a:tr>
              <a:tr h="217521">
                <a:tc>
                  <a:txBody>
                    <a:bodyPr/>
                    <a:lstStyle/>
                    <a:p>
                      <a:pPr>
                        <a:buNone/>
                      </a:pPr>
                      <a:r>
                        <a:rPr lang="en-US" sz="2100" b="1" dirty="0"/>
                        <a:t>Route 53</a:t>
                      </a:r>
                    </a:p>
                  </a:txBody>
                  <a:tcPr marL="54380" marR="54380" marT="27190" marB="27190" anchor="ctr"/>
                </a:tc>
                <a:tc>
                  <a:txBody>
                    <a:bodyPr/>
                    <a:lstStyle/>
                    <a:p>
                      <a:pPr>
                        <a:buNone/>
                      </a:pPr>
                      <a:r>
                        <a:rPr lang="en-US" sz="2100" b="1" dirty="0"/>
                        <a:t>CloudFront</a:t>
                      </a:r>
                    </a:p>
                  </a:txBody>
                  <a:tcPr marL="54380" marR="54380" marT="27190" marB="27190" anchor="ctr"/>
                </a:tc>
                <a:tc>
                  <a:txBody>
                    <a:bodyPr/>
                    <a:lstStyle/>
                    <a:p>
                      <a:pPr>
                        <a:buNone/>
                      </a:pPr>
                      <a:r>
                        <a:rPr lang="en-US" sz="2100" dirty="0"/>
                        <a:t>Content delivery</a:t>
                      </a:r>
                    </a:p>
                  </a:txBody>
                  <a:tcPr marL="54380" marR="54380" marT="27190" marB="27190" anchor="ctr"/>
                </a:tc>
                <a:extLst>
                  <a:ext uri="{0D108BD9-81ED-4DB2-BD59-A6C34878D82A}">
                    <a16:rowId xmlns:a16="http://schemas.microsoft.com/office/drawing/2014/main" val="1292457576"/>
                  </a:ext>
                </a:extLst>
              </a:tr>
              <a:tr h="217521">
                <a:tc>
                  <a:txBody>
                    <a:bodyPr/>
                    <a:lstStyle/>
                    <a:p>
                      <a:pPr>
                        <a:buNone/>
                      </a:pPr>
                      <a:r>
                        <a:rPr lang="en-US" sz="2100" b="1" dirty="0"/>
                        <a:t>CloudFront</a:t>
                      </a:r>
                    </a:p>
                  </a:txBody>
                  <a:tcPr marL="54380" marR="54380" marT="27190" marB="27190" anchor="ctr"/>
                </a:tc>
                <a:tc>
                  <a:txBody>
                    <a:bodyPr/>
                    <a:lstStyle/>
                    <a:p>
                      <a:pPr>
                        <a:buNone/>
                      </a:pPr>
                      <a:r>
                        <a:rPr lang="en-US" sz="2100" b="1" dirty="0"/>
                        <a:t>ALB</a:t>
                      </a:r>
                    </a:p>
                  </a:txBody>
                  <a:tcPr marL="54380" marR="54380" marT="27190" marB="27190" anchor="ctr"/>
                </a:tc>
                <a:tc>
                  <a:txBody>
                    <a:bodyPr/>
                    <a:lstStyle/>
                    <a:p>
                      <a:pPr>
                        <a:buNone/>
                      </a:pPr>
                      <a:r>
                        <a:rPr lang="en-US" sz="2100" dirty="0"/>
                        <a:t>Traffic routing</a:t>
                      </a:r>
                    </a:p>
                  </a:txBody>
                  <a:tcPr marL="54380" marR="54380" marT="27190" marB="27190" anchor="ctr"/>
                </a:tc>
                <a:extLst>
                  <a:ext uri="{0D108BD9-81ED-4DB2-BD59-A6C34878D82A}">
                    <a16:rowId xmlns:a16="http://schemas.microsoft.com/office/drawing/2014/main" val="3697695162"/>
                  </a:ext>
                </a:extLst>
              </a:tr>
              <a:tr h="217521">
                <a:tc>
                  <a:txBody>
                    <a:bodyPr/>
                    <a:lstStyle/>
                    <a:p>
                      <a:pPr>
                        <a:buNone/>
                      </a:pPr>
                      <a:r>
                        <a:rPr lang="en-US" sz="2100" b="1" dirty="0"/>
                        <a:t>ALB</a:t>
                      </a:r>
                    </a:p>
                  </a:txBody>
                  <a:tcPr marL="54380" marR="54380" marT="27190" marB="27190" anchor="ctr"/>
                </a:tc>
                <a:tc>
                  <a:txBody>
                    <a:bodyPr/>
                    <a:lstStyle/>
                    <a:p>
                      <a:pPr>
                        <a:buNone/>
                      </a:pPr>
                      <a:r>
                        <a:rPr lang="en-US" sz="2100" b="1" dirty="0"/>
                        <a:t>EC2 Auto Scaling (frontend)</a:t>
                      </a:r>
                    </a:p>
                  </a:txBody>
                  <a:tcPr marL="54380" marR="54380" marT="27190" marB="27190" anchor="ctr"/>
                </a:tc>
                <a:tc>
                  <a:txBody>
                    <a:bodyPr/>
                    <a:lstStyle/>
                    <a:p>
                      <a:pPr>
                        <a:buNone/>
                      </a:pPr>
                      <a:r>
                        <a:rPr lang="en-US" sz="2100" dirty="0"/>
                        <a:t>Load balancing</a:t>
                      </a:r>
                    </a:p>
                  </a:txBody>
                  <a:tcPr marL="54380" marR="54380" marT="27190" marB="27190" anchor="ctr"/>
                </a:tc>
                <a:extLst>
                  <a:ext uri="{0D108BD9-81ED-4DB2-BD59-A6C34878D82A}">
                    <a16:rowId xmlns:a16="http://schemas.microsoft.com/office/drawing/2014/main" val="919461746"/>
                  </a:ext>
                </a:extLst>
              </a:tr>
              <a:tr h="217521">
                <a:tc>
                  <a:txBody>
                    <a:bodyPr/>
                    <a:lstStyle/>
                    <a:p>
                      <a:pPr>
                        <a:buNone/>
                      </a:pPr>
                      <a:r>
                        <a:rPr lang="en-US" sz="2100" b="1" dirty="0"/>
                        <a:t>Frontend</a:t>
                      </a:r>
                    </a:p>
                  </a:txBody>
                  <a:tcPr marL="54380" marR="54380" marT="27190" marB="27190" anchor="ctr"/>
                </a:tc>
                <a:tc>
                  <a:txBody>
                    <a:bodyPr/>
                    <a:lstStyle/>
                    <a:p>
                      <a:pPr>
                        <a:buNone/>
                      </a:pPr>
                      <a:r>
                        <a:rPr lang="en-US" sz="2100" b="1" dirty="0"/>
                        <a:t>Backend</a:t>
                      </a:r>
                    </a:p>
                  </a:txBody>
                  <a:tcPr marL="54380" marR="54380" marT="27190" marB="27190" anchor="ctr"/>
                </a:tc>
                <a:tc>
                  <a:txBody>
                    <a:bodyPr/>
                    <a:lstStyle/>
                    <a:p>
                      <a:pPr>
                        <a:buNone/>
                      </a:pPr>
                      <a:r>
                        <a:rPr lang="en-US" sz="2100" dirty="0"/>
                        <a:t>Business logic</a:t>
                      </a:r>
                    </a:p>
                  </a:txBody>
                  <a:tcPr marL="54380" marR="54380" marT="27190" marB="27190" anchor="ctr"/>
                </a:tc>
                <a:extLst>
                  <a:ext uri="{0D108BD9-81ED-4DB2-BD59-A6C34878D82A}">
                    <a16:rowId xmlns:a16="http://schemas.microsoft.com/office/drawing/2014/main" val="1070411904"/>
                  </a:ext>
                </a:extLst>
              </a:tr>
              <a:tr h="217521">
                <a:tc>
                  <a:txBody>
                    <a:bodyPr/>
                    <a:lstStyle/>
                    <a:p>
                      <a:pPr>
                        <a:buNone/>
                      </a:pPr>
                      <a:r>
                        <a:rPr lang="en-US" sz="2100" b="1" dirty="0"/>
                        <a:t>App Layer</a:t>
                      </a:r>
                    </a:p>
                  </a:txBody>
                  <a:tcPr marL="54380" marR="54380" marT="27190" marB="27190" anchor="ctr"/>
                </a:tc>
                <a:tc>
                  <a:txBody>
                    <a:bodyPr/>
                    <a:lstStyle/>
                    <a:p>
                      <a:pPr>
                        <a:buNone/>
                      </a:pPr>
                      <a:r>
                        <a:rPr lang="en-US" sz="2100" b="1" dirty="0"/>
                        <a:t>Cognito</a:t>
                      </a:r>
                    </a:p>
                  </a:txBody>
                  <a:tcPr marL="54380" marR="54380" marT="27190" marB="27190" anchor="ctr"/>
                </a:tc>
                <a:tc>
                  <a:txBody>
                    <a:bodyPr/>
                    <a:lstStyle/>
                    <a:p>
                      <a:pPr>
                        <a:buNone/>
                      </a:pPr>
                      <a:r>
                        <a:rPr lang="en-US" sz="2100" dirty="0"/>
                        <a:t>Authentication</a:t>
                      </a:r>
                    </a:p>
                  </a:txBody>
                  <a:tcPr marL="54380" marR="54380" marT="27190" marB="27190" anchor="ctr"/>
                </a:tc>
                <a:extLst>
                  <a:ext uri="{0D108BD9-81ED-4DB2-BD59-A6C34878D82A}">
                    <a16:rowId xmlns:a16="http://schemas.microsoft.com/office/drawing/2014/main" val="1214011640"/>
                  </a:ext>
                </a:extLst>
              </a:tr>
              <a:tr h="254921">
                <a:tc>
                  <a:txBody>
                    <a:bodyPr/>
                    <a:lstStyle/>
                    <a:p>
                      <a:pPr>
                        <a:buNone/>
                      </a:pPr>
                      <a:r>
                        <a:rPr lang="en-US" sz="2100" b="1" dirty="0"/>
                        <a:t>App Layer</a:t>
                      </a:r>
                    </a:p>
                  </a:txBody>
                  <a:tcPr marL="54380" marR="54380" marT="27190" marB="27190" anchor="ctr"/>
                </a:tc>
                <a:tc>
                  <a:txBody>
                    <a:bodyPr/>
                    <a:lstStyle/>
                    <a:p>
                      <a:pPr>
                        <a:buNone/>
                      </a:pPr>
                      <a:r>
                        <a:rPr lang="en-US" sz="2100" b="1" dirty="0" err="1"/>
                        <a:t>ElastiCache</a:t>
                      </a:r>
                      <a:endParaRPr lang="en-US" sz="2100" b="1" dirty="0"/>
                    </a:p>
                  </a:txBody>
                  <a:tcPr marL="54380" marR="54380" marT="27190" marB="27190" anchor="ctr"/>
                </a:tc>
                <a:tc>
                  <a:txBody>
                    <a:bodyPr/>
                    <a:lstStyle/>
                    <a:p>
                      <a:pPr>
                        <a:buNone/>
                      </a:pPr>
                      <a:r>
                        <a:rPr lang="en-US" sz="2100"/>
                        <a:t>Caching</a:t>
                      </a:r>
                    </a:p>
                  </a:txBody>
                  <a:tcPr marL="54380" marR="54380" marT="27190" marB="27190" anchor="ctr"/>
                </a:tc>
                <a:extLst>
                  <a:ext uri="{0D108BD9-81ED-4DB2-BD59-A6C34878D82A}">
                    <a16:rowId xmlns:a16="http://schemas.microsoft.com/office/drawing/2014/main" val="3192517892"/>
                  </a:ext>
                </a:extLst>
              </a:tr>
              <a:tr h="217521">
                <a:tc>
                  <a:txBody>
                    <a:bodyPr/>
                    <a:lstStyle/>
                    <a:p>
                      <a:pPr>
                        <a:buNone/>
                      </a:pPr>
                      <a:r>
                        <a:rPr lang="en-US" sz="2100" b="1" dirty="0"/>
                        <a:t>App Layer</a:t>
                      </a:r>
                    </a:p>
                  </a:txBody>
                  <a:tcPr marL="54380" marR="54380" marT="27190" marB="27190" anchor="ctr"/>
                </a:tc>
                <a:tc>
                  <a:txBody>
                    <a:bodyPr/>
                    <a:lstStyle/>
                    <a:p>
                      <a:pPr>
                        <a:buNone/>
                      </a:pPr>
                      <a:r>
                        <a:rPr lang="en-US" sz="2100" b="1" dirty="0"/>
                        <a:t>DB</a:t>
                      </a:r>
                    </a:p>
                  </a:txBody>
                  <a:tcPr marL="54380" marR="54380" marT="27190" marB="27190" anchor="ctr"/>
                </a:tc>
                <a:tc>
                  <a:txBody>
                    <a:bodyPr/>
                    <a:lstStyle/>
                    <a:p>
                      <a:pPr>
                        <a:buNone/>
                      </a:pPr>
                      <a:r>
                        <a:rPr lang="en-US" sz="2100" dirty="0"/>
                        <a:t>Data access</a:t>
                      </a:r>
                    </a:p>
                  </a:txBody>
                  <a:tcPr marL="54380" marR="54380" marT="27190" marB="27190" anchor="ctr"/>
                </a:tc>
                <a:extLst>
                  <a:ext uri="{0D108BD9-81ED-4DB2-BD59-A6C34878D82A}">
                    <a16:rowId xmlns:a16="http://schemas.microsoft.com/office/drawing/2014/main" val="683160812"/>
                  </a:ext>
                </a:extLst>
              </a:tr>
              <a:tr h="217521">
                <a:tc>
                  <a:txBody>
                    <a:bodyPr/>
                    <a:lstStyle/>
                    <a:p>
                      <a:pPr>
                        <a:buNone/>
                      </a:pPr>
                      <a:r>
                        <a:rPr lang="en-US" sz="2100" b="1" dirty="0"/>
                        <a:t>DB</a:t>
                      </a:r>
                    </a:p>
                  </a:txBody>
                  <a:tcPr marL="54380" marR="54380" marT="27190" marB="27190" anchor="ctr"/>
                </a:tc>
                <a:tc>
                  <a:txBody>
                    <a:bodyPr/>
                    <a:lstStyle/>
                    <a:p>
                      <a:pPr>
                        <a:buNone/>
                      </a:pPr>
                      <a:r>
                        <a:rPr lang="en-US" sz="2100" b="1" dirty="0"/>
                        <a:t>Replica</a:t>
                      </a:r>
                    </a:p>
                  </a:txBody>
                  <a:tcPr marL="54380" marR="54380" marT="27190" marB="27190" anchor="ctr"/>
                </a:tc>
                <a:tc>
                  <a:txBody>
                    <a:bodyPr/>
                    <a:lstStyle/>
                    <a:p>
                      <a:pPr>
                        <a:buNone/>
                      </a:pPr>
                      <a:r>
                        <a:rPr lang="en-US" sz="2100"/>
                        <a:t>High availability</a:t>
                      </a:r>
                    </a:p>
                  </a:txBody>
                  <a:tcPr marL="54380" marR="54380" marT="27190" marB="27190" anchor="ctr"/>
                </a:tc>
                <a:extLst>
                  <a:ext uri="{0D108BD9-81ED-4DB2-BD59-A6C34878D82A}">
                    <a16:rowId xmlns:a16="http://schemas.microsoft.com/office/drawing/2014/main" val="3315962460"/>
                  </a:ext>
                </a:extLst>
              </a:tr>
              <a:tr h="202960">
                <a:tc>
                  <a:txBody>
                    <a:bodyPr/>
                    <a:lstStyle/>
                    <a:p>
                      <a:pPr>
                        <a:buNone/>
                      </a:pPr>
                      <a:r>
                        <a:rPr lang="en-US" sz="2100" b="1" dirty="0"/>
                        <a:t>App Layer</a:t>
                      </a:r>
                    </a:p>
                  </a:txBody>
                  <a:tcPr marL="54380" marR="54380" marT="27190" marB="27190" anchor="ctr"/>
                </a:tc>
                <a:tc>
                  <a:txBody>
                    <a:bodyPr/>
                    <a:lstStyle/>
                    <a:p>
                      <a:pPr>
                        <a:buNone/>
                      </a:pPr>
                      <a:r>
                        <a:rPr lang="en-US" sz="2100" b="1" dirty="0"/>
                        <a:t>S3, EFS</a:t>
                      </a:r>
                    </a:p>
                  </a:txBody>
                  <a:tcPr marL="54380" marR="54380" marT="27190" marB="27190" anchor="ctr"/>
                </a:tc>
                <a:tc>
                  <a:txBody>
                    <a:bodyPr/>
                    <a:lstStyle/>
                    <a:p>
                      <a:pPr>
                        <a:buNone/>
                      </a:pPr>
                      <a:r>
                        <a:rPr lang="en-US" sz="2100" dirty="0"/>
                        <a:t>Static file &amp; file system access</a:t>
                      </a:r>
                    </a:p>
                  </a:txBody>
                  <a:tcPr marL="54380" marR="54380" marT="27190" marB="27190" anchor="ctr"/>
                </a:tc>
                <a:extLst>
                  <a:ext uri="{0D108BD9-81ED-4DB2-BD59-A6C34878D82A}">
                    <a16:rowId xmlns:a16="http://schemas.microsoft.com/office/drawing/2014/main" val="2636351168"/>
                  </a:ext>
                </a:extLst>
              </a:tr>
            </a:tbl>
          </a:graphicData>
        </a:graphic>
      </p:graphicFrame>
    </p:spTree>
    <p:extLst>
      <p:ext uri="{BB962C8B-B14F-4D97-AF65-F5344CB8AC3E}">
        <p14:creationId xmlns:p14="http://schemas.microsoft.com/office/powerpoint/2010/main" val="10986060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EA529-A332-7A01-D000-AD392B7C76BB}"/>
              </a:ext>
            </a:extLst>
          </p:cNvPr>
          <p:cNvSpPr>
            <a:spLocks noGrp="1"/>
          </p:cNvSpPr>
          <p:nvPr>
            <p:ph type="title"/>
          </p:nvPr>
        </p:nvSpPr>
        <p:spPr>
          <a:xfrm>
            <a:off x="262128" y="330875"/>
            <a:ext cx="8529319" cy="323165"/>
          </a:xfrm>
        </p:spPr>
        <p:txBody>
          <a:bodyPr/>
          <a:lstStyle/>
          <a:p>
            <a:endParaRPr lang="en-US" sz="2100"/>
          </a:p>
        </p:txBody>
      </p:sp>
      <p:sp>
        <p:nvSpPr>
          <p:cNvPr id="23" name="Rectangle 20">
            <a:extLst>
              <a:ext uri="{FF2B5EF4-FFF2-40B4-BE49-F238E27FC236}">
                <a16:creationId xmlns:a16="http://schemas.microsoft.com/office/drawing/2014/main" id="{4F30A1C8-45C3-1CD1-62F6-F4A79A3A5944}"/>
              </a:ext>
            </a:extLst>
          </p:cNvPr>
          <p:cNvSpPr>
            <a:spLocks noChangeArrowheads="1"/>
          </p:cNvSpPr>
          <p:nvPr/>
        </p:nvSpPr>
        <p:spPr bwMode="auto">
          <a:xfrm>
            <a:off x="222504" y="2819400"/>
            <a:ext cx="8729472"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Arial" panose="020B0604020202020204" pitchFamily="34" charset="0"/>
              </a:rPr>
              <a:t>1.  Users → Amazon Route 53</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100" b="1" i="0" u="none" strike="noStrike" cap="none" normalizeH="0" baseline="0" dirty="0">
                <a:ln>
                  <a:noFill/>
                </a:ln>
                <a:solidFill>
                  <a:schemeClr val="tx1"/>
                </a:solidFill>
                <a:effectLst/>
                <a:latin typeface="Arial" panose="020B0604020202020204" pitchFamily="34" charset="0"/>
              </a:rPr>
              <a:t>Route 53</a:t>
            </a:r>
            <a:r>
              <a:rPr kumimoji="0" lang="en-US" altLang="en-US" sz="2100" b="0" i="0" u="none" strike="noStrike" cap="none" normalizeH="0" baseline="0" dirty="0">
                <a:ln>
                  <a:noFill/>
                </a:ln>
                <a:solidFill>
                  <a:schemeClr val="tx1"/>
                </a:solidFill>
                <a:effectLst/>
                <a:latin typeface="Arial" panose="020B0604020202020204" pitchFamily="34" charset="0"/>
              </a:rPr>
              <a:t> is the </a:t>
            </a:r>
            <a:r>
              <a:rPr kumimoji="0" lang="en-US" altLang="en-US" sz="2100" b="1" i="0" u="none" strike="noStrike" cap="none" normalizeH="0" baseline="0" dirty="0">
                <a:ln>
                  <a:noFill/>
                </a:ln>
                <a:solidFill>
                  <a:schemeClr val="tx1"/>
                </a:solidFill>
                <a:effectLst/>
                <a:latin typeface="Arial" panose="020B0604020202020204" pitchFamily="34" charset="0"/>
              </a:rPr>
              <a:t>DNS service</a:t>
            </a:r>
            <a:r>
              <a:rPr kumimoji="0" lang="en-US" altLang="en-US" sz="21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Users type a domain name (e.g., </a:t>
            </a:r>
            <a:r>
              <a:rPr kumimoji="0" lang="en-US" altLang="en-US" sz="2100" b="0" i="0" u="none" strike="noStrike" cap="none" normalizeH="0" baseline="0" dirty="0">
                <a:ln>
                  <a:noFill/>
                </a:ln>
                <a:solidFill>
                  <a:schemeClr val="tx1"/>
                </a:solidFill>
                <a:effectLst/>
                <a:latin typeface="Arial Unicode MS"/>
              </a:rPr>
              <a:t>www.myapp.com</a:t>
            </a:r>
            <a:r>
              <a:rPr kumimoji="0" lang="en-US" altLang="en-US" sz="2100" b="0" i="0" u="none" strike="noStrike" cap="none" normalizeH="0" baseline="0" dirty="0">
                <a:ln>
                  <a:noFill/>
                </a:ln>
                <a:solidFill>
                  <a:schemeClr val="tx1"/>
                </a:solidFill>
                <a:effectLst/>
              </a:rPr>
              <a:t>) and Route 53 resolves it to the correct AWS resource.</a:t>
            </a: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p:txBody>
      </p:sp>
      <p:sp>
        <p:nvSpPr>
          <p:cNvPr id="25" name="Rectangle 22">
            <a:extLst>
              <a:ext uri="{FF2B5EF4-FFF2-40B4-BE49-F238E27FC236}">
                <a16:creationId xmlns:a16="http://schemas.microsoft.com/office/drawing/2014/main" id="{16BA73D5-039C-CA69-1E3D-3D2CB5DE79C5}"/>
              </a:ext>
            </a:extLst>
          </p:cNvPr>
          <p:cNvSpPr>
            <a:spLocks noChangeArrowheads="1"/>
          </p:cNvSpPr>
          <p:nvPr/>
        </p:nvSpPr>
        <p:spPr bwMode="auto">
          <a:xfrm>
            <a:off x="213360" y="4724400"/>
            <a:ext cx="8653272"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Arial" panose="020B0604020202020204" pitchFamily="34" charset="0"/>
              </a:rPr>
              <a:t>2. Amazon Route 53 → Amazon CloudFront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Arial" panose="020B0604020202020204" pitchFamily="34" charset="0"/>
              </a:rPr>
              <a:t>CloudFront</a:t>
            </a:r>
            <a:r>
              <a:rPr kumimoji="0" lang="en-US" altLang="en-US" sz="2100" b="0" i="0" u="none" strike="noStrike" cap="none" normalizeH="0" baseline="0" dirty="0">
                <a:ln>
                  <a:noFill/>
                </a:ln>
                <a:solidFill>
                  <a:schemeClr val="tx1"/>
                </a:solidFill>
                <a:effectLst/>
                <a:latin typeface="Arial" panose="020B0604020202020204" pitchFamily="34" charset="0"/>
              </a:rPr>
              <a:t> is a </a:t>
            </a:r>
            <a:r>
              <a:rPr kumimoji="0" lang="en-US" altLang="en-US" sz="2100" b="1" i="0" u="none" strike="noStrike" cap="none" normalizeH="0" baseline="0" dirty="0">
                <a:ln>
                  <a:noFill/>
                </a:ln>
                <a:solidFill>
                  <a:schemeClr val="tx1"/>
                </a:solidFill>
                <a:effectLst/>
                <a:latin typeface="Arial" panose="020B0604020202020204" pitchFamily="34" charset="0"/>
              </a:rPr>
              <a:t>Content Delivery Network (CDN)</a:t>
            </a:r>
            <a:r>
              <a:rPr kumimoji="0" lang="en-US" altLang="en-US" sz="21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It caches and delivers static/dynamic content globally with low latency.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Route 53 directs the request to CloudFront for faster access.</a:t>
            </a:r>
          </a:p>
        </p:txBody>
      </p:sp>
      <p:sp>
        <p:nvSpPr>
          <p:cNvPr id="27" name="TextBox 26">
            <a:extLst>
              <a:ext uri="{FF2B5EF4-FFF2-40B4-BE49-F238E27FC236}">
                <a16:creationId xmlns:a16="http://schemas.microsoft.com/office/drawing/2014/main" id="{CBC38039-58D9-5C3B-1ACE-32F1AE3B8910}"/>
              </a:ext>
            </a:extLst>
          </p:cNvPr>
          <p:cNvSpPr txBox="1"/>
          <p:nvPr/>
        </p:nvSpPr>
        <p:spPr>
          <a:xfrm>
            <a:off x="240792" y="1630270"/>
            <a:ext cx="8692896" cy="923330"/>
          </a:xfrm>
          <a:prstGeom prst="rect">
            <a:avLst/>
          </a:prstGeom>
          <a:noFill/>
        </p:spPr>
        <p:txBody>
          <a:bodyPr wrap="square">
            <a:spAutoFit/>
          </a:bodyPr>
          <a:lstStyle/>
          <a:p>
            <a:pPr algn="just"/>
            <a:r>
              <a:rPr lang="en-US" b="1" dirty="0"/>
              <a:t>Amazon Cognito- </a:t>
            </a:r>
            <a:r>
              <a:rPr lang="en-US" b="0" dirty="0"/>
              <a:t>It</a:t>
            </a:r>
            <a:r>
              <a:rPr lang="en-US" dirty="0"/>
              <a:t> </a:t>
            </a:r>
            <a:r>
              <a:rPr lang="en-US" b="0" dirty="0"/>
              <a:t>is AWS’s secure service for user authentication, authorization, and identity management — used in real apps to manage login, access control, and integration with AWS services.</a:t>
            </a:r>
          </a:p>
        </p:txBody>
      </p:sp>
    </p:spTree>
    <p:extLst>
      <p:ext uri="{BB962C8B-B14F-4D97-AF65-F5344CB8AC3E}">
        <p14:creationId xmlns:p14="http://schemas.microsoft.com/office/powerpoint/2010/main" val="5857571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573B3-9FEC-F8F1-959E-B0AEBD1BFB6F}"/>
              </a:ext>
            </a:extLst>
          </p:cNvPr>
          <p:cNvSpPr>
            <a:spLocks noGrp="1"/>
          </p:cNvSpPr>
          <p:nvPr>
            <p:ph type="title"/>
          </p:nvPr>
        </p:nvSpPr>
        <p:spPr>
          <a:xfrm>
            <a:off x="307340" y="247599"/>
            <a:ext cx="8529319" cy="323165"/>
          </a:xfrm>
        </p:spPr>
        <p:txBody>
          <a:bodyPr/>
          <a:lstStyle/>
          <a:p>
            <a:endParaRPr lang="en-US" sz="2100" dirty="0"/>
          </a:p>
        </p:txBody>
      </p:sp>
      <p:sp>
        <p:nvSpPr>
          <p:cNvPr id="4" name="Rectangle 1">
            <a:extLst>
              <a:ext uri="{FF2B5EF4-FFF2-40B4-BE49-F238E27FC236}">
                <a16:creationId xmlns:a16="http://schemas.microsoft.com/office/drawing/2014/main" id="{D5022DAE-5DFC-C544-F8EE-0BB4A920F42B}"/>
              </a:ext>
            </a:extLst>
          </p:cNvPr>
          <p:cNvSpPr>
            <a:spLocks noChangeArrowheads="1"/>
          </p:cNvSpPr>
          <p:nvPr/>
        </p:nvSpPr>
        <p:spPr bwMode="auto">
          <a:xfrm>
            <a:off x="307340" y="1115452"/>
            <a:ext cx="852931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Arial" panose="020B0604020202020204" pitchFamily="34" charset="0"/>
              </a:rPr>
              <a:t>3. CloudFront → Application Load Balancer (via Internet Gateway)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CloudFront forwards the request to the </a:t>
            </a:r>
            <a:r>
              <a:rPr kumimoji="0" lang="en-US" altLang="en-US" sz="2100" b="1" i="0" u="none" strike="noStrike" cap="none" normalizeH="0" baseline="0" dirty="0">
                <a:ln>
                  <a:noFill/>
                </a:ln>
                <a:solidFill>
                  <a:schemeClr val="tx1"/>
                </a:solidFill>
                <a:effectLst/>
                <a:latin typeface="Arial" panose="020B0604020202020204" pitchFamily="34" charset="0"/>
              </a:rPr>
              <a:t>Application Load Balancer (ALB)</a:t>
            </a:r>
            <a:r>
              <a:rPr kumimoji="0" lang="en-US" altLang="en-US" sz="21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The </a:t>
            </a:r>
            <a:r>
              <a:rPr kumimoji="0" lang="en-US" altLang="en-US" sz="2100" b="1" i="0" u="none" strike="noStrike" cap="none" normalizeH="0" baseline="0" dirty="0">
                <a:ln>
                  <a:noFill/>
                </a:ln>
                <a:solidFill>
                  <a:schemeClr val="tx1"/>
                </a:solidFill>
                <a:effectLst/>
                <a:latin typeface="Arial" panose="020B0604020202020204" pitchFamily="34" charset="0"/>
              </a:rPr>
              <a:t>Internet Gateway (IGW)</a:t>
            </a:r>
            <a:r>
              <a:rPr kumimoji="0" lang="en-US" altLang="en-US" sz="2100" b="0" i="0" u="none" strike="noStrike" cap="none" normalizeH="0" baseline="0" dirty="0">
                <a:ln>
                  <a:noFill/>
                </a:ln>
                <a:solidFill>
                  <a:schemeClr val="tx1"/>
                </a:solidFill>
                <a:effectLst/>
                <a:latin typeface="Arial" panose="020B0604020202020204" pitchFamily="34" charset="0"/>
              </a:rPr>
              <a:t> allows the load balancer to accept public traffic.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ALB distributes incoming traffic to EC2 instances in multiple AZs.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BAEF1920-9FAD-12A1-DEDE-B11AA2C5252B}"/>
              </a:ext>
            </a:extLst>
          </p:cNvPr>
          <p:cNvSpPr>
            <a:spLocks noChangeArrowheads="1"/>
          </p:cNvSpPr>
          <p:nvPr/>
        </p:nvSpPr>
        <p:spPr bwMode="auto">
          <a:xfrm>
            <a:off x="0" y="257389"/>
            <a:ext cx="184731" cy="415498"/>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2100"/>
          </a:p>
        </p:txBody>
      </p:sp>
      <p:sp>
        <p:nvSpPr>
          <p:cNvPr id="6" name="Rectangle 3">
            <a:extLst>
              <a:ext uri="{FF2B5EF4-FFF2-40B4-BE49-F238E27FC236}">
                <a16:creationId xmlns:a16="http://schemas.microsoft.com/office/drawing/2014/main" id="{BCFF43E4-78EB-325E-CF4E-576FB9B02DAD}"/>
              </a:ext>
            </a:extLst>
          </p:cNvPr>
          <p:cNvSpPr>
            <a:spLocks noChangeArrowheads="1"/>
          </p:cNvSpPr>
          <p:nvPr/>
        </p:nvSpPr>
        <p:spPr bwMode="auto">
          <a:xfrm>
            <a:off x="343916" y="4572000"/>
            <a:ext cx="8915400"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Arial" panose="020B0604020202020204" pitchFamily="34" charset="0"/>
              </a:rPr>
              <a:t>4. Application Load Balancer → Auto Scaling Group (Presentation Layer)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ALB routes the traffic to EC2 instances running in </a:t>
            </a:r>
            <a:r>
              <a:rPr kumimoji="0" lang="en-US" altLang="en-US" sz="2100" b="1" i="0" u="none" strike="noStrike" cap="none" normalizeH="0" baseline="0" dirty="0">
                <a:ln>
                  <a:noFill/>
                </a:ln>
                <a:solidFill>
                  <a:schemeClr val="tx1"/>
                </a:solidFill>
                <a:effectLst/>
                <a:latin typeface="Arial" panose="020B0604020202020204" pitchFamily="34" charset="0"/>
              </a:rPr>
              <a:t>Auto Scaling Groups</a:t>
            </a:r>
            <a:r>
              <a:rPr kumimoji="0" lang="en-US" altLang="en-US" sz="21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The </a:t>
            </a:r>
            <a:r>
              <a:rPr kumimoji="0" lang="en-US" altLang="en-US" sz="2100" b="1" i="0" u="none" strike="noStrike" cap="none" normalizeH="0" baseline="0" dirty="0">
                <a:ln>
                  <a:noFill/>
                </a:ln>
                <a:solidFill>
                  <a:schemeClr val="tx1"/>
                </a:solidFill>
                <a:effectLst/>
                <a:latin typeface="Arial" panose="020B0604020202020204" pitchFamily="34" charset="0"/>
              </a:rPr>
              <a:t>Presentation Layer</a:t>
            </a:r>
            <a:r>
              <a:rPr kumimoji="0" lang="en-US" altLang="en-US" sz="2100" b="0" i="0" u="none" strike="noStrike" cap="none" normalizeH="0" baseline="0" dirty="0">
                <a:ln>
                  <a:noFill/>
                </a:ln>
                <a:solidFill>
                  <a:schemeClr val="tx1"/>
                </a:solidFill>
                <a:effectLst/>
                <a:latin typeface="Arial" panose="020B0604020202020204" pitchFamily="34" charset="0"/>
              </a:rPr>
              <a:t> handles the frontend logic (e.g., UI).</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816197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AC97C-E34A-3C5A-3477-57C2AF9224C8}"/>
              </a:ext>
            </a:extLst>
          </p:cNvPr>
          <p:cNvSpPr>
            <a:spLocks noGrp="1"/>
          </p:cNvSpPr>
          <p:nvPr>
            <p:ph type="title"/>
          </p:nvPr>
        </p:nvSpPr>
        <p:spPr>
          <a:xfrm>
            <a:off x="307340" y="247599"/>
            <a:ext cx="8529319" cy="323165"/>
          </a:xfrm>
        </p:spPr>
        <p:txBody>
          <a:bodyPr/>
          <a:lstStyle/>
          <a:p>
            <a:endParaRPr lang="en-US" sz="2100"/>
          </a:p>
        </p:txBody>
      </p:sp>
      <p:sp>
        <p:nvSpPr>
          <p:cNvPr id="4" name="Rectangle 1">
            <a:extLst>
              <a:ext uri="{FF2B5EF4-FFF2-40B4-BE49-F238E27FC236}">
                <a16:creationId xmlns:a16="http://schemas.microsoft.com/office/drawing/2014/main" id="{A92F2168-5079-3FE6-7258-5DF3216BDEC4}"/>
              </a:ext>
            </a:extLst>
          </p:cNvPr>
          <p:cNvSpPr>
            <a:spLocks noChangeArrowheads="1"/>
          </p:cNvSpPr>
          <p:nvPr/>
        </p:nvSpPr>
        <p:spPr bwMode="auto">
          <a:xfrm>
            <a:off x="228600" y="1219200"/>
            <a:ext cx="100584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Arial" panose="020B0604020202020204" pitchFamily="34" charset="0"/>
              </a:rPr>
              <a:t>5. Presentation Layer → Auto Scaling Group (Application Layer)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The frontend passes requests to the </a:t>
            </a:r>
            <a:r>
              <a:rPr kumimoji="0" lang="en-US" altLang="en-US" sz="2100" b="1" i="0" u="none" strike="noStrike" cap="none" normalizeH="0" baseline="0" dirty="0">
                <a:ln>
                  <a:noFill/>
                </a:ln>
                <a:solidFill>
                  <a:schemeClr val="tx1"/>
                </a:solidFill>
                <a:effectLst/>
                <a:latin typeface="Arial" panose="020B0604020202020204" pitchFamily="34" charset="0"/>
              </a:rPr>
              <a:t>Application Layer</a:t>
            </a:r>
            <a:r>
              <a:rPr kumimoji="0" lang="en-US" altLang="en-US" sz="21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This handles business logic, APIs, and backend processing.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32DFA280-8458-D92B-B68D-703C0FBBF6DC}"/>
              </a:ext>
            </a:extLst>
          </p:cNvPr>
          <p:cNvSpPr>
            <a:spLocks noChangeArrowheads="1"/>
          </p:cNvSpPr>
          <p:nvPr/>
        </p:nvSpPr>
        <p:spPr bwMode="auto">
          <a:xfrm>
            <a:off x="228600" y="2743200"/>
            <a:ext cx="10058400"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Arial" panose="020B0604020202020204" pitchFamily="34" charset="0"/>
              </a:rPr>
              <a:t>6. Application Layer ↔ Amazon Cognito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Cognito handles </a:t>
            </a:r>
            <a:r>
              <a:rPr kumimoji="0" lang="en-US" altLang="en-US" sz="2100" b="1" i="0" u="none" strike="noStrike" cap="none" normalizeH="0" baseline="0" dirty="0">
                <a:ln>
                  <a:noFill/>
                </a:ln>
                <a:solidFill>
                  <a:schemeClr val="tx1"/>
                </a:solidFill>
                <a:effectLst/>
                <a:latin typeface="Arial" panose="020B0604020202020204" pitchFamily="34" charset="0"/>
              </a:rPr>
              <a:t>authentication and authorization</a:t>
            </a:r>
            <a:r>
              <a:rPr kumimoji="0" lang="en-US" altLang="en-US" sz="21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Users are authenticated before accessing secure parts of the app.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This happens outside the VPC — Cognito is a managed service.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8BB1E5BB-6D36-6847-AB86-517997E03507}"/>
              </a:ext>
            </a:extLst>
          </p:cNvPr>
          <p:cNvSpPr>
            <a:spLocks noChangeArrowheads="1"/>
          </p:cNvSpPr>
          <p:nvPr/>
        </p:nvSpPr>
        <p:spPr bwMode="auto">
          <a:xfrm>
            <a:off x="181312" y="4876800"/>
            <a:ext cx="8993168"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Arial" panose="020B0604020202020204" pitchFamily="34" charset="0"/>
              </a:rPr>
              <a:t>7. Application Layer ↔ Amazon </a:t>
            </a:r>
            <a:r>
              <a:rPr kumimoji="0" lang="en-US" altLang="en-US" sz="2100" b="1" i="0" u="none" strike="noStrike" cap="none" normalizeH="0" baseline="0" dirty="0" err="1">
                <a:ln>
                  <a:noFill/>
                </a:ln>
                <a:solidFill>
                  <a:schemeClr val="tx1"/>
                </a:solidFill>
                <a:effectLst/>
                <a:latin typeface="Arial" panose="020B0604020202020204" pitchFamily="34" charset="0"/>
              </a:rPr>
              <a:t>ElastiCache</a:t>
            </a:r>
            <a:endParaRPr kumimoji="0" lang="en-US" altLang="en-US" sz="21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err="1">
                <a:ln>
                  <a:noFill/>
                </a:ln>
                <a:solidFill>
                  <a:schemeClr val="tx1"/>
                </a:solidFill>
                <a:effectLst/>
                <a:latin typeface="Arial" panose="020B0604020202020204" pitchFamily="34" charset="0"/>
              </a:rPr>
              <a:t>ElastiCache</a:t>
            </a:r>
            <a:r>
              <a:rPr kumimoji="0" lang="en-US" altLang="en-US" sz="2100" b="0" i="0" u="none" strike="noStrike" cap="none" normalizeH="0" baseline="0" dirty="0">
                <a:ln>
                  <a:noFill/>
                </a:ln>
                <a:solidFill>
                  <a:schemeClr val="tx1"/>
                </a:solidFill>
                <a:effectLst/>
                <a:latin typeface="Arial" panose="020B0604020202020204" pitchFamily="34" charset="0"/>
              </a:rPr>
              <a:t> is used to </a:t>
            </a:r>
            <a:r>
              <a:rPr kumimoji="0" lang="en-US" altLang="en-US" sz="2100" b="1" i="0" u="none" strike="noStrike" cap="none" normalizeH="0" baseline="0" dirty="0">
                <a:ln>
                  <a:noFill/>
                </a:ln>
                <a:solidFill>
                  <a:schemeClr val="tx1"/>
                </a:solidFill>
                <a:effectLst/>
                <a:latin typeface="Arial" panose="020B0604020202020204" pitchFamily="34" charset="0"/>
              </a:rPr>
              <a:t>cache frequent queries</a:t>
            </a:r>
            <a:r>
              <a:rPr kumimoji="0" lang="en-US" altLang="en-US" sz="2100" b="0" i="0" u="none" strike="noStrike" cap="none" normalizeH="0" baseline="0" dirty="0">
                <a:ln>
                  <a:noFill/>
                </a:ln>
                <a:solidFill>
                  <a:schemeClr val="tx1"/>
                </a:solidFill>
                <a:effectLst/>
                <a:latin typeface="Arial" panose="020B0604020202020204" pitchFamily="34" charset="0"/>
              </a:rPr>
              <a:t> to reduce database load.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Speeds up the app by storing session data, user preferences, etc.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299942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A403E-AA5E-5AAE-BA6E-1242C10EB84B}"/>
              </a:ext>
            </a:extLst>
          </p:cNvPr>
          <p:cNvSpPr>
            <a:spLocks noGrp="1"/>
          </p:cNvSpPr>
          <p:nvPr>
            <p:ph type="title"/>
          </p:nvPr>
        </p:nvSpPr>
        <p:spPr/>
        <p:txBody>
          <a:bodyPr/>
          <a:lstStyle/>
          <a:p>
            <a:endParaRPr lang="en-US"/>
          </a:p>
        </p:txBody>
      </p:sp>
      <p:sp>
        <p:nvSpPr>
          <p:cNvPr id="5" name="Rectangle 2">
            <a:extLst>
              <a:ext uri="{FF2B5EF4-FFF2-40B4-BE49-F238E27FC236}">
                <a16:creationId xmlns:a16="http://schemas.microsoft.com/office/drawing/2014/main" id="{BC6D5A5F-2573-279B-7A9B-EF856E9451C1}"/>
              </a:ext>
            </a:extLst>
          </p:cNvPr>
          <p:cNvSpPr>
            <a:spLocks noChangeArrowheads="1"/>
          </p:cNvSpPr>
          <p:nvPr/>
        </p:nvSpPr>
        <p:spPr bwMode="auto">
          <a:xfrm>
            <a:off x="-156509" y="2016686"/>
            <a:ext cx="184731" cy="415498"/>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2100"/>
          </a:p>
        </p:txBody>
      </p:sp>
      <p:sp>
        <p:nvSpPr>
          <p:cNvPr id="6" name="Rectangle 3">
            <a:extLst>
              <a:ext uri="{FF2B5EF4-FFF2-40B4-BE49-F238E27FC236}">
                <a16:creationId xmlns:a16="http://schemas.microsoft.com/office/drawing/2014/main" id="{8FE4B626-AAD1-08D4-63C6-BD8BFE30F470}"/>
              </a:ext>
            </a:extLst>
          </p:cNvPr>
          <p:cNvSpPr>
            <a:spLocks noChangeArrowheads="1"/>
          </p:cNvSpPr>
          <p:nvPr/>
        </p:nvSpPr>
        <p:spPr bwMode="auto">
          <a:xfrm>
            <a:off x="307340" y="1531937"/>
            <a:ext cx="883666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Arial" panose="020B0604020202020204" pitchFamily="34" charset="0"/>
              </a:rPr>
              <a:t>8. Application Layer ↔ Primary Database (Private Subnet)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The application makes reads/writes to the </a:t>
            </a:r>
            <a:r>
              <a:rPr kumimoji="0" lang="en-US" altLang="en-US" sz="2100" b="1" i="0" u="none" strike="noStrike" cap="none" normalizeH="0" baseline="0" dirty="0">
                <a:ln>
                  <a:noFill/>
                </a:ln>
                <a:solidFill>
                  <a:schemeClr val="tx1"/>
                </a:solidFill>
                <a:effectLst/>
                <a:latin typeface="Arial" panose="020B0604020202020204" pitchFamily="34" charset="0"/>
              </a:rPr>
              <a:t>Primary DB instance</a:t>
            </a:r>
            <a:r>
              <a:rPr kumimoji="0" lang="en-US" altLang="en-US" sz="21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Located in a </a:t>
            </a:r>
            <a:r>
              <a:rPr kumimoji="0" lang="en-US" altLang="en-US" sz="2100" b="1" i="0" u="none" strike="noStrike" cap="none" normalizeH="0" baseline="0" dirty="0">
                <a:ln>
                  <a:noFill/>
                </a:ln>
                <a:solidFill>
                  <a:schemeClr val="tx1"/>
                </a:solidFill>
                <a:effectLst/>
                <a:latin typeface="Arial" panose="020B0604020202020204" pitchFamily="34" charset="0"/>
              </a:rPr>
              <a:t>private subnet</a:t>
            </a:r>
            <a:r>
              <a:rPr kumimoji="0" lang="en-US" altLang="en-US" sz="2100" b="0" i="0" u="none" strike="noStrike" cap="none" normalizeH="0" baseline="0" dirty="0">
                <a:ln>
                  <a:noFill/>
                </a:ln>
                <a:solidFill>
                  <a:schemeClr val="tx1"/>
                </a:solidFill>
                <a:effectLst/>
                <a:latin typeface="Arial" panose="020B0604020202020204" pitchFamily="34" charset="0"/>
              </a:rPr>
              <a:t> for security.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p:txBody>
      </p:sp>
      <p:sp>
        <p:nvSpPr>
          <p:cNvPr id="7" name="Rectangle 4">
            <a:extLst>
              <a:ext uri="{FF2B5EF4-FFF2-40B4-BE49-F238E27FC236}">
                <a16:creationId xmlns:a16="http://schemas.microsoft.com/office/drawing/2014/main" id="{AF78D569-091D-1711-C275-AF4A9DD92430}"/>
              </a:ext>
            </a:extLst>
          </p:cNvPr>
          <p:cNvSpPr>
            <a:spLocks noChangeArrowheads="1"/>
          </p:cNvSpPr>
          <p:nvPr/>
        </p:nvSpPr>
        <p:spPr bwMode="auto">
          <a:xfrm>
            <a:off x="307340" y="3055182"/>
            <a:ext cx="858884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Arial" panose="020B0604020202020204" pitchFamily="34" charset="0"/>
              </a:rPr>
              <a:t>9. Primary → Replica Database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A </a:t>
            </a:r>
            <a:r>
              <a:rPr kumimoji="0" lang="en-US" altLang="en-US" sz="2100" b="1" i="0" u="none" strike="noStrike" cap="none" normalizeH="0" baseline="0" dirty="0">
                <a:ln>
                  <a:noFill/>
                </a:ln>
                <a:solidFill>
                  <a:schemeClr val="tx1"/>
                </a:solidFill>
                <a:effectLst/>
                <a:latin typeface="Arial" panose="020B0604020202020204" pitchFamily="34" charset="0"/>
              </a:rPr>
              <a:t>read replica</a:t>
            </a:r>
            <a:r>
              <a:rPr kumimoji="0" lang="en-US" altLang="en-US" sz="2100" b="0" i="0" u="none" strike="noStrike" cap="none" normalizeH="0" baseline="0" dirty="0">
                <a:ln>
                  <a:noFill/>
                </a:ln>
                <a:solidFill>
                  <a:schemeClr val="tx1"/>
                </a:solidFill>
                <a:effectLst/>
                <a:latin typeface="Arial" panose="020B0604020202020204" pitchFamily="34" charset="0"/>
              </a:rPr>
              <a:t> ensures </a:t>
            </a:r>
            <a:r>
              <a:rPr kumimoji="0" lang="en-US" altLang="en-US" sz="2100" b="1" i="0" u="none" strike="noStrike" cap="none" normalizeH="0" baseline="0" dirty="0">
                <a:ln>
                  <a:noFill/>
                </a:ln>
                <a:solidFill>
                  <a:schemeClr val="tx1"/>
                </a:solidFill>
                <a:effectLst/>
                <a:latin typeface="Arial" panose="020B0604020202020204" pitchFamily="34" charset="0"/>
              </a:rPr>
              <a:t>high availability and read scalability</a:t>
            </a:r>
            <a:r>
              <a:rPr kumimoji="0" lang="en-US" altLang="en-US" sz="21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Replication ensures the data is available across AZs.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p:txBody>
      </p:sp>
      <p:sp>
        <p:nvSpPr>
          <p:cNvPr id="9" name="Rectangle 6">
            <a:extLst>
              <a:ext uri="{FF2B5EF4-FFF2-40B4-BE49-F238E27FC236}">
                <a16:creationId xmlns:a16="http://schemas.microsoft.com/office/drawing/2014/main" id="{68ABDE13-EADB-677A-5032-BF47A264C95C}"/>
              </a:ext>
            </a:extLst>
          </p:cNvPr>
          <p:cNvSpPr>
            <a:spLocks noChangeArrowheads="1"/>
          </p:cNvSpPr>
          <p:nvPr/>
        </p:nvSpPr>
        <p:spPr bwMode="auto">
          <a:xfrm>
            <a:off x="228600" y="4648200"/>
            <a:ext cx="9296400"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Arial" panose="020B0604020202020204" pitchFamily="34" charset="0"/>
              </a:rPr>
              <a:t>10. Application Layer ↔ Amazon S3 &amp; Amazon EFS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Arial" panose="020B0604020202020204" pitchFamily="34" charset="0"/>
              </a:rPr>
              <a:t>S3</a:t>
            </a:r>
            <a:r>
              <a:rPr kumimoji="0" lang="en-US" altLang="en-US" sz="2100" b="0" i="0" u="none" strike="noStrike" cap="none" normalizeH="0" baseline="0" dirty="0">
                <a:ln>
                  <a:noFill/>
                </a:ln>
                <a:solidFill>
                  <a:schemeClr val="tx1"/>
                </a:solidFill>
                <a:effectLst/>
                <a:latin typeface="Arial" panose="020B0604020202020204" pitchFamily="34" charset="0"/>
              </a:rPr>
              <a:t> stores static files like images, documents, and backups.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Arial" panose="020B0604020202020204" pitchFamily="34" charset="0"/>
              </a:rPr>
              <a:t>EFS</a:t>
            </a:r>
            <a:r>
              <a:rPr kumimoji="0" lang="en-US" altLang="en-US" sz="2100" b="0" i="0" u="none" strike="noStrike" cap="none" normalizeH="0" baseline="0" dirty="0">
                <a:ln>
                  <a:noFill/>
                </a:ln>
                <a:solidFill>
                  <a:schemeClr val="tx1"/>
                </a:solidFill>
                <a:effectLst/>
                <a:latin typeface="Arial" panose="020B0604020202020204" pitchFamily="34" charset="0"/>
              </a:rPr>
              <a:t> provides shared, scalable storage for EC2 instances (like file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Both are accessed via private routes and security permissions.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077547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440A-DBC0-B1C0-B3FD-D7E1F5FBF388}"/>
              </a:ext>
            </a:extLst>
          </p:cNvPr>
          <p:cNvSpPr>
            <a:spLocks noGrp="1"/>
          </p:cNvSpPr>
          <p:nvPr>
            <p:ph type="title"/>
          </p:nvPr>
        </p:nvSpPr>
        <p:spPr>
          <a:xfrm>
            <a:off x="307340" y="247599"/>
            <a:ext cx="8529319" cy="369332"/>
          </a:xfrm>
        </p:spPr>
        <p:txBody>
          <a:bodyPr/>
          <a:lstStyle/>
          <a:p>
            <a:r>
              <a:rPr lang="en-US" sz="2400" dirty="0"/>
              <a:t>Breakdown of Components by Layer</a:t>
            </a:r>
            <a:endParaRPr lang="en-US" sz="2100" dirty="0"/>
          </a:p>
        </p:txBody>
      </p:sp>
      <p:sp>
        <p:nvSpPr>
          <p:cNvPr id="4" name="Rectangle 1">
            <a:extLst>
              <a:ext uri="{FF2B5EF4-FFF2-40B4-BE49-F238E27FC236}">
                <a16:creationId xmlns:a16="http://schemas.microsoft.com/office/drawing/2014/main" id="{0CEFB2F4-B028-FCF5-C05C-EC133536D170}"/>
              </a:ext>
            </a:extLst>
          </p:cNvPr>
          <p:cNvSpPr>
            <a:spLocks noChangeArrowheads="1"/>
          </p:cNvSpPr>
          <p:nvPr/>
        </p:nvSpPr>
        <p:spPr bwMode="auto">
          <a:xfrm>
            <a:off x="344424" y="3168848"/>
            <a:ext cx="8556751"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Arial" panose="020B0604020202020204" pitchFamily="34" charset="0"/>
              </a:rPr>
              <a:t>🔹 Presentation Layer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Handles </a:t>
            </a:r>
            <a:r>
              <a:rPr kumimoji="0" lang="en-US" altLang="en-US" sz="2100" b="1" i="0" u="none" strike="noStrike" cap="none" normalizeH="0" baseline="0" dirty="0">
                <a:ln>
                  <a:noFill/>
                </a:ln>
                <a:solidFill>
                  <a:schemeClr val="tx1"/>
                </a:solidFill>
                <a:effectLst/>
                <a:latin typeface="Arial" panose="020B0604020202020204" pitchFamily="34" charset="0"/>
              </a:rPr>
              <a:t>UI/frontend</a:t>
            </a:r>
            <a:r>
              <a:rPr kumimoji="0" lang="en-US" altLang="en-US" sz="21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EC2 instances run inside Auto Scaling Groups for elasticity.</a:t>
            </a:r>
          </a:p>
        </p:txBody>
      </p:sp>
      <p:sp>
        <p:nvSpPr>
          <p:cNvPr id="6" name="Rectangle 3">
            <a:extLst>
              <a:ext uri="{FF2B5EF4-FFF2-40B4-BE49-F238E27FC236}">
                <a16:creationId xmlns:a16="http://schemas.microsoft.com/office/drawing/2014/main" id="{1BA2CC9D-03F7-FD4A-1944-B7882C326DD9}"/>
              </a:ext>
            </a:extLst>
          </p:cNvPr>
          <p:cNvSpPr>
            <a:spLocks noChangeArrowheads="1"/>
          </p:cNvSpPr>
          <p:nvPr/>
        </p:nvSpPr>
        <p:spPr bwMode="auto">
          <a:xfrm>
            <a:off x="356616" y="4495800"/>
            <a:ext cx="8260595"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Arial" panose="020B0604020202020204" pitchFamily="34" charset="0"/>
              </a:rPr>
              <a:t>🔹 Application Layer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Hosts business logic and APIs.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Uses </a:t>
            </a:r>
            <a:r>
              <a:rPr kumimoji="0" lang="en-US" altLang="en-US" sz="2100" b="0" i="0" u="none" strike="noStrike" cap="none" normalizeH="0" baseline="0" dirty="0" err="1">
                <a:ln>
                  <a:noFill/>
                </a:ln>
                <a:solidFill>
                  <a:schemeClr val="tx1"/>
                </a:solidFill>
                <a:effectLst/>
                <a:latin typeface="Arial" panose="020B0604020202020204" pitchFamily="34" charset="0"/>
              </a:rPr>
              <a:t>ElastiCache</a:t>
            </a:r>
            <a:r>
              <a:rPr kumimoji="0" lang="en-US" altLang="en-US" sz="2100" b="0" i="0" u="none" strike="noStrike" cap="none" normalizeH="0" baseline="0" dirty="0">
                <a:ln>
                  <a:noFill/>
                </a:ln>
                <a:solidFill>
                  <a:schemeClr val="tx1"/>
                </a:solidFill>
                <a:effectLst/>
                <a:latin typeface="Arial" panose="020B0604020202020204" pitchFamily="34" charset="0"/>
              </a:rPr>
              <a:t> for performance, and talks to the database layer.</a:t>
            </a:r>
          </a:p>
        </p:txBody>
      </p:sp>
      <p:sp>
        <p:nvSpPr>
          <p:cNvPr id="8" name="Rectangle 5">
            <a:extLst>
              <a:ext uri="{FF2B5EF4-FFF2-40B4-BE49-F238E27FC236}">
                <a16:creationId xmlns:a16="http://schemas.microsoft.com/office/drawing/2014/main" id="{1FC51414-4399-2F80-5BB4-CB49C2F78735}"/>
              </a:ext>
            </a:extLst>
          </p:cNvPr>
          <p:cNvSpPr>
            <a:spLocks noChangeArrowheads="1"/>
          </p:cNvSpPr>
          <p:nvPr/>
        </p:nvSpPr>
        <p:spPr bwMode="auto">
          <a:xfrm>
            <a:off x="356616" y="5759595"/>
            <a:ext cx="8875005"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Arial" panose="020B0604020202020204" pitchFamily="34" charset="0"/>
              </a:rPr>
              <a:t>🔹 Database Layer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Arial" panose="020B0604020202020204" pitchFamily="34" charset="0"/>
              </a:rPr>
              <a:t>Primary DB</a:t>
            </a:r>
            <a:r>
              <a:rPr kumimoji="0" lang="en-US" altLang="en-US" sz="2100" b="0" i="0" u="none" strike="noStrike" cap="none" normalizeH="0" baseline="0" dirty="0">
                <a:ln>
                  <a:noFill/>
                </a:ln>
                <a:solidFill>
                  <a:schemeClr val="tx1"/>
                </a:solidFill>
                <a:effectLst/>
                <a:latin typeface="Arial" panose="020B0604020202020204" pitchFamily="34" charset="0"/>
              </a:rPr>
              <a:t>: Handles read/write.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Arial" panose="020B0604020202020204" pitchFamily="34" charset="0"/>
              </a:rPr>
              <a:t>Replica DB</a:t>
            </a:r>
            <a:r>
              <a:rPr kumimoji="0" lang="en-US" altLang="en-US" sz="2100" b="0" i="0" u="none" strike="noStrike" cap="none" normalizeH="0" baseline="0" dirty="0">
                <a:ln>
                  <a:noFill/>
                </a:ln>
                <a:solidFill>
                  <a:schemeClr val="tx1"/>
                </a:solidFill>
                <a:effectLst/>
                <a:latin typeface="Arial" panose="020B0604020202020204" pitchFamily="34" charset="0"/>
              </a:rPr>
              <a:t>: Handles read-only traffic for load distribution.</a:t>
            </a:r>
          </a:p>
        </p:txBody>
      </p:sp>
      <p:sp>
        <p:nvSpPr>
          <p:cNvPr id="18" name="TextBox 17">
            <a:extLst>
              <a:ext uri="{FF2B5EF4-FFF2-40B4-BE49-F238E27FC236}">
                <a16:creationId xmlns:a16="http://schemas.microsoft.com/office/drawing/2014/main" id="{35A27B5D-67A5-996B-1FBF-718BEAA04B8C}"/>
              </a:ext>
            </a:extLst>
          </p:cNvPr>
          <p:cNvSpPr txBox="1"/>
          <p:nvPr/>
        </p:nvSpPr>
        <p:spPr>
          <a:xfrm>
            <a:off x="457200" y="818897"/>
            <a:ext cx="8529319" cy="2031325"/>
          </a:xfrm>
          <a:prstGeom prst="rect">
            <a:avLst/>
          </a:prstGeom>
          <a:noFill/>
        </p:spPr>
        <p:txBody>
          <a:bodyPr wrap="square">
            <a:spAutoFit/>
          </a:bodyPr>
          <a:lstStyle/>
          <a:p>
            <a:pPr>
              <a:buNone/>
            </a:pPr>
            <a:r>
              <a:rPr kumimoji="0" lang="en-US" altLang="en-US" sz="2100" b="1" i="0" u="none" strike="noStrike" cap="none" normalizeH="0" baseline="0" dirty="0">
                <a:ln>
                  <a:noFill/>
                </a:ln>
                <a:solidFill>
                  <a:schemeClr val="tx1"/>
                </a:solidFill>
                <a:effectLst/>
                <a:latin typeface="Arial" panose="020B0604020202020204" pitchFamily="34" charset="0"/>
              </a:rPr>
              <a:t>🔹 </a:t>
            </a:r>
            <a:r>
              <a:rPr lang="en-US" sz="2100" b="1" dirty="0"/>
              <a:t>Network Layer</a:t>
            </a:r>
          </a:p>
          <a:p>
            <a:pPr>
              <a:buFont typeface="Arial" panose="020B0604020202020204" pitchFamily="34" charset="0"/>
              <a:buChar char="•"/>
            </a:pPr>
            <a:r>
              <a:rPr lang="en-US" sz="2100" b="1" dirty="0"/>
              <a:t>VPC (Virtual Private Cloud)</a:t>
            </a:r>
            <a:r>
              <a:rPr lang="en-US" sz="2100" dirty="0"/>
              <a:t>: Isolated cloud network.</a:t>
            </a:r>
          </a:p>
          <a:p>
            <a:pPr>
              <a:buFont typeface="Arial" panose="020B0604020202020204" pitchFamily="34" charset="0"/>
              <a:buChar char="•"/>
            </a:pPr>
            <a:r>
              <a:rPr lang="en-US" sz="2100" b="1" dirty="0"/>
              <a:t>Availability Zones</a:t>
            </a:r>
            <a:r>
              <a:rPr lang="en-US" sz="2100" dirty="0"/>
              <a:t>: Two AZs ensure high availability.</a:t>
            </a:r>
          </a:p>
          <a:p>
            <a:pPr>
              <a:buFont typeface="Arial" panose="020B0604020202020204" pitchFamily="34" charset="0"/>
              <a:buChar char="•"/>
            </a:pPr>
            <a:r>
              <a:rPr lang="en-US" sz="2100" b="1" dirty="0"/>
              <a:t>Internet Gateway</a:t>
            </a:r>
            <a:r>
              <a:rPr lang="en-US" sz="2100" dirty="0"/>
              <a:t>: Connects VPC to the internet.</a:t>
            </a:r>
          </a:p>
          <a:p>
            <a:pPr>
              <a:buFont typeface="Arial" panose="020B0604020202020204" pitchFamily="34" charset="0"/>
              <a:buChar char="•"/>
            </a:pPr>
            <a:r>
              <a:rPr lang="en-US" sz="2100" b="1" dirty="0"/>
              <a:t>NAT Gateway</a:t>
            </a:r>
            <a:r>
              <a:rPr lang="en-US" sz="2100" dirty="0"/>
              <a:t>: Allows private subnets to access the internet (e.g., for updates), but not be accessed from it.</a:t>
            </a:r>
          </a:p>
        </p:txBody>
      </p:sp>
    </p:spTree>
    <p:extLst>
      <p:ext uri="{BB962C8B-B14F-4D97-AF65-F5344CB8AC3E}">
        <p14:creationId xmlns:p14="http://schemas.microsoft.com/office/powerpoint/2010/main" val="942129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664C0-78FD-3591-02B0-62E999269E3C}"/>
              </a:ext>
            </a:extLst>
          </p:cNvPr>
          <p:cNvSpPr>
            <a:spLocks noGrp="1"/>
          </p:cNvSpPr>
          <p:nvPr>
            <p:ph type="title"/>
          </p:nvPr>
        </p:nvSpPr>
        <p:spPr/>
        <p:txBody>
          <a:bodyPr/>
          <a:lstStyle/>
          <a:p>
            <a:endParaRPr lang="en-US"/>
          </a:p>
        </p:txBody>
      </p:sp>
      <p:sp>
        <p:nvSpPr>
          <p:cNvPr id="14" name="Rectangle 11">
            <a:extLst>
              <a:ext uri="{FF2B5EF4-FFF2-40B4-BE49-F238E27FC236}">
                <a16:creationId xmlns:a16="http://schemas.microsoft.com/office/drawing/2014/main" id="{C2B3D530-C92C-803C-E0CE-8AC4F3BA3095}"/>
              </a:ext>
            </a:extLst>
          </p:cNvPr>
          <p:cNvSpPr>
            <a:spLocks noChangeArrowheads="1"/>
          </p:cNvSpPr>
          <p:nvPr/>
        </p:nvSpPr>
        <p:spPr bwMode="auto">
          <a:xfrm>
            <a:off x="422475" y="3714566"/>
            <a:ext cx="872152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Arial" panose="020B0604020202020204" pitchFamily="34" charset="0"/>
              </a:rPr>
              <a:t>🔹 Routing &amp; Caching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Arial" panose="020B0604020202020204" pitchFamily="34" charset="0"/>
              </a:rPr>
              <a:t>Amazon Route 53</a:t>
            </a:r>
            <a:r>
              <a:rPr kumimoji="0" lang="en-US" altLang="en-US" sz="2100" b="0" i="0" u="none" strike="noStrike" cap="none" normalizeH="0" baseline="0" dirty="0">
                <a:ln>
                  <a:noFill/>
                </a:ln>
                <a:solidFill>
                  <a:schemeClr val="tx1"/>
                </a:solidFill>
                <a:effectLst/>
                <a:latin typeface="Arial" panose="020B0604020202020204" pitchFamily="34" charset="0"/>
              </a:rPr>
              <a:t>: Domain name system (DNS).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Arial" panose="020B0604020202020204" pitchFamily="34" charset="0"/>
              </a:rPr>
              <a:t>Amazon CloudFront</a:t>
            </a:r>
            <a:r>
              <a:rPr kumimoji="0" lang="en-US" altLang="en-US" sz="2100" b="0" i="0" u="none" strike="noStrike" cap="none" normalizeH="0" baseline="0" dirty="0">
                <a:ln>
                  <a:noFill/>
                </a:ln>
                <a:solidFill>
                  <a:schemeClr val="tx1"/>
                </a:solidFill>
                <a:effectLst/>
                <a:latin typeface="Arial" panose="020B0604020202020204" pitchFamily="34" charset="0"/>
              </a:rPr>
              <a:t>: CDN for fast global delivery.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p:txBody>
      </p:sp>
      <p:sp>
        <p:nvSpPr>
          <p:cNvPr id="16" name="Rectangle 13">
            <a:extLst>
              <a:ext uri="{FF2B5EF4-FFF2-40B4-BE49-F238E27FC236}">
                <a16:creationId xmlns:a16="http://schemas.microsoft.com/office/drawing/2014/main" id="{1F3583A0-EE9D-D498-645E-D4199BA37DC9}"/>
              </a:ext>
            </a:extLst>
          </p:cNvPr>
          <p:cNvSpPr>
            <a:spLocks noChangeArrowheads="1"/>
          </p:cNvSpPr>
          <p:nvPr/>
        </p:nvSpPr>
        <p:spPr bwMode="auto">
          <a:xfrm>
            <a:off x="438912" y="5334000"/>
            <a:ext cx="7285969"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Arial" panose="020B0604020202020204" pitchFamily="34" charset="0"/>
              </a:rPr>
              <a:t>🔹 Auto Scaling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Automatically adds/removes EC2 instances based on load.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p:txBody>
      </p:sp>
      <p:sp>
        <p:nvSpPr>
          <p:cNvPr id="10" name="Rectangle 7">
            <a:extLst>
              <a:ext uri="{FF2B5EF4-FFF2-40B4-BE49-F238E27FC236}">
                <a16:creationId xmlns:a16="http://schemas.microsoft.com/office/drawing/2014/main" id="{AF27DF3C-3573-E49A-8803-56C26CE2F42A}"/>
              </a:ext>
            </a:extLst>
          </p:cNvPr>
          <p:cNvSpPr>
            <a:spLocks noChangeArrowheads="1"/>
          </p:cNvSpPr>
          <p:nvPr/>
        </p:nvSpPr>
        <p:spPr bwMode="auto">
          <a:xfrm>
            <a:off x="475488" y="1304318"/>
            <a:ext cx="84582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Arial" panose="020B0604020202020204" pitchFamily="34" charset="0"/>
              </a:rPr>
              <a:t>🔹 Storage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Arial" panose="020B0604020202020204" pitchFamily="34" charset="0"/>
              </a:rPr>
              <a:t>Amazon S3</a:t>
            </a:r>
            <a:r>
              <a:rPr kumimoji="0" lang="en-US" altLang="en-US" sz="2100" b="0" i="0" u="none" strike="noStrike" cap="none" normalizeH="0" baseline="0" dirty="0">
                <a:ln>
                  <a:noFill/>
                </a:ln>
                <a:solidFill>
                  <a:schemeClr val="tx1"/>
                </a:solidFill>
                <a:effectLst/>
                <a:latin typeface="Arial" panose="020B0604020202020204" pitchFamily="34" charset="0"/>
              </a:rPr>
              <a:t>: Object storage (images, backups).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Arial" panose="020B0604020202020204" pitchFamily="34" charset="0"/>
              </a:rPr>
              <a:t>Amazon EFS</a:t>
            </a:r>
            <a:r>
              <a:rPr kumimoji="0" lang="en-US" altLang="en-US" sz="2100" b="0" i="0" u="none" strike="noStrike" cap="none" normalizeH="0" baseline="0" dirty="0">
                <a:ln>
                  <a:noFill/>
                </a:ln>
                <a:solidFill>
                  <a:schemeClr val="tx1"/>
                </a:solidFill>
                <a:effectLst/>
                <a:latin typeface="Arial" panose="020B0604020202020204" pitchFamily="34" charset="0"/>
              </a:rPr>
              <a:t>: Scalable file system for EC2.</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p:txBody>
      </p:sp>
      <p:sp>
        <p:nvSpPr>
          <p:cNvPr id="12" name="Rectangle 9">
            <a:extLst>
              <a:ext uri="{FF2B5EF4-FFF2-40B4-BE49-F238E27FC236}">
                <a16:creationId xmlns:a16="http://schemas.microsoft.com/office/drawing/2014/main" id="{C5993EF4-ABED-FCC2-3C2F-6C5ED5810C7D}"/>
              </a:ext>
            </a:extLst>
          </p:cNvPr>
          <p:cNvSpPr>
            <a:spLocks noChangeArrowheads="1"/>
          </p:cNvSpPr>
          <p:nvPr/>
        </p:nvSpPr>
        <p:spPr bwMode="auto">
          <a:xfrm>
            <a:off x="422475" y="2637497"/>
            <a:ext cx="9102172"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Arial" panose="020B0604020202020204" pitchFamily="34" charset="0"/>
              </a:rPr>
              <a:t>🔹 Authentication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Arial" panose="020B0604020202020204" pitchFamily="34" charset="0"/>
              </a:rPr>
              <a:t>Amazon Cognito</a:t>
            </a:r>
            <a:r>
              <a:rPr kumimoji="0" lang="en-US" altLang="en-US" sz="2100" b="0" i="0" u="none" strike="noStrike" cap="none" normalizeH="0" baseline="0" dirty="0">
                <a:ln>
                  <a:noFill/>
                </a:ln>
                <a:solidFill>
                  <a:schemeClr val="tx1"/>
                </a:solidFill>
                <a:effectLst/>
                <a:latin typeface="Arial" panose="020B0604020202020204" pitchFamily="34" charset="0"/>
              </a:rPr>
              <a:t>: Authenticates users securely (social logins, email, etc.)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184458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3600" spc="-240" dirty="0"/>
              <a:t>AWS</a:t>
            </a:r>
            <a:r>
              <a:rPr sz="3600" spc="-5" dirty="0"/>
              <a:t> </a:t>
            </a:r>
            <a:r>
              <a:rPr sz="3600" spc="-40" dirty="0"/>
              <a:t>Route</a:t>
            </a:r>
            <a:r>
              <a:rPr sz="3600" spc="-170" dirty="0"/>
              <a:t> </a:t>
            </a:r>
            <a:r>
              <a:rPr sz="3600" spc="-25" dirty="0"/>
              <a:t>53</a:t>
            </a:r>
            <a:endParaRPr sz="3600"/>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38429" y="943102"/>
            <a:ext cx="8315325" cy="4455160"/>
          </a:xfrm>
          <a:prstGeom prst="rect">
            <a:avLst/>
          </a:prstGeom>
        </p:spPr>
        <p:txBody>
          <a:bodyPr vert="horz" wrap="square" lIns="0" tIns="12700" rIns="0" bIns="0" rtlCol="0">
            <a:spAutoFit/>
          </a:bodyPr>
          <a:lstStyle/>
          <a:p>
            <a:pPr marL="12700">
              <a:lnSpc>
                <a:spcPct val="100000"/>
              </a:lnSpc>
              <a:spcBef>
                <a:spcPts val="100"/>
              </a:spcBef>
            </a:pPr>
            <a:r>
              <a:rPr sz="2400" spc="-100" dirty="0">
                <a:latin typeface="Times New Roman"/>
                <a:cs typeface="Times New Roman"/>
              </a:rPr>
              <a:t>Route</a:t>
            </a:r>
            <a:r>
              <a:rPr sz="2400" spc="-55" dirty="0">
                <a:latin typeface="Times New Roman"/>
                <a:cs typeface="Times New Roman"/>
              </a:rPr>
              <a:t> </a:t>
            </a:r>
            <a:r>
              <a:rPr sz="2400" spc="-114" dirty="0">
                <a:latin typeface="Times New Roman"/>
                <a:cs typeface="Times New Roman"/>
              </a:rPr>
              <a:t>53</a:t>
            </a:r>
            <a:r>
              <a:rPr sz="2400" spc="-30" dirty="0">
                <a:latin typeface="Times New Roman"/>
                <a:cs typeface="Times New Roman"/>
              </a:rPr>
              <a:t> </a:t>
            </a:r>
            <a:r>
              <a:rPr sz="2400" spc="-95" dirty="0">
                <a:latin typeface="Times New Roman"/>
                <a:cs typeface="Times New Roman"/>
              </a:rPr>
              <a:t>performs</a:t>
            </a:r>
            <a:r>
              <a:rPr sz="2400" spc="-40" dirty="0">
                <a:latin typeface="Times New Roman"/>
                <a:cs typeface="Times New Roman"/>
              </a:rPr>
              <a:t> </a:t>
            </a:r>
            <a:r>
              <a:rPr sz="2400" spc="-65" dirty="0">
                <a:latin typeface="Times New Roman"/>
                <a:cs typeface="Times New Roman"/>
              </a:rPr>
              <a:t>three</a:t>
            </a:r>
            <a:r>
              <a:rPr sz="2400" spc="-35" dirty="0">
                <a:latin typeface="Times New Roman"/>
                <a:cs typeface="Times New Roman"/>
              </a:rPr>
              <a:t> </a:t>
            </a:r>
            <a:r>
              <a:rPr sz="2400" spc="-150" dirty="0">
                <a:latin typeface="Times New Roman"/>
                <a:cs typeface="Times New Roman"/>
              </a:rPr>
              <a:t>main</a:t>
            </a:r>
            <a:r>
              <a:rPr sz="2400" spc="-35" dirty="0">
                <a:latin typeface="Times New Roman"/>
                <a:cs typeface="Times New Roman"/>
              </a:rPr>
              <a:t> </a:t>
            </a:r>
            <a:r>
              <a:rPr sz="2400" spc="-10" dirty="0">
                <a:latin typeface="Times New Roman"/>
                <a:cs typeface="Times New Roman"/>
              </a:rPr>
              <a:t>functions</a:t>
            </a:r>
            <a:endParaRPr sz="2400" dirty="0">
              <a:latin typeface="Times New Roman"/>
              <a:cs typeface="Times New Roman"/>
            </a:endParaRPr>
          </a:p>
          <a:p>
            <a:pPr>
              <a:lnSpc>
                <a:spcPct val="100000"/>
              </a:lnSpc>
              <a:spcBef>
                <a:spcPts val="1320"/>
              </a:spcBef>
            </a:pPr>
            <a:endParaRPr sz="2400" dirty="0">
              <a:latin typeface="Times New Roman"/>
              <a:cs typeface="Times New Roman"/>
            </a:endParaRPr>
          </a:p>
          <a:p>
            <a:pPr marL="527685" indent="-514984">
              <a:lnSpc>
                <a:spcPct val="100000"/>
              </a:lnSpc>
              <a:buClr>
                <a:srgbClr val="D24717"/>
              </a:buClr>
              <a:buSzPct val="85416"/>
              <a:buAutoNum type="romanLcParenBoth"/>
              <a:tabLst>
                <a:tab pos="527685" algn="l"/>
              </a:tabLst>
            </a:pPr>
            <a:r>
              <a:rPr sz="2400" spc="-105" dirty="0">
                <a:latin typeface="Times New Roman"/>
                <a:cs typeface="Times New Roman"/>
              </a:rPr>
              <a:t>Register</a:t>
            </a:r>
            <a:r>
              <a:rPr sz="2400" spc="-25" dirty="0">
                <a:latin typeface="Times New Roman"/>
                <a:cs typeface="Times New Roman"/>
              </a:rPr>
              <a:t> </a:t>
            </a:r>
            <a:r>
              <a:rPr sz="2400" spc="-200" dirty="0">
                <a:latin typeface="Times New Roman"/>
                <a:cs typeface="Times New Roman"/>
              </a:rPr>
              <a:t>a</a:t>
            </a:r>
            <a:r>
              <a:rPr sz="2400" spc="-40" dirty="0">
                <a:latin typeface="Times New Roman"/>
                <a:cs typeface="Times New Roman"/>
              </a:rPr>
              <a:t> </a:t>
            </a:r>
            <a:r>
              <a:rPr sz="2400" spc="-10" dirty="0">
                <a:latin typeface="Times New Roman"/>
                <a:cs typeface="Times New Roman"/>
              </a:rPr>
              <a:t>domain</a:t>
            </a:r>
            <a:endParaRPr sz="2400" dirty="0">
              <a:latin typeface="Times New Roman"/>
              <a:cs typeface="Times New Roman"/>
            </a:endParaRPr>
          </a:p>
          <a:p>
            <a:pPr marL="527685" indent="-514984">
              <a:lnSpc>
                <a:spcPct val="100000"/>
              </a:lnSpc>
              <a:spcBef>
                <a:spcPts val="600"/>
              </a:spcBef>
              <a:buClr>
                <a:srgbClr val="D24717"/>
              </a:buClr>
              <a:buSzPct val="85416"/>
              <a:buAutoNum type="romanLcParenBoth"/>
              <a:tabLst>
                <a:tab pos="527685" algn="l"/>
              </a:tabLst>
            </a:pPr>
            <a:r>
              <a:rPr sz="2400" spc="-254" dirty="0">
                <a:latin typeface="Times New Roman"/>
                <a:cs typeface="Times New Roman"/>
              </a:rPr>
              <a:t>As</a:t>
            </a:r>
            <a:r>
              <a:rPr sz="2400" spc="-70" dirty="0">
                <a:latin typeface="Times New Roman"/>
                <a:cs typeface="Times New Roman"/>
              </a:rPr>
              <a:t> </a:t>
            </a:r>
            <a:r>
              <a:rPr sz="2400" spc="-200" dirty="0">
                <a:latin typeface="Times New Roman"/>
                <a:cs typeface="Times New Roman"/>
              </a:rPr>
              <a:t>a</a:t>
            </a:r>
            <a:r>
              <a:rPr sz="2400" spc="-65" dirty="0">
                <a:latin typeface="Times New Roman"/>
                <a:cs typeface="Times New Roman"/>
              </a:rPr>
              <a:t> </a:t>
            </a:r>
            <a:r>
              <a:rPr sz="2400" spc="-145" dirty="0">
                <a:latin typeface="Times New Roman"/>
                <a:cs typeface="Times New Roman"/>
              </a:rPr>
              <a:t>DNS,</a:t>
            </a:r>
            <a:r>
              <a:rPr sz="2400" spc="-150" dirty="0">
                <a:latin typeface="Times New Roman"/>
                <a:cs typeface="Times New Roman"/>
              </a:rPr>
              <a:t> </a:t>
            </a:r>
            <a:r>
              <a:rPr sz="2400" dirty="0">
                <a:latin typeface="Times New Roman"/>
                <a:cs typeface="Times New Roman"/>
              </a:rPr>
              <a:t>it</a:t>
            </a:r>
            <a:r>
              <a:rPr sz="2400" spc="-65" dirty="0">
                <a:latin typeface="Times New Roman"/>
                <a:cs typeface="Times New Roman"/>
              </a:rPr>
              <a:t> </a:t>
            </a:r>
            <a:r>
              <a:rPr sz="2400" spc="-80" dirty="0">
                <a:latin typeface="Times New Roman"/>
                <a:cs typeface="Times New Roman"/>
              </a:rPr>
              <a:t>routes</a:t>
            </a:r>
            <a:r>
              <a:rPr sz="2400" spc="-70" dirty="0">
                <a:latin typeface="Times New Roman"/>
                <a:cs typeface="Times New Roman"/>
              </a:rPr>
              <a:t> </a:t>
            </a:r>
            <a:r>
              <a:rPr sz="2400" spc="-45" dirty="0">
                <a:latin typeface="Times New Roman"/>
                <a:cs typeface="Times New Roman"/>
              </a:rPr>
              <a:t>internet</a:t>
            </a:r>
            <a:r>
              <a:rPr sz="2400" spc="-60" dirty="0">
                <a:latin typeface="Times New Roman"/>
                <a:cs typeface="Times New Roman"/>
              </a:rPr>
              <a:t> </a:t>
            </a:r>
            <a:r>
              <a:rPr sz="2400" spc="-114" dirty="0">
                <a:latin typeface="Times New Roman"/>
                <a:cs typeface="Times New Roman"/>
              </a:rPr>
              <a:t>traffic</a:t>
            </a:r>
            <a:r>
              <a:rPr sz="2400" spc="-65" dirty="0">
                <a:latin typeface="Times New Roman"/>
                <a:cs typeface="Times New Roman"/>
              </a:rPr>
              <a:t> </a:t>
            </a:r>
            <a:r>
              <a:rPr sz="2400" dirty="0">
                <a:latin typeface="Times New Roman"/>
                <a:cs typeface="Times New Roman"/>
              </a:rPr>
              <a:t>to</a:t>
            </a:r>
            <a:r>
              <a:rPr sz="2400" spc="-65" dirty="0">
                <a:latin typeface="Times New Roman"/>
                <a:cs typeface="Times New Roman"/>
              </a:rPr>
              <a:t> </a:t>
            </a:r>
            <a:r>
              <a:rPr sz="2400" spc="-60" dirty="0">
                <a:latin typeface="Times New Roman"/>
                <a:cs typeface="Times New Roman"/>
              </a:rPr>
              <a:t>the</a:t>
            </a:r>
            <a:r>
              <a:rPr sz="2400" spc="-65" dirty="0">
                <a:latin typeface="Times New Roman"/>
                <a:cs typeface="Times New Roman"/>
              </a:rPr>
              <a:t> </a:t>
            </a:r>
            <a:r>
              <a:rPr sz="2400" spc="-105" dirty="0">
                <a:latin typeface="Times New Roman"/>
                <a:cs typeface="Times New Roman"/>
              </a:rPr>
              <a:t>resources</a:t>
            </a:r>
            <a:r>
              <a:rPr sz="2400" spc="-80" dirty="0">
                <a:latin typeface="Times New Roman"/>
                <a:cs typeface="Times New Roman"/>
              </a:rPr>
              <a:t> </a:t>
            </a:r>
            <a:r>
              <a:rPr sz="2400" spc="-90" dirty="0">
                <a:latin typeface="Times New Roman"/>
                <a:cs typeface="Times New Roman"/>
              </a:rPr>
              <a:t>for</a:t>
            </a:r>
            <a:r>
              <a:rPr sz="2400" spc="-60" dirty="0">
                <a:latin typeface="Times New Roman"/>
                <a:cs typeface="Times New Roman"/>
              </a:rPr>
              <a:t> </a:t>
            </a:r>
            <a:r>
              <a:rPr sz="2400" spc="-114" dirty="0">
                <a:latin typeface="Times New Roman"/>
                <a:cs typeface="Times New Roman"/>
              </a:rPr>
              <a:t>your</a:t>
            </a:r>
            <a:r>
              <a:rPr sz="2400" spc="-70" dirty="0">
                <a:latin typeface="Times New Roman"/>
                <a:cs typeface="Times New Roman"/>
              </a:rPr>
              <a:t> </a:t>
            </a:r>
            <a:r>
              <a:rPr sz="2400" spc="-10" dirty="0">
                <a:latin typeface="Times New Roman"/>
                <a:cs typeface="Times New Roman"/>
              </a:rPr>
              <a:t>domain</a:t>
            </a:r>
            <a:endParaRPr sz="2400" dirty="0">
              <a:latin typeface="Times New Roman"/>
              <a:cs typeface="Times New Roman"/>
            </a:endParaRPr>
          </a:p>
          <a:p>
            <a:pPr marL="527685" indent="-514984">
              <a:lnSpc>
                <a:spcPct val="100000"/>
              </a:lnSpc>
              <a:spcBef>
                <a:spcPts val="600"/>
              </a:spcBef>
              <a:buClr>
                <a:srgbClr val="D24717"/>
              </a:buClr>
              <a:buSzPct val="85416"/>
              <a:buAutoNum type="romanLcParenBoth"/>
              <a:tabLst>
                <a:tab pos="527685" algn="l"/>
              </a:tabLst>
            </a:pPr>
            <a:r>
              <a:rPr sz="2400" spc="-140" dirty="0">
                <a:latin typeface="Times New Roman"/>
                <a:cs typeface="Times New Roman"/>
              </a:rPr>
              <a:t>Check</a:t>
            </a:r>
            <a:r>
              <a:rPr sz="2400" spc="-50" dirty="0">
                <a:latin typeface="Times New Roman"/>
                <a:cs typeface="Times New Roman"/>
              </a:rPr>
              <a:t> </a:t>
            </a:r>
            <a:r>
              <a:rPr sz="2400" spc="-60" dirty="0">
                <a:latin typeface="Times New Roman"/>
                <a:cs typeface="Times New Roman"/>
              </a:rPr>
              <a:t>the</a:t>
            </a:r>
            <a:r>
              <a:rPr sz="2400" spc="-45" dirty="0">
                <a:latin typeface="Times New Roman"/>
                <a:cs typeface="Times New Roman"/>
              </a:rPr>
              <a:t> </a:t>
            </a:r>
            <a:r>
              <a:rPr sz="2400" spc="-114" dirty="0">
                <a:latin typeface="Times New Roman"/>
                <a:cs typeface="Times New Roman"/>
              </a:rPr>
              <a:t>health</a:t>
            </a:r>
            <a:r>
              <a:rPr sz="2400" spc="-50" dirty="0">
                <a:latin typeface="Times New Roman"/>
                <a:cs typeface="Times New Roman"/>
              </a:rPr>
              <a:t> </a:t>
            </a:r>
            <a:r>
              <a:rPr sz="2400" spc="-145" dirty="0">
                <a:latin typeface="Times New Roman"/>
                <a:cs typeface="Times New Roman"/>
              </a:rPr>
              <a:t>of</a:t>
            </a:r>
            <a:r>
              <a:rPr sz="2400" spc="-35" dirty="0">
                <a:latin typeface="Times New Roman"/>
                <a:cs typeface="Times New Roman"/>
              </a:rPr>
              <a:t> </a:t>
            </a:r>
            <a:r>
              <a:rPr sz="2400" spc="-114" dirty="0">
                <a:latin typeface="Times New Roman"/>
                <a:cs typeface="Times New Roman"/>
              </a:rPr>
              <a:t>your</a:t>
            </a:r>
            <a:r>
              <a:rPr sz="2400" spc="-50" dirty="0">
                <a:latin typeface="Times New Roman"/>
                <a:cs typeface="Times New Roman"/>
              </a:rPr>
              <a:t> </a:t>
            </a:r>
            <a:r>
              <a:rPr sz="2400" spc="-10" dirty="0">
                <a:latin typeface="Times New Roman"/>
                <a:cs typeface="Times New Roman"/>
              </a:rPr>
              <a:t>resources</a:t>
            </a:r>
            <a:endParaRPr sz="2400" dirty="0">
              <a:latin typeface="Times New Roman"/>
              <a:cs typeface="Times New Roman"/>
            </a:endParaRPr>
          </a:p>
          <a:p>
            <a:pPr marL="800735" marR="5080" lvl="1" indent="-514350" algn="just">
              <a:lnSpc>
                <a:spcPct val="100000"/>
              </a:lnSpc>
              <a:spcBef>
                <a:spcPts val="400"/>
              </a:spcBef>
              <a:buClr>
                <a:srgbClr val="9B2C1F"/>
              </a:buClr>
              <a:buSzPct val="85416"/>
              <a:buAutoNum type="romanLcParenBoth"/>
              <a:tabLst>
                <a:tab pos="802005" algn="l"/>
              </a:tabLst>
            </a:pPr>
            <a:r>
              <a:rPr sz="2400" dirty="0">
                <a:latin typeface="Times New Roman"/>
                <a:cs typeface="Times New Roman"/>
              </a:rPr>
              <a:t>Route</a:t>
            </a:r>
            <a:r>
              <a:rPr sz="2400" spc="150" dirty="0">
                <a:latin typeface="Times New Roman"/>
                <a:cs typeface="Times New Roman"/>
              </a:rPr>
              <a:t> </a:t>
            </a:r>
            <a:r>
              <a:rPr sz="2400" dirty="0">
                <a:latin typeface="Times New Roman"/>
                <a:cs typeface="Times New Roman"/>
              </a:rPr>
              <a:t>53</a:t>
            </a:r>
            <a:r>
              <a:rPr sz="2400" spc="145" dirty="0">
                <a:latin typeface="Times New Roman"/>
                <a:cs typeface="Times New Roman"/>
              </a:rPr>
              <a:t> </a:t>
            </a:r>
            <a:r>
              <a:rPr sz="2400" dirty="0">
                <a:latin typeface="Times New Roman"/>
                <a:cs typeface="Times New Roman"/>
              </a:rPr>
              <a:t>sends</a:t>
            </a:r>
            <a:r>
              <a:rPr sz="2400" spc="155" dirty="0">
                <a:latin typeface="Times New Roman"/>
                <a:cs typeface="Times New Roman"/>
              </a:rPr>
              <a:t> </a:t>
            </a:r>
            <a:r>
              <a:rPr sz="2400" dirty="0">
                <a:latin typeface="Times New Roman"/>
                <a:cs typeface="Times New Roman"/>
              </a:rPr>
              <a:t>the</a:t>
            </a:r>
            <a:r>
              <a:rPr sz="2400" spc="155" dirty="0">
                <a:latin typeface="Times New Roman"/>
                <a:cs typeface="Times New Roman"/>
              </a:rPr>
              <a:t> </a:t>
            </a:r>
            <a:r>
              <a:rPr sz="2400" spc="-30" dirty="0">
                <a:latin typeface="Times New Roman"/>
                <a:cs typeface="Times New Roman"/>
              </a:rPr>
              <a:t>automated</a:t>
            </a:r>
            <a:r>
              <a:rPr sz="2400" spc="150" dirty="0">
                <a:latin typeface="Times New Roman"/>
                <a:cs typeface="Times New Roman"/>
              </a:rPr>
              <a:t> </a:t>
            </a:r>
            <a:r>
              <a:rPr sz="2400" spc="-20" dirty="0">
                <a:latin typeface="Times New Roman"/>
                <a:cs typeface="Times New Roman"/>
              </a:rPr>
              <a:t>requests</a:t>
            </a:r>
            <a:r>
              <a:rPr sz="2400" spc="155" dirty="0">
                <a:latin typeface="Times New Roman"/>
                <a:cs typeface="Times New Roman"/>
              </a:rPr>
              <a:t> </a:t>
            </a:r>
            <a:r>
              <a:rPr sz="2400" dirty="0">
                <a:latin typeface="Times New Roman"/>
                <a:cs typeface="Times New Roman"/>
              </a:rPr>
              <a:t>over</a:t>
            </a:r>
            <a:r>
              <a:rPr sz="2400" spc="155" dirty="0">
                <a:latin typeface="Times New Roman"/>
                <a:cs typeface="Times New Roman"/>
              </a:rPr>
              <a:t> </a:t>
            </a:r>
            <a:r>
              <a:rPr sz="2400" dirty="0">
                <a:latin typeface="Times New Roman"/>
                <a:cs typeface="Times New Roman"/>
              </a:rPr>
              <a:t>the</a:t>
            </a:r>
            <a:r>
              <a:rPr sz="2400" spc="150" dirty="0">
                <a:latin typeface="Times New Roman"/>
                <a:cs typeface="Times New Roman"/>
              </a:rPr>
              <a:t> </a:t>
            </a:r>
            <a:r>
              <a:rPr sz="2400" dirty="0">
                <a:latin typeface="Times New Roman"/>
                <a:cs typeface="Times New Roman"/>
              </a:rPr>
              <a:t>internet</a:t>
            </a:r>
            <a:r>
              <a:rPr sz="2400" spc="155" dirty="0">
                <a:latin typeface="Times New Roman"/>
                <a:cs typeface="Times New Roman"/>
              </a:rPr>
              <a:t> </a:t>
            </a:r>
            <a:r>
              <a:rPr sz="2400" dirty="0">
                <a:latin typeface="Times New Roman"/>
                <a:cs typeface="Times New Roman"/>
              </a:rPr>
              <a:t>to</a:t>
            </a:r>
            <a:r>
              <a:rPr sz="2400" spc="150" dirty="0">
                <a:latin typeface="Times New Roman"/>
                <a:cs typeface="Times New Roman"/>
              </a:rPr>
              <a:t> </a:t>
            </a:r>
            <a:r>
              <a:rPr sz="2400" spc="-50" dirty="0">
                <a:latin typeface="Times New Roman"/>
                <a:cs typeface="Times New Roman"/>
              </a:rPr>
              <a:t>a 	</a:t>
            </a:r>
            <a:r>
              <a:rPr sz="2400" spc="-30" dirty="0">
                <a:latin typeface="Times New Roman"/>
                <a:cs typeface="Times New Roman"/>
              </a:rPr>
              <a:t>resource</a:t>
            </a:r>
            <a:r>
              <a:rPr sz="2400" spc="15" dirty="0">
                <a:latin typeface="Times New Roman"/>
                <a:cs typeface="Times New Roman"/>
              </a:rPr>
              <a:t> </a:t>
            </a:r>
            <a:r>
              <a:rPr sz="2400" dirty="0">
                <a:latin typeface="Times New Roman"/>
                <a:cs typeface="Times New Roman"/>
              </a:rPr>
              <a:t>(can</a:t>
            </a:r>
            <a:r>
              <a:rPr sz="2400" spc="15" dirty="0">
                <a:latin typeface="Times New Roman"/>
                <a:cs typeface="Times New Roman"/>
              </a:rPr>
              <a:t> </a:t>
            </a:r>
            <a:r>
              <a:rPr sz="2400" dirty="0">
                <a:latin typeface="Times New Roman"/>
                <a:cs typeface="Times New Roman"/>
              </a:rPr>
              <a:t>be</a:t>
            </a:r>
            <a:r>
              <a:rPr sz="2400" spc="15"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spc="-60" dirty="0">
                <a:latin typeface="Times New Roman"/>
                <a:cs typeface="Times New Roman"/>
              </a:rPr>
              <a:t>webserver)</a:t>
            </a:r>
            <a:r>
              <a:rPr sz="2400" spc="25"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spc="-55" dirty="0">
                <a:latin typeface="Times New Roman"/>
                <a:cs typeface="Times New Roman"/>
              </a:rPr>
              <a:t>verify</a:t>
            </a:r>
            <a:r>
              <a:rPr sz="2400" spc="25" dirty="0">
                <a:latin typeface="Times New Roman"/>
                <a:cs typeface="Times New Roman"/>
              </a:rPr>
              <a:t> </a:t>
            </a:r>
            <a:r>
              <a:rPr sz="2400" dirty="0">
                <a:latin typeface="Times New Roman"/>
                <a:cs typeface="Times New Roman"/>
              </a:rPr>
              <a:t>that</a:t>
            </a:r>
            <a:r>
              <a:rPr sz="2400" spc="10" dirty="0">
                <a:latin typeface="Times New Roman"/>
                <a:cs typeface="Times New Roman"/>
              </a:rPr>
              <a:t> </a:t>
            </a:r>
            <a:r>
              <a:rPr sz="2400" dirty="0">
                <a:latin typeface="Times New Roman"/>
                <a:cs typeface="Times New Roman"/>
              </a:rPr>
              <a:t>server</a:t>
            </a:r>
            <a:r>
              <a:rPr sz="2400" spc="20" dirty="0">
                <a:latin typeface="Times New Roman"/>
                <a:cs typeface="Times New Roman"/>
              </a:rPr>
              <a:t> </a:t>
            </a:r>
            <a:r>
              <a:rPr sz="2400" dirty="0">
                <a:latin typeface="Times New Roman"/>
                <a:cs typeface="Times New Roman"/>
              </a:rPr>
              <a:t>is</a:t>
            </a:r>
            <a:r>
              <a:rPr sz="2400" spc="25" dirty="0">
                <a:latin typeface="Times New Roman"/>
                <a:cs typeface="Times New Roman"/>
              </a:rPr>
              <a:t> </a:t>
            </a:r>
            <a:r>
              <a:rPr sz="2400" spc="-70" dirty="0">
                <a:latin typeface="Times New Roman"/>
                <a:cs typeface="Times New Roman"/>
              </a:rPr>
              <a:t>reachable, 	</a:t>
            </a:r>
            <a:r>
              <a:rPr sz="2400" spc="-110" dirty="0">
                <a:latin typeface="Times New Roman"/>
                <a:cs typeface="Times New Roman"/>
              </a:rPr>
              <a:t>functional</a:t>
            </a:r>
            <a:r>
              <a:rPr sz="2400" spc="-60" dirty="0">
                <a:latin typeface="Times New Roman"/>
                <a:cs typeface="Times New Roman"/>
              </a:rPr>
              <a:t> </a:t>
            </a:r>
            <a:r>
              <a:rPr sz="2400" spc="-145" dirty="0">
                <a:latin typeface="Times New Roman"/>
                <a:cs typeface="Times New Roman"/>
              </a:rPr>
              <a:t>and</a:t>
            </a:r>
            <a:r>
              <a:rPr sz="2400" spc="-45" dirty="0">
                <a:latin typeface="Times New Roman"/>
                <a:cs typeface="Times New Roman"/>
              </a:rPr>
              <a:t> available.</a:t>
            </a:r>
            <a:endParaRPr sz="2400" dirty="0">
              <a:latin typeface="Times New Roman"/>
              <a:cs typeface="Times New Roman"/>
            </a:endParaRPr>
          </a:p>
          <a:p>
            <a:pPr marL="800735" marR="17780" lvl="1" indent="-514350" algn="just">
              <a:lnSpc>
                <a:spcPct val="100000"/>
              </a:lnSpc>
              <a:spcBef>
                <a:spcPts val="395"/>
              </a:spcBef>
              <a:buClr>
                <a:srgbClr val="9B2C1F"/>
              </a:buClr>
              <a:buSzPct val="85416"/>
              <a:buAutoNum type="romanLcParenBoth"/>
              <a:tabLst>
                <a:tab pos="802005" algn="l"/>
              </a:tabLst>
            </a:pPr>
            <a:r>
              <a:rPr sz="2400" dirty="0">
                <a:latin typeface="Times New Roman"/>
                <a:cs typeface="Times New Roman"/>
              </a:rPr>
              <a:t>Also</a:t>
            </a:r>
            <a:r>
              <a:rPr sz="2400" spc="229" dirty="0">
                <a:latin typeface="Times New Roman"/>
                <a:cs typeface="Times New Roman"/>
              </a:rPr>
              <a:t> </a:t>
            </a:r>
            <a:r>
              <a:rPr sz="2400" dirty="0">
                <a:latin typeface="Times New Roman"/>
                <a:cs typeface="Times New Roman"/>
              </a:rPr>
              <a:t>you</a:t>
            </a:r>
            <a:r>
              <a:rPr sz="2400" spc="229" dirty="0">
                <a:latin typeface="Times New Roman"/>
                <a:cs typeface="Times New Roman"/>
              </a:rPr>
              <a:t> </a:t>
            </a:r>
            <a:r>
              <a:rPr sz="2400" dirty="0">
                <a:latin typeface="Times New Roman"/>
                <a:cs typeface="Times New Roman"/>
              </a:rPr>
              <a:t>can</a:t>
            </a:r>
            <a:r>
              <a:rPr sz="2400" spc="225" dirty="0">
                <a:latin typeface="Times New Roman"/>
                <a:cs typeface="Times New Roman"/>
              </a:rPr>
              <a:t> </a:t>
            </a:r>
            <a:r>
              <a:rPr sz="2400" dirty="0">
                <a:latin typeface="Times New Roman"/>
                <a:cs typeface="Times New Roman"/>
              </a:rPr>
              <a:t>choose</a:t>
            </a:r>
            <a:r>
              <a:rPr sz="2400" spc="229" dirty="0">
                <a:latin typeface="Times New Roman"/>
                <a:cs typeface="Times New Roman"/>
              </a:rPr>
              <a:t> </a:t>
            </a:r>
            <a:r>
              <a:rPr sz="2400" dirty="0">
                <a:latin typeface="Times New Roman"/>
                <a:cs typeface="Times New Roman"/>
              </a:rPr>
              <a:t>to</a:t>
            </a:r>
            <a:r>
              <a:rPr sz="2400" spc="229" dirty="0">
                <a:latin typeface="Times New Roman"/>
                <a:cs typeface="Times New Roman"/>
              </a:rPr>
              <a:t> </a:t>
            </a:r>
            <a:r>
              <a:rPr sz="2400" dirty="0">
                <a:latin typeface="Times New Roman"/>
                <a:cs typeface="Times New Roman"/>
              </a:rPr>
              <a:t>receive</a:t>
            </a:r>
            <a:r>
              <a:rPr sz="2400" spc="229" dirty="0">
                <a:latin typeface="Times New Roman"/>
                <a:cs typeface="Times New Roman"/>
              </a:rPr>
              <a:t> </a:t>
            </a:r>
            <a:r>
              <a:rPr sz="2400" spc="-40" dirty="0">
                <a:latin typeface="Times New Roman"/>
                <a:cs typeface="Times New Roman"/>
              </a:rPr>
              <a:t>notification</a:t>
            </a:r>
            <a:r>
              <a:rPr sz="2400" spc="235" dirty="0">
                <a:latin typeface="Times New Roman"/>
                <a:cs typeface="Times New Roman"/>
              </a:rPr>
              <a:t> </a:t>
            </a:r>
            <a:r>
              <a:rPr sz="2400" dirty="0">
                <a:latin typeface="Times New Roman"/>
                <a:cs typeface="Times New Roman"/>
              </a:rPr>
              <a:t>when</a:t>
            </a:r>
            <a:r>
              <a:rPr sz="2400" spc="225" dirty="0">
                <a:latin typeface="Times New Roman"/>
                <a:cs typeface="Times New Roman"/>
              </a:rPr>
              <a:t> </a:t>
            </a:r>
            <a:r>
              <a:rPr sz="2400" dirty="0">
                <a:latin typeface="Times New Roman"/>
                <a:cs typeface="Times New Roman"/>
              </a:rPr>
              <a:t>a</a:t>
            </a:r>
            <a:r>
              <a:rPr sz="2400" spc="229" dirty="0">
                <a:latin typeface="Times New Roman"/>
                <a:cs typeface="Times New Roman"/>
              </a:rPr>
              <a:t> </a:t>
            </a:r>
            <a:r>
              <a:rPr sz="2400" spc="-55" dirty="0">
                <a:latin typeface="Times New Roman"/>
                <a:cs typeface="Times New Roman"/>
              </a:rPr>
              <a:t>resource 	</a:t>
            </a:r>
            <a:r>
              <a:rPr sz="2400" spc="-125" dirty="0">
                <a:latin typeface="Times New Roman"/>
                <a:cs typeface="Times New Roman"/>
              </a:rPr>
              <a:t>becomes</a:t>
            </a:r>
            <a:r>
              <a:rPr sz="2400" spc="-25" dirty="0">
                <a:latin typeface="Times New Roman"/>
                <a:cs typeface="Times New Roman"/>
              </a:rPr>
              <a:t> </a:t>
            </a:r>
            <a:r>
              <a:rPr sz="2400" spc="-150" dirty="0">
                <a:latin typeface="Times New Roman"/>
                <a:cs typeface="Times New Roman"/>
              </a:rPr>
              <a:t>unavailable</a:t>
            </a:r>
            <a:r>
              <a:rPr sz="2400" dirty="0">
                <a:latin typeface="Times New Roman"/>
                <a:cs typeface="Times New Roman"/>
              </a:rPr>
              <a:t> </a:t>
            </a:r>
            <a:r>
              <a:rPr sz="2400" spc="-105" dirty="0">
                <a:latin typeface="Times New Roman"/>
                <a:cs typeface="Times New Roman"/>
              </a:rPr>
              <a:t>and</a:t>
            </a:r>
            <a:r>
              <a:rPr sz="2400" spc="-45" dirty="0">
                <a:latin typeface="Times New Roman"/>
                <a:cs typeface="Times New Roman"/>
              </a:rPr>
              <a:t> </a:t>
            </a:r>
            <a:r>
              <a:rPr sz="2400" spc="-114" dirty="0">
                <a:latin typeface="Times New Roman"/>
                <a:cs typeface="Times New Roman"/>
              </a:rPr>
              <a:t>choose</a:t>
            </a:r>
            <a:r>
              <a:rPr sz="2400" spc="-35" dirty="0">
                <a:latin typeface="Times New Roman"/>
                <a:cs typeface="Times New Roman"/>
              </a:rPr>
              <a:t> </a:t>
            </a:r>
            <a:r>
              <a:rPr sz="2400" dirty="0">
                <a:latin typeface="Times New Roman"/>
                <a:cs typeface="Times New Roman"/>
              </a:rPr>
              <a:t>to</a:t>
            </a:r>
            <a:r>
              <a:rPr sz="2400" spc="-60" dirty="0">
                <a:latin typeface="Times New Roman"/>
                <a:cs typeface="Times New Roman"/>
              </a:rPr>
              <a:t> </a:t>
            </a:r>
            <a:r>
              <a:rPr sz="2400" spc="-25" dirty="0">
                <a:latin typeface="Times New Roman"/>
                <a:cs typeface="Times New Roman"/>
              </a:rPr>
              <a:t>route </a:t>
            </a:r>
            <a:r>
              <a:rPr sz="2400" spc="-30" dirty="0">
                <a:latin typeface="Times New Roman"/>
                <a:cs typeface="Times New Roman"/>
              </a:rPr>
              <a:t>internet</a:t>
            </a:r>
            <a:r>
              <a:rPr sz="2400" spc="-10" dirty="0">
                <a:latin typeface="Times New Roman"/>
                <a:cs typeface="Times New Roman"/>
              </a:rPr>
              <a:t> </a:t>
            </a:r>
            <a:r>
              <a:rPr sz="2400" spc="-100" dirty="0">
                <a:latin typeface="Times New Roman"/>
                <a:cs typeface="Times New Roman"/>
              </a:rPr>
              <a:t>traffic</a:t>
            </a:r>
            <a:r>
              <a:rPr sz="2400" spc="-15" dirty="0">
                <a:latin typeface="Times New Roman"/>
                <a:cs typeface="Times New Roman"/>
              </a:rPr>
              <a:t> </a:t>
            </a:r>
            <a:r>
              <a:rPr sz="2400" spc="-245" dirty="0">
                <a:latin typeface="Times New Roman"/>
                <a:cs typeface="Times New Roman"/>
              </a:rPr>
              <a:t>away</a:t>
            </a:r>
            <a:r>
              <a:rPr sz="2400" spc="95" dirty="0">
                <a:latin typeface="Times New Roman"/>
                <a:cs typeface="Times New Roman"/>
              </a:rPr>
              <a:t> </a:t>
            </a:r>
            <a:r>
              <a:rPr sz="2400" spc="-20" dirty="0">
                <a:latin typeface="Times New Roman"/>
                <a:cs typeface="Times New Roman"/>
              </a:rPr>
              <a:t>from 	</a:t>
            </a:r>
            <a:r>
              <a:rPr sz="2400" spc="-125" dirty="0">
                <a:latin typeface="Times New Roman"/>
                <a:cs typeface="Times New Roman"/>
              </a:rPr>
              <a:t>unhealthy</a:t>
            </a:r>
            <a:r>
              <a:rPr sz="2400" spc="-75" dirty="0">
                <a:latin typeface="Times New Roman"/>
                <a:cs typeface="Times New Roman"/>
              </a:rPr>
              <a:t> </a:t>
            </a:r>
            <a:r>
              <a:rPr sz="2400" spc="-10" dirty="0">
                <a:latin typeface="Times New Roman"/>
                <a:cs typeface="Times New Roman"/>
              </a:rPr>
              <a:t>resources.</a:t>
            </a:r>
            <a:endParaRPr sz="2400" dirty="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91440">
              <a:lnSpc>
                <a:spcPts val="1664"/>
              </a:lnSpc>
            </a:pPr>
            <a:fld id="{81D60167-4931-47E6-BA6A-407CBD079E47}" type="slidenum">
              <a:rPr spc="-50" dirty="0"/>
              <a:t>27</a:t>
            </a:fld>
            <a:endParaRPr spc="-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3600" spc="-240" dirty="0"/>
              <a:t>AWS</a:t>
            </a:r>
            <a:r>
              <a:rPr sz="3600" spc="-5" dirty="0"/>
              <a:t> </a:t>
            </a:r>
            <a:r>
              <a:rPr sz="3600" spc="-40" dirty="0"/>
              <a:t>Route</a:t>
            </a:r>
            <a:r>
              <a:rPr sz="3600" spc="-170" dirty="0"/>
              <a:t> </a:t>
            </a:r>
            <a:r>
              <a:rPr sz="3600" spc="-25" dirty="0"/>
              <a:t>53</a:t>
            </a:r>
            <a:endParaRPr sz="3600"/>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38429" y="943102"/>
            <a:ext cx="8301990" cy="4744720"/>
          </a:xfrm>
          <a:prstGeom prst="rect">
            <a:avLst/>
          </a:prstGeom>
        </p:spPr>
        <p:txBody>
          <a:bodyPr vert="horz" wrap="square" lIns="0" tIns="12700" rIns="0" bIns="0" rtlCol="0">
            <a:spAutoFit/>
          </a:bodyPr>
          <a:lstStyle/>
          <a:p>
            <a:pPr marL="287020" marR="6350" indent="-274955">
              <a:lnSpc>
                <a:spcPct val="100000"/>
              </a:lnSpc>
              <a:spcBef>
                <a:spcPts val="100"/>
              </a:spcBef>
              <a:buClr>
                <a:srgbClr val="D24717"/>
              </a:buClr>
              <a:buSzPct val="85416"/>
              <a:buFont typeface="Segoe UI Symbol"/>
              <a:buChar char="⚫"/>
              <a:tabLst>
                <a:tab pos="287020" algn="l"/>
              </a:tabLst>
            </a:pPr>
            <a:r>
              <a:rPr sz="2400" spc="-25" dirty="0">
                <a:latin typeface="Times New Roman"/>
                <a:cs typeface="Times New Roman"/>
              </a:rPr>
              <a:t>When</a:t>
            </a:r>
            <a:r>
              <a:rPr sz="2400" spc="80" dirty="0">
                <a:latin typeface="Times New Roman"/>
                <a:cs typeface="Times New Roman"/>
              </a:rPr>
              <a:t> </a:t>
            </a:r>
            <a:r>
              <a:rPr sz="2400" spc="-50" dirty="0">
                <a:latin typeface="Times New Roman"/>
                <a:cs typeface="Times New Roman"/>
              </a:rPr>
              <a:t>you</a:t>
            </a:r>
            <a:r>
              <a:rPr sz="2400" spc="85" dirty="0">
                <a:latin typeface="Times New Roman"/>
                <a:cs typeface="Times New Roman"/>
              </a:rPr>
              <a:t> </a:t>
            </a:r>
            <a:r>
              <a:rPr sz="2400" spc="-40" dirty="0">
                <a:latin typeface="Times New Roman"/>
                <a:cs typeface="Times New Roman"/>
              </a:rPr>
              <a:t>register</a:t>
            </a:r>
            <a:r>
              <a:rPr sz="2400" spc="85" dirty="0">
                <a:latin typeface="Times New Roman"/>
                <a:cs typeface="Times New Roman"/>
              </a:rPr>
              <a:t> </a:t>
            </a:r>
            <a:r>
              <a:rPr sz="2400" dirty="0">
                <a:latin typeface="Times New Roman"/>
                <a:cs typeface="Times New Roman"/>
              </a:rPr>
              <a:t>a</a:t>
            </a:r>
            <a:r>
              <a:rPr sz="2400" spc="80" dirty="0">
                <a:latin typeface="Times New Roman"/>
                <a:cs typeface="Times New Roman"/>
              </a:rPr>
              <a:t> </a:t>
            </a:r>
            <a:r>
              <a:rPr sz="2400" spc="-80" dirty="0">
                <a:latin typeface="Times New Roman"/>
                <a:cs typeface="Times New Roman"/>
              </a:rPr>
              <a:t>domain</a:t>
            </a:r>
            <a:r>
              <a:rPr sz="2400" spc="90" dirty="0">
                <a:latin typeface="Times New Roman"/>
                <a:cs typeface="Times New Roman"/>
              </a:rPr>
              <a:t> </a:t>
            </a:r>
            <a:r>
              <a:rPr sz="2400" spc="-20" dirty="0">
                <a:latin typeface="Times New Roman"/>
                <a:cs typeface="Times New Roman"/>
              </a:rPr>
              <a:t>with</a:t>
            </a:r>
            <a:r>
              <a:rPr sz="2400" spc="80" dirty="0">
                <a:latin typeface="Times New Roman"/>
                <a:cs typeface="Times New Roman"/>
              </a:rPr>
              <a:t> </a:t>
            </a:r>
            <a:r>
              <a:rPr sz="2400" dirty="0">
                <a:latin typeface="Times New Roman"/>
                <a:cs typeface="Times New Roman"/>
              </a:rPr>
              <a:t>route</a:t>
            </a:r>
            <a:r>
              <a:rPr sz="2400" spc="80" dirty="0">
                <a:latin typeface="Times New Roman"/>
                <a:cs typeface="Times New Roman"/>
              </a:rPr>
              <a:t> </a:t>
            </a:r>
            <a:r>
              <a:rPr sz="2400" dirty="0">
                <a:latin typeface="Times New Roman"/>
                <a:cs typeface="Times New Roman"/>
              </a:rPr>
              <a:t>53,the</a:t>
            </a:r>
            <a:r>
              <a:rPr sz="2400" spc="80" dirty="0">
                <a:latin typeface="Times New Roman"/>
                <a:cs typeface="Times New Roman"/>
              </a:rPr>
              <a:t> </a:t>
            </a:r>
            <a:r>
              <a:rPr sz="2400" spc="-65" dirty="0">
                <a:latin typeface="Times New Roman"/>
                <a:cs typeface="Times New Roman"/>
              </a:rPr>
              <a:t>service</a:t>
            </a:r>
            <a:r>
              <a:rPr sz="2400" spc="80" dirty="0">
                <a:latin typeface="Times New Roman"/>
                <a:cs typeface="Times New Roman"/>
              </a:rPr>
              <a:t> </a:t>
            </a:r>
            <a:r>
              <a:rPr sz="2400" spc="-105" dirty="0">
                <a:latin typeface="Times New Roman"/>
                <a:cs typeface="Times New Roman"/>
              </a:rPr>
              <a:t>automatically </a:t>
            </a:r>
            <a:r>
              <a:rPr sz="2400" spc="-170" dirty="0">
                <a:latin typeface="Times New Roman"/>
                <a:cs typeface="Times New Roman"/>
              </a:rPr>
              <a:t>makes</a:t>
            </a:r>
            <a:r>
              <a:rPr sz="2400" spc="-60" dirty="0">
                <a:latin typeface="Times New Roman"/>
                <a:cs typeface="Times New Roman"/>
              </a:rPr>
              <a:t> </a:t>
            </a:r>
            <a:r>
              <a:rPr sz="2400" spc="-110" dirty="0">
                <a:latin typeface="Times New Roman"/>
                <a:cs typeface="Times New Roman"/>
              </a:rPr>
              <a:t>itself</a:t>
            </a:r>
            <a:r>
              <a:rPr sz="2400" spc="-55" dirty="0">
                <a:latin typeface="Times New Roman"/>
                <a:cs typeface="Times New Roman"/>
              </a:rPr>
              <a:t> </a:t>
            </a:r>
            <a:r>
              <a:rPr sz="2400" spc="-60" dirty="0">
                <a:latin typeface="Times New Roman"/>
                <a:cs typeface="Times New Roman"/>
              </a:rPr>
              <a:t>the</a:t>
            </a:r>
            <a:r>
              <a:rPr sz="2400" spc="-45" dirty="0">
                <a:latin typeface="Times New Roman"/>
                <a:cs typeface="Times New Roman"/>
              </a:rPr>
              <a:t> </a:t>
            </a:r>
            <a:r>
              <a:rPr sz="2400" spc="-220" dirty="0">
                <a:latin typeface="Times New Roman"/>
                <a:cs typeface="Times New Roman"/>
              </a:rPr>
              <a:t>DNS</a:t>
            </a:r>
            <a:r>
              <a:rPr sz="2400" spc="-35" dirty="0">
                <a:latin typeface="Times New Roman"/>
                <a:cs typeface="Times New Roman"/>
              </a:rPr>
              <a:t> </a:t>
            </a:r>
            <a:r>
              <a:rPr sz="2400" spc="-110" dirty="0">
                <a:latin typeface="Times New Roman"/>
                <a:cs typeface="Times New Roman"/>
              </a:rPr>
              <a:t>service</a:t>
            </a:r>
            <a:r>
              <a:rPr sz="2400" spc="-45" dirty="0">
                <a:latin typeface="Times New Roman"/>
                <a:cs typeface="Times New Roman"/>
              </a:rPr>
              <a:t> </a:t>
            </a:r>
            <a:r>
              <a:rPr sz="2400" spc="-95" dirty="0">
                <a:latin typeface="Times New Roman"/>
                <a:cs typeface="Times New Roman"/>
              </a:rPr>
              <a:t>for</a:t>
            </a:r>
            <a:r>
              <a:rPr sz="2400" spc="-50" dirty="0">
                <a:latin typeface="Times New Roman"/>
                <a:cs typeface="Times New Roman"/>
              </a:rPr>
              <a:t> </a:t>
            </a:r>
            <a:r>
              <a:rPr sz="2400" spc="-60" dirty="0">
                <a:latin typeface="Times New Roman"/>
                <a:cs typeface="Times New Roman"/>
              </a:rPr>
              <a:t>the</a:t>
            </a:r>
            <a:r>
              <a:rPr sz="2400" spc="-45" dirty="0">
                <a:latin typeface="Times New Roman"/>
                <a:cs typeface="Times New Roman"/>
              </a:rPr>
              <a:t> </a:t>
            </a:r>
            <a:r>
              <a:rPr sz="2400" spc="-140" dirty="0">
                <a:latin typeface="Times New Roman"/>
                <a:cs typeface="Times New Roman"/>
              </a:rPr>
              <a:t>domain</a:t>
            </a:r>
            <a:r>
              <a:rPr sz="2400" spc="-55" dirty="0">
                <a:latin typeface="Times New Roman"/>
                <a:cs typeface="Times New Roman"/>
              </a:rPr>
              <a:t> </a:t>
            </a:r>
            <a:r>
              <a:rPr sz="2400" spc="-200" dirty="0">
                <a:latin typeface="Times New Roman"/>
                <a:cs typeface="Times New Roman"/>
              </a:rPr>
              <a:t>by</a:t>
            </a:r>
            <a:r>
              <a:rPr sz="2400" spc="-45" dirty="0">
                <a:latin typeface="Times New Roman"/>
                <a:cs typeface="Times New Roman"/>
              </a:rPr>
              <a:t> </a:t>
            </a:r>
            <a:r>
              <a:rPr sz="2400" spc="-135" dirty="0">
                <a:latin typeface="Times New Roman"/>
                <a:cs typeface="Times New Roman"/>
              </a:rPr>
              <a:t>doing</a:t>
            </a:r>
            <a:r>
              <a:rPr sz="2400" spc="-50" dirty="0">
                <a:latin typeface="Times New Roman"/>
                <a:cs typeface="Times New Roman"/>
              </a:rPr>
              <a:t> </a:t>
            </a:r>
            <a:r>
              <a:rPr sz="2400" spc="-60" dirty="0">
                <a:latin typeface="Times New Roman"/>
                <a:cs typeface="Times New Roman"/>
              </a:rPr>
              <a:t>the</a:t>
            </a:r>
            <a:r>
              <a:rPr sz="2400" spc="-50" dirty="0">
                <a:latin typeface="Times New Roman"/>
                <a:cs typeface="Times New Roman"/>
              </a:rPr>
              <a:t> </a:t>
            </a:r>
            <a:r>
              <a:rPr sz="2400" spc="-10" dirty="0">
                <a:latin typeface="Times New Roman"/>
                <a:cs typeface="Times New Roman"/>
              </a:rPr>
              <a:t>following-</a:t>
            </a:r>
            <a:endParaRPr sz="2400" dirty="0">
              <a:latin typeface="Times New Roman"/>
              <a:cs typeface="Times New Roman"/>
            </a:endParaRPr>
          </a:p>
          <a:p>
            <a:pPr>
              <a:lnSpc>
                <a:spcPct val="100000"/>
              </a:lnSpc>
              <a:spcBef>
                <a:spcPts val="1115"/>
              </a:spcBef>
              <a:buClr>
                <a:srgbClr val="D24717"/>
              </a:buClr>
              <a:buFont typeface="Segoe UI Symbol"/>
              <a:buChar char="⚫"/>
            </a:pPr>
            <a:endParaRPr sz="2400" dirty="0">
              <a:latin typeface="Times New Roman"/>
              <a:cs typeface="Times New Roman"/>
            </a:endParaRPr>
          </a:p>
          <a:p>
            <a:pPr marL="560705" lvl="1" indent="-231775">
              <a:lnSpc>
                <a:spcPct val="100000"/>
              </a:lnSpc>
              <a:spcBef>
                <a:spcPts val="5"/>
              </a:spcBef>
              <a:buClr>
                <a:srgbClr val="9B2C1F"/>
              </a:buClr>
              <a:buSzPct val="85416"/>
              <a:buFont typeface="Segoe UI Symbol"/>
              <a:buChar char="⚫"/>
              <a:tabLst>
                <a:tab pos="560705" algn="l"/>
              </a:tabLst>
            </a:pPr>
            <a:r>
              <a:rPr sz="2400" spc="-65" dirty="0">
                <a:latin typeface="Times New Roman"/>
                <a:cs typeface="Times New Roman"/>
              </a:rPr>
              <a:t>It</a:t>
            </a:r>
            <a:r>
              <a:rPr sz="2400" spc="-50" dirty="0">
                <a:latin typeface="Times New Roman"/>
                <a:cs typeface="Times New Roman"/>
              </a:rPr>
              <a:t> </a:t>
            </a:r>
            <a:r>
              <a:rPr sz="2400" spc="-110" dirty="0">
                <a:latin typeface="Times New Roman"/>
                <a:cs typeface="Times New Roman"/>
              </a:rPr>
              <a:t>creates</a:t>
            </a:r>
            <a:r>
              <a:rPr sz="2400" spc="-40" dirty="0">
                <a:latin typeface="Times New Roman"/>
                <a:cs typeface="Times New Roman"/>
              </a:rPr>
              <a:t> </a:t>
            </a:r>
            <a:r>
              <a:rPr sz="2400" spc="-200" dirty="0">
                <a:latin typeface="Times New Roman"/>
                <a:cs typeface="Times New Roman"/>
              </a:rPr>
              <a:t>a</a:t>
            </a:r>
            <a:r>
              <a:rPr sz="2400" spc="-45" dirty="0">
                <a:latin typeface="Times New Roman"/>
                <a:cs typeface="Times New Roman"/>
              </a:rPr>
              <a:t> </a:t>
            </a:r>
            <a:r>
              <a:rPr sz="2400" spc="-110" dirty="0">
                <a:latin typeface="Times New Roman"/>
                <a:cs typeface="Times New Roman"/>
              </a:rPr>
              <a:t>hosted</a:t>
            </a:r>
            <a:r>
              <a:rPr sz="2400" spc="-45" dirty="0">
                <a:latin typeface="Times New Roman"/>
                <a:cs typeface="Times New Roman"/>
              </a:rPr>
              <a:t> </a:t>
            </a:r>
            <a:r>
              <a:rPr sz="2400" spc="-135" dirty="0">
                <a:latin typeface="Times New Roman"/>
                <a:cs typeface="Times New Roman"/>
              </a:rPr>
              <a:t>zone</a:t>
            </a:r>
            <a:r>
              <a:rPr sz="2400" spc="-55" dirty="0">
                <a:latin typeface="Times New Roman"/>
                <a:cs typeface="Times New Roman"/>
              </a:rPr>
              <a:t> </a:t>
            </a:r>
            <a:r>
              <a:rPr sz="2400" spc="-80" dirty="0">
                <a:latin typeface="Times New Roman"/>
                <a:cs typeface="Times New Roman"/>
              </a:rPr>
              <a:t>that</a:t>
            </a:r>
            <a:r>
              <a:rPr sz="2400" spc="-45" dirty="0">
                <a:latin typeface="Times New Roman"/>
                <a:cs typeface="Times New Roman"/>
              </a:rPr>
              <a:t> </a:t>
            </a:r>
            <a:r>
              <a:rPr sz="2400" spc="-190" dirty="0">
                <a:latin typeface="Times New Roman"/>
                <a:cs typeface="Times New Roman"/>
              </a:rPr>
              <a:t>has</a:t>
            </a:r>
            <a:r>
              <a:rPr sz="2400" spc="-50" dirty="0">
                <a:latin typeface="Times New Roman"/>
                <a:cs typeface="Times New Roman"/>
              </a:rPr>
              <a:t> </a:t>
            </a:r>
            <a:r>
              <a:rPr sz="2400" spc="-65" dirty="0">
                <a:latin typeface="Times New Roman"/>
                <a:cs typeface="Times New Roman"/>
              </a:rPr>
              <a:t>the</a:t>
            </a:r>
            <a:r>
              <a:rPr sz="2400" spc="-55" dirty="0">
                <a:latin typeface="Times New Roman"/>
                <a:cs typeface="Times New Roman"/>
              </a:rPr>
              <a:t> </a:t>
            </a:r>
            <a:r>
              <a:rPr sz="2400" spc="-170" dirty="0">
                <a:latin typeface="Times New Roman"/>
                <a:cs typeface="Times New Roman"/>
              </a:rPr>
              <a:t>same</a:t>
            </a:r>
            <a:r>
              <a:rPr sz="2400" spc="-40" dirty="0">
                <a:latin typeface="Times New Roman"/>
                <a:cs typeface="Times New Roman"/>
              </a:rPr>
              <a:t> </a:t>
            </a:r>
            <a:r>
              <a:rPr sz="2400" spc="-145" dirty="0">
                <a:latin typeface="Times New Roman"/>
                <a:cs typeface="Times New Roman"/>
              </a:rPr>
              <a:t>name</a:t>
            </a:r>
            <a:r>
              <a:rPr sz="2400" spc="-55" dirty="0">
                <a:latin typeface="Times New Roman"/>
                <a:cs typeface="Times New Roman"/>
              </a:rPr>
              <a:t> </a:t>
            </a:r>
            <a:r>
              <a:rPr sz="2400" spc="-190" dirty="0">
                <a:latin typeface="Times New Roman"/>
                <a:cs typeface="Times New Roman"/>
              </a:rPr>
              <a:t>as</a:t>
            </a:r>
            <a:r>
              <a:rPr sz="2400" spc="-50" dirty="0">
                <a:latin typeface="Times New Roman"/>
                <a:cs typeface="Times New Roman"/>
              </a:rPr>
              <a:t> </a:t>
            </a:r>
            <a:r>
              <a:rPr sz="2400" spc="-114" dirty="0">
                <a:latin typeface="Times New Roman"/>
                <a:cs typeface="Times New Roman"/>
              </a:rPr>
              <a:t>your</a:t>
            </a:r>
            <a:r>
              <a:rPr sz="2400" spc="-55" dirty="0">
                <a:latin typeface="Times New Roman"/>
                <a:cs typeface="Times New Roman"/>
              </a:rPr>
              <a:t> </a:t>
            </a:r>
            <a:r>
              <a:rPr sz="2400" spc="-10" dirty="0">
                <a:latin typeface="Times New Roman"/>
                <a:cs typeface="Times New Roman"/>
              </a:rPr>
              <a:t>domain</a:t>
            </a:r>
            <a:endParaRPr sz="2400" dirty="0">
              <a:latin typeface="Times New Roman"/>
              <a:cs typeface="Times New Roman"/>
            </a:endParaRPr>
          </a:p>
          <a:p>
            <a:pPr lvl="1">
              <a:lnSpc>
                <a:spcPct val="100000"/>
              </a:lnSpc>
              <a:spcBef>
                <a:spcPts val="919"/>
              </a:spcBef>
              <a:buClr>
                <a:srgbClr val="9B2C1F"/>
              </a:buClr>
              <a:buFont typeface="Segoe UI Symbol"/>
              <a:buChar char="⚫"/>
            </a:pPr>
            <a:endParaRPr sz="2400" dirty="0">
              <a:latin typeface="Times New Roman"/>
              <a:cs typeface="Times New Roman"/>
            </a:endParaRPr>
          </a:p>
          <a:p>
            <a:pPr marL="561340" marR="7620" lvl="1" indent="-232410" algn="just">
              <a:lnSpc>
                <a:spcPct val="100000"/>
              </a:lnSpc>
              <a:buClr>
                <a:srgbClr val="9B2C1F"/>
              </a:buClr>
              <a:buSzPct val="85416"/>
              <a:buFont typeface="Segoe UI Symbol"/>
              <a:buChar char="⚫"/>
              <a:tabLst>
                <a:tab pos="561340" algn="l"/>
              </a:tabLst>
            </a:pPr>
            <a:r>
              <a:rPr sz="2400" spc="-75" dirty="0">
                <a:latin typeface="Times New Roman"/>
                <a:cs typeface="Times New Roman"/>
              </a:rPr>
              <a:t>It</a:t>
            </a:r>
            <a:r>
              <a:rPr sz="2400" spc="30" dirty="0">
                <a:latin typeface="Times New Roman"/>
                <a:cs typeface="Times New Roman"/>
              </a:rPr>
              <a:t> </a:t>
            </a:r>
            <a:r>
              <a:rPr sz="2400" spc="-170" dirty="0">
                <a:latin typeface="Times New Roman"/>
                <a:cs typeface="Times New Roman"/>
              </a:rPr>
              <a:t>assigns</a:t>
            </a:r>
            <a:r>
              <a:rPr sz="2400" spc="40" dirty="0">
                <a:latin typeface="Times New Roman"/>
                <a:cs typeface="Times New Roman"/>
              </a:rPr>
              <a:t> </a:t>
            </a:r>
            <a:r>
              <a:rPr sz="2400" spc="-195" dirty="0">
                <a:latin typeface="Times New Roman"/>
                <a:cs typeface="Times New Roman"/>
              </a:rPr>
              <a:t>a</a:t>
            </a:r>
            <a:r>
              <a:rPr sz="2400" spc="35" dirty="0">
                <a:latin typeface="Times New Roman"/>
                <a:cs typeface="Times New Roman"/>
              </a:rPr>
              <a:t> </a:t>
            </a:r>
            <a:r>
              <a:rPr sz="2400" spc="-90" dirty="0">
                <a:latin typeface="Times New Roman"/>
                <a:cs typeface="Times New Roman"/>
              </a:rPr>
              <a:t>set</a:t>
            </a:r>
            <a:r>
              <a:rPr sz="2400" spc="30" dirty="0">
                <a:latin typeface="Times New Roman"/>
                <a:cs typeface="Times New Roman"/>
              </a:rPr>
              <a:t> </a:t>
            </a:r>
            <a:r>
              <a:rPr sz="2400" spc="-140" dirty="0">
                <a:latin typeface="Times New Roman"/>
                <a:cs typeface="Times New Roman"/>
              </a:rPr>
              <a:t>of</a:t>
            </a:r>
            <a:r>
              <a:rPr sz="2400" spc="35" dirty="0">
                <a:latin typeface="Times New Roman"/>
                <a:cs typeface="Times New Roman"/>
              </a:rPr>
              <a:t> </a:t>
            </a:r>
            <a:r>
              <a:rPr sz="2400" spc="-90" dirty="0">
                <a:latin typeface="Times New Roman"/>
                <a:cs typeface="Times New Roman"/>
              </a:rPr>
              <a:t>four</a:t>
            </a:r>
            <a:r>
              <a:rPr sz="2400" spc="40" dirty="0">
                <a:latin typeface="Times New Roman"/>
                <a:cs typeface="Times New Roman"/>
              </a:rPr>
              <a:t> </a:t>
            </a:r>
            <a:r>
              <a:rPr sz="2400" spc="-130" dirty="0">
                <a:latin typeface="Times New Roman"/>
                <a:cs typeface="Times New Roman"/>
              </a:rPr>
              <a:t>name</a:t>
            </a:r>
            <a:r>
              <a:rPr sz="2400" spc="25" dirty="0">
                <a:latin typeface="Times New Roman"/>
                <a:cs typeface="Times New Roman"/>
              </a:rPr>
              <a:t> </a:t>
            </a:r>
            <a:r>
              <a:rPr sz="2400" spc="-95" dirty="0">
                <a:latin typeface="Times New Roman"/>
                <a:cs typeface="Times New Roman"/>
              </a:rPr>
              <a:t>servers</a:t>
            </a:r>
            <a:r>
              <a:rPr sz="2400" spc="50" dirty="0">
                <a:latin typeface="Times New Roman"/>
                <a:cs typeface="Times New Roman"/>
              </a:rPr>
              <a:t> </a:t>
            </a:r>
            <a:r>
              <a:rPr sz="2400" spc="-40" dirty="0">
                <a:latin typeface="Times New Roman"/>
                <a:cs typeface="Times New Roman"/>
              </a:rPr>
              <a:t>to</a:t>
            </a:r>
            <a:r>
              <a:rPr sz="2400" spc="40" dirty="0">
                <a:latin typeface="Times New Roman"/>
                <a:cs typeface="Times New Roman"/>
              </a:rPr>
              <a:t> </a:t>
            </a:r>
            <a:r>
              <a:rPr sz="2400" spc="-75" dirty="0">
                <a:latin typeface="Times New Roman"/>
                <a:cs typeface="Times New Roman"/>
              </a:rPr>
              <a:t>the</a:t>
            </a:r>
            <a:r>
              <a:rPr sz="2400" spc="40" dirty="0">
                <a:latin typeface="Times New Roman"/>
                <a:cs typeface="Times New Roman"/>
              </a:rPr>
              <a:t> </a:t>
            </a:r>
            <a:r>
              <a:rPr sz="2400" spc="-105" dirty="0">
                <a:latin typeface="Times New Roman"/>
                <a:cs typeface="Times New Roman"/>
              </a:rPr>
              <a:t>hosted</a:t>
            </a:r>
            <a:r>
              <a:rPr sz="2400" spc="40" dirty="0">
                <a:latin typeface="Times New Roman"/>
                <a:cs typeface="Times New Roman"/>
              </a:rPr>
              <a:t> </a:t>
            </a:r>
            <a:r>
              <a:rPr sz="2400" spc="-95" dirty="0">
                <a:latin typeface="Times New Roman"/>
                <a:cs typeface="Times New Roman"/>
              </a:rPr>
              <a:t>zone,</a:t>
            </a:r>
            <a:r>
              <a:rPr sz="2400" spc="-75" dirty="0">
                <a:latin typeface="Times New Roman"/>
                <a:cs typeface="Times New Roman"/>
              </a:rPr>
              <a:t> </a:t>
            </a:r>
            <a:r>
              <a:rPr sz="2400" spc="-114" dirty="0">
                <a:latin typeface="Times New Roman"/>
                <a:cs typeface="Times New Roman"/>
              </a:rPr>
              <a:t>unique</a:t>
            </a:r>
            <a:r>
              <a:rPr sz="2400" spc="35" dirty="0">
                <a:latin typeface="Times New Roman"/>
                <a:cs typeface="Times New Roman"/>
              </a:rPr>
              <a:t> </a:t>
            </a:r>
            <a:r>
              <a:rPr sz="2400" spc="-40" dirty="0">
                <a:latin typeface="Times New Roman"/>
                <a:cs typeface="Times New Roman"/>
              </a:rPr>
              <a:t>to</a:t>
            </a:r>
            <a:r>
              <a:rPr sz="2400" spc="40" dirty="0">
                <a:latin typeface="Times New Roman"/>
                <a:cs typeface="Times New Roman"/>
              </a:rPr>
              <a:t> </a:t>
            </a:r>
            <a:r>
              <a:rPr sz="2400" spc="-70" dirty="0">
                <a:latin typeface="Times New Roman"/>
                <a:cs typeface="Times New Roman"/>
              </a:rPr>
              <a:t>the</a:t>
            </a:r>
            <a:r>
              <a:rPr sz="2400" spc="-45" dirty="0">
                <a:latin typeface="Times New Roman"/>
                <a:cs typeface="Times New Roman"/>
              </a:rPr>
              <a:t> </a:t>
            </a:r>
            <a:r>
              <a:rPr sz="2400" spc="-90" dirty="0">
                <a:latin typeface="Times New Roman"/>
                <a:cs typeface="Times New Roman"/>
              </a:rPr>
              <a:t>account.</a:t>
            </a:r>
            <a:endParaRPr sz="2400" dirty="0">
              <a:latin typeface="Times New Roman"/>
              <a:cs typeface="Times New Roman"/>
            </a:endParaRPr>
          </a:p>
          <a:p>
            <a:pPr marL="835660" marR="5080" lvl="2" indent="-232410" algn="just">
              <a:lnSpc>
                <a:spcPct val="100000"/>
              </a:lnSpc>
              <a:spcBef>
                <a:spcPts val="400"/>
              </a:spcBef>
              <a:buClr>
                <a:srgbClr val="E6B0AB"/>
              </a:buClr>
              <a:buSzPct val="85416"/>
              <a:buFont typeface="Segoe UI Symbol"/>
              <a:buChar char="⚫"/>
              <a:tabLst>
                <a:tab pos="835660" algn="l"/>
              </a:tabLst>
            </a:pPr>
            <a:r>
              <a:rPr sz="2400" dirty="0">
                <a:latin typeface="Times New Roman"/>
                <a:cs typeface="Times New Roman"/>
              </a:rPr>
              <a:t>When</a:t>
            </a:r>
            <a:r>
              <a:rPr sz="2400" spc="-35" dirty="0">
                <a:latin typeface="Times New Roman"/>
                <a:cs typeface="Times New Roman"/>
              </a:rPr>
              <a:t> </a:t>
            </a:r>
            <a:r>
              <a:rPr sz="2400" spc="-80" dirty="0">
                <a:latin typeface="Times New Roman"/>
                <a:cs typeface="Times New Roman"/>
              </a:rPr>
              <a:t>someone</a:t>
            </a:r>
            <a:r>
              <a:rPr sz="2400" spc="-15" dirty="0">
                <a:latin typeface="Times New Roman"/>
                <a:cs typeface="Times New Roman"/>
              </a:rPr>
              <a:t> </a:t>
            </a:r>
            <a:r>
              <a:rPr sz="2400" spc="-55" dirty="0">
                <a:latin typeface="Times New Roman"/>
                <a:cs typeface="Times New Roman"/>
              </a:rPr>
              <a:t>uses</a:t>
            </a:r>
            <a:r>
              <a:rPr sz="2400" spc="-10" dirty="0">
                <a:latin typeface="Times New Roman"/>
                <a:cs typeface="Times New Roman"/>
              </a:rPr>
              <a:t> </a:t>
            </a:r>
            <a:r>
              <a:rPr sz="2400" dirty="0">
                <a:latin typeface="Times New Roman"/>
                <a:cs typeface="Times New Roman"/>
              </a:rPr>
              <a:t>a</a:t>
            </a:r>
            <a:r>
              <a:rPr sz="2400" spc="-20" dirty="0">
                <a:latin typeface="Times New Roman"/>
                <a:cs typeface="Times New Roman"/>
              </a:rPr>
              <a:t> </a:t>
            </a:r>
            <a:r>
              <a:rPr sz="2400" spc="-55" dirty="0">
                <a:latin typeface="Times New Roman"/>
                <a:cs typeface="Times New Roman"/>
              </a:rPr>
              <a:t>browser</a:t>
            </a:r>
            <a:r>
              <a:rPr sz="2400" spc="-15" dirty="0">
                <a:latin typeface="Times New Roman"/>
                <a:cs typeface="Times New Roman"/>
              </a:rPr>
              <a:t> </a:t>
            </a:r>
            <a:r>
              <a:rPr sz="2400" dirty="0">
                <a:latin typeface="Times New Roman"/>
                <a:cs typeface="Times New Roman"/>
              </a:rPr>
              <a:t>to</a:t>
            </a:r>
            <a:r>
              <a:rPr sz="2400" spc="-10" dirty="0">
                <a:latin typeface="Times New Roman"/>
                <a:cs typeface="Times New Roman"/>
              </a:rPr>
              <a:t> </a:t>
            </a:r>
            <a:r>
              <a:rPr sz="2400" spc="-114" dirty="0">
                <a:latin typeface="Times New Roman"/>
                <a:cs typeface="Times New Roman"/>
              </a:rPr>
              <a:t>access</a:t>
            </a:r>
            <a:r>
              <a:rPr sz="2400" spc="-10" dirty="0">
                <a:latin typeface="Times New Roman"/>
                <a:cs typeface="Times New Roman"/>
              </a:rPr>
              <a:t> your </a:t>
            </a:r>
            <a:r>
              <a:rPr sz="2400" spc="-80" dirty="0">
                <a:latin typeface="Times New Roman"/>
                <a:cs typeface="Times New Roman"/>
              </a:rPr>
              <a:t>website,</a:t>
            </a:r>
            <a:r>
              <a:rPr sz="2400" spc="-7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spc="-60" dirty="0">
                <a:latin typeface="Times New Roman"/>
                <a:cs typeface="Times New Roman"/>
              </a:rPr>
              <a:t>name </a:t>
            </a:r>
            <a:r>
              <a:rPr sz="2400" spc="-50" dirty="0">
                <a:latin typeface="Times New Roman"/>
                <a:cs typeface="Times New Roman"/>
              </a:rPr>
              <a:t>server</a:t>
            </a:r>
            <a:r>
              <a:rPr sz="2400" spc="-100" dirty="0">
                <a:latin typeface="Times New Roman"/>
                <a:cs typeface="Times New Roman"/>
              </a:rPr>
              <a:t> </a:t>
            </a:r>
            <a:r>
              <a:rPr sz="2400" spc="-70" dirty="0">
                <a:latin typeface="Times New Roman"/>
                <a:cs typeface="Times New Roman"/>
              </a:rPr>
              <a:t>inform</a:t>
            </a:r>
            <a:r>
              <a:rPr sz="2400" spc="-3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spc="-85" dirty="0">
                <a:latin typeface="Times New Roman"/>
                <a:cs typeface="Times New Roman"/>
              </a:rPr>
              <a:t>browser</a:t>
            </a:r>
            <a:r>
              <a:rPr sz="2400" spc="-40" dirty="0">
                <a:latin typeface="Times New Roman"/>
                <a:cs typeface="Times New Roman"/>
              </a:rPr>
              <a:t> </a:t>
            </a:r>
            <a:r>
              <a:rPr sz="2400" spc="-70" dirty="0">
                <a:latin typeface="Times New Roman"/>
                <a:cs typeface="Times New Roman"/>
              </a:rPr>
              <a:t>where</a:t>
            </a:r>
            <a:r>
              <a:rPr sz="2400" spc="-30"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spc="-95" dirty="0">
                <a:latin typeface="Times New Roman"/>
                <a:cs typeface="Times New Roman"/>
              </a:rPr>
              <a:t>find</a:t>
            </a:r>
            <a:r>
              <a:rPr sz="2400" spc="-40" dirty="0">
                <a:latin typeface="Times New Roman"/>
                <a:cs typeface="Times New Roman"/>
              </a:rPr>
              <a:t> </a:t>
            </a:r>
            <a:r>
              <a:rPr sz="2400" spc="-60" dirty="0">
                <a:latin typeface="Times New Roman"/>
                <a:cs typeface="Times New Roman"/>
              </a:rPr>
              <a:t>your</a:t>
            </a:r>
            <a:r>
              <a:rPr sz="2400" spc="-30" dirty="0">
                <a:latin typeface="Times New Roman"/>
                <a:cs typeface="Times New Roman"/>
              </a:rPr>
              <a:t> </a:t>
            </a:r>
            <a:r>
              <a:rPr sz="2400" spc="-85" dirty="0">
                <a:latin typeface="Times New Roman"/>
                <a:cs typeface="Times New Roman"/>
              </a:rPr>
              <a:t>resources,</a:t>
            </a:r>
            <a:r>
              <a:rPr sz="2400" spc="-65" dirty="0">
                <a:latin typeface="Times New Roman"/>
                <a:cs typeface="Times New Roman"/>
              </a:rPr>
              <a:t> </a:t>
            </a:r>
            <a:r>
              <a:rPr sz="2400" spc="-100" dirty="0">
                <a:latin typeface="Times New Roman"/>
                <a:cs typeface="Times New Roman"/>
              </a:rPr>
              <a:t>such</a:t>
            </a:r>
            <a:r>
              <a:rPr sz="2400" spc="-35" dirty="0">
                <a:latin typeface="Times New Roman"/>
                <a:cs typeface="Times New Roman"/>
              </a:rPr>
              <a:t> </a:t>
            </a:r>
            <a:r>
              <a:rPr sz="2400" spc="-130" dirty="0">
                <a:latin typeface="Times New Roman"/>
                <a:cs typeface="Times New Roman"/>
              </a:rPr>
              <a:t>as</a:t>
            </a:r>
            <a:r>
              <a:rPr sz="2400" spc="-20" dirty="0">
                <a:latin typeface="Times New Roman"/>
                <a:cs typeface="Times New Roman"/>
              </a:rPr>
              <a:t> </a:t>
            </a:r>
            <a:r>
              <a:rPr sz="2400" spc="-50" dirty="0">
                <a:latin typeface="Times New Roman"/>
                <a:cs typeface="Times New Roman"/>
              </a:rPr>
              <a:t>a </a:t>
            </a:r>
            <a:r>
              <a:rPr sz="2400" spc="-160" dirty="0">
                <a:latin typeface="Times New Roman"/>
                <a:cs typeface="Times New Roman"/>
              </a:rPr>
              <a:t>web</a:t>
            </a:r>
            <a:r>
              <a:rPr sz="2400" spc="-55" dirty="0">
                <a:latin typeface="Times New Roman"/>
                <a:cs typeface="Times New Roman"/>
              </a:rPr>
              <a:t> </a:t>
            </a:r>
            <a:r>
              <a:rPr sz="2400" spc="-90" dirty="0">
                <a:latin typeface="Times New Roman"/>
                <a:cs typeface="Times New Roman"/>
              </a:rPr>
              <a:t>server</a:t>
            </a:r>
            <a:r>
              <a:rPr sz="2400" spc="-50" dirty="0">
                <a:latin typeface="Times New Roman"/>
                <a:cs typeface="Times New Roman"/>
              </a:rPr>
              <a:t> </a:t>
            </a:r>
            <a:r>
              <a:rPr sz="2400" dirty="0">
                <a:latin typeface="Times New Roman"/>
                <a:cs typeface="Times New Roman"/>
              </a:rPr>
              <a:t>or</a:t>
            </a:r>
            <a:r>
              <a:rPr sz="2400" spc="-60" dirty="0">
                <a:latin typeface="Times New Roman"/>
                <a:cs typeface="Times New Roman"/>
              </a:rPr>
              <a:t> </a:t>
            </a:r>
            <a:r>
              <a:rPr sz="2400" spc="-155" dirty="0">
                <a:latin typeface="Times New Roman"/>
                <a:cs typeface="Times New Roman"/>
              </a:rPr>
              <a:t>an</a:t>
            </a:r>
            <a:r>
              <a:rPr sz="2400" spc="-60" dirty="0">
                <a:latin typeface="Times New Roman"/>
                <a:cs typeface="Times New Roman"/>
              </a:rPr>
              <a:t> </a:t>
            </a:r>
            <a:r>
              <a:rPr sz="2400" spc="-160" dirty="0">
                <a:latin typeface="Times New Roman"/>
                <a:cs typeface="Times New Roman"/>
              </a:rPr>
              <a:t>amazon</a:t>
            </a:r>
            <a:r>
              <a:rPr sz="2400" spc="-60" dirty="0">
                <a:latin typeface="Times New Roman"/>
                <a:cs typeface="Times New Roman"/>
              </a:rPr>
              <a:t> </a:t>
            </a:r>
            <a:r>
              <a:rPr sz="2400" spc="-240" dirty="0">
                <a:latin typeface="Times New Roman"/>
                <a:cs typeface="Times New Roman"/>
              </a:rPr>
              <a:t>S3</a:t>
            </a:r>
            <a:r>
              <a:rPr sz="2400" spc="-50" dirty="0">
                <a:latin typeface="Times New Roman"/>
                <a:cs typeface="Times New Roman"/>
              </a:rPr>
              <a:t> </a:t>
            </a:r>
            <a:r>
              <a:rPr sz="2400" spc="-10" dirty="0">
                <a:latin typeface="Times New Roman"/>
                <a:cs typeface="Times New Roman"/>
              </a:rPr>
              <a:t>bucket.</a:t>
            </a:r>
            <a:endParaRPr sz="2400" dirty="0">
              <a:latin typeface="Times New Roman"/>
              <a:cs typeface="Times New Roman"/>
            </a:endParaRPr>
          </a:p>
          <a:p>
            <a:pPr marL="835025" lvl="2" indent="-231775" algn="just">
              <a:lnSpc>
                <a:spcPct val="100000"/>
              </a:lnSpc>
              <a:spcBef>
                <a:spcPts val="395"/>
              </a:spcBef>
              <a:buClr>
                <a:srgbClr val="E6B0AB"/>
              </a:buClr>
              <a:buSzPct val="85416"/>
              <a:buFont typeface="Segoe UI Symbol"/>
              <a:buChar char="⚫"/>
              <a:tabLst>
                <a:tab pos="835025" algn="l"/>
              </a:tabLst>
            </a:pPr>
            <a:r>
              <a:rPr sz="2400" dirty="0">
                <a:latin typeface="Times New Roman"/>
                <a:cs typeface="Times New Roman"/>
              </a:rPr>
              <a:t>It</a:t>
            </a:r>
            <a:r>
              <a:rPr sz="2400" spc="-75" dirty="0">
                <a:latin typeface="Times New Roman"/>
                <a:cs typeface="Times New Roman"/>
              </a:rPr>
              <a:t> </a:t>
            </a:r>
            <a:r>
              <a:rPr sz="2400" spc="-70" dirty="0">
                <a:latin typeface="Times New Roman"/>
                <a:cs typeface="Times New Roman"/>
              </a:rPr>
              <a:t>gets</a:t>
            </a:r>
            <a:r>
              <a:rPr sz="2400" spc="-60" dirty="0">
                <a:latin typeface="Times New Roman"/>
                <a:cs typeface="Times New Roman"/>
              </a:rPr>
              <a:t> </a:t>
            </a:r>
            <a:r>
              <a:rPr sz="2400" dirty="0">
                <a:latin typeface="Times New Roman"/>
                <a:cs typeface="Times New Roman"/>
              </a:rPr>
              <a:t>the</a:t>
            </a:r>
            <a:r>
              <a:rPr sz="2400" spc="-60" dirty="0">
                <a:latin typeface="Times New Roman"/>
                <a:cs typeface="Times New Roman"/>
              </a:rPr>
              <a:t> </a:t>
            </a:r>
            <a:r>
              <a:rPr sz="2400" spc="-90" dirty="0">
                <a:latin typeface="Times New Roman"/>
                <a:cs typeface="Times New Roman"/>
              </a:rPr>
              <a:t>name</a:t>
            </a:r>
            <a:r>
              <a:rPr sz="2400" spc="-60" dirty="0">
                <a:latin typeface="Times New Roman"/>
                <a:cs typeface="Times New Roman"/>
              </a:rPr>
              <a:t> </a:t>
            </a:r>
            <a:r>
              <a:rPr sz="2400" spc="-50" dirty="0">
                <a:latin typeface="Times New Roman"/>
                <a:cs typeface="Times New Roman"/>
              </a:rPr>
              <a:t>server</a:t>
            </a:r>
            <a:r>
              <a:rPr sz="2400" spc="-55" dirty="0">
                <a:latin typeface="Times New Roman"/>
                <a:cs typeface="Times New Roman"/>
              </a:rPr>
              <a:t> </a:t>
            </a:r>
            <a:r>
              <a:rPr sz="2400" spc="-70" dirty="0">
                <a:latin typeface="Times New Roman"/>
                <a:cs typeface="Times New Roman"/>
              </a:rPr>
              <a:t>from</a:t>
            </a:r>
            <a:r>
              <a:rPr sz="2400" spc="-55" dirty="0">
                <a:latin typeface="Times New Roman"/>
                <a:cs typeface="Times New Roman"/>
              </a:rPr>
              <a:t> </a:t>
            </a:r>
            <a:r>
              <a:rPr sz="2400" dirty="0">
                <a:latin typeface="Times New Roman"/>
                <a:cs typeface="Times New Roman"/>
              </a:rPr>
              <a:t>the</a:t>
            </a:r>
            <a:r>
              <a:rPr sz="2400" spc="-70" dirty="0">
                <a:latin typeface="Times New Roman"/>
                <a:cs typeface="Times New Roman"/>
              </a:rPr>
              <a:t> </a:t>
            </a:r>
            <a:r>
              <a:rPr sz="2400" spc="-80" dirty="0">
                <a:latin typeface="Times New Roman"/>
                <a:cs typeface="Times New Roman"/>
              </a:rPr>
              <a:t>hosted</a:t>
            </a:r>
            <a:r>
              <a:rPr sz="2400" spc="-70" dirty="0">
                <a:latin typeface="Times New Roman"/>
                <a:cs typeface="Times New Roman"/>
              </a:rPr>
              <a:t> </a:t>
            </a:r>
            <a:r>
              <a:rPr sz="2400" spc="-80" dirty="0">
                <a:latin typeface="Times New Roman"/>
                <a:cs typeface="Times New Roman"/>
              </a:rPr>
              <a:t>zone</a:t>
            </a:r>
            <a:r>
              <a:rPr sz="2400" spc="-55" dirty="0">
                <a:latin typeface="Times New Roman"/>
                <a:cs typeface="Times New Roman"/>
              </a:rPr>
              <a:t> </a:t>
            </a:r>
            <a:r>
              <a:rPr sz="2400" spc="-70" dirty="0">
                <a:latin typeface="Times New Roman"/>
                <a:cs typeface="Times New Roman"/>
              </a:rPr>
              <a:t>and</a:t>
            </a:r>
            <a:r>
              <a:rPr sz="2400" spc="-50" dirty="0">
                <a:latin typeface="Times New Roman"/>
                <a:cs typeface="Times New Roman"/>
              </a:rPr>
              <a:t> </a:t>
            </a:r>
            <a:r>
              <a:rPr sz="2400" spc="-90" dirty="0">
                <a:latin typeface="Times New Roman"/>
                <a:cs typeface="Times New Roman"/>
              </a:rPr>
              <a:t>add</a:t>
            </a:r>
            <a:r>
              <a:rPr sz="2400" spc="-60" dirty="0">
                <a:latin typeface="Times New Roman"/>
                <a:cs typeface="Times New Roman"/>
              </a:rPr>
              <a:t> </a:t>
            </a:r>
            <a:r>
              <a:rPr sz="2400" spc="-35" dirty="0">
                <a:latin typeface="Times New Roman"/>
                <a:cs typeface="Times New Roman"/>
              </a:rPr>
              <a:t>them</a:t>
            </a:r>
            <a:r>
              <a:rPr sz="2400" spc="-60" dirty="0">
                <a:latin typeface="Times New Roman"/>
                <a:cs typeface="Times New Roman"/>
              </a:rPr>
              <a:t> </a:t>
            </a:r>
            <a:r>
              <a:rPr sz="2400" dirty="0">
                <a:latin typeface="Times New Roman"/>
                <a:cs typeface="Times New Roman"/>
              </a:rPr>
              <a:t>to</a:t>
            </a:r>
            <a:r>
              <a:rPr sz="2400" spc="-50" dirty="0">
                <a:latin typeface="Times New Roman"/>
                <a:cs typeface="Times New Roman"/>
              </a:rPr>
              <a:t> </a:t>
            </a:r>
            <a:r>
              <a:rPr sz="2400" spc="-25" dirty="0">
                <a:latin typeface="Times New Roman"/>
                <a:cs typeface="Times New Roman"/>
              </a:rPr>
              <a:t>the</a:t>
            </a:r>
            <a:endParaRPr sz="2400" dirty="0">
              <a:latin typeface="Times New Roman"/>
              <a:cs typeface="Times New Roman"/>
            </a:endParaRPr>
          </a:p>
          <a:p>
            <a:pPr marL="835660">
              <a:lnSpc>
                <a:spcPct val="100000"/>
              </a:lnSpc>
              <a:spcBef>
                <a:spcPts val="5"/>
              </a:spcBef>
            </a:pPr>
            <a:r>
              <a:rPr sz="2400" spc="-10" dirty="0">
                <a:latin typeface="Times New Roman"/>
                <a:cs typeface="Times New Roman"/>
              </a:rPr>
              <a:t>domain</a:t>
            </a:r>
            <a:endParaRPr sz="2400" dirty="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91440">
              <a:lnSpc>
                <a:spcPts val="1664"/>
              </a:lnSpc>
            </a:pPr>
            <a:fld id="{81D60167-4931-47E6-BA6A-407CBD079E47}" type="slidenum">
              <a:rPr spc="-50" dirty="0"/>
              <a:t>28</a:t>
            </a:fld>
            <a:endParaRPr spc="-50" dirty="0"/>
          </a:p>
        </p:txBody>
      </p:sp>
      <p:sp>
        <p:nvSpPr>
          <p:cNvPr id="8" name="TextBox 7">
            <a:extLst>
              <a:ext uri="{FF2B5EF4-FFF2-40B4-BE49-F238E27FC236}">
                <a16:creationId xmlns:a16="http://schemas.microsoft.com/office/drawing/2014/main" id="{ECC74C68-EA0A-9F04-A8CA-26D7CBA52CBF}"/>
              </a:ext>
            </a:extLst>
          </p:cNvPr>
          <p:cNvSpPr txBox="1"/>
          <p:nvPr/>
        </p:nvSpPr>
        <p:spPr>
          <a:xfrm>
            <a:off x="2819400" y="5631694"/>
            <a:ext cx="4572000" cy="892552"/>
          </a:xfrm>
          <a:prstGeom prst="rect">
            <a:avLst/>
          </a:prstGeom>
          <a:noFill/>
        </p:spPr>
        <p:txBody>
          <a:bodyPr wrap="square">
            <a:spAutoFit/>
          </a:bodyPr>
          <a:lstStyle/>
          <a:p>
            <a:r>
              <a:rPr lang="en-US" sz="1300" dirty="0"/>
              <a:t>ns-123.awsdns-45.org</a:t>
            </a:r>
          </a:p>
          <a:p>
            <a:r>
              <a:rPr lang="en-US" sz="1300" dirty="0"/>
              <a:t>ns-456.awsdns-12.com</a:t>
            </a:r>
          </a:p>
          <a:p>
            <a:r>
              <a:rPr lang="en-US" sz="1300" dirty="0"/>
              <a:t>ns-789.awsdns-99.net</a:t>
            </a:r>
          </a:p>
          <a:p>
            <a:r>
              <a:rPr lang="en-US" sz="1300" dirty="0"/>
              <a:t>ns-321.awsdns-77.co.uk</a:t>
            </a:r>
          </a:p>
        </p:txBody>
      </p:sp>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EC5D6A69-1FAD-DE17-21C1-7D89420BE0B4}"/>
                  </a:ext>
                </a:extLst>
              </p14:cNvPr>
              <p14:cNvContentPartPr/>
              <p14:nvPr/>
            </p14:nvContentPartPr>
            <p14:xfrm>
              <a:off x="3404160" y="3425184"/>
              <a:ext cx="1607040" cy="173880"/>
            </p14:xfrm>
          </p:contentPart>
        </mc:Choice>
        <mc:Fallback xmlns="">
          <p:pic>
            <p:nvPicPr>
              <p:cNvPr id="12" name="Ink 11">
                <a:extLst>
                  <a:ext uri="{FF2B5EF4-FFF2-40B4-BE49-F238E27FC236}">
                    <a16:creationId xmlns:a16="http://schemas.microsoft.com/office/drawing/2014/main" id="{EC5D6A69-1FAD-DE17-21C1-7D89420BE0B4}"/>
                  </a:ext>
                </a:extLst>
              </p:cNvPr>
              <p:cNvPicPr/>
              <p:nvPr/>
            </p:nvPicPr>
            <p:blipFill>
              <a:blip r:embed="rId7"/>
              <a:stretch>
                <a:fillRect/>
              </a:stretch>
            </p:blipFill>
            <p:spPr>
              <a:xfrm>
                <a:off x="3398040" y="3419064"/>
                <a:ext cx="1619280" cy="186120"/>
              </a:xfrm>
              <a:prstGeom prst="rect">
                <a:avLst/>
              </a:prstGeom>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3600" spc="-240" dirty="0"/>
              <a:t>AWS</a:t>
            </a:r>
            <a:r>
              <a:rPr sz="3600" spc="-5" dirty="0"/>
              <a:t> </a:t>
            </a:r>
            <a:r>
              <a:rPr sz="3600" spc="-40" dirty="0"/>
              <a:t>Route</a:t>
            </a:r>
            <a:r>
              <a:rPr sz="3600" spc="-170" dirty="0"/>
              <a:t> </a:t>
            </a:r>
            <a:r>
              <a:rPr sz="3600" spc="-25" dirty="0"/>
              <a:t>53</a:t>
            </a:r>
            <a:endParaRPr sz="3600" dirty="0"/>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38429" y="892810"/>
            <a:ext cx="8300720" cy="3673475"/>
          </a:xfrm>
          <a:prstGeom prst="rect">
            <a:avLst/>
          </a:prstGeom>
        </p:spPr>
        <p:txBody>
          <a:bodyPr vert="horz" wrap="square" lIns="0" tIns="62865" rIns="0" bIns="0" rtlCol="0">
            <a:spAutoFit/>
          </a:bodyPr>
          <a:lstStyle/>
          <a:p>
            <a:pPr marL="287020" indent="-274320">
              <a:lnSpc>
                <a:spcPct val="100000"/>
              </a:lnSpc>
              <a:spcBef>
                <a:spcPts val="495"/>
              </a:spcBef>
              <a:buClr>
                <a:srgbClr val="D24717"/>
              </a:buClr>
              <a:buSzPct val="85416"/>
              <a:buFont typeface="Segoe UI Symbol"/>
              <a:buChar char="⚫"/>
              <a:tabLst>
                <a:tab pos="287020" algn="l"/>
              </a:tabLst>
            </a:pPr>
            <a:r>
              <a:rPr sz="2400" spc="-325" dirty="0">
                <a:latin typeface="Times New Roman"/>
                <a:cs typeface="Times New Roman"/>
              </a:rPr>
              <a:t>AWS</a:t>
            </a:r>
            <a:r>
              <a:rPr sz="2400" spc="-65" dirty="0">
                <a:latin typeface="Times New Roman"/>
                <a:cs typeface="Times New Roman"/>
              </a:rPr>
              <a:t> </a:t>
            </a:r>
            <a:r>
              <a:rPr sz="2400" spc="-10" dirty="0">
                <a:latin typeface="Times New Roman"/>
                <a:cs typeface="Times New Roman"/>
              </a:rPr>
              <a:t>supports</a:t>
            </a:r>
            <a:endParaRPr sz="2400" dirty="0">
              <a:latin typeface="Times New Roman"/>
              <a:cs typeface="Times New Roman"/>
            </a:endParaRPr>
          </a:p>
          <a:p>
            <a:pPr marL="560705" lvl="1" indent="-231775">
              <a:lnSpc>
                <a:spcPct val="100000"/>
              </a:lnSpc>
              <a:spcBef>
                <a:spcPts val="395"/>
              </a:spcBef>
              <a:buClr>
                <a:srgbClr val="9B2C1F"/>
              </a:buClr>
              <a:buSzPct val="85416"/>
              <a:buFont typeface="Segoe UI Symbol"/>
              <a:buChar char="⚫"/>
              <a:tabLst>
                <a:tab pos="560705" algn="l"/>
              </a:tabLst>
            </a:pPr>
            <a:r>
              <a:rPr sz="2400" spc="-110" dirty="0">
                <a:latin typeface="Times New Roman"/>
                <a:cs typeface="Times New Roman"/>
              </a:rPr>
              <a:t>Generic</a:t>
            </a:r>
            <a:r>
              <a:rPr sz="2400" spc="-320" dirty="0">
                <a:latin typeface="Times New Roman"/>
                <a:cs typeface="Times New Roman"/>
              </a:rPr>
              <a:t> </a:t>
            </a:r>
            <a:r>
              <a:rPr sz="2400" spc="-220" dirty="0">
                <a:latin typeface="Times New Roman"/>
                <a:cs typeface="Times New Roman"/>
              </a:rPr>
              <a:t>Top</a:t>
            </a:r>
            <a:r>
              <a:rPr sz="2400" spc="-25" dirty="0">
                <a:latin typeface="Times New Roman"/>
                <a:cs typeface="Times New Roman"/>
              </a:rPr>
              <a:t> </a:t>
            </a:r>
            <a:r>
              <a:rPr sz="2400" spc="-145" dirty="0">
                <a:latin typeface="Times New Roman"/>
                <a:cs typeface="Times New Roman"/>
              </a:rPr>
              <a:t>level</a:t>
            </a:r>
            <a:r>
              <a:rPr sz="2400" dirty="0">
                <a:latin typeface="Times New Roman"/>
                <a:cs typeface="Times New Roman"/>
              </a:rPr>
              <a:t> </a:t>
            </a:r>
            <a:r>
              <a:rPr sz="2400" spc="-145" dirty="0">
                <a:latin typeface="Times New Roman"/>
                <a:cs typeface="Times New Roman"/>
              </a:rPr>
              <a:t>domains</a:t>
            </a:r>
            <a:r>
              <a:rPr sz="2400" spc="-30" dirty="0">
                <a:latin typeface="Times New Roman"/>
                <a:cs typeface="Times New Roman"/>
              </a:rPr>
              <a:t> </a:t>
            </a:r>
            <a:r>
              <a:rPr sz="2400" spc="-10" dirty="0">
                <a:latin typeface="Times New Roman"/>
                <a:cs typeface="Times New Roman"/>
              </a:rPr>
              <a:t>(.com,.org…</a:t>
            </a:r>
            <a:endParaRPr sz="2400" dirty="0">
              <a:latin typeface="Times New Roman"/>
              <a:cs typeface="Times New Roman"/>
            </a:endParaRPr>
          </a:p>
          <a:p>
            <a:pPr marL="560705" lvl="1" indent="-231775">
              <a:lnSpc>
                <a:spcPct val="100000"/>
              </a:lnSpc>
              <a:spcBef>
                <a:spcPts val="395"/>
              </a:spcBef>
              <a:buClr>
                <a:srgbClr val="9B2C1F"/>
              </a:buClr>
              <a:buSzPct val="85416"/>
              <a:buFont typeface="Segoe UI Symbol"/>
              <a:buChar char="⚫"/>
              <a:tabLst>
                <a:tab pos="560705" algn="l"/>
              </a:tabLst>
            </a:pPr>
            <a:r>
              <a:rPr sz="2400" spc="-130" dirty="0">
                <a:latin typeface="Times New Roman"/>
                <a:cs typeface="Times New Roman"/>
              </a:rPr>
              <a:t>Geographic</a:t>
            </a:r>
            <a:r>
              <a:rPr sz="2400" spc="-330" dirty="0">
                <a:latin typeface="Times New Roman"/>
                <a:cs typeface="Times New Roman"/>
              </a:rPr>
              <a:t> </a:t>
            </a:r>
            <a:r>
              <a:rPr sz="2400" spc="-220" dirty="0">
                <a:latin typeface="Times New Roman"/>
                <a:cs typeface="Times New Roman"/>
              </a:rPr>
              <a:t>Top</a:t>
            </a:r>
            <a:r>
              <a:rPr sz="2400" spc="-15" dirty="0">
                <a:latin typeface="Times New Roman"/>
                <a:cs typeface="Times New Roman"/>
              </a:rPr>
              <a:t> </a:t>
            </a:r>
            <a:r>
              <a:rPr sz="2400" spc="-145" dirty="0">
                <a:latin typeface="Times New Roman"/>
                <a:cs typeface="Times New Roman"/>
              </a:rPr>
              <a:t>level</a:t>
            </a:r>
            <a:r>
              <a:rPr sz="2400" spc="-10" dirty="0">
                <a:latin typeface="Times New Roman"/>
                <a:cs typeface="Times New Roman"/>
              </a:rPr>
              <a:t> domain(.in,.uk…</a:t>
            </a:r>
            <a:endParaRPr sz="2400" dirty="0">
              <a:latin typeface="Times New Roman"/>
              <a:cs typeface="Times New Roman"/>
            </a:endParaRPr>
          </a:p>
          <a:p>
            <a:pPr lvl="1">
              <a:lnSpc>
                <a:spcPct val="100000"/>
              </a:lnSpc>
              <a:spcBef>
                <a:spcPts val="930"/>
              </a:spcBef>
              <a:buFont typeface="Segoe UI Symbol"/>
              <a:buChar char="⚫"/>
            </a:pPr>
            <a:endParaRPr sz="2400" dirty="0">
              <a:latin typeface="Times New Roman"/>
              <a:cs typeface="Times New Roman"/>
            </a:endParaRPr>
          </a:p>
          <a:p>
            <a:pPr marL="355600" indent="-342900">
              <a:lnSpc>
                <a:spcPct val="100000"/>
              </a:lnSpc>
              <a:buClr>
                <a:srgbClr val="9B2C1F"/>
              </a:buClr>
              <a:buSzPct val="85416"/>
              <a:buFont typeface="Segoe UI Symbol"/>
              <a:buChar char="⚫"/>
              <a:tabLst>
                <a:tab pos="355600" algn="l"/>
              </a:tabLst>
            </a:pPr>
            <a:r>
              <a:rPr sz="2400" spc="-105" dirty="0">
                <a:latin typeface="Times New Roman"/>
                <a:cs typeface="Times New Roman"/>
              </a:rPr>
              <a:t>Registering</a:t>
            </a:r>
            <a:r>
              <a:rPr sz="2400" spc="-25" dirty="0">
                <a:latin typeface="Times New Roman"/>
                <a:cs typeface="Times New Roman"/>
              </a:rPr>
              <a:t> </a:t>
            </a:r>
            <a:r>
              <a:rPr sz="2400" spc="-200" dirty="0">
                <a:latin typeface="Times New Roman"/>
                <a:cs typeface="Times New Roman"/>
              </a:rPr>
              <a:t>a</a:t>
            </a:r>
            <a:r>
              <a:rPr sz="2400" spc="-55" dirty="0">
                <a:latin typeface="Times New Roman"/>
                <a:cs typeface="Times New Roman"/>
              </a:rPr>
              <a:t> </a:t>
            </a:r>
            <a:r>
              <a:rPr sz="2400" spc="-140" dirty="0">
                <a:latin typeface="Times New Roman"/>
                <a:cs typeface="Times New Roman"/>
              </a:rPr>
              <a:t>domain</a:t>
            </a:r>
            <a:r>
              <a:rPr sz="2400" spc="-35" dirty="0">
                <a:latin typeface="Times New Roman"/>
                <a:cs typeface="Times New Roman"/>
              </a:rPr>
              <a:t> </a:t>
            </a:r>
            <a:r>
              <a:rPr sz="2400" spc="-105" dirty="0">
                <a:latin typeface="Times New Roman"/>
                <a:cs typeface="Times New Roman"/>
              </a:rPr>
              <a:t>with</a:t>
            </a:r>
            <a:r>
              <a:rPr sz="2400" spc="-50" dirty="0">
                <a:latin typeface="Times New Roman"/>
                <a:cs typeface="Times New Roman"/>
              </a:rPr>
              <a:t> </a:t>
            </a:r>
            <a:r>
              <a:rPr sz="2400" spc="-95" dirty="0">
                <a:latin typeface="Times New Roman"/>
                <a:cs typeface="Times New Roman"/>
              </a:rPr>
              <a:t>Route</a:t>
            </a:r>
            <a:r>
              <a:rPr sz="2400" spc="-40" dirty="0">
                <a:latin typeface="Times New Roman"/>
                <a:cs typeface="Times New Roman"/>
              </a:rPr>
              <a:t> </a:t>
            </a:r>
            <a:r>
              <a:rPr sz="2400" spc="-25" dirty="0">
                <a:latin typeface="Times New Roman"/>
                <a:cs typeface="Times New Roman"/>
              </a:rPr>
              <a:t>53</a:t>
            </a:r>
            <a:endParaRPr sz="2400" dirty="0">
              <a:latin typeface="Times New Roman"/>
              <a:cs typeface="Times New Roman"/>
            </a:endParaRPr>
          </a:p>
          <a:p>
            <a:pPr marL="629920" marR="6350" lvl="1" indent="-342900">
              <a:lnSpc>
                <a:spcPct val="100000"/>
              </a:lnSpc>
              <a:spcBef>
                <a:spcPts val="395"/>
              </a:spcBef>
              <a:buClr>
                <a:srgbClr val="E6B0AB"/>
              </a:buClr>
              <a:buSzPct val="85416"/>
              <a:buFont typeface="Segoe UI Symbol"/>
              <a:buChar char="⚫"/>
              <a:tabLst>
                <a:tab pos="629920" algn="l"/>
              </a:tabLst>
            </a:pPr>
            <a:r>
              <a:rPr sz="2400" spc="-295" dirty="0">
                <a:latin typeface="Times New Roman"/>
                <a:cs typeface="Times New Roman"/>
              </a:rPr>
              <a:t>You</a:t>
            </a:r>
            <a:r>
              <a:rPr sz="2400" spc="145" dirty="0">
                <a:latin typeface="Times New Roman"/>
                <a:cs typeface="Times New Roman"/>
              </a:rPr>
              <a:t> </a:t>
            </a:r>
            <a:r>
              <a:rPr sz="2400" spc="-85" dirty="0">
                <a:latin typeface="Times New Roman"/>
                <a:cs typeface="Times New Roman"/>
              </a:rPr>
              <a:t>can</a:t>
            </a:r>
            <a:r>
              <a:rPr sz="2400" spc="-65" dirty="0">
                <a:latin typeface="Times New Roman"/>
                <a:cs typeface="Times New Roman"/>
              </a:rPr>
              <a:t> </a:t>
            </a:r>
            <a:r>
              <a:rPr sz="2400" spc="-50" dirty="0">
                <a:latin typeface="Times New Roman"/>
                <a:cs typeface="Times New Roman"/>
              </a:rPr>
              <a:t>register</a:t>
            </a:r>
            <a:r>
              <a:rPr sz="2400" spc="-100" dirty="0">
                <a:latin typeface="Times New Roman"/>
                <a:cs typeface="Times New Roman"/>
              </a:rPr>
              <a:t> </a:t>
            </a:r>
            <a:r>
              <a:rPr sz="2400" dirty="0">
                <a:latin typeface="Times New Roman"/>
                <a:cs typeface="Times New Roman"/>
              </a:rPr>
              <a:t>a</a:t>
            </a:r>
            <a:r>
              <a:rPr sz="2400" spc="-110" dirty="0">
                <a:latin typeface="Times New Roman"/>
                <a:cs typeface="Times New Roman"/>
              </a:rPr>
              <a:t> </a:t>
            </a:r>
            <a:r>
              <a:rPr sz="2400" spc="-105" dirty="0">
                <a:latin typeface="Times New Roman"/>
                <a:cs typeface="Times New Roman"/>
              </a:rPr>
              <a:t>domain</a:t>
            </a:r>
            <a:r>
              <a:rPr sz="2400" spc="-45" dirty="0">
                <a:latin typeface="Times New Roman"/>
                <a:cs typeface="Times New Roman"/>
              </a:rPr>
              <a:t> </a:t>
            </a:r>
            <a:r>
              <a:rPr sz="2400" spc="-35" dirty="0">
                <a:latin typeface="Times New Roman"/>
                <a:cs typeface="Times New Roman"/>
              </a:rPr>
              <a:t>with</a:t>
            </a:r>
            <a:r>
              <a:rPr sz="2400" spc="-45" dirty="0">
                <a:latin typeface="Times New Roman"/>
                <a:cs typeface="Times New Roman"/>
              </a:rPr>
              <a:t> </a:t>
            </a:r>
            <a:r>
              <a:rPr sz="2400" spc="-10" dirty="0">
                <a:latin typeface="Times New Roman"/>
                <a:cs typeface="Times New Roman"/>
              </a:rPr>
              <a:t>route</a:t>
            </a:r>
            <a:r>
              <a:rPr sz="2400" spc="-40" dirty="0">
                <a:latin typeface="Times New Roman"/>
                <a:cs typeface="Times New Roman"/>
              </a:rPr>
              <a:t> </a:t>
            </a:r>
            <a:r>
              <a:rPr sz="2400" dirty="0">
                <a:latin typeface="Times New Roman"/>
                <a:cs typeface="Times New Roman"/>
              </a:rPr>
              <a:t>53.</a:t>
            </a:r>
            <a:r>
              <a:rPr sz="2400" spc="-110" dirty="0">
                <a:latin typeface="Times New Roman"/>
                <a:cs typeface="Times New Roman"/>
              </a:rPr>
              <a:t> </a:t>
            </a:r>
            <a:r>
              <a:rPr sz="2400" spc="-20" dirty="0">
                <a:latin typeface="Times New Roman"/>
                <a:cs typeface="Times New Roman"/>
              </a:rPr>
              <a:t>if</a:t>
            </a:r>
            <a:r>
              <a:rPr sz="2400" spc="-35" dirty="0">
                <a:latin typeface="Times New Roman"/>
                <a:cs typeface="Times New Roman"/>
              </a:rPr>
              <a:t> </a:t>
            </a:r>
            <a:r>
              <a:rPr sz="2400" dirty="0">
                <a:latin typeface="Times New Roman"/>
                <a:cs typeface="Times New Roman"/>
              </a:rPr>
              <a:t>the</a:t>
            </a:r>
            <a:r>
              <a:rPr sz="2400" spc="-40" dirty="0">
                <a:latin typeface="Times New Roman"/>
                <a:cs typeface="Times New Roman"/>
              </a:rPr>
              <a:t> </a:t>
            </a:r>
            <a:r>
              <a:rPr sz="2400" spc="-114" dirty="0">
                <a:latin typeface="Times New Roman"/>
                <a:cs typeface="Times New Roman"/>
              </a:rPr>
              <a:t>TLD</a:t>
            </a:r>
            <a:r>
              <a:rPr sz="2400" spc="-35" dirty="0">
                <a:latin typeface="Times New Roman"/>
                <a:cs typeface="Times New Roman"/>
              </a:rPr>
              <a:t> </a:t>
            </a:r>
            <a:r>
              <a:rPr sz="2400" spc="-25" dirty="0">
                <a:latin typeface="Times New Roman"/>
                <a:cs typeface="Times New Roman"/>
              </a:rPr>
              <a:t>is</a:t>
            </a:r>
            <a:r>
              <a:rPr sz="2400" spc="-30" dirty="0">
                <a:latin typeface="Times New Roman"/>
                <a:cs typeface="Times New Roman"/>
              </a:rPr>
              <a:t> </a:t>
            </a:r>
            <a:r>
              <a:rPr sz="2400" spc="-85" dirty="0">
                <a:latin typeface="Times New Roman"/>
                <a:cs typeface="Times New Roman"/>
              </a:rPr>
              <a:t>included</a:t>
            </a:r>
            <a:r>
              <a:rPr sz="2400" spc="-40" dirty="0">
                <a:latin typeface="Times New Roman"/>
                <a:cs typeface="Times New Roman"/>
              </a:rPr>
              <a:t> </a:t>
            </a:r>
            <a:r>
              <a:rPr sz="2400" spc="-25" dirty="0">
                <a:latin typeface="Times New Roman"/>
                <a:cs typeface="Times New Roman"/>
              </a:rPr>
              <a:t>on </a:t>
            </a:r>
            <a:r>
              <a:rPr sz="2400" spc="-70" dirty="0">
                <a:latin typeface="Times New Roman"/>
                <a:cs typeface="Times New Roman"/>
              </a:rPr>
              <a:t>the</a:t>
            </a:r>
            <a:r>
              <a:rPr sz="2400" spc="-25" dirty="0">
                <a:latin typeface="Times New Roman"/>
                <a:cs typeface="Times New Roman"/>
              </a:rPr>
              <a:t> </a:t>
            </a:r>
            <a:r>
              <a:rPr sz="2400" spc="-85" dirty="0">
                <a:latin typeface="Times New Roman"/>
                <a:cs typeface="Times New Roman"/>
              </a:rPr>
              <a:t>supported</a:t>
            </a:r>
            <a:r>
              <a:rPr sz="2400" spc="-340" dirty="0">
                <a:latin typeface="Times New Roman"/>
                <a:cs typeface="Times New Roman"/>
              </a:rPr>
              <a:t> </a:t>
            </a:r>
            <a:r>
              <a:rPr sz="2400" spc="-180" dirty="0">
                <a:latin typeface="Times New Roman"/>
                <a:cs typeface="Times New Roman"/>
              </a:rPr>
              <a:t>TLD</a:t>
            </a:r>
            <a:r>
              <a:rPr sz="2400" spc="-35" dirty="0">
                <a:latin typeface="Times New Roman"/>
                <a:cs typeface="Times New Roman"/>
              </a:rPr>
              <a:t> </a:t>
            </a:r>
            <a:r>
              <a:rPr sz="2400" spc="-20" dirty="0">
                <a:latin typeface="Times New Roman"/>
                <a:cs typeface="Times New Roman"/>
              </a:rPr>
              <a:t>list</a:t>
            </a:r>
            <a:endParaRPr sz="2400" dirty="0">
              <a:latin typeface="Times New Roman"/>
              <a:cs typeface="Times New Roman"/>
            </a:endParaRPr>
          </a:p>
          <a:p>
            <a:pPr marL="629920" marR="5080" lvl="1" indent="-342900">
              <a:lnSpc>
                <a:spcPct val="100000"/>
              </a:lnSpc>
              <a:spcBef>
                <a:spcPts val="409"/>
              </a:spcBef>
              <a:buClr>
                <a:srgbClr val="E6B0AB"/>
              </a:buClr>
              <a:buSzPct val="85416"/>
              <a:buFont typeface="Segoe UI Symbol"/>
              <a:buChar char="⚫"/>
              <a:tabLst>
                <a:tab pos="629920" algn="l"/>
              </a:tabLst>
            </a:pPr>
            <a:r>
              <a:rPr sz="2400" spc="-145" dirty="0">
                <a:latin typeface="Times New Roman"/>
                <a:cs typeface="Times New Roman"/>
              </a:rPr>
              <a:t>If</a:t>
            </a:r>
            <a:r>
              <a:rPr sz="2400" spc="-5" dirty="0">
                <a:latin typeface="Times New Roman"/>
                <a:cs typeface="Times New Roman"/>
              </a:rPr>
              <a:t> </a:t>
            </a:r>
            <a:r>
              <a:rPr sz="2400" dirty="0">
                <a:latin typeface="Times New Roman"/>
                <a:cs typeface="Times New Roman"/>
              </a:rPr>
              <a:t>the</a:t>
            </a:r>
            <a:r>
              <a:rPr sz="2400" spc="-150" dirty="0">
                <a:latin typeface="Times New Roman"/>
                <a:cs typeface="Times New Roman"/>
              </a:rPr>
              <a:t> TLD</a:t>
            </a:r>
            <a:r>
              <a:rPr sz="2400" dirty="0">
                <a:latin typeface="Times New Roman"/>
                <a:cs typeface="Times New Roman"/>
              </a:rPr>
              <a:t> </a:t>
            </a:r>
            <a:r>
              <a:rPr sz="2400" spc="-65" dirty="0">
                <a:latin typeface="Times New Roman"/>
                <a:cs typeface="Times New Roman"/>
              </a:rPr>
              <a:t>is</a:t>
            </a:r>
            <a:r>
              <a:rPr sz="2400" spc="-85" dirty="0">
                <a:latin typeface="Times New Roman"/>
                <a:cs typeface="Times New Roman"/>
              </a:rPr>
              <a:t> </a:t>
            </a:r>
            <a:r>
              <a:rPr sz="2400" dirty="0">
                <a:latin typeface="Times New Roman"/>
                <a:cs typeface="Times New Roman"/>
              </a:rPr>
              <a:t>not</a:t>
            </a:r>
            <a:r>
              <a:rPr sz="2400" spc="-90" dirty="0">
                <a:latin typeface="Times New Roman"/>
                <a:cs typeface="Times New Roman"/>
              </a:rPr>
              <a:t> included,</a:t>
            </a:r>
            <a:r>
              <a:rPr sz="2400" spc="-60" dirty="0">
                <a:latin typeface="Times New Roman"/>
                <a:cs typeface="Times New Roman"/>
              </a:rPr>
              <a:t> </a:t>
            </a:r>
            <a:r>
              <a:rPr sz="2400" spc="-114" dirty="0">
                <a:latin typeface="Times New Roman"/>
                <a:cs typeface="Times New Roman"/>
              </a:rPr>
              <a:t>you</a:t>
            </a:r>
            <a:r>
              <a:rPr sz="2400" spc="-35" dirty="0">
                <a:latin typeface="Times New Roman"/>
                <a:cs typeface="Times New Roman"/>
              </a:rPr>
              <a:t> </a:t>
            </a:r>
            <a:r>
              <a:rPr sz="2400" spc="-100" dirty="0">
                <a:latin typeface="Times New Roman"/>
                <a:cs typeface="Times New Roman"/>
              </a:rPr>
              <a:t>can’t</a:t>
            </a:r>
            <a:r>
              <a:rPr sz="2400" spc="-50" dirty="0">
                <a:latin typeface="Times New Roman"/>
                <a:cs typeface="Times New Roman"/>
              </a:rPr>
              <a:t> </a:t>
            </a:r>
            <a:r>
              <a:rPr sz="2400" spc="-55" dirty="0">
                <a:latin typeface="Times New Roman"/>
                <a:cs typeface="Times New Roman"/>
              </a:rPr>
              <a:t>register</a:t>
            </a:r>
            <a:r>
              <a:rPr sz="2400" spc="-45" dirty="0">
                <a:latin typeface="Times New Roman"/>
                <a:cs typeface="Times New Roman"/>
              </a:rPr>
              <a:t> </a:t>
            </a:r>
            <a:r>
              <a:rPr sz="2400" dirty="0">
                <a:latin typeface="Times New Roman"/>
                <a:cs typeface="Times New Roman"/>
              </a:rPr>
              <a:t>the</a:t>
            </a:r>
            <a:r>
              <a:rPr sz="2400" spc="-50" dirty="0">
                <a:latin typeface="Times New Roman"/>
                <a:cs typeface="Times New Roman"/>
              </a:rPr>
              <a:t> </a:t>
            </a:r>
            <a:r>
              <a:rPr sz="2400" spc="-114" dirty="0">
                <a:latin typeface="Times New Roman"/>
                <a:cs typeface="Times New Roman"/>
              </a:rPr>
              <a:t>domain</a:t>
            </a:r>
            <a:r>
              <a:rPr sz="2400" spc="-35" dirty="0">
                <a:latin typeface="Times New Roman"/>
                <a:cs typeface="Times New Roman"/>
              </a:rPr>
              <a:t> </a:t>
            </a:r>
            <a:r>
              <a:rPr sz="2400" spc="-55" dirty="0">
                <a:latin typeface="Times New Roman"/>
                <a:cs typeface="Times New Roman"/>
              </a:rPr>
              <a:t>with</a:t>
            </a:r>
            <a:r>
              <a:rPr sz="2400" spc="-50" dirty="0">
                <a:latin typeface="Times New Roman"/>
                <a:cs typeface="Times New Roman"/>
              </a:rPr>
              <a:t> </a:t>
            </a:r>
            <a:r>
              <a:rPr sz="2400" spc="-10" dirty="0">
                <a:latin typeface="Times New Roman"/>
                <a:cs typeface="Times New Roman"/>
              </a:rPr>
              <a:t>route </a:t>
            </a:r>
            <a:r>
              <a:rPr sz="2400" spc="-25" dirty="0">
                <a:latin typeface="Times New Roman"/>
                <a:cs typeface="Times New Roman"/>
              </a:rPr>
              <a:t>53</a:t>
            </a:r>
            <a:endParaRPr sz="2400" dirty="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91440">
              <a:lnSpc>
                <a:spcPts val="1664"/>
              </a:lnSpc>
            </a:pPr>
            <a:fld id="{81D60167-4931-47E6-BA6A-407CBD079E47}" type="slidenum">
              <a:rPr spc="-50" dirty="0"/>
              <a:t>29</a:t>
            </a:fld>
            <a:endParaRPr spc="-50" dirty="0"/>
          </a:p>
        </p:txBody>
      </p:sp>
      <p:grpSp>
        <p:nvGrpSpPr>
          <p:cNvPr id="13" name="Group 12">
            <a:extLst>
              <a:ext uri="{FF2B5EF4-FFF2-40B4-BE49-F238E27FC236}">
                <a16:creationId xmlns:a16="http://schemas.microsoft.com/office/drawing/2014/main" id="{423B69C4-B4B7-2739-4046-7F8BA278280F}"/>
              </a:ext>
            </a:extLst>
          </p:cNvPr>
          <p:cNvGrpSpPr/>
          <p:nvPr/>
        </p:nvGrpSpPr>
        <p:grpSpPr>
          <a:xfrm>
            <a:off x="2971800" y="330984"/>
            <a:ext cx="2550960" cy="1141920"/>
            <a:chOff x="2971800" y="330984"/>
            <a:chExt cx="2550960" cy="1141920"/>
          </a:xfrm>
        </p:grpSpPr>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A0B6D268-8CE8-F1B8-C51C-4B8CEEB38CB4}"/>
                    </a:ext>
                  </a:extLst>
                </p14:cNvPr>
                <p14:cNvContentPartPr/>
                <p14:nvPr/>
              </p14:nvContentPartPr>
              <p14:xfrm>
                <a:off x="2971800" y="828144"/>
                <a:ext cx="1149120" cy="644760"/>
              </p14:xfrm>
            </p:contentPart>
          </mc:Choice>
          <mc:Fallback xmlns="">
            <p:pic>
              <p:nvPicPr>
                <p:cNvPr id="7" name="Ink 6">
                  <a:extLst>
                    <a:ext uri="{FF2B5EF4-FFF2-40B4-BE49-F238E27FC236}">
                      <a16:creationId xmlns:a16="http://schemas.microsoft.com/office/drawing/2014/main" id="{A0B6D268-8CE8-F1B8-C51C-4B8CEEB38CB4}"/>
                    </a:ext>
                  </a:extLst>
                </p:cNvPr>
                <p:cNvPicPr/>
                <p:nvPr/>
              </p:nvPicPr>
              <p:blipFill>
                <a:blip r:embed="rId3"/>
                <a:stretch>
                  <a:fillRect/>
                </a:stretch>
              </p:blipFill>
              <p:spPr>
                <a:xfrm>
                  <a:off x="2965680" y="822024"/>
                  <a:ext cx="1161360" cy="657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8C2CC0B-FC50-13CB-3DF0-6AC74ECBB4F2}"/>
                    </a:ext>
                  </a:extLst>
                </p14:cNvPr>
                <p14:cNvContentPartPr/>
                <p14:nvPr/>
              </p14:nvContentPartPr>
              <p14:xfrm>
                <a:off x="4409280" y="624744"/>
                <a:ext cx="106920" cy="437760"/>
              </p14:xfrm>
            </p:contentPart>
          </mc:Choice>
          <mc:Fallback xmlns="">
            <p:pic>
              <p:nvPicPr>
                <p:cNvPr id="8" name="Ink 7">
                  <a:extLst>
                    <a:ext uri="{FF2B5EF4-FFF2-40B4-BE49-F238E27FC236}">
                      <a16:creationId xmlns:a16="http://schemas.microsoft.com/office/drawing/2014/main" id="{88C2CC0B-FC50-13CB-3DF0-6AC74ECBB4F2}"/>
                    </a:ext>
                  </a:extLst>
                </p:cNvPr>
                <p:cNvPicPr/>
                <p:nvPr/>
              </p:nvPicPr>
              <p:blipFill>
                <a:blip r:embed="rId5"/>
                <a:stretch>
                  <a:fillRect/>
                </a:stretch>
              </p:blipFill>
              <p:spPr>
                <a:xfrm>
                  <a:off x="4403160" y="618624"/>
                  <a:ext cx="119160" cy="45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448C7382-0073-C5DC-A720-A9C3FC1DF300}"/>
                    </a:ext>
                  </a:extLst>
                </p14:cNvPr>
                <p14:cNvContentPartPr/>
                <p14:nvPr/>
              </p14:nvContentPartPr>
              <p14:xfrm>
                <a:off x="4310640" y="546984"/>
                <a:ext cx="260280" cy="192600"/>
              </p14:xfrm>
            </p:contentPart>
          </mc:Choice>
          <mc:Fallback xmlns="">
            <p:pic>
              <p:nvPicPr>
                <p:cNvPr id="9" name="Ink 8">
                  <a:extLst>
                    <a:ext uri="{FF2B5EF4-FFF2-40B4-BE49-F238E27FC236}">
                      <a16:creationId xmlns:a16="http://schemas.microsoft.com/office/drawing/2014/main" id="{448C7382-0073-C5DC-A720-A9C3FC1DF300}"/>
                    </a:ext>
                  </a:extLst>
                </p:cNvPr>
                <p:cNvPicPr/>
                <p:nvPr/>
              </p:nvPicPr>
              <p:blipFill>
                <a:blip r:embed="rId7"/>
                <a:stretch>
                  <a:fillRect/>
                </a:stretch>
              </p:blipFill>
              <p:spPr>
                <a:xfrm>
                  <a:off x="4304520" y="540864"/>
                  <a:ext cx="27252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C55911F8-0130-4B41-AFBD-E206109CFF34}"/>
                    </a:ext>
                  </a:extLst>
                </p14:cNvPr>
                <p14:cNvContentPartPr/>
                <p14:nvPr/>
              </p14:nvContentPartPr>
              <p14:xfrm>
                <a:off x="4836960" y="522864"/>
                <a:ext cx="252360" cy="361080"/>
              </p14:xfrm>
            </p:contentPart>
          </mc:Choice>
          <mc:Fallback xmlns="">
            <p:pic>
              <p:nvPicPr>
                <p:cNvPr id="10" name="Ink 9">
                  <a:extLst>
                    <a:ext uri="{FF2B5EF4-FFF2-40B4-BE49-F238E27FC236}">
                      <a16:creationId xmlns:a16="http://schemas.microsoft.com/office/drawing/2014/main" id="{C55911F8-0130-4B41-AFBD-E206109CFF34}"/>
                    </a:ext>
                  </a:extLst>
                </p:cNvPr>
                <p:cNvPicPr/>
                <p:nvPr/>
              </p:nvPicPr>
              <p:blipFill>
                <a:blip r:embed="rId9"/>
                <a:stretch>
                  <a:fillRect/>
                </a:stretch>
              </p:blipFill>
              <p:spPr>
                <a:xfrm>
                  <a:off x="4830840" y="516744"/>
                  <a:ext cx="264600" cy="373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16886D39-7313-CA05-D19C-5B3EB8BDD4FA}"/>
                    </a:ext>
                  </a:extLst>
                </p14:cNvPr>
                <p14:cNvContentPartPr/>
                <p14:nvPr/>
              </p14:nvContentPartPr>
              <p14:xfrm>
                <a:off x="5232600" y="360144"/>
                <a:ext cx="70200" cy="293400"/>
              </p14:xfrm>
            </p:contentPart>
          </mc:Choice>
          <mc:Fallback xmlns="">
            <p:pic>
              <p:nvPicPr>
                <p:cNvPr id="11" name="Ink 10">
                  <a:extLst>
                    <a:ext uri="{FF2B5EF4-FFF2-40B4-BE49-F238E27FC236}">
                      <a16:creationId xmlns:a16="http://schemas.microsoft.com/office/drawing/2014/main" id="{16886D39-7313-CA05-D19C-5B3EB8BDD4FA}"/>
                    </a:ext>
                  </a:extLst>
                </p:cNvPr>
                <p:cNvPicPr/>
                <p:nvPr/>
              </p:nvPicPr>
              <p:blipFill>
                <a:blip r:embed="rId11"/>
                <a:stretch>
                  <a:fillRect/>
                </a:stretch>
              </p:blipFill>
              <p:spPr>
                <a:xfrm>
                  <a:off x="5226480" y="354024"/>
                  <a:ext cx="8244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9121B54C-0F5E-4923-9F70-E2B184D45F9D}"/>
                    </a:ext>
                  </a:extLst>
                </p14:cNvPr>
                <p14:cNvContentPartPr/>
                <p14:nvPr/>
              </p14:nvContentPartPr>
              <p14:xfrm>
                <a:off x="5172480" y="330984"/>
                <a:ext cx="350280" cy="432360"/>
              </p14:xfrm>
            </p:contentPart>
          </mc:Choice>
          <mc:Fallback xmlns="">
            <p:pic>
              <p:nvPicPr>
                <p:cNvPr id="12" name="Ink 11">
                  <a:extLst>
                    <a:ext uri="{FF2B5EF4-FFF2-40B4-BE49-F238E27FC236}">
                      <a16:creationId xmlns:a16="http://schemas.microsoft.com/office/drawing/2014/main" id="{9121B54C-0F5E-4923-9F70-E2B184D45F9D}"/>
                    </a:ext>
                  </a:extLst>
                </p:cNvPr>
                <p:cNvPicPr/>
                <p:nvPr/>
              </p:nvPicPr>
              <p:blipFill>
                <a:blip r:embed="rId13"/>
                <a:stretch>
                  <a:fillRect/>
                </a:stretch>
              </p:blipFill>
              <p:spPr>
                <a:xfrm>
                  <a:off x="5166360" y="324864"/>
                  <a:ext cx="362520" cy="444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F709219E-E449-6126-74EF-5BDA7EBBACF6}"/>
                  </a:ext>
                </a:extLst>
              </p14:cNvPr>
              <p14:cNvContentPartPr/>
              <p14:nvPr/>
            </p14:nvContentPartPr>
            <p14:xfrm>
              <a:off x="11697480" y="5378184"/>
              <a:ext cx="360" cy="360"/>
            </p14:xfrm>
          </p:contentPart>
        </mc:Choice>
        <mc:Fallback xmlns="">
          <p:pic>
            <p:nvPicPr>
              <p:cNvPr id="14" name="Ink 13">
                <a:extLst>
                  <a:ext uri="{FF2B5EF4-FFF2-40B4-BE49-F238E27FC236}">
                    <a16:creationId xmlns:a16="http://schemas.microsoft.com/office/drawing/2014/main" id="{F709219E-E449-6126-74EF-5BDA7EBBACF6}"/>
                  </a:ext>
                </a:extLst>
              </p:cNvPr>
              <p:cNvPicPr/>
              <p:nvPr/>
            </p:nvPicPr>
            <p:blipFill>
              <a:blip r:embed="rId15"/>
              <a:stretch>
                <a:fillRect/>
              </a:stretch>
            </p:blipFill>
            <p:spPr>
              <a:xfrm>
                <a:off x="11691360" y="5372064"/>
                <a:ext cx="12600" cy="12600"/>
              </a:xfrm>
              <a:prstGeom prst="rect">
                <a:avLst/>
              </a:prstGeom>
            </p:spPr>
          </p:pic>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B9821-1F5E-8B4D-4763-01C81F1AEC2B}"/>
              </a:ext>
            </a:extLst>
          </p:cNvPr>
          <p:cNvSpPr>
            <a:spLocks noGrp="1"/>
          </p:cNvSpPr>
          <p:nvPr>
            <p:ph type="title"/>
          </p:nvPr>
        </p:nvSpPr>
        <p:spPr>
          <a:xfrm>
            <a:off x="307340" y="247599"/>
            <a:ext cx="8529319" cy="446276"/>
          </a:xfrm>
        </p:spPr>
        <p:txBody>
          <a:bodyPr/>
          <a:lstStyle/>
          <a:p>
            <a:r>
              <a:rPr lang="en-US" dirty="0"/>
              <a:t>VPC and subnets</a:t>
            </a:r>
          </a:p>
        </p:txBody>
      </p:sp>
      <p:pic>
        <p:nvPicPr>
          <p:cNvPr id="5" name="Picture 4">
            <a:extLst>
              <a:ext uri="{FF2B5EF4-FFF2-40B4-BE49-F238E27FC236}">
                <a16:creationId xmlns:a16="http://schemas.microsoft.com/office/drawing/2014/main" id="{826497E6-29D3-8904-24B9-4CA7A60C55A1}"/>
              </a:ext>
            </a:extLst>
          </p:cNvPr>
          <p:cNvPicPr>
            <a:picLocks noChangeAspect="1"/>
          </p:cNvPicPr>
          <p:nvPr/>
        </p:nvPicPr>
        <p:blipFill>
          <a:blip r:embed="rId2"/>
          <a:srcRect t="13740"/>
          <a:stretch>
            <a:fillRect/>
          </a:stretch>
        </p:blipFill>
        <p:spPr>
          <a:xfrm>
            <a:off x="620838" y="1676399"/>
            <a:ext cx="8370762" cy="3816713"/>
          </a:xfrm>
          <a:prstGeom prst="rect">
            <a:avLst/>
          </a:prstGeom>
        </p:spPr>
      </p:pic>
      <p:sp>
        <p:nvSpPr>
          <p:cNvPr id="3" name="TextBox 2">
            <a:extLst>
              <a:ext uri="{FF2B5EF4-FFF2-40B4-BE49-F238E27FC236}">
                <a16:creationId xmlns:a16="http://schemas.microsoft.com/office/drawing/2014/main" id="{DB83E952-78E1-3D6F-DB6E-93A1ECC78BC7}"/>
              </a:ext>
            </a:extLst>
          </p:cNvPr>
          <p:cNvSpPr txBox="1"/>
          <p:nvPr/>
        </p:nvSpPr>
        <p:spPr>
          <a:xfrm>
            <a:off x="6858000" y="1491733"/>
            <a:ext cx="684803" cy="369332"/>
          </a:xfrm>
          <a:prstGeom prst="rect">
            <a:avLst/>
          </a:prstGeom>
          <a:noFill/>
        </p:spPr>
        <p:txBody>
          <a:bodyPr wrap="none" rtlCol="0">
            <a:spAutoFit/>
          </a:bodyPr>
          <a:lstStyle/>
          <a:p>
            <a:r>
              <a:rPr lang="en-US" dirty="0"/>
              <a:t>www</a:t>
            </a:r>
          </a:p>
        </p:txBody>
      </p:sp>
    </p:spTree>
    <p:extLst>
      <p:ext uri="{BB962C8B-B14F-4D97-AF65-F5344CB8AC3E}">
        <p14:creationId xmlns:p14="http://schemas.microsoft.com/office/powerpoint/2010/main" val="17152877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07479-C22F-028B-3A60-2447E6A29D34}"/>
              </a:ext>
            </a:extLst>
          </p:cNvPr>
          <p:cNvSpPr>
            <a:spLocks noGrp="1"/>
          </p:cNvSpPr>
          <p:nvPr>
            <p:ph type="title"/>
          </p:nvPr>
        </p:nvSpPr>
        <p:spPr>
          <a:xfrm>
            <a:off x="307340" y="247599"/>
            <a:ext cx="8529319" cy="446276"/>
          </a:xfrm>
        </p:spPr>
        <p:txBody>
          <a:bodyPr/>
          <a:lstStyle/>
          <a:p>
            <a:r>
              <a:rPr lang="en-US" dirty="0"/>
              <a:t>VPC architecture</a:t>
            </a:r>
          </a:p>
        </p:txBody>
      </p:sp>
      <p:pic>
        <p:nvPicPr>
          <p:cNvPr id="4" name="Picture 3" descr="Figure 1.1 - VPC - Virtual Private Cloud | A Diagram of VPC with Two Subnets - Public &amp; Private w/ NAT Gateway Routing">
            <a:extLst>
              <a:ext uri="{FF2B5EF4-FFF2-40B4-BE49-F238E27FC236}">
                <a16:creationId xmlns:a16="http://schemas.microsoft.com/office/drawing/2014/main" id="{846930DA-E5BE-5E53-699B-FC2F0840BA8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9466" y="1752600"/>
            <a:ext cx="8090369" cy="4576763"/>
          </a:xfrm>
          <a:prstGeom prst="rect">
            <a:avLst/>
          </a:prstGeom>
          <a:noFill/>
          <a:ln>
            <a:noFill/>
          </a:ln>
        </p:spPr>
      </p:pic>
    </p:spTree>
    <p:extLst>
      <p:ext uri="{BB962C8B-B14F-4D97-AF65-F5344CB8AC3E}">
        <p14:creationId xmlns:p14="http://schemas.microsoft.com/office/powerpoint/2010/main" val="35422408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498BA-23BF-C87D-A7CF-406AA49F60E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962237C-9A9C-CAE7-CA57-52569471B42B}"/>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A58A7003-F6D7-9886-601D-FCAF25E2E2F1}"/>
              </a:ext>
            </a:extLst>
          </p:cNvPr>
          <p:cNvPicPr>
            <a:picLocks noChangeAspect="1"/>
          </p:cNvPicPr>
          <p:nvPr/>
        </p:nvPicPr>
        <p:blipFill>
          <a:blip r:embed="rId2"/>
          <a:stretch>
            <a:fillRect/>
          </a:stretch>
        </p:blipFill>
        <p:spPr>
          <a:xfrm>
            <a:off x="0" y="790613"/>
            <a:ext cx="9144000" cy="5276774"/>
          </a:xfrm>
          <a:prstGeom prst="rect">
            <a:avLst/>
          </a:prstGeom>
        </p:spPr>
      </p:pic>
    </p:spTree>
    <p:extLst>
      <p:ext uri="{BB962C8B-B14F-4D97-AF65-F5344CB8AC3E}">
        <p14:creationId xmlns:p14="http://schemas.microsoft.com/office/powerpoint/2010/main" val="13900413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340" y="247599"/>
            <a:ext cx="2473960" cy="574675"/>
          </a:xfrm>
          <a:prstGeom prst="rect">
            <a:avLst/>
          </a:prstGeom>
        </p:spPr>
        <p:txBody>
          <a:bodyPr vert="horz" wrap="square" lIns="0" tIns="12700" rIns="0" bIns="0" rtlCol="0">
            <a:spAutoFit/>
          </a:bodyPr>
          <a:lstStyle/>
          <a:p>
            <a:pPr marL="12700">
              <a:lnSpc>
                <a:spcPct val="100000"/>
              </a:lnSpc>
              <a:spcBef>
                <a:spcPts val="100"/>
              </a:spcBef>
            </a:pPr>
            <a:r>
              <a:rPr sz="3600" spc="-25" dirty="0"/>
              <a:t>Types</a:t>
            </a:r>
            <a:r>
              <a:rPr sz="3600" spc="-145" dirty="0"/>
              <a:t> </a:t>
            </a:r>
            <a:r>
              <a:rPr sz="3600" dirty="0"/>
              <a:t>of</a:t>
            </a:r>
            <a:r>
              <a:rPr sz="3600" spc="-145" dirty="0"/>
              <a:t> </a:t>
            </a:r>
            <a:r>
              <a:rPr sz="3600" spc="-35" dirty="0"/>
              <a:t>VPC</a:t>
            </a:r>
            <a:endParaRPr sz="3600"/>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07340" y="1370228"/>
            <a:ext cx="8298815" cy="4249420"/>
          </a:xfrm>
          <a:prstGeom prst="rect">
            <a:avLst/>
          </a:prstGeom>
        </p:spPr>
        <p:txBody>
          <a:bodyPr vert="horz" wrap="square" lIns="0" tIns="64135" rIns="0" bIns="0" rtlCol="0">
            <a:spAutoFit/>
          </a:bodyPr>
          <a:lstStyle/>
          <a:p>
            <a:pPr marL="469265" indent="-456565">
              <a:lnSpc>
                <a:spcPct val="100000"/>
              </a:lnSpc>
              <a:spcBef>
                <a:spcPts val="505"/>
              </a:spcBef>
              <a:buClr>
                <a:srgbClr val="D24717"/>
              </a:buClr>
              <a:buSzPct val="84090"/>
              <a:buAutoNum type="arabicPeriod"/>
              <a:tabLst>
                <a:tab pos="469265" algn="l"/>
              </a:tabLst>
            </a:pPr>
            <a:r>
              <a:rPr sz="2200" spc="-114" dirty="0">
                <a:latin typeface="Times New Roman"/>
                <a:cs typeface="Times New Roman"/>
              </a:rPr>
              <a:t>Default</a:t>
            </a:r>
            <a:r>
              <a:rPr sz="2200" spc="-265" dirty="0">
                <a:latin typeface="Times New Roman"/>
                <a:cs typeface="Times New Roman"/>
              </a:rPr>
              <a:t> </a:t>
            </a:r>
            <a:r>
              <a:rPr sz="2200" spc="-25" dirty="0">
                <a:latin typeface="Times New Roman"/>
                <a:cs typeface="Times New Roman"/>
              </a:rPr>
              <a:t>VPC</a:t>
            </a:r>
            <a:endParaRPr sz="2200">
              <a:latin typeface="Times New Roman"/>
              <a:cs typeface="Times New Roman"/>
            </a:endParaRPr>
          </a:p>
          <a:p>
            <a:pPr marL="744220" lvl="1" indent="-457834">
              <a:lnSpc>
                <a:spcPct val="100000"/>
              </a:lnSpc>
              <a:spcBef>
                <a:spcPts val="409"/>
              </a:spcBef>
              <a:buClr>
                <a:srgbClr val="9B2C1F"/>
              </a:buClr>
              <a:buSzPct val="84090"/>
              <a:buAutoNum type="arabicPeriod"/>
              <a:tabLst>
                <a:tab pos="744220" algn="l"/>
              </a:tabLst>
            </a:pPr>
            <a:r>
              <a:rPr sz="2200" spc="-90" dirty="0">
                <a:latin typeface="Times New Roman"/>
                <a:cs typeface="Times New Roman"/>
              </a:rPr>
              <a:t>Created</a:t>
            </a:r>
            <a:r>
              <a:rPr sz="2200" spc="-35" dirty="0">
                <a:latin typeface="Times New Roman"/>
                <a:cs typeface="Times New Roman"/>
              </a:rPr>
              <a:t> </a:t>
            </a:r>
            <a:r>
              <a:rPr sz="2200" spc="-105" dirty="0">
                <a:latin typeface="Times New Roman"/>
                <a:cs typeface="Times New Roman"/>
              </a:rPr>
              <a:t>in</a:t>
            </a:r>
            <a:r>
              <a:rPr sz="2200" spc="-30" dirty="0">
                <a:latin typeface="Times New Roman"/>
                <a:cs typeface="Times New Roman"/>
              </a:rPr>
              <a:t> </a:t>
            </a:r>
            <a:r>
              <a:rPr sz="2200" spc="-135" dirty="0">
                <a:latin typeface="Times New Roman"/>
                <a:cs typeface="Times New Roman"/>
              </a:rPr>
              <a:t>each</a:t>
            </a:r>
            <a:r>
              <a:rPr sz="2200" spc="-204" dirty="0">
                <a:latin typeface="Times New Roman"/>
                <a:cs typeface="Times New Roman"/>
              </a:rPr>
              <a:t> </a:t>
            </a:r>
            <a:r>
              <a:rPr sz="2200" spc="-295" dirty="0">
                <a:latin typeface="Times New Roman"/>
                <a:cs typeface="Times New Roman"/>
              </a:rPr>
              <a:t>AWS</a:t>
            </a:r>
            <a:r>
              <a:rPr sz="2200" spc="-30" dirty="0">
                <a:latin typeface="Times New Roman"/>
                <a:cs typeface="Times New Roman"/>
              </a:rPr>
              <a:t> </a:t>
            </a:r>
            <a:r>
              <a:rPr sz="2200" spc="-95" dirty="0">
                <a:latin typeface="Times New Roman"/>
                <a:cs typeface="Times New Roman"/>
              </a:rPr>
              <a:t>region</a:t>
            </a:r>
            <a:r>
              <a:rPr sz="2200" spc="-25" dirty="0">
                <a:latin typeface="Times New Roman"/>
                <a:cs typeface="Times New Roman"/>
              </a:rPr>
              <a:t> </a:t>
            </a:r>
            <a:r>
              <a:rPr sz="2200" spc="-125" dirty="0">
                <a:latin typeface="Times New Roman"/>
                <a:cs typeface="Times New Roman"/>
              </a:rPr>
              <a:t>when</a:t>
            </a:r>
            <a:r>
              <a:rPr sz="2200" spc="-35" dirty="0">
                <a:latin typeface="Times New Roman"/>
                <a:cs typeface="Times New Roman"/>
              </a:rPr>
              <a:t> </a:t>
            </a:r>
            <a:r>
              <a:rPr sz="2200" spc="-140" dirty="0">
                <a:latin typeface="Times New Roman"/>
                <a:cs typeface="Times New Roman"/>
              </a:rPr>
              <a:t>an</a:t>
            </a:r>
            <a:r>
              <a:rPr sz="2200" spc="-204" dirty="0">
                <a:latin typeface="Times New Roman"/>
                <a:cs typeface="Times New Roman"/>
              </a:rPr>
              <a:t> </a:t>
            </a:r>
            <a:r>
              <a:rPr sz="2200" spc="-295" dirty="0">
                <a:latin typeface="Times New Roman"/>
                <a:cs typeface="Times New Roman"/>
              </a:rPr>
              <a:t>AWS</a:t>
            </a:r>
            <a:r>
              <a:rPr sz="2200" spc="-30" dirty="0">
                <a:latin typeface="Times New Roman"/>
                <a:cs typeface="Times New Roman"/>
              </a:rPr>
              <a:t> </a:t>
            </a:r>
            <a:r>
              <a:rPr sz="2200" spc="-105" dirty="0">
                <a:latin typeface="Times New Roman"/>
                <a:cs typeface="Times New Roman"/>
              </a:rPr>
              <a:t>account</a:t>
            </a:r>
            <a:r>
              <a:rPr sz="2200" spc="-15" dirty="0">
                <a:latin typeface="Times New Roman"/>
                <a:cs typeface="Times New Roman"/>
              </a:rPr>
              <a:t> </a:t>
            </a:r>
            <a:r>
              <a:rPr sz="2200" spc="-145" dirty="0">
                <a:latin typeface="Times New Roman"/>
                <a:cs typeface="Times New Roman"/>
              </a:rPr>
              <a:t>is</a:t>
            </a:r>
            <a:r>
              <a:rPr sz="2200" spc="-55" dirty="0">
                <a:latin typeface="Times New Roman"/>
                <a:cs typeface="Times New Roman"/>
              </a:rPr>
              <a:t> </a:t>
            </a:r>
            <a:r>
              <a:rPr sz="2200" spc="-10" dirty="0">
                <a:latin typeface="Times New Roman"/>
                <a:cs typeface="Times New Roman"/>
              </a:rPr>
              <a:t>created</a:t>
            </a:r>
            <a:endParaRPr sz="2200">
              <a:latin typeface="Times New Roman"/>
              <a:cs typeface="Times New Roman"/>
            </a:endParaRPr>
          </a:p>
          <a:p>
            <a:pPr marL="744220" lvl="1" indent="-457834">
              <a:lnSpc>
                <a:spcPct val="100000"/>
              </a:lnSpc>
              <a:spcBef>
                <a:spcPts val="395"/>
              </a:spcBef>
              <a:buClr>
                <a:srgbClr val="9B2C1F"/>
              </a:buClr>
              <a:buSzPct val="84090"/>
              <a:buAutoNum type="arabicPeriod"/>
              <a:tabLst>
                <a:tab pos="744220" algn="l"/>
              </a:tabLst>
            </a:pPr>
            <a:r>
              <a:rPr sz="2200" spc="-165" dirty="0">
                <a:latin typeface="Times New Roman"/>
                <a:cs typeface="Times New Roman"/>
              </a:rPr>
              <a:t>Has</a:t>
            </a:r>
            <a:r>
              <a:rPr sz="2200" spc="-30" dirty="0">
                <a:latin typeface="Times New Roman"/>
                <a:cs typeface="Times New Roman"/>
              </a:rPr>
              <a:t> </a:t>
            </a:r>
            <a:r>
              <a:rPr sz="2200" spc="-110" dirty="0">
                <a:latin typeface="Times New Roman"/>
                <a:cs typeface="Times New Roman"/>
              </a:rPr>
              <a:t>default</a:t>
            </a:r>
            <a:r>
              <a:rPr sz="2200" spc="-15" dirty="0">
                <a:latin typeface="Times New Roman"/>
                <a:cs typeface="Times New Roman"/>
              </a:rPr>
              <a:t> </a:t>
            </a:r>
            <a:r>
              <a:rPr sz="2200" spc="-105" dirty="0">
                <a:latin typeface="Times New Roman"/>
                <a:cs typeface="Times New Roman"/>
              </a:rPr>
              <a:t>CIDR, </a:t>
            </a:r>
            <a:r>
              <a:rPr sz="2200" spc="-95" dirty="0">
                <a:latin typeface="Times New Roman"/>
                <a:cs typeface="Times New Roman"/>
              </a:rPr>
              <a:t>security</a:t>
            </a:r>
            <a:r>
              <a:rPr sz="2200" spc="-15" dirty="0">
                <a:latin typeface="Times New Roman"/>
                <a:cs typeface="Times New Roman"/>
              </a:rPr>
              <a:t> </a:t>
            </a:r>
            <a:r>
              <a:rPr sz="2200" spc="-75" dirty="0">
                <a:latin typeface="Times New Roman"/>
                <a:cs typeface="Times New Roman"/>
              </a:rPr>
              <a:t>group,</a:t>
            </a:r>
            <a:r>
              <a:rPr sz="2200" spc="-90" dirty="0">
                <a:latin typeface="Times New Roman"/>
                <a:cs typeface="Times New Roman"/>
              </a:rPr>
              <a:t> </a:t>
            </a:r>
            <a:r>
              <a:rPr sz="2200" spc="-235" dirty="0">
                <a:latin typeface="Times New Roman"/>
                <a:cs typeface="Times New Roman"/>
              </a:rPr>
              <a:t>NACL</a:t>
            </a:r>
            <a:r>
              <a:rPr sz="2200" spc="-5" dirty="0">
                <a:latin typeface="Times New Roman"/>
                <a:cs typeface="Times New Roman"/>
              </a:rPr>
              <a:t> </a:t>
            </a:r>
            <a:r>
              <a:rPr sz="2200" spc="-135" dirty="0">
                <a:latin typeface="Times New Roman"/>
                <a:cs typeface="Times New Roman"/>
              </a:rPr>
              <a:t>and</a:t>
            </a:r>
            <a:r>
              <a:rPr sz="2200" spc="-10" dirty="0">
                <a:latin typeface="Times New Roman"/>
                <a:cs typeface="Times New Roman"/>
              </a:rPr>
              <a:t> </a:t>
            </a:r>
            <a:r>
              <a:rPr sz="2200" spc="-85" dirty="0">
                <a:latin typeface="Times New Roman"/>
                <a:cs typeface="Times New Roman"/>
              </a:rPr>
              <a:t>routing</a:t>
            </a:r>
            <a:r>
              <a:rPr sz="2200" spc="15" dirty="0">
                <a:latin typeface="Times New Roman"/>
                <a:cs typeface="Times New Roman"/>
              </a:rPr>
              <a:t> </a:t>
            </a:r>
            <a:r>
              <a:rPr sz="2200" spc="-105" dirty="0">
                <a:latin typeface="Times New Roman"/>
                <a:cs typeface="Times New Roman"/>
              </a:rPr>
              <a:t>table</a:t>
            </a:r>
            <a:r>
              <a:rPr sz="2200" spc="-30" dirty="0">
                <a:latin typeface="Times New Roman"/>
                <a:cs typeface="Times New Roman"/>
              </a:rPr>
              <a:t> </a:t>
            </a:r>
            <a:r>
              <a:rPr sz="2200" spc="-10" dirty="0">
                <a:latin typeface="Times New Roman"/>
                <a:cs typeface="Times New Roman"/>
              </a:rPr>
              <a:t>settings.</a:t>
            </a:r>
            <a:endParaRPr sz="2200">
              <a:latin typeface="Times New Roman"/>
              <a:cs typeface="Times New Roman"/>
            </a:endParaRPr>
          </a:p>
          <a:p>
            <a:pPr marL="744220" lvl="1" indent="-457834">
              <a:lnSpc>
                <a:spcPct val="100000"/>
              </a:lnSpc>
              <a:spcBef>
                <a:spcPts val="395"/>
              </a:spcBef>
              <a:buClr>
                <a:srgbClr val="9B2C1F"/>
              </a:buClr>
              <a:buSzPct val="84090"/>
              <a:buAutoNum type="arabicPeriod"/>
              <a:tabLst>
                <a:tab pos="744220" algn="l"/>
              </a:tabLst>
            </a:pPr>
            <a:r>
              <a:rPr sz="2200" spc="-165" dirty="0">
                <a:latin typeface="Times New Roman"/>
                <a:cs typeface="Times New Roman"/>
              </a:rPr>
              <a:t>Has</a:t>
            </a:r>
            <a:r>
              <a:rPr sz="2200" spc="-50" dirty="0">
                <a:latin typeface="Times New Roman"/>
                <a:cs typeface="Times New Roman"/>
              </a:rPr>
              <a:t> </a:t>
            </a:r>
            <a:r>
              <a:rPr sz="2200" spc="-140" dirty="0">
                <a:latin typeface="Times New Roman"/>
                <a:cs typeface="Times New Roman"/>
              </a:rPr>
              <a:t>an</a:t>
            </a:r>
            <a:r>
              <a:rPr sz="2200" spc="-30" dirty="0">
                <a:latin typeface="Times New Roman"/>
                <a:cs typeface="Times New Roman"/>
              </a:rPr>
              <a:t> </a:t>
            </a:r>
            <a:r>
              <a:rPr sz="2200" spc="-60" dirty="0">
                <a:latin typeface="Times New Roman"/>
                <a:cs typeface="Times New Roman"/>
              </a:rPr>
              <a:t>Internet</a:t>
            </a:r>
            <a:r>
              <a:rPr sz="2200" spc="-10" dirty="0">
                <a:latin typeface="Times New Roman"/>
                <a:cs typeface="Times New Roman"/>
              </a:rPr>
              <a:t> </a:t>
            </a:r>
            <a:r>
              <a:rPr sz="2200" spc="-165" dirty="0">
                <a:latin typeface="Times New Roman"/>
                <a:cs typeface="Times New Roman"/>
              </a:rPr>
              <a:t>gateway</a:t>
            </a:r>
            <a:r>
              <a:rPr sz="2200" spc="-45" dirty="0">
                <a:latin typeface="Times New Roman"/>
                <a:cs typeface="Times New Roman"/>
              </a:rPr>
              <a:t> </a:t>
            </a:r>
            <a:r>
              <a:rPr sz="2200" spc="-185" dirty="0">
                <a:latin typeface="Times New Roman"/>
                <a:cs typeface="Times New Roman"/>
              </a:rPr>
              <a:t>by</a:t>
            </a:r>
            <a:r>
              <a:rPr sz="2200" spc="-40" dirty="0">
                <a:latin typeface="Times New Roman"/>
                <a:cs typeface="Times New Roman"/>
              </a:rPr>
              <a:t> </a:t>
            </a:r>
            <a:r>
              <a:rPr sz="2200" spc="-10" dirty="0">
                <a:latin typeface="Times New Roman"/>
                <a:cs typeface="Times New Roman"/>
              </a:rPr>
              <a:t>default</a:t>
            </a:r>
            <a:endParaRPr sz="2200">
              <a:latin typeface="Times New Roman"/>
              <a:cs typeface="Times New Roman"/>
            </a:endParaRPr>
          </a:p>
          <a:p>
            <a:pPr lvl="1">
              <a:lnSpc>
                <a:spcPct val="100000"/>
              </a:lnSpc>
              <a:spcBef>
                <a:spcPts val="1120"/>
              </a:spcBef>
              <a:buClr>
                <a:srgbClr val="9B2C1F"/>
              </a:buClr>
              <a:buFont typeface="Times New Roman"/>
              <a:buAutoNum type="arabicPeriod"/>
            </a:pPr>
            <a:endParaRPr sz="2200">
              <a:latin typeface="Times New Roman"/>
              <a:cs typeface="Times New Roman"/>
            </a:endParaRPr>
          </a:p>
          <a:p>
            <a:pPr marL="469265" indent="-456565">
              <a:lnSpc>
                <a:spcPct val="100000"/>
              </a:lnSpc>
              <a:spcBef>
                <a:spcPts val="5"/>
              </a:spcBef>
              <a:buClr>
                <a:srgbClr val="D24717"/>
              </a:buClr>
              <a:buSzPct val="84090"/>
              <a:buAutoNum type="arabicPeriod"/>
              <a:tabLst>
                <a:tab pos="469265" algn="l"/>
              </a:tabLst>
            </a:pPr>
            <a:r>
              <a:rPr sz="2200" spc="-114" dirty="0">
                <a:latin typeface="Times New Roman"/>
                <a:cs typeface="Times New Roman"/>
              </a:rPr>
              <a:t>Custom</a:t>
            </a:r>
            <a:r>
              <a:rPr sz="2200" spc="-250" dirty="0">
                <a:latin typeface="Times New Roman"/>
                <a:cs typeface="Times New Roman"/>
              </a:rPr>
              <a:t> </a:t>
            </a:r>
            <a:r>
              <a:rPr sz="2200" spc="-25" dirty="0">
                <a:latin typeface="Times New Roman"/>
                <a:cs typeface="Times New Roman"/>
              </a:rPr>
              <a:t>VPC</a:t>
            </a:r>
            <a:endParaRPr sz="2200">
              <a:latin typeface="Times New Roman"/>
              <a:cs typeface="Times New Roman"/>
            </a:endParaRPr>
          </a:p>
          <a:p>
            <a:pPr marL="744220" lvl="1" indent="-457834">
              <a:lnSpc>
                <a:spcPct val="100000"/>
              </a:lnSpc>
              <a:spcBef>
                <a:spcPts val="395"/>
              </a:spcBef>
              <a:buClr>
                <a:srgbClr val="9B2C1F"/>
              </a:buClr>
              <a:buSzPct val="84090"/>
              <a:buAutoNum type="arabicPeriod"/>
              <a:tabLst>
                <a:tab pos="744220" algn="l"/>
              </a:tabLst>
            </a:pPr>
            <a:r>
              <a:rPr sz="2200" spc="-65" dirty="0">
                <a:latin typeface="Times New Roman"/>
                <a:cs typeface="Times New Roman"/>
              </a:rPr>
              <a:t>It</a:t>
            </a:r>
            <a:r>
              <a:rPr sz="2200" spc="-45" dirty="0">
                <a:latin typeface="Times New Roman"/>
                <a:cs typeface="Times New Roman"/>
              </a:rPr>
              <a:t> </a:t>
            </a:r>
            <a:r>
              <a:rPr sz="2200" spc="-145" dirty="0">
                <a:latin typeface="Times New Roman"/>
                <a:cs typeface="Times New Roman"/>
              </a:rPr>
              <a:t>is</a:t>
            </a:r>
            <a:r>
              <a:rPr sz="2200" spc="-55" dirty="0">
                <a:latin typeface="Times New Roman"/>
                <a:cs typeface="Times New Roman"/>
              </a:rPr>
              <a:t> </a:t>
            </a:r>
            <a:r>
              <a:rPr sz="2200" spc="-185" dirty="0">
                <a:latin typeface="Times New Roman"/>
                <a:cs typeface="Times New Roman"/>
              </a:rPr>
              <a:t>a</a:t>
            </a:r>
            <a:r>
              <a:rPr sz="2200" spc="-320" dirty="0">
                <a:latin typeface="Times New Roman"/>
                <a:cs typeface="Times New Roman"/>
              </a:rPr>
              <a:t> </a:t>
            </a:r>
            <a:r>
              <a:rPr sz="2200" spc="-185" dirty="0">
                <a:latin typeface="Times New Roman"/>
                <a:cs typeface="Times New Roman"/>
              </a:rPr>
              <a:t>VPC</a:t>
            </a:r>
            <a:r>
              <a:rPr sz="2200" spc="-45" dirty="0">
                <a:latin typeface="Times New Roman"/>
                <a:cs typeface="Times New Roman"/>
              </a:rPr>
              <a:t> </a:t>
            </a:r>
            <a:r>
              <a:rPr sz="2200" spc="-105" dirty="0">
                <a:latin typeface="Times New Roman"/>
                <a:cs typeface="Times New Roman"/>
              </a:rPr>
              <a:t>on</a:t>
            </a:r>
            <a:r>
              <a:rPr sz="2200" spc="-195" dirty="0">
                <a:latin typeface="Times New Roman"/>
                <a:cs typeface="Times New Roman"/>
              </a:rPr>
              <a:t> </a:t>
            </a:r>
            <a:r>
              <a:rPr sz="2200" spc="-295" dirty="0">
                <a:latin typeface="Times New Roman"/>
                <a:cs typeface="Times New Roman"/>
              </a:rPr>
              <a:t>AWS</a:t>
            </a:r>
            <a:r>
              <a:rPr sz="2200" spc="-50" dirty="0">
                <a:latin typeface="Times New Roman"/>
                <a:cs typeface="Times New Roman"/>
              </a:rPr>
              <a:t> </a:t>
            </a:r>
            <a:r>
              <a:rPr sz="2200" spc="-105" dirty="0">
                <a:latin typeface="Times New Roman"/>
                <a:cs typeface="Times New Roman"/>
              </a:rPr>
              <a:t>account</a:t>
            </a:r>
            <a:r>
              <a:rPr sz="2200" spc="-15" dirty="0">
                <a:latin typeface="Times New Roman"/>
                <a:cs typeface="Times New Roman"/>
              </a:rPr>
              <a:t> </a:t>
            </a:r>
            <a:r>
              <a:rPr sz="2200" spc="-100" dirty="0">
                <a:latin typeface="Times New Roman"/>
                <a:cs typeface="Times New Roman"/>
              </a:rPr>
              <a:t>owner</a:t>
            </a:r>
            <a:r>
              <a:rPr sz="2200" spc="-25" dirty="0">
                <a:latin typeface="Times New Roman"/>
                <a:cs typeface="Times New Roman"/>
              </a:rPr>
              <a:t> </a:t>
            </a:r>
            <a:r>
              <a:rPr sz="2200" spc="-10" dirty="0">
                <a:latin typeface="Times New Roman"/>
                <a:cs typeface="Times New Roman"/>
              </a:rPr>
              <a:t>creates</a:t>
            </a:r>
            <a:endParaRPr sz="2200">
              <a:latin typeface="Times New Roman"/>
              <a:cs typeface="Times New Roman"/>
            </a:endParaRPr>
          </a:p>
          <a:p>
            <a:pPr marL="744220" lvl="1" indent="-457834">
              <a:lnSpc>
                <a:spcPct val="100000"/>
              </a:lnSpc>
              <a:spcBef>
                <a:spcPts val="395"/>
              </a:spcBef>
              <a:buClr>
                <a:srgbClr val="9B2C1F"/>
              </a:buClr>
              <a:buSzPct val="84090"/>
              <a:buAutoNum type="arabicPeriod"/>
              <a:tabLst>
                <a:tab pos="744220" algn="l"/>
              </a:tabLst>
            </a:pPr>
            <a:r>
              <a:rPr sz="2200" spc="-295" dirty="0">
                <a:latin typeface="Times New Roman"/>
                <a:cs typeface="Times New Roman"/>
              </a:rPr>
              <a:t>AWS</a:t>
            </a:r>
            <a:r>
              <a:rPr sz="2200" spc="-55" dirty="0">
                <a:latin typeface="Times New Roman"/>
                <a:cs typeface="Times New Roman"/>
              </a:rPr>
              <a:t> </a:t>
            </a:r>
            <a:r>
              <a:rPr sz="2200" spc="-85" dirty="0">
                <a:latin typeface="Times New Roman"/>
                <a:cs typeface="Times New Roman"/>
              </a:rPr>
              <a:t>user</a:t>
            </a:r>
            <a:r>
              <a:rPr sz="2200" spc="-20" dirty="0">
                <a:latin typeface="Times New Roman"/>
                <a:cs typeface="Times New Roman"/>
              </a:rPr>
              <a:t> </a:t>
            </a:r>
            <a:r>
              <a:rPr sz="2200" spc="-110" dirty="0">
                <a:latin typeface="Times New Roman"/>
                <a:cs typeface="Times New Roman"/>
              </a:rPr>
              <a:t>creating</a:t>
            </a:r>
            <a:r>
              <a:rPr sz="2200" spc="-15" dirty="0">
                <a:latin typeface="Times New Roman"/>
                <a:cs typeface="Times New Roman"/>
              </a:rPr>
              <a:t> </a:t>
            </a:r>
            <a:r>
              <a:rPr sz="2200" spc="-110" dirty="0">
                <a:latin typeface="Times New Roman"/>
                <a:cs typeface="Times New Roman"/>
              </a:rPr>
              <a:t>custom</a:t>
            </a:r>
            <a:r>
              <a:rPr sz="2200" spc="-300" dirty="0">
                <a:latin typeface="Times New Roman"/>
                <a:cs typeface="Times New Roman"/>
              </a:rPr>
              <a:t> </a:t>
            </a:r>
            <a:r>
              <a:rPr sz="2200" spc="-185" dirty="0">
                <a:latin typeface="Times New Roman"/>
                <a:cs typeface="Times New Roman"/>
              </a:rPr>
              <a:t>VPC</a:t>
            </a:r>
            <a:r>
              <a:rPr sz="2200" spc="-40" dirty="0">
                <a:latin typeface="Times New Roman"/>
                <a:cs typeface="Times New Roman"/>
              </a:rPr>
              <a:t> </a:t>
            </a:r>
            <a:r>
              <a:rPr sz="2200" spc="-140" dirty="0">
                <a:latin typeface="Times New Roman"/>
                <a:cs typeface="Times New Roman"/>
              </a:rPr>
              <a:t>can</a:t>
            </a:r>
            <a:r>
              <a:rPr sz="2200" spc="-35" dirty="0">
                <a:latin typeface="Times New Roman"/>
                <a:cs typeface="Times New Roman"/>
              </a:rPr>
              <a:t> </a:t>
            </a:r>
            <a:r>
              <a:rPr sz="2200" spc="-114" dirty="0">
                <a:latin typeface="Times New Roman"/>
                <a:cs typeface="Times New Roman"/>
              </a:rPr>
              <a:t>decide</a:t>
            </a:r>
            <a:r>
              <a:rPr sz="2200" spc="-25" dirty="0">
                <a:latin typeface="Times New Roman"/>
                <a:cs typeface="Times New Roman"/>
              </a:rPr>
              <a:t> </a:t>
            </a:r>
            <a:r>
              <a:rPr sz="2200" spc="-70" dirty="0">
                <a:latin typeface="Times New Roman"/>
                <a:cs typeface="Times New Roman"/>
              </a:rPr>
              <a:t>the</a:t>
            </a:r>
            <a:r>
              <a:rPr sz="2200" spc="-40" dirty="0">
                <a:latin typeface="Times New Roman"/>
                <a:cs typeface="Times New Roman"/>
              </a:rPr>
              <a:t> </a:t>
            </a:r>
            <a:r>
              <a:rPr sz="2200" spc="-20" dirty="0">
                <a:latin typeface="Times New Roman"/>
                <a:cs typeface="Times New Roman"/>
              </a:rPr>
              <a:t>CIDR</a:t>
            </a:r>
            <a:endParaRPr sz="2200">
              <a:latin typeface="Times New Roman"/>
              <a:cs typeface="Times New Roman"/>
            </a:endParaRPr>
          </a:p>
          <a:p>
            <a:pPr marL="744220" lvl="1" indent="-457834">
              <a:lnSpc>
                <a:spcPct val="100000"/>
              </a:lnSpc>
              <a:spcBef>
                <a:spcPts val="409"/>
              </a:spcBef>
              <a:buClr>
                <a:srgbClr val="9B2C1F"/>
              </a:buClr>
              <a:buSzPct val="84090"/>
              <a:buAutoNum type="arabicPeriod"/>
              <a:tabLst>
                <a:tab pos="744220" algn="l"/>
              </a:tabLst>
            </a:pPr>
            <a:r>
              <a:rPr sz="2200" spc="-165" dirty="0">
                <a:latin typeface="Times New Roman"/>
                <a:cs typeface="Times New Roman"/>
              </a:rPr>
              <a:t>Has</a:t>
            </a:r>
            <a:r>
              <a:rPr sz="2200" spc="-40" dirty="0">
                <a:latin typeface="Times New Roman"/>
                <a:cs typeface="Times New Roman"/>
              </a:rPr>
              <a:t> </a:t>
            </a:r>
            <a:r>
              <a:rPr sz="2200" spc="-90" dirty="0">
                <a:latin typeface="Times New Roman"/>
                <a:cs typeface="Times New Roman"/>
              </a:rPr>
              <a:t>its</a:t>
            </a:r>
            <a:r>
              <a:rPr sz="2200" spc="-25" dirty="0">
                <a:latin typeface="Times New Roman"/>
                <a:cs typeface="Times New Roman"/>
              </a:rPr>
              <a:t> </a:t>
            </a:r>
            <a:r>
              <a:rPr sz="2200" spc="-140" dirty="0">
                <a:latin typeface="Times New Roman"/>
                <a:cs typeface="Times New Roman"/>
              </a:rPr>
              <a:t>own</a:t>
            </a:r>
            <a:r>
              <a:rPr sz="2200" spc="-20" dirty="0">
                <a:latin typeface="Times New Roman"/>
                <a:cs typeface="Times New Roman"/>
              </a:rPr>
              <a:t> </a:t>
            </a:r>
            <a:r>
              <a:rPr sz="2200" spc="-105" dirty="0">
                <a:latin typeface="Times New Roman"/>
                <a:cs typeface="Times New Roman"/>
              </a:rPr>
              <a:t>default</a:t>
            </a:r>
            <a:r>
              <a:rPr sz="2200" spc="-15" dirty="0">
                <a:latin typeface="Times New Roman"/>
                <a:cs typeface="Times New Roman"/>
              </a:rPr>
              <a:t> </a:t>
            </a:r>
            <a:r>
              <a:rPr sz="2200" spc="-100" dirty="0">
                <a:latin typeface="Times New Roman"/>
                <a:cs typeface="Times New Roman"/>
              </a:rPr>
              <a:t>security</a:t>
            </a:r>
            <a:r>
              <a:rPr sz="2200" spc="-10" dirty="0">
                <a:latin typeface="Times New Roman"/>
                <a:cs typeface="Times New Roman"/>
              </a:rPr>
              <a:t> </a:t>
            </a:r>
            <a:r>
              <a:rPr sz="2200" spc="-70" dirty="0">
                <a:latin typeface="Times New Roman"/>
                <a:cs typeface="Times New Roman"/>
              </a:rPr>
              <a:t>group,</a:t>
            </a:r>
            <a:r>
              <a:rPr sz="2200" spc="-85" dirty="0">
                <a:latin typeface="Times New Roman"/>
                <a:cs typeface="Times New Roman"/>
              </a:rPr>
              <a:t> </a:t>
            </a:r>
            <a:r>
              <a:rPr sz="2200" spc="-95" dirty="0">
                <a:latin typeface="Times New Roman"/>
                <a:cs typeface="Times New Roman"/>
              </a:rPr>
              <a:t>network</a:t>
            </a:r>
            <a:r>
              <a:rPr sz="2200" spc="-195" dirty="0">
                <a:latin typeface="Times New Roman"/>
                <a:cs typeface="Times New Roman"/>
              </a:rPr>
              <a:t> </a:t>
            </a:r>
            <a:r>
              <a:rPr sz="2200" spc="-175" dirty="0">
                <a:latin typeface="Times New Roman"/>
                <a:cs typeface="Times New Roman"/>
              </a:rPr>
              <a:t>ACL,</a:t>
            </a:r>
            <a:r>
              <a:rPr sz="2200" spc="-120" dirty="0">
                <a:latin typeface="Times New Roman"/>
                <a:cs typeface="Times New Roman"/>
              </a:rPr>
              <a:t> </a:t>
            </a:r>
            <a:r>
              <a:rPr sz="2200" spc="-135" dirty="0">
                <a:latin typeface="Times New Roman"/>
                <a:cs typeface="Times New Roman"/>
              </a:rPr>
              <a:t>and</a:t>
            </a:r>
            <a:r>
              <a:rPr sz="2200" spc="-15" dirty="0">
                <a:latin typeface="Times New Roman"/>
                <a:cs typeface="Times New Roman"/>
              </a:rPr>
              <a:t> </a:t>
            </a:r>
            <a:r>
              <a:rPr sz="2200" spc="-85" dirty="0">
                <a:latin typeface="Times New Roman"/>
                <a:cs typeface="Times New Roman"/>
              </a:rPr>
              <a:t>routing</a:t>
            </a:r>
            <a:r>
              <a:rPr sz="2200" spc="10" dirty="0">
                <a:latin typeface="Times New Roman"/>
                <a:cs typeface="Times New Roman"/>
              </a:rPr>
              <a:t> </a:t>
            </a:r>
            <a:r>
              <a:rPr sz="2200" spc="-10" dirty="0">
                <a:latin typeface="Times New Roman"/>
                <a:cs typeface="Times New Roman"/>
              </a:rPr>
              <a:t>tables</a:t>
            </a:r>
            <a:endParaRPr sz="2200">
              <a:latin typeface="Times New Roman"/>
              <a:cs typeface="Times New Roman"/>
            </a:endParaRPr>
          </a:p>
          <a:p>
            <a:pPr marL="744220" marR="5080" lvl="1" indent="-457834">
              <a:lnSpc>
                <a:spcPct val="100000"/>
              </a:lnSpc>
              <a:spcBef>
                <a:spcPts val="395"/>
              </a:spcBef>
              <a:buClr>
                <a:srgbClr val="9B2C1F"/>
              </a:buClr>
              <a:buSzPct val="84090"/>
              <a:buAutoNum type="arabicPeriod"/>
              <a:tabLst>
                <a:tab pos="744220" algn="l"/>
              </a:tabLst>
            </a:pPr>
            <a:r>
              <a:rPr sz="2200" spc="-80" dirty="0">
                <a:latin typeface="Times New Roman"/>
                <a:cs typeface="Times New Roman"/>
              </a:rPr>
              <a:t>Does</a:t>
            </a:r>
            <a:r>
              <a:rPr sz="2200" spc="-60" dirty="0">
                <a:latin typeface="Times New Roman"/>
                <a:cs typeface="Times New Roman"/>
              </a:rPr>
              <a:t> </a:t>
            </a:r>
            <a:r>
              <a:rPr sz="2200" dirty="0">
                <a:latin typeface="Times New Roman"/>
                <a:cs typeface="Times New Roman"/>
              </a:rPr>
              <a:t>not</a:t>
            </a:r>
            <a:r>
              <a:rPr sz="2200" spc="-90" dirty="0">
                <a:latin typeface="Times New Roman"/>
                <a:cs typeface="Times New Roman"/>
              </a:rPr>
              <a:t> </a:t>
            </a:r>
            <a:r>
              <a:rPr sz="2200" spc="-140" dirty="0">
                <a:latin typeface="Times New Roman"/>
                <a:cs typeface="Times New Roman"/>
              </a:rPr>
              <a:t>have</a:t>
            </a:r>
            <a:r>
              <a:rPr sz="2200" spc="5" dirty="0">
                <a:latin typeface="Times New Roman"/>
                <a:cs typeface="Times New Roman"/>
              </a:rPr>
              <a:t> </a:t>
            </a:r>
            <a:r>
              <a:rPr sz="2200" spc="-15" dirty="0">
                <a:latin typeface="Times New Roman"/>
                <a:cs typeface="Times New Roman"/>
              </a:rPr>
              <a:t>an</a:t>
            </a:r>
            <a:r>
              <a:rPr sz="2200" spc="-30" dirty="0">
                <a:latin typeface="Times New Roman"/>
                <a:cs typeface="Times New Roman"/>
              </a:rPr>
              <a:t> </a:t>
            </a:r>
            <a:r>
              <a:rPr sz="2200" spc="-25" dirty="0">
                <a:latin typeface="Times New Roman"/>
                <a:cs typeface="Times New Roman"/>
              </a:rPr>
              <a:t>Internet</a:t>
            </a:r>
            <a:r>
              <a:rPr sz="2200" spc="-30" dirty="0">
                <a:latin typeface="Times New Roman"/>
                <a:cs typeface="Times New Roman"/>
              </a:rPr>
              <a:t> </a:t>
            </a:r>
            <a:r>
              <a:rPr sz="2200" spc="-145" dirty="0">
                <a:latin typeface="Times New Roman"/>
                <a:cs typeface="Times New Roman"/>
              </a:rPr>
              <a:t>gateway</a:t>
            </a:r>
            <a:r>
              <a:rPr sz="2200" spc="10" dirty="0">
                <a:latin typeface="Times New Roman"/>
                <a:cs typeface="Times New Roman"/>
              </a:rPr>
              <a:t> </a:t>
            </a:r>
            <a:r>
              <a:rPr sz="2200" spc="-85" dirty="0">
                <a:latin typeface="Times New Roman"/>
                <a:cs typeface="Times New Roman"/>
              </a:rPr>
              <a:t>by</a:t>
            </a:r>
            <a:r>
              <a:rPr sz="2200" spc="-25" dirty="0">
                <a:latin typeface="Times New Roman"/>
                <a:cs typeface="Times New Roman"/>
              </a:rPr>
              <a:t> </a:t>
            </a:r>
            <a:r>
              <a:rPr sz="2200" spc="-70" dirty="0">
                <a:latin typeface="Times New Roman"/>
                <a:cs typeface="Times New Roman"/>
              </a:rPr>
              <a:t>default, </a:t>
            </a:r>
            <a:r>
              <a:rPr sz="2200" spc="-20" dirty="0">
                <a:latin typeface="Times New Roman"/>
                <a:cs typeface="Times New Roman"/>
              </a:rPr>
              <a:t>one </a:t>
            </a:r>
            <a:r>
              <a:rPr sz="2200" spc="-70" dirty="0">
                <a:latin typeface="Times New Roman"/>
                <a:cs typeface="Times New Roman"/>
              </a:rPr>
              <a:t>needs</a:t>
            </a:r>
            <a:r>
              <a:rPr sz="2200" spc="-25" dirty="0">
                <a:latin typeface="Times New Roman"/>
                <a:cs typeface="Times New Roman"/>
              </a:rPr>
              <a:t> </a:t>
            </a:r>
            <a:r>
              <a:rPr sz="2200" dirty="0">
                <a:latin typeface="Times New Roman"/>
                <a:cs typeface="Times New Roman"/>
              </a:rPr>
              <a:t>to</a:t>
            </a:r>
            <a:r>
              <a:rPr sz="2200" spc="-20" dirty="0">
                <a:latin typeface="Times New Roman"/>
                <a:cs typeface="Times New Roman"/>
              </a:rPr>
              <a:t> </a:t>
            </a:r>
            <a:r>
              <a:rPr sz="2200" dirty="0">
                <a:latin typeface="Times New Roman"/>
                <a:cs typeface="Times New Roman"/>
              </a:rPr>
              <a:t>be</a:t>
            </a:r>
            <a:r>
              <a:rPr sz="2200" spc="-25" dirty="0">
                <a:latin typeface="Times New Roman"/>
                <a:cs typeface="Times New Roman"/>
              </a:rPr>
              <a:t> </a:t>
            </a:r>
            <a:r>
              <a:rPr sz="2200" spc="-60" dirty="0">
                <a:latin typeface="Times New Roman"/>
                <a:cs typeface="Times New Roman"/>
              </a:rPr>
              <a:t>created</a:t>
            </a:r>
            <a:r>
              <a:rPr sz="2200" spc="-20" dirty="0">
                <a:latin typeface="Times New Roman"/>
                <a:cs typeface="Times New Roman"/>
              </a:rPr>
              <a:t> </a:t>
            </a:r>
            <a:r>
              <a:rPr sz="2200" spc="-25" dirty="0">
                <a:latin typeface="Times New Roman"/>
                <a:cs typeface="Times New Roman"/>
              </a:rPr>
              <a:t>if </a:t>
            </a:r>
            <a:r>
              <a:rPr sz="2200" spc="-10" dirty="0">
                <a:latin typeface="Times New Roman"/>
                <a:cs typeface="Times New Roman"/>
              </a:rPr>
              <a:t>needed</a:t>
            </a:r>
            <a:endParaRPr sz="22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33</a:t>
            </a:fld>
            <a:endParaRPr spc="-25" dirty="0"/>
          </a:p>
        </p:txBody>
      </p:sp>
    </p:spTree>
    <p:extLst>
      <p:ext uri="{BB962C8B-B14F-4D97-AF65-F5344CB8AC3E}">
        <p14:creationId xmlns:p14="http://schemas.microsoft.com/office/powerpoint/2010/main" val="39443771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3" name="object 3"/>
          <p:cNvSpPr txBox="1"/>
          <p:nvPr/>
        </p:nvSpPr>
        <p:spPr>
          <a:xfrm>
            <a:off x="309473" y="6314643"/>
            <a:ext cx="130175" cy="239395"/>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FFFFFF"/>
                </a:solidFill>
                <a:latin typeface="Franklin Gothic Medium"/>
                <a:cs typeface="Franklin Gothic Medium"/>
              </a:rPr>
              <a:t>9</a:t>
            </a:r>
            <a:endParaRPr sz="1400">
              <a:latin typeface="Franklin Gothic Medium"/>
              <a:cs typeface="Franklin Gothic Medium"/>
            </a:endParaRPr>
          </a:p>
        </p:txBody>
      </p:sp>
      <p:sp>
        <p:nvSpPr>
          <p:cNvPr id="4" name="object 4"/>
          <p:cNvSpPr txBox="1">
            <a:spLocks noGrp="1"/>
          </p:cNvSpPr>
          <p:nvPr>
            <p:ph type="title"/>
          </p:nvPr>
        </p:nvSpPr>
        <p:spPr>
          <a:xfrm>
            <a:off x="396874" y="303962"/>
            <a:ext cx="8425815" cy="1910080"/>
          </a:xfrm>
          <a:prstGeom prst="rect">
            <a:avLst/>
          </a:prstGeom>
        </p:spPr>
        <p:txBody>
          <a:bodyPr vert="horz" wrap="square" lIns="0" tIns="12700" rIns="0" bIns="0" rtlCol="0">
            <a:spAutoFit/>
          </a:bodyPr>
          <a:lstStyle/>
          <a:p>
            <a:pPr marL="12700" algn="just">
              <a:lnSpc>
                <a:spcPts val="4300"/>
              </a:lnSpc>
              <a:spcBef>
                <a:spcPts val="100"/>
              </a:spcBef>
            </a:pPr>
            <a:r>
              <a:rPr sz="3600" dirty="0"/>
              <a:t>Virtual</a:t>
            </a:r>
            <a:r>
              <a:rPr sz="3600" spc="-145" dirty="0"/>
              <a:t> </a:t>
            </a:r>
            <a:r>
              <a:rPr sz="3600" spc="-45" dirty="0"/>
              <a:t>Private</a:t>
            </a:r>
            <a:r>
              <a:rPr sz="3600" spc="-140" dirty="0"/>
              <a:t> </a:t>
            </a:r>
            <a:r>
              <a:rPr sz="3600" dirty="0"/>
              <a:t>Cloud</a:t>
            </a:r>
            <a:r>
              <a:rPr sz="3600" spc="-145" dirty="0"/>
              <a:t> </a:t>
            </a:r>
            <a:r>
              <a:rPr sz="3600" spc="-10" dirty="0"/>
              <a:t>(VPC)</a:t>
            </a:r>
            <a:endParaRPr sz="3600" dirty="0"/>
          </a:p>
          <a:p>
            <a:pPr marL="127000" marR="5080" algn="just">
              <a:lnSpc>
                <a:spcPts val="2640"/>
              </a:lnSpc>
              <a:spcBef>
                <a:spcPts val="65"/>
              </a:spcBef>
            </a:pPr>
            <a:r>
              <a:rPr sz="2200" spc="-290" dirty="0">
                <a:latin typeface="Times New Roman"/>
                <a:cs typeface="Times New Roman"/>
              </a:rPr>
              <a:t>A</a:t>
            </a:r>
            <a:r>
              <a:rPr sz="2200" spc="110" dirty="0">
                <a:latin typeface="Times New Roman"/>
                <a:cs typeface="Times New Roman"/>
              </a:rPr>
              <a:t> </a:t>
            </a:r>
            <a:r>
              <a:rPr sz="2200" b="1" spc="-215" dirty="0">
                <a:latin typeface="Times New Roman"/>
                <a:cs typeface="Times New Roman"/>
              </a:rPr>
              <a:t>VPC</a:t>
            </a:r>
            <a:r>
              <a:rPr sz="2200" b="1" spc="120" dirty="0">
                <a:latin typeface="Times New Roman"/>
                <a:cs typeface="Times New Roman"/>
              </a:rPr>
              <a:t> </a:t>
            </a:r>
            <a:r>
              <a:rPr sz="2200" b="1" spc="-30" dirty="0">
                <a:latin typeface="Times New Roman"/>
                <a:cs typeface="Times New Roman"/>
              </a:rPr>
              <a:t>(Virtual</a:t>
            </a:r>
            <a:r>
              <a:rPr sz="2200" b="1" spc="105" dirty="0">
                <a:latin typeface="Times New Roman"/>
                <a:cs typeface="Times New Roman"/>
              </a:rPr>
              <a:t> </a:t>
            </a:r>
            <a:r>
              <a:rPr sz="2200" b="1" spc="-50" dirty="0">
                <a:latin typeface="Times New Roman"/>
                <a:cs typeface="Times New Roman"/>
              </a:rPr>
              <a:t>Private</a:t>
            </a:r>
            <a:r>
              <a:rPr sz="2200" b="1" spc="125" dirty="0">
                <a:latin typeface="Times New Roman"/>
                <a:cs typeface="Times New Roman"/>
              </a:rPr>
              <a:t> </a:t>
            </a:r>
            <a:r>
              <a:rPr sz="2200" b="1" spc="-15" dirty="0">
                <a:latin typeface="Times New Roman"/>
                <a:cs typeface="Times New Roman"/>
              </a:rPr>
              <a:t>Cloud)</a:t>
            </a:r>
            <a:r>
              <a:rPr sz="2200" b="1" spc="110" dirty="0">
                <a:latin typeface="Times New Roman"/>
                <a:cs typeface="Times New Roman"/>
              </a:rPr>
              <a:t> </a:t>
            </a:r>
            <a:r>
              <a:rPr sz="2200" spc="-140" dirty="0">
                <a:latin typeface="Times New Roman"/>
                <a:cs typeface="Times New Roman"/>
              </a:rPr>
              <a:t>is</a:t>
            </a:r>
            <a:r>
              <a:rPr sz="2200" spc="105" dirty="0">
                <a:latin typeface="Times New Roman"/>
                <a:cs typeface="Times New Roman"/>
              </a:rPr>
              <a:t> </a:t>
            </a:r>
            <a:r>
              <a:rPr sz="2200" spc="-180" dirty="0">
                <a:latin typeface="Times New Roman"/>
                <a:cs typeface="Times New Roman"/>
              </a:rPr>
              <a:t>a</a:t>
            </a:r>
            <a:r>
              <a:rPr sz="2200" spc="110" dirty="0">
                <a:latin typeface="Times New Roman"/>
                <a:cs typeface="Times New Roman"/>
              </a:rPr>
              <a:t> </a:t>
            </a:r>
            <a:r>
              <a:rPr sz="2200" spc="-135" dirty="0">
                <a:latin typeface="Times New Roman"/>
                <a:cs typeface="Times New Roman"/>
              </a:rPr>
              <a:t>logically</a:t>
            </a:r>
            <a:r>
              <a:rPr sz="2200" spc="110" dirty="0">
                <a:latin typeface="Times New Roman"/>
                <a:cs typeface="Times New Roman"/>
              </a:rPr>
              <a:t> </a:t>
            </a:r>
            <a:r>
              <a:rPr sz="2200" spc="-114" dirty="0">
                <a:latin typeface="Times New Roman"/>
                <a:cs typeface="Times New Roman"/>
              </a:rPr>
              <a:t>isolated</a:t>
            </a:r>
            <a:r>
              <a:rPr sz="2200" spc="120" dirty="0">
                <a:latin typeface="Times New Roman"/>
                <a:cs typeface="Times New Roman"/>
              </a:rPr>
              <a:t> </a:t>
            </a:r>
            <a:r>
              <a:rPr sz="2200" b="1" spc="-20" dirty="0">
                <a:latin typeface="Times New Roman"/>
                <a:cs typeface="Times New Roman"/>
              </a:rPr>
              <a:t>private</a:t>
            </a:r>
            <a:r>
              <a:rPr sz="2200" b="1" spc="130" dirty="0">
                <a:latin typeface="Times New Roman"/>
                <a:cs typeface="Times New Roman"/>
              </a:rPr>
              <a:t> </a:t>
            </a:r>
            <a:r>
              <a:rPr sz="2200" b="1" spc="15" dirty="0">
                <a:latin typeface="Times New Roman"/>
                <a:cs typeface="Times New Roman"/>
              </a:rPr>
              <a:t>network</a:t>
            </a:r>
            <a:r>
              <a:rPr sz="2200" b="1" spc="110" dirty="0">
                <a:latin typeface="Times New Roman"/>
                <a:cs typeface="Times New Roman"/>
              </a:rPr>
              <a:t> </a:t>
            </a:r>
            <a:r>
              <a:rPr sz="2200" spc="-105" dirty="0">
                <a:latin typeface="Times New Roman"/>
                <a:cs typeface="Times New Roman"/>
              </a:rPr>
              <a:t>in</a:t>
            </a:r>
            <a:r>
              <a:rPr sz="2200" spc="110" dirty="0">
                <a:latin typeface="Times New Roman"/>
                <a:cs typeface="Times New Roman"/>
              </a:rPr>
              <a:t> </a:t>
            </a:r>
            <a:r>
              <a:rPr sz="2200" spc="-180" dirty="0">
                <a:latin typeface="Times New Roman"/>
                <a:cs typeface="Times New Roman"/>
              </a:rPr>
              <a:t>a</a:t>
            </a:r>
            <a:r>
              <a:rPr sz="2200" spc="-100" dirty="0">
                <a:latin typeface="Times New Roman"/>
                <a:cs typeface="Times New Roman"/>
              </a:rPr>
              <a:t> </a:t>
            </a:r>
            <a:r>
              <a:rPr sz="2200" spc="-105" dirty="0">
                <a:latin typeface="Times New Roman"/>
                <a:cs typeface="Times New Roman"/>
              </a:rPr>
              <a:t>cloud</a:t>
            </a:r>
            <a:r>
              <a:rPr sz="2200" spc="55" dirty="0">
                <a:latin typeface="Times New Roman"/>
                <a:cs typeface="Times New Roman"/>
              </a:rPr>
              <a:t> </a:t>
            </a:r>
            <a:r>
              <a:rPr sz="2200" spc="-80" dirty="0">
                <a:latin typeface="Times New Roman"/>
                <a:cs typeface="Times New Roman"/>
              </a:rPr>
              <a:t>environment,</a:t>
            </a:r>
            <a:r>
              <a:rPr sz="2200" spc="-35" dirty="0">
                <a:latin typeface="Times New Roman"/>
                <a:cs typeface="Times New Roman"/>
              </a:rPr>
              <a:t> </a:t>
            </a:r>
            <a:r>
              <a:rPr sz="2200" spc="-135" dirty="0">
                <a:latin typeface="Times New Roman"/>
                <a:cs typeface="Times New Roman"/>
              </a:rPr>
              <a:t>allowing</a:t>
            </a:r>
            <a:r>
              <a:rPr sz="2200" spc="45" dirty="0">
                <a:latin typeface="Times New Roman"/>
                <a:cs typeface="Times New Roman"/>
              </a:rPr>
              <a:t> </a:t>
            </a:r>
            <a:r>
              <a:rPr sz="2200" spc="-145" dirty="0">
                <a:latin typeface="Times New Roman"/>
                <a:cs typeface="Times New Roman"/>
              </a:rPr>
              <a:t>you</a:t>
            </a:r>
            <a:r>
              <a:rPr sz="2200" spc="65" dirty="0">
                <a:latin typeface="Times New Roman"/>
                <a:cs typeface="Times New Roman"/>
              </a:rPr>
              <a:t> </a:t>
            </a:r>
            <a:r>
              <a:rPr sz="2200" spc="-40" dirty="0">
                <a:latin typeface="Times New Roman"/>
                <a:cs typeface="Times New Roman"/>
              </a:rPr>
              <a:t>to</a:t>
            </a:r>
            <a:r>
              <a:rPr sz="2200" spc="50" dirty="0">
                <a:latin typeface="Times New Roman"/>
                <a:cs typeface="Times New Roman"/>
              </a:rPr>
              <a:t> </a:t>
            </a:r>
            <a:r>
              <a:rPr sz="2200" spc="-114" dirty="0">
                <a:latin typeface="Times New Roman"/>
                <a:cs typeface="Times New Roman"/>
              </a:rPr>
              <a:t>launch</a:t>
            </a:r>
            <a:r>
              <a:rPr sz="2200" spc="60" dirty="0">
                <a:latin typeface="Times New Roman"/>
                <a:cs typeface="Times New Roman"/>
              </a:rPr>
              <a:t> </a:t>
            </a:r>
            <a:r>
              <a:rPr sz="2200" spc="-130" dirty="0">
                <a:latin typeface="Times New Roman"/>
                <a:cs typeface="Times New Roman"/>
              </a:rPr>
              <a:t>and</a:t>
            </a:r>
            <a:r>
              <a:rPr sz="2200" spc="50" dirty="0">
                <a:latin typeface="Times New Roman"/>
                <a:cs typeface="Times New Roman"/>
              </a:rPr>
              <a:t> </a:t>
            </a:r>
            <a:r>
              <a:rPr sz="2200" spc="-145" dirty="0">
                <a:latin typeface="Times New Roman"/>
                <a:cs typeface="Times New Roman"/>
              </a:rPr>
              <a:t>manage</a:t>
            </a:r>
            <a:r>
              <a:rPr sz="2200" spc="60" dirty="0">
                <a:latin typeface="Times New Roman"/>
                <a:cs typeface="Times New Roman"/>
              </a:rPr>
              <a:t> </a:t>
            </a:r>
            <a:r>
              <a:rPr sz="2200" spc="-110" dirty="0">
                <a:latin typeface="Times New Roman"/>
                <a:cs typeface="Times New Roman"/>
              </a:rPr>
              <a:t>cloud</a:t>
            </a:r>
            <a:r>
              <a:rPr sz="2200" spc="60" dirty="0">
                <a:latin typeface="Times New Roman"/>
                <a:cs typeface="Times New Roman"/>
              </a:rPr>
              <a:t> </a:t>
            </a:r>
            <a:r>
              <a:rPr sz="2200" spc="-95" dirty="0">
                <a:latin typeface="Times New Roman"/>
                <a:cs typeface="Times New Roman"/>
              </a:rPr>
              <a:t>resources</a:t>
            </a:r>
            <a:r>
              <a:rPr sz="2200" spc="70" dirty="0">
                <a:latin typeface="Times New Roman"/>
                <a:cs typeface="Times New Roman"/>
              </a:rPr>
              <a:t> </a:t>
            </a:r>
            <a:r>
              <a:rPr sz="2200" spc="-120" dirty="0">
                <a:latin typeface="Times New Roman"/>
                <a:cs typeface="Times New Roman"/>
              </a:rPr>
              <a:t>securely.</a:t>
            </a:r>
            <a:r>
              <a:rPr sz="2200" spc="85" dirty="0">
                <a:latin typeface="Times New Roman"/>
                <a:cs typeface="Times New Roman"/>
              </a:rPr>
              <a:t> </a:t>
            </a:r>
            <a:r>
              <a:rPr sz="2200" spc="-75" dirty="0">
                <a:latin typeface="Times New Roman"/>
                <a:cs typeface="Times New Roman"/>
              </a:rPr>
              <a:t>It</a:t>
            </a:r>
            <a:r>
              <a:rPr sz="2200" spc="185" dirty="0">
                <a:latin typeface="Times New Roman"/>
                <a:cs typeface="Times New Roman"/>
              </a:rPr>
              <a:t> </a:t>
            </a:r>
            <a:r>
              <a:rPr sz="2200" spc="-110" dirty="0">
                <a:latin typeface="Times New Roman"/>
                <a:cs typeface="Times New Roman"/>
              </a:rPr>
              <a:t>functions</a:t>
            </a:r>
            <a:r>
              <a:rPr sz="2200" spc="200" dirty="0">
                <a:latin typeface="Times New Roman"/>
                <a:cs typeface="Times New Roman"/>
              </a:rPr>
              <a:t> </a:t>
            </a:r>
            <a:r>
              <a:rPr sz="2200" spc="-120" dirty="0">
                <a:latin typeface="Times New Roman"/>
                <a:cs typeface="Times New Roman"/>
              </a:rPr>
              <a:t>like</a:t>
            </a:r>
            <a:r>
              <a:rPr sz="2200" spc="190" dirty="0">
                <a:latin typeface="Times New Roman"/>
                <a:cs typeface="Times New Roman"/>
              </a:rPr>
              <a:t> </a:t>
            </a:r>
            <a:r>
              <a:rPr sz="2200" spc="-180" dirty="0">
                <a:latin typeface="Times New Roman"/>
                <a:cs typeface="Times New Roman"/>
              </a:rPr>
              <a:t>a</a:t>
            </a:r>
            <a:r>
              <a:rPr sz="2200" spc="195" dirty="0">
                <a:latin typeface="Times New Roman"/>
                <a:cs typeface="Times New Roman"/>
              </a:rPr>
              <a:t> </a:t>
            </a:r>
            <a:r>
              <a:rPr sz="2200" b="1" spc="-15" dirty="0">
                <a:latin typeface="Times New Roman"/>
                <a:cs typeface="Times New Roman"/>
              </a:rPr>
              <a:t>virtual</a:t>
            </a:r>
            <a:r>
              <a:rPr sz="2200" b="1" spc="190" dirty="0">
                <a:latin typeface="Times New Roman"/>
                <a:cs typeface="Times New Roman"/>
              </a:rPr>
              <a:t> </a:t>
            </a:r>
            <a:r>
              <a:rPr sz="2200" b="1" spc="-50" dirty="0">
                <a:latin typeface="Times New Roman"/>
                <a:cs typeface="Times New Roman"/>
              </a:rPr>
              <a:t>data</a:t>
            </a:r>
            <a:r>
              <a:rPr sz="2200" b="1" spc="210" dirty="0">
                <a:latin typeface="Times New Roman"/>
                <a:cs typeface="Times New Roman"/>
              </a:rPr>
              <a:t> </a:t>
            </a:r>
            <a:r>
              <a:rPr sz="2200" b="1" spc="10" dirty="0">
                <a:latin typeface="Times New Roman"/>
                <a:cs typeface="Times New Roman"/>
              </a:rPr>
              <a:t>center</a:t>
            </a:r>
            <a:r>
              <a:rPr sz="2200" b="1" spc="195" dirty="0">
                <a:latin typeface="Times New Roman"/>
                <a:cs typeface="Times New Roman"/>
              </a:rPr>
              <a:t> </a:t>
            </a:r>
            <a:r>
              <a:rPr sz="2200" spc="-95" dirty="0">
                <a:latin typeface="Times New Roman"/>
                <a:cs typeface="Times New Roman"/>
              </a:rPr>
              <a:t>within</a:t>
            </a:r>
            <a:r>
              <a:rPr sz="2200" spc="200" dirty="0">
                <a:latin typeface="Times New Roman"/>
                <a:cs typeface="Times New Roman"/>
              </a:rPr>
              <a:t> </a:t>
            </a:r>
            <a:r>
              <a:rPr sz="2200" spc="-180" dirty="0">
                <a:latin typeface="Times New Roman"/>
                <a:cs typeface="Times New Roman"/>
              </a:rPr>
              <a:t>a</a:t>
            </a:r>
            <a:r>
              <a:rPr sz="2200" spc="195" dirty="0">
                <a:latin typeface="Times New Roman"/>
                <a:cs typeface="Times New Roman"/>
              </a:rPr>
              <a:t> </a:t>
            </a:r>
            <a:r>
              <a:rPr sz="2200" spc="-105" dirty="0">
                <a:latin typeface="Times New Roman"/>
                <a:cs typeface="Times New Roman"/>
              </a:rPr>
              <a:t>cloud</a:t>
            </a:r>
            <a:r>
              <a:rPr sz="2200" spc="215" dirty="0">
                <a:latin typeface="Times New Roman"/>
                <a:cs typeface="Times New Roman"/>
              </a:rPr>
              <a:t> </a:t>
            </a:r>
            <a:r>
              <a:rPr sz="2200" spc="-100" dirty="0">
                <a:latin typeface="Times New Roman"/>
                <a:cs typeface="Times New Roman"/>
              </a:rPr>
              <a:t>provider</a:t>
            </a:r>
            <a:r>
              <a:rPr sz="2200" spc="210" dirty="0">
                <a:latin typeface="Times New Roman"/>
                <a:cs typeface="Times New Roman"/>
              </a:rPr>
              <a:t> </a:t>
            </a:r>
            <a:r>
              <a:rPr sz="2200" spc="-130" dirty="0">
                <a:latin typeface="Times New Roman"/>
                <a:cs typeface="Times New Roman"/>
              </a:rPr>
              <a:t>such</a:t>
            </a:r>
            <a:r>
              <a:rPr sz="2200" spc="195" dirty="0">
                <a:latin typeface="Times New Roman"/>
                <a:cs typeface="Times New Roman"/>
              </a:rPr>
              <a:t> </a:t>
            </a:r>
            <a:r>
              <a:rPr sz="2200" spc="-170" dirty="0">
                <a:latin typeface="Times New Roman"/>
                <a:cs typeface="Times New Roman"/>
              </a:rPr>
              <a:t>as</a:t>
            </a:r>
            <a:r>
              <a:rPr sz="2200" spc="190" dirty="0">
                <a:latin typeface="Times New Roman"/>
                <a:cs typeface="Times New Roman"/>
              </a:rPr>
              <a:t> </a:t>
            </a:r>
            <a:r>
              <a:rPr sz="2200" b="1" spc="-185" dirty="0">
                <a:latin typeface="Times New Roman"/>
                <a:cs typeface="Times New Roman"/>
              </a:rPr>
              <a:t>AWS,</a:t>
            </a:r>
            <a:r>
              <a:rPr sz="2200" b="1" spc="-70" dirty="0">
                <a:latin typeface="Times New Roman"/>
                <a:cs typeface="Times New Roman"/>
              </a:rPr>
              <a:t> </a:t>
            </a:r>
            <a:r>
              <a:rPr sz="2200" b="1" spc="-25" dirty="0">
                <a:latin typeface="Times New Roman"/>
                <a:cs typeface="Times New Roman"/>
              </a:rPr>
              <a:t>Azure,</a:t>
            </a:r>
            <a:r>
              <a:rPr sz="2200" b="1" spc="-130" dirty="0">
                <a:latin typeface="Times New Roman"/>
                <a:cs typeface="Times New Roman"/>
              </a:rPr>
              <a:t> </a:t>
            </a:r>
            <a:r>
              <a:rPr sz="2200" b="1" spc="-5" dirty="0">
                <a:latin typeface="Times New Roman"/>
                <a:cs typeface="Times New Roman"/>
              </a:rPr>
              <a:t>o</a:t>
            </a:r>
            <a:r>
              <a:rPr sz="2200" b="1" dirty="0">
                <a:latin typeface="Times New Roman"/>
                <a:cs typeface="Times New Roman"/>
              </a:rPr>
              <a:t>r</a:t>
            </a:r>
            <a:r>
              <a:rPr sz="2200" b="1" spc="-50" dirty="0">
                <a:latin typeface="Times New Roman"/>
                <a:cs typeface="Times New Roman"/>
              </a:rPr>
              <a:t> </a:t>
            </a:r>
            <a:r>
              <a:rPr sz="2200" b="1" dirty="0">
                <a:latin typeface="Times New Roman"/>
                <a:cs typeface="Times New Roman"/>
              </a:rPr>
              <a:t>Google</a:t>
            </a:r>
            <a:r>
              <a:rPr sz="2200" b="1" spc="-55" dirty="0">
                <a:latin typeface="Times New Roman"/>
                <a:cs typeface="Times New Roman"/>
              </a:rPr>
              <a:t> </a:t>
            </a:r>
            <a:r>
              <a:rPr sz="2200" b="1" spc="-5" dirty="0">
                <a:latin typeface="Times New Roman"/>
                <a:cs typeface="Times New Roman"/>
              </a:rPr>
              <a:t>Cloud</a:t>
            </a:r>
            <a:r>
              <a:rPr sz="2200" spc="-5" dirty="0">
                <a:latin typeface="Times New Roman"/>
                <a:cs typeface="Times New Roman"/>
              </a:rPr>
              <a:t>.</a:t>
            </a:r>
            <a:endParaRPr sz="2200" dirty="0">
              <a:latin typeface="Times New Roman"/>
              <a:cs typeface="Times New Roman"/>
            </a:endParaRPr>
          </a:p>
        </p:txBody>
      </p:sp>
      <p:sp>
        <p:nvSpPr>
          <p:cNvPr id="5" name="object 5"/>
          <p:cNvSpPr txBox="1"/>
          <p:nvPr/>
        </p:nvSpPr>
        <p:spPr>
          <a:xfrm>
            <a:off x="486410" y="2579586"/>
            <a:ext cx="8246745" cy="2037080"/>
          </a:xfrm>
          <a:prstGeom prst="rect">
            <a:avLst/>
          </a:prstGeom>
        </p:spPr>
        <p:txBody>
          <a:bodyPr vert="horz" wrap="square" lIns="0" tIns="12065" rIns="0" bIns="0" rtlCol="0">
            <a:spAutoFit/>
          </a:bodyPr>
          <a:lstStyle/>
          <a:p>
            <a:pPr marL="12700">
              <a:lnSpc>
                <a:spcPct val="100000"/>
              </a:lnSpc>
              <a:spcBef>
                <a:spcPts val="95"/>
              </a:spcBef>
            </a:pPr>
            <a:r>
              <a:rPr sz="2200" b="1" spc="-100" dirty="0">
                <a:latin typeface="Times New Roman"/>
                <a:cs typeface="Times New Roman"/>
              </a:rPr>
              <a:t>Key</a:t>
            </a:r>
            <a:r>
              <a:rPr sz="2200" b="1" spc="-45" dirty="0">
                <a:latin typeface="Times New Roman"/>
                <a:cs typeface="Times New Roman"/>
              </a:rPr>
              <a:t> </a:t>
            </a:r>
            <a:r>
              <a:rPr sz="2200" b="1" spc="-50" dirty="0">
                <a:latin typeface="Times New Roman"/>
                <a:cs typeface="Times New Roman"/>
              </a:rPr>
              <a:t>Features</a:t>
            </a:r>
            <a:r>
              <a:rPr sz="2200" b="1" spc="-30" dirty="0">
                <a:latin typeface="Times New Roman"/>
                <a:cs typeface="Times New Roman"/>
              </a:rPr>
              <a:t> </a:t>
            </a:r>
            <a:r>
              <a:rPr sz="2200" b="1" dirty="0">
                <a:latin typeface="Times New Roman"/>
                <a:cs typeface="Times New Roman"/>
              </a:rPr>
              <a:t>of</a:t>
            </a:r>
            <a:r>
              <a:rPr sz="2200" b="1" spc="-55" dirty="0">
                <a:latin typeface="Times New Roman"/>
                <a:cs typeface="Times New Roman"/>
              </a:rPr>
              <a:t> </a:t>
            </a:r>
            <a:r>
              <a:rPr sz="2200" b="1" spc="-105" dirty="0">
                <a:latin typeface="Times New Roman"/>
                <a:cs typeface="Times New Roman"/>
              </a:rPr>
              <a:t>a</a:t>
            </a:r>
            <a:r>
              <a:rPr sz="2200" b="1" spc="-315" dirty="0">
                <a:latin typeface="Times New Roman"/>
                <a:cs typeface="Times New Roman"/>
              </a:rPr>
              <a:t> </a:t>
            </a:r>
            <a:r>
              <a:rPr sz="2200" b="1" spc="-25" dirty="0">
                <a:latin typeface="Times New Roman"/>
                <a:cs typeface="Times New Roman"/>
              </a:rPr>
              <a:t>VPC</a:t>
            </a:r>
            <a:endParaRPr sz="2200" dirty="0">
              <a:latin typeface="Times New Roman"/>
              <a:cs typeface="Times New Roman"/>
            </a:endParaRPr>
          </a:p>
          <a:p>
            <a:pPr>
              <a:lnSpc>
                <a:spcPct val="100000"/>
              </a:lnSpc>
              <a:spcBef>
                <a:spcPts val="110"/>
              </a:spcBef>
            </a:pPr>
            <a:endParaRPr sz="2200" dirty="0">
              <a:latin typeface="Times New Roman"/>
              <a:cs typeface="Times New Roman"/>
            </a:endParaRPr>
          </a:p>
          <a:p>
            <a:pPr marL="213360" indent="-212725">
              <a:lnSpc>
                <a:spcPct val="100000"/>
              </a:lnSpc>
              <a:buSzPct val="95454"/>
              <a:buAutoNum type="arabicPeriod"/>
              <a:tabLst>
                <a:tab pos="213360" algn="l"/>
              </a:tabLst>
            </a:pPr>
            <a:r>
              <a:rPr sz="2200" b="1" dirty="0">
                <a:latin typeface="Times New Roman"/>
                <a:cs typeface="Times New Roman"/>
              </a:rPr>
              <a:t>Isolation</a:t>
            </a:r>
            <a:r>
              <a:rPr sz="2200" b="1" spc="-50" dirty="0">
                <a:latin typeface="Times New Roman"/>
                <a:cs typeface="Times New Roman"/>
              </a:rPr>
              <a:t> </a:t>
            </a:r>
            <a:r>
              <a:rPr sz="2200" b="1" spc="-155" dirty="0">
                <a:latin typeface="Times New Roman"/>
                <a:cs typeface="Times New Roman"/>
              </a:rPr>
              <a:t>&amp;</a:t>
            </a:r>
            <a:r>
              <a:rPr sz="2200" b="1" spc="-35" dirty="0">
                <a:latin typeface="Times New Roman"/>
                <a:cs typeface="Times New Roman"/>
              </a:rPr>
              <a:t> </a:t>
            </a:r>
            <a:r>
              <a:rPr sz="2200" b="1" spc="-10" dirty="0">
                <a:latin typeface="Times New Roman"/>
                <a:cs typeface="Times New Roman"/>
              </a:rPr>
              <a:t>Security</a:t>
            </a:r>
            <a:endParaRPr sz="2200" dirty="0">
              <a:latin typeface="Times New Roman"/>
              <a:cs typeface="Times New Roman"/>
            </a:endParaRPr>
          </a:p>
          <a:p>
            <a:pPr marL="568325" lvl="1" indent="-106045">
              <a:lnSpc>
                <a:spcPct val="100000"/>
              </a:lnSpc>
              <a:buSzPct val="95454"/>
              <a:buChar char="•"/>
              <a:tabLst>
                <a:tab pos="568325" algn="l"/>
              </a:tabLst>
            </a:pPr>
            <a:r>
              <a:rPr sz="2200" spc="-114" dirty="0">
                <a:latin typeface="Times New Roman"/>
                <a:cs typeface="Times New Roman"/>
              </a:rPr>
              <a:t>Resources</a:t>
            </a:r>
            <a:r>
              <a:rPr sz="2200" spc="5" dirty="0">
                <a:latin typeface="Times New Roman"/>
                <a:cs typeface="Times New Roman"/>
              </a:rPr>
              <a:t> </a:t>
            </a:r>
            <a:r>
              <a:rPr sz="2200" spc="-120" dirty="0">
                <a:latin typeface="Times New Roman"/>
                <a:cs typeface="Times New Roman"/>
              </a:rPr>
              <a:t>inside</a:t>
            </a:r>
            <a:r>
              <a:rPr sz="2200" spc="-25" dirty="0">
                <a:latin typeface="Times New Roman"/>
                <a:cs typeface="Times New Roman"/>
              </a:rPr>
              <a:t> </a:t>
            </a:r>
            <a:r>
              <a:rPr sz="2200" spc="-185" dirty="0">
                <a:latin typeface="Times New Roman"/>
                <a:cs typeface="Times New Roman"/>
              </a:rPr>
              <a:t>a</a:t>
            </a:r>
            <a:r>
              <a:rPr sz="2200" spc="-315" dirty="0">
                <a:latin typeface="Times New Roman"/>
                <a:cs typeface="Times New Roman"/>
              </a:rPr>
              <a:t> </a:t>
            </a:r>
            <a:r>
              <a:rPr sz="2200" spc="-185" dirty="0">
                <a:latin typeface="Times New Roman"/>
                <a:cs typeface="Times New Roman"/>
              </a:rPr>
              <a:t>VPC</a:t>
            </a:r>
            <a:r>
              <a:rPr sz="2200" spc="-30" dirty="0">
                <a:latin typeface="Times New Roman"/>
                <a:cs typeface="Times New Roman"/>
              </a:rPr>
              <a:t> </a:t>
            </a:r>
            <a:r>
              <a:rPr sz="2200" spc="-100" dirty="0">
                <a:latin typeface="Times New Roman"/>
                <a:cs typeface="Times New Roman"/>
              </a:rPr>
              <a:t>are</a:t>
            </a:r>
            <a:r>
              <a:rPr sz="2200" spc="-25" dirty="0">
                <a:latin typeface="Times New Roman"/>
                <a:cs typeface="Times New Roman"/>
              </a:rPr>
              <a:t> </a:t>
            </a:r>
            <a:r>
              <a:rPr sz="2200" spc="-114" dirty="0">
                <a:latin typeface="Times New Roman"/>
                <a:cs typeface="Times New Roman"/>
              </a:rPr>
              <a:t>isolated</a:t>
            </a:r>
            <a:r>
              <a:rPr sz="2200" spc="-20" dirty="0">
                <a:latin typeface="Times New Roman"/>
                <a:cs typeface="Times New Roman"/>
              </a:rPr>
              <a:t> </a:t>
            </a:r>
            <a:r>
              <a:rPr sz="2200" spc="-105" dirty="0">
                <a:latin typeface="Times New Roman"/>
                <a:cs typeface="Times New Roman"/>
              </a:rPr>
              <a:t>from</a:t>
            </a:r>
            <a:r>
              <a:rPr sz="2200" spc="-5" dirty="0">
                <a:latin typeface="Times New Roman"/>
                <a:cs typeface="Times New Roman"/>
              </a:rPr>
              <a:t> </a:t>
            </a:r>
            <a:r>
              <a:rPr sz="2200" spc="-70" dirty="0">
                <a:latin typeface="Times New Roman"/>
                <a:cs typeface="Times New Roman"/>
              </a:rPr>
              <a:t>other</a:t>
            </a:r>
            <a:r>
              <a:rPr sz="2200" spc="-305" dirty="0">
                <a:latin typeface="Times New Roman"/>
                <a:cs typeface="Times New Roman"/>
              </a:rPr>
              <a:t> </a:t>
            </a:r>
            <a:r>
              <a:rPr sz="2200" spc="-180" dirty="0">
                <a:latin typeface="Times New Roman"/>
                <a:cs typeface="Times New Roman"/>
              </a:rPr>
              <a:t>VPCs</a:t>
            </a:r>
            <a:r>
              <a:rPr sz="2200" spc="-20" dirty="0">
                <a:latin typeface="Times New Roman"/>
                <a:cs typeface="Times New Roman"/>
              </a:rPr>
              <a:t> </a:t>
            </a:r>
            <a:r>
              <a:rPr sz="2200" spc="-135" dirty="0">
                <a:latin typeface="Times New Roman"/>
                <a:cs typeface="Times New Roman"/>
              </a:rPr>
              <a:t>and</a:t>
            </a:r>
            <a:r>
              <a:rPr sz="2200" spc="-15" dirty="0">
                <a:latin typeface="Times New Roman"/>
                <a:cs typeface="Times New Roman"/>
              </a:rPr>
              <a:t> </a:t>
            </a:r>
            <a:r>
              <a:rPr sz="2200" spc="-70" dirty="0">
                <a:latin typeface="Times New Roman"/>
                <a:cs typeface="Times New Roman"/>
              </a:rPr>
              <a:t>the</a:t>
            </a:r>
            <a:r>
              <a:rPr sz="2200" spc="-25" dirty="0">
                <a:latin typeface="Times New Roman"/>
                <a:cs typeface="Times New Roman"/>
              </a:rPr>
              <a:t> </a:t>
            </a:r>
            <a:r>
              <a:rPr sz="2200" spc="-120" dirty="0">
                <a:latin typeface="Times New Roman"/>
                <a:cs typeface="Times New Roman"/>
              </a:rPr>
              <a:t>public</a:t>
            </a:r>
            <a:r>
              <a:rPr sz="2200" spc="-15" dirty="0">
                <a:latin typeface="Times New Roman"/>
                <a:cs typeface="Times New Roman"/>
              </a:rPr>
              <a:t> </a:t>
            </a:r>
            <a:r>
              <a:rPr sz="2200" spc="-10" dirty="0">
                <a:latin typeface="Times New Roman"/>
                <a:cs typeface="Times New Roman"/>
              </a:rPr>
              <a:t>internet</a:t>
            </a:r>
            <a:endParaRPr sz="2200" dirty="0">
              <a:latin typeface="Times New Roman"/>
              <a:cs typeface="Times New Roman"/>
            </a:endParaRPr>
          </a:p>
          <a:p>
            <a:pPr marL="469900">
              <a:lnSpc>
                <a:spcPct val="100000"/>
              </a:lnSpc>
            </a:pPr>
            <a:r>
              <a:rPr sz="2200" spc="-120" dirty="0">
                <a:latin typeface="Times New Roman"/>
                <a:cs typeface="Times New Roman"/>
              </a:rPr>
              <a:t>(unless</a:t>
            </a:r>
            <a:r>
              <a:rPr sz="2200" spc="30" dirty="0">
                <a:latin typeface="Times New Roman"/>
                <a:cs typeface="Times New Roman"/>
              </a:rPr>
              <a:t> </a:t>
            </a:r>
            <a:r>
              <a:rPr sz="2200" spc="-114" dirty="0">
                <a:latin typeface="Times New Roman"/>
                <a:cs typeface="Times New Roman"/>
              </a:rPr>
              <a:t>explicitly</a:t>
            </a:r>
            <a:r>
              <a:rPr sz="2200" spc="30" dirty="0">
                <a:latin typeface="Times New Roman"/>
                <a:cs typeface="Times New Roman"/>
              </a:rPr>
              <a:t> </a:t>
            </a:r>
            <a:r>
              <a:rPr sz="2200" spc="-10" dirty="0">
                <a:latin typeface="Times New Roman"/>
                <a:cs typeface="Times New Roman"/>
              </a:rPr>
              <a:t>configured).</a:t>
            </a:r>
            <a:endParaRPr sz="2200" dirty="0">
              <a:latin typeface="Times New Roman"/>
              <a:cs typeface="Times New Roman"/>
            </a:endParaRPr>
          </a:p>
          <a:p>
            <a:pPr marL="568325" lvl="1" indent="-106045">
              <a:lnSpc>
                <a:spcPct val="100000"/>
              </a:lnSpc>
              <a:buSzPct val="95454"/>
              <a:buChar char="•"/>
              <a:tabLst>
                <a:tab pos="568325" algn="l"/>
              </a:tabLst>
            </a:pPr>
            <a:r>
              <a:rPr sz="2200" spc="-110" dirty="0">
                <a:latin typeface="Times New Roman"/>
                <a:cs typeface="Times New Roman"/>
              </a:rPr>
              <a:t>Security</a:t>
            </a:r>
            <a:r>
              <a:rPr sz="2200" spc="-40" dirty="0">
                <a:latin typeface="Times New Roman"/>
                <a:cs typeface="Times New Roman"/>
              </a:rPr>
              <a:t> </a:t>
            </a:r>
            <a:r>
              <a:rPr sz="2200" spc="-145" dirty="0">
                <a:latin typeface="Times New Roman"/>
                <a:cs typeface="Times New Roman"/>
              </a:rPr>
              <a:t>is</a:t>
            </a:r>
            <a:r>
              <a:rPr sz="2200" spc="-50" dirty="0">
                <a:latin typeface="Times New Roman"/>
                <a:cs typeface="Times New Roman"/>
              </a:rPr>
              <a:t> </a:t>
            </a:r>
            <a:r>
              <a:rPr sz="2200" spc="-100" dirty="0">
                <a:latin typeface="Times New Roman"/>
                <a:cs typeface="Times New Roman"/>
              </a:rPr>
              <a:t>enforced</a:t>
            </a:r>
            <a:r>
              <a:rPr sz="2200" spc="-25" dirty="0">
                <a:latin typeface="Times New Roman"/>
                <a:cs typeface="Times New Roman"/>
              </a:rPr>
              <a:t> </a:t>
            </a:r>
            <a:r>
              <a:rPr sz="2200" spc="-140" dirty="0">
                <a:latin typeface="Times New Roman"/>
                <a:cs typeface="Times New Roman"/>
              </a:rPr>
              <a:t>using</a:t>
            </a:r>
            <a:r>
              <a:rPr sz="2200" spc="-30" dirty="0">
                <a:latin typeface="Times New Roman"/>
                <a:cs typeface="Times New Roman"/>
              </a:rPr>
              <a:t> </a:t>
            </a:r>
            <a:r>
              <a:rPr sz="2200" b="1" spc="-10" dirty="0">
                <a:latin typeface="Times New Roman"/>
                <a:cs typeface="Times New Roman"/>
              </a:rPr>
              <a:t>Security</a:t>
            </a:r>
            <a:r>
              <a:rPr sz="2200" b="1" spc="-30" dirty="0">
                <a:latin typeface="Times New Roman"/>
                <a:cs typeface="Times New Roman"/>
              </a:rPr>
              <a:t> </a:t>
            </a:r>
            <a:r>
              <a:rPr sz="2200" b="1" spc="-50" dirty="0">
                <a:latin typeface="Times New Roman"/>
                <a:cs typeface="Times New Roman"/>
              </a:rPr>
              <a:t>Groups </a:t>
            </a:r>
            <a:r>
              <a:rPr sz="2200" spc="-130" dirty="0">
                <a:latin typeface="Times New Roman"/>
                <a:cs typeface="Times New Roman"/>
              </a:rPr>
              <a:t>and</a:t>
            </a:r>
            <a:r>
              <a:rPr sz="2200" spc="-30" dirty="0">
                <a:latin typeface="Times New Roman"/>
                <a:cs typeface="Times New Roman"/>
              </a:rPr>
              <a:t> </a:t>
            </a:r>
            <a:r>
              <a:rPr sz="2200" b="1" spc="-10" dirty="0">
                <a:latin typeface="Times New Roman"/>
                <a:cs typeface="Times New Roman"/>
              </a:rPr>
              <a:t>Network</a:t>
            </a:r>
            <a:r>
              <a:rPr sz="2200" b="1" spc="-135" dirty="0">
                <a:latin typeface="Times New Roman"/>
                <a:cs typeface="Times New Roman"/>
              </a:rPr>
              <a:t> </a:t>
            </a:r>
            <a:r>
              <a:rPr sz="2200" b="1" spc="-10" dirty="0">
                <a:latin typeface="Times New Roman"/>
                <a:cs typeface="Times New Roman"/>
              </a:rPr>
              <a:t>ACLs</a:t>
            </a:r>
            <a:r>
              <a:rPr sz="2200" spc="-10" dirty="0">
                <a:latin typeface="Times New Roman"/>
                <a:cs typeface="Times New Roman"/>
              </a:rPr>
              <a:t>.</a:t>
            </a:r>
            <a:endParaRPr sz="2200" dirty="0">
              <a:latin typeface="Times New Roman"/>
              <a:cs typeface="Times New Roman"/>
            </a:endParaRPr>
          </a:p>
        </p:txBody>
      </p:sp>
      <p:sp>
        <p:nvSpPr>
          <p:cNvPr id="6" name="object 6"/>
          <p:cNvSpPr txBox="1"/>
          <p:nvPr/>
        </p:nvSpPr>
        <p:spPr>
          <a:xfrm>
            <a:off x="421640" y="5029632"/>
            <a:ext cx="8038465" cy="1701800"/>
          </a:xfrm>
          <a:prstGeom prst="rect">
            <a:avLst/>
          </a:prstGeom>
        </p:spPr>
        <p:txBody>
          <a:bodyPr vert="horz" wrap="square" lIns="0" tIns="12065" rIns="0" bIns="0" rtlCol="0">
            <a:spAutoFit/>
          </a:bodyPr>
          <a:lstStyle/>
          <a:p>
            <a:pPr marL="213360" indent="-212725">
              <a:lnSpc>
                <a:spcPct val="100000"/>
              </a:lnSpc>
              <a:spcBef>
                <a:spcPts val="95"/>
              </a:spcBef>
              <a:buSzPct val="95454"/>
              <a:buAutoNum type="arabicPeriod" startAt="2"/>
              <a:tabLst>
                <a:tab pos="213360" algn="l"/>
              </a:tabLst>
            </a:pPr>
            <a:r>
              <a:rPr sz="2200" b="1" spc="-55" dirty="0">
                <a:latin typeface="Times New Roman"/>
                <a:cs typeface="Times New Roman"/>
              </a:rPr>
              <a:t>Custom</a:t>
            </a:r>
            <a:r>
              <a:rPr sz="2200" b="1" spc="-50" dirty="0">
                <a:latin typeface="Times New Roman"/>
                <a:cs typeface="Times New Roman"/>
              </a:rPr>
              <a:t> </a:t>
            </a:r>
            <a:r>
              <a:rPr sz="2200" b="1" spc="-110" dirty="0">
                <a:latin typeface="Times New Roman"/>
                <a:cs typeface="Times New Roman"/>
              </a:rPr>
              <a:t>IP</a:t>
            </a:r>
            <a:r>
              <a:rPr sz="2200" b="1" spc="-130" dirty="0">
                <a:latin typeface="Times New Roman"/>
                <a:cs typeface="Times New Roman"/>
              </a:rPr>
              <a:t> </a:t>
            </a:r>
            <a:r>
              <a:rPr sz="2200" b="1" spc="-10" dirty="0">
                <a:latin typeface="Times New Roman"/>
                <a:cs typeface="Times New Roman"/>
              </a:rPr>
              <a:t>Addressing</a:t>
            </a:r>
            <a:endParaRPr sz="2200">
              <a:latin typeface="Times New Roman"/>
              <a:cs typeface="Times New Roman"/>
            </a:endParaRPr>
          </a:p>
          <a:p>
            <a:pPr marL="469900" marR="263525" lvl="1" indent="-7620">
              <a:lnSpc>
                <a:spcPct val="100000"/>
              </a:lnSpc>
              <a:spcBef>
                <a:spcPts val="5"/>
              </a:spcBef>
              <a:buSzPct val="95454"/>
              <a:buChar char="•"/>
              <a:tabLst>
                <a:tab pos="568325" algn="l"/>
              </a:tabLst>
            </a:pPr>
            <a:r>
              <a:rPr sz="2200" spc="-270" dirty="0">
                <a:latin typeface="Times New Roman"/>
                <a:cs typeface="Times New Roman"/>
              </a:rPr>
              <a:t>	You</a:t>
            </a:r>
            <a:r>
              <a:rPr sz="2200" spc="-25" dirty="0">
                <a:latin typeface="Times New Roman"/>
                <a:cs typeface="Times New Roman"/>
              </a:rPr>
              <a:t> </a:t>
            </a:r>
            <a:r>
              <a:rPr sz="2200" spc="-120" dirty="0">
                <a:latin typeface="Times New Roman"/>
                <a:cs typeface="Times New Roman"/>
              </a:rPr>
              <a:t>define</a:t>
            </a:r>
            <a:r>
              <a:rPr sz="2200" spc="-35" dirty="0">
                <a:latin typeface="Times New Roman"/>
                <a:cs typeface="Times New Roman"/>
              </a:rPr>
              <a:t> </a:t>
            </a:r>
            <a:r>
              <a:rPr sz="2200" spc="-185" dirty="0">
                <a:latin typeface="Times New Roman"/>
                <a:cs typeface="Times New Roman"/>
              </a:rPr>
              <a:t>a</a:t>
            </a:r>
            <a:r>
              <a:rPr sz="2200" spc="-15" dirty="0">
                <a:latin typeface="Times New Roman"/>
                <a:cs typeface="Times New Roman"/>
              </a:rPr>
              <a:t> </a:t>
            </a:r>
            <a:r>
              <a:rPr sz="2200" b="1" spc="-120" dirty="0">
                <a:latin typeface="Times New Roman"/>
                <a:cs typeface="Times New Roman"/>
              </a:rPr>
              <a:t>CIDR</a:t>
            </a:r>
            <a:r>
              <a:rPr sz="2200" b="1" spc="-35" dirty="0">
                <a:latin typeface="Times New Roman"/>
                <a:cs typeface="Times New Roman"/>
              </a:rPr>
              <a:t> </a:t>
            </a:r>
            <a:r>
              <a:rPr sz="2200" b="1" dirty="0">
                <a:latin typeface="Times New Roman"/>
                <a:cs typeface="Times New Roman"/>
              </a:rPr>
              <a:t>block</a:t>
            </a:r>
            <a:r>
              <a:rPr sz="2200" b="1" spc="-20" dirty="0">
                <a:latin typeface="Times New Roman"/>
                <a:cs typeface="Times New Roman"/>
              </a:rPr>
              <a:t> </a:t>
            </a:r>
            <a:r>
              <a:rPr sz="2200" spc="-60" dirty="0">
                <a:latin typeface="Times New Roman"/>
                <a:cs typeface="Times New Roman"/>
              </a:rPr>
              <a:t>(e.g.,</a:t>
            </a:r>
            <a:r>
              <a:rPr sz="2200" spc="-130" dirty="0">
                <a:latin typeface="Times New Roman"/>
                <a:cs typeface="Times New Roman"/>
              </a:rPr>
              <a:t> </a:t>
            </a:r>
            <a:r>
              <a:rPr sz="2200" dirty="0">
                <a:latin typeface="Times New Roman"/>
                <a:cs typeface="Times New Roman"/>
              </a:rPr>
              <a:t>10.0.0.0/16)</a:t>
            </a:r>
            <a:r>
              <a:rPr sz="2200" spc="10" dirty="0">
                <a:latin typeface="Times New Roman"/>
                <a:cs typeface="Times New Roman"/>
              </a:rPr>
              <a:t> </a:t>
            </a:r>
            <a:r>
              <a:rPr sz="2200" dirty="0">
                <a:latin typeface="Times New Roman"/>
                <a:cs typeface="Times New Roman"/>
              </a:rPr>
              <a:t>to</a:t>
            </a:r>
            <a:r>
              <a:rPr sz="2200" spc="-30" dirty="0">
                <a:latin typeface="Times New Roman"/>
                <a:cs typeface="Times New Roman"/>
              </a:rPr>
              <a:t> </a:t>
            </a:r>
            <a:r>
              <a:rPr sz="2200" spc="-114" dirty="0">
                <a:latin typeface="Times New Roman"/>
                <a:cs typeface="Times New Roman"/>
              </a:rPr>
              <a:t>allocate</a:t>
            </a:r>
            <a:r>
              <a:rPr sz="2200" spc="-40" dirty="0">
                <a:latin typeface="Times New Roman"/>
                <a:cs typeface="Times New Roman"/>
              </a:rPr>
              <a:t> </a:t>
            </a:r>
            <a:r>
              <a:rPr sz="2200" spc="-100" dirty="0">
                <a:latin typeface="Times New Roman"/>
                <a:cs typeface="Times New Roman"/>
              </a:rPr>
              <a:t>private</a:t>
            </a:r>
            <a:r>
              <a:rPr sz="2200" spc="-35" dirty="0">
                <a:latin typeface="Times New Roman"/>
                <a:cs typeface="Times New Roman"/>
              </a:rPr>
              <a:t> </a:t>
            </a:r>
            <a:r>
              <a:rPr sz="2200" spc="-160" dirty="0">
                <a:latin typeface="Times New Roman"/>
                <a:cs typeface="Times New Roman"/>
              </a:rPr>
              <a:t>IPs</a:t>
            </a:r>
            <a:r>
              <a:rPr sz="2200" spc="-35" dirty="0">
                <a:latin typeface="Times New Roman"/>
                <a:cs typeface="Times New Roman"/>
              </a:rPr>
              <a:t> </a:t>
            </a:r>
            <a:r>
              <a:rPr sz="2200" spc="-25" dirty="0">
                <a:latin typeface="Times New Roman"/>
                <a:cs typeface="Times New Roman"/>
              </a:rPr>
              <a:t>to </a:t>
            </a:r>
            <a:r>
              <a:rPr sz="2200" spc="-110" dirty="0">
                <a:latin typeface="Times New Roman"/>
                <a:cs typeface="Times New Roman"/>
              </a:rPr>
              <a:t>your</a:t>
            </a:r>
            <a:r>
              <a:rPr sz="2200" spc="-5" dirty="0">
                <a:latin typeface="Times New Roman"/>
                <a:cs typeface="Times New Roman"/>
              </a:rPr>
              <a:t> </a:t>
            </a:r>
            <a:r>
              <a:rPr sz="2200" spc="-10" dirty="0">
                <a:latin typeface="Times New Roman"/>
                <a:cs typeface="Times New Roman"/>
              </a:rPr>
              <a:t>resources.</a:t>
            </a:r>
            <a:endParaRPr sz="2200">
              <a:latin typeface="Times New Roman"/>
              <a:cs typeface="Times New Roman"/>
            </a:endParaRPr>
          </a:p>
          <a:p>
            <a:pPr marL="469900" marR="5080" lvl="1" indent="-7620">
              <a:lnSpc>
                <a:spcPct val="100000"/>
              </a:lnSpc>
              <a:buSzPct val="95454"/>
              <a:buChar char="•"/>
              <a:tabLst>
                <a:tab pos="568325" algn="l"/>
              </a:tabLst>
            </a:pPr>
            <a:r>
              <a:rPr sz="2200" spc="-120" dirty="0">
                <a:latin typeface="Times New Roman"/>
                <a:cs typeface="Times New Roman"/>
              </a:rPr>
              <a:t>	The</a:t>
            </a:r>
            <a:r>
              <a:rPr sz="2200" spc="-45" dirty="0">
                <a:latin typeface="Times New Roman"/>
                <a:cs typeface="Times New Roman"/>
              </a:rPr>
              <a:t> </a:t>
            </a:r>
            <a:r>
              <a:rPr sz="2200" spc="-150" dirty="0">
                <a:latin typeface="Times New Roman"/>
                <a:cs typeface="Times New Roman"/>
              </a:rPr>
              <a:t>CIDR</a:t>
            </a:r>
            <a:r>
              <a:rPr sz="2200" spc="-30" dirty="0">
                <a:latin typeface="Times New Roman"/>
                <a:cs typeface="Times New Roman"/>
              </a:rPr>
              <a:t> </a:t>
            </a:r>
            <a:r>
              <a:rPr sz="2200" spc="-125" dirty="0">
                <a:latin typeface="Times New Roman"/>
                <a:cs typeface="Times New Roman"/>
              </a:rPr>
              <a:t>block</a:t>
            </a:r>
            <a:r>
              <a:rPr sz="2200" spc="-20" dirty="0">
                <a:latin typeface="Times New Roman"/>
                <a:cs typeface="Times New Roman"/>
              </a:rPr>
              <a:t> </a:t>
            </a:r>
            <a:r>
              <a:rPr sz="2200" spc="-85" dirty="0">
                <a:latin typeface="Times New Roman"/>
                <a:cs typeface="Times New Roman"/>
              </a:rPr>
              <a:t>determines</a:t>
            </a:r>
            <a:r>
              <a:rPr sz="2200" spc="-15" dirty="0">
                <a:latin typeface="Times New Roman"/>
                <a:cs typeface="Times New Roman"/>
              </a:rPr>
              <a:t> </a:t>
            </a:r>
            <a:r>
              <a:rPr sz="2200" spc="-150" dirty="0">
                <a:latin typeface="Times New Roman"/>
                <a:cs typeface="Times New Roman"/>
              </a:rPr>
              <a:t>how</a:t>
            </a:r>
            <a:r>
              <a:rPr sz="2200" spc="-30" dirty="0">
                <a:latin typeface="Times New Roman"/>
                <a:cs typeface="Times New Roman"/>
              </a:rPr>
              <a:t> </a:t>
            </a:r>
            <a:r>
              <a:rPr sz="2200" spc="-175" dirty="0">
                <a:latin typeface="Times New Roman"/>
                <a:cs typeface="Times New Roman"/>
              </a:rPr>
              <a:t>many</a:t>
            </a:r>
            <a:r>
              <a:rPr sz="2200" spc="-10" dirty="0">
                <a:latin typeface="Times New Roman"/>
                <a:cs typeface="Times New Roman"/>
              </a:rPr>
              <a:t> </a:t>
            </a:r>
            <a:r>
              <a:rPr sz="2200" b="1" dirty="0">
                <a:latin typeface="Times New Roman"/>
                <a:cs typeface="Times New Roman"/>
              </a:rPr>
              <a:t>subnets</a:t>
            </a:r>
            <a:r>
              <a:rPr sz="2200" b="1" spc="-35" dirty="0">
                <a:latin typeface="Times New Roman"/>
                <a:cs typeface="Times New Roman"/>
              </a:rPr>
              <a:t> </a:t>
            </a:r>
            <a:r>
              <a:rPr sz="2200" spc="-150" dirty="0">
                <a:latin typeface="Times New Roman"/>
                <a:cs typeface="Times New Roman"/>
              </a:rPr>
              <a:t>can</a:t>
            </a:r>
            <a:r>
              <a:rPr sz="2200" spc="-20" dirty="0">
                <a:latin typeface="Times New Roman"/>
                <a:cs typeface="Times New Roman"/>
              </a:rPr>
              <a:t> </a:t>
            </a:r>
            <a:r>
              <a:rPr sz="2200" spc="-105" dirty="0">
                <a:latin typeface="Times New Roman"/>
                <a:cs typeface="Times New Roman"/>
              </a:rPr>
              <a:t>be</a:t>
            </a:r>
            <a:r>
              <a:rPr sz="2200" spc="-40" dirty="0">
                <a:latin typeface="Times New Roman"/>
                <a:cs typeface="Times New Roman"/>
              </a:rPr>
              <a:t> </a:t>
            </a:r>
            <a:r>
              <a:rPr sz="2200" spc="-90" dirty="0">
                <a:latin typeface="Times New Roman"/>
                <a:cs typeface="Times New Roman"/>
              </a:rPr>
              <a:t>created</a:t>
            </a:r>
            <a:r>
              <a:rPr sz="2200" spc="-15" dirty="0">
                <a:latin typeface="Times New Roman"/>
                <a:cs typeface="Times New Roman"/>
              </a:rPr>
              <a:t> </a:t>
            </a:r>
            <a:r>
              <a:rPr sz="2200" spc="-120" dirty="0">
                <a:latin typeface="Times New Roman"/>
                <a:cs typeface="Times New Roman"/>
              </a:rPr>
              <a:t>inside</a:t>
            </a:r>
            <a:r>
              <a:rPr sz="2200" spc="-30" dirty="0">
                <a:latin typeface="Times New Roman"/>
                <a:cs typeface="Times New Roman"/>
              </a:rPr>
              <a:t> </a:t>
            </a:r>
            <a:r>
              <a:rPr sz="2200" spc="-25" dirty="0">
                <a:latin typeface="Times New Roman"/>
                <a:cs typeface="Times New Roman"/>
              </a:rPr>
              <a:t>the </a:t>
            </a:r>
            <a:r>
              <a:rPr sz="2200" spc="-20" dirty="0">
                <a:latin typeface="Times New Roman"/>
                <a:cs typeface="Times New Roman"/>
              </a:rPr>
              <a:t>VPC.</a:t>
            </a:r>
            <a:endParaRPr sz="2200">
              <a:latin typeface="Times New Roman"/>
              <a:cs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9064" y="430733"/>
            <a:ext cx="5081270" cy="574675"/>
          </a:xfrm>
          <a:prstGeom prst="rect">
            <a:avLst/>
          </a:prstGeom>
        </p:spPr>
        <p:txBody>
          <a:bodyPr vert="horz" wrap="square" lIns="0" tIns="12700" rIns="0" bIns="0" rtlCol="0">
            <a:spAutoFit/>
          </a:bodyPr>
          <a:lstStyle/>
          <a:p>
            <a:pPr marL="12700">
              <a:lnSpc>
                <a:spcPct val="100000"/>
              </a:lnSpc>
              <a:spcBef>
                <a:spcPts val="100"/>
              </a:spcBef>
            </a:pPr>
            <a:r>
              <a:rPr sz="3600" dirty="0"/>
              <a:t>Virtual</a:t>
            </a:r>
            <a:r>
              <a:rPr sz="3600" spc="-145" dirty="0"/>
              <a:t> </a:t>
            </a:r>
            <a:r>
              <a:rPr sz="3600" spc="-45" dirty="0"/>
              <a:t>Private</a:t>
            </a:r>
            <a:r>
              <a:rPr sz="3600" spc="-140" dirty="0"/>
              <a:t> </a:t>
            </a:r>
            <a:r>
              <a:rPr sz="3600" dirty="0"/>
              <a:t>Cloud</a:t>
            </a:r>
            <a:r>
              <a:rPr sz="3600" spc="-145" dirty="0"/>
              <a:t> </a:t>
            </a:r>
            <a:r>
              <a:rPr sz="3600" spc="-10" dirty="0"/>
              <a:t>(VPC)</a:t>
            </a:r>
            <a:endParaRPr sz="3600"/>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512165" y="2084705"/>
            <a:ext cx="8302625" cy="4384675"/>
          </a:xfrm>
          <a:prstGeom prst="rect">
            <a:avLst/>
          </a:prstGeom>
        </p:spPr>
        <p:txBody>
          <a:bodyPr vert="horz" wrap="square" lIns="0" tIns="12700" rIns="0" bIns="0" rtlCol="0">
            <a:spAutoFit/>
          </a:bodyPr>
          <a:lstStyle/>
          <a:p>
            <a:pPr marL="287020" indent="-274320">
              <a:lnSpc>
                <a:spcPct val="100000"/>
              </a:lnSpc>
              <a:spcBef>
                <a:spcPts val="100"/>
              </a:spcBef>
              <a:buAutoNum type="arabicPeriod" startAt="3"/>
              <a:tabLst>
                <a:tab pos="287020" algn="l"/>
              </a:tabLst>
            </a:pPr>
            <a:r>
              <a:rPr sz="2400" b="1" spc="-10" dirty="0">
                <a:latin typeface="Times New Roman"/>
                <a:cs typeface="Times New Roman"/>
              </a:rPr>
              <a:t>Subnets</a:t>
            </a:r>
            <a:endParaRPr sz="2400" dirty="0">
              <a:latin typeface="Times New Roman"/>
              <a:cs typeface="Times New Roman"/>
            </a:endParaRPr>
          </a:p>
          <a:p>
            <a:pPr marL="12700" marR="5080">
              <a:lnSpc>
                <a:spcPct val="100000"/>
              </a:lnSpc>
            </a:pPr>
            <a:r>
              <a:rPr sz="2400" spc="-315" dirty="0">
                <a:latin typeface="Times New Roman"/>
                <a:cs typeface="Times New Roman"/>
              </a:rPr>
              <a:t>A</a:t>
            </a:r>
            <a:r>
              <a:rPr sz="2400" spc="165" dirty="0">
                <a:latin typeface="Times New Roman"/>
                <a:cs typeface="Times New Roman"/>
              </a:rPr>
              <a:t> </a:t>
            </a:r>
            <a:r>
              <a:rPr sz="2400" spc="-114" dirty="0">
                <a:latin typeface="Times New Roman"/>
                <a:cs typeface="Times New Roman"/>
              </a:rPr>
              <a:t>VPC</a:t>
            </a:r>
            <a:r>
              <a:rPr sz="2400" spc="-35" dirty="0">
                <a:latin typeface="Times New Roman"/>
                <a:cs typeface="Times New Roman"/>
              </a:rPr>
              <a:t> </a:t>
            </a:r>
            <a:r>
              <a:rPr sz="2400" spc="-10" dirty="0">
                <a:latin typeface="Times New Roman"/>
                <a:cs typeface="Times New Roman"/>
              </a:rPr>
              <a:t>is</a:t>
            </a:r>
            <a:r>
              <a:rPr sz="2400" spc="50" dirty="0">
                <a:latin typeface="Times New Roman"/>
                <a:cs typeface="Times New Roman"/>
              </a:rPr>
              <a:t> </a:t>
            </a:r>
            <a:r>
              <a:rPr sz="2400" spc="-85" dirty="0">
                <a:latin typeface="Times New Roman"/>
                <a:cs typeface="Times New Roman"/>
              </a:rPr>
              <a:t>divided</a:t>
            </a:r>
            <a:r>
              <a:rPr sz="2400" spc="75" dirty="0">
                <a:latin typeface="Times New Roman"/>
                <a:cs typeface="Times New Roman"/>
              </a:rPr>
              <a:t> </a:t>
            </a:r>
            <a:r>
              <a:rPr sz="2400" spc="-10" dirty="0">
                <a:latin typeface="Times New Roman"/>
                <a:cs typeface="Times New Roman"/>
              </a:rPr>
              <a:t>into</a:t>
            </a:r>
            <a:r>
              <a:rPr sz="2400" spc="70" dirty="0">
                <a:latin typeface="Times New Roman"/>
                <a:cs typeface="Times New Roman"/>
              </a:rPr>
              <a:t> </a:t>
            </a:r>
            <a:r>
              <a:rPr sz="2400" b="1" dirty="0">
                <a:latin typeface="Times New Roman"/>
                <a:cs typeface="Times New Roman"/>
              </a:rPr>
              <a:t>subnets</a:t>
            </a:r>
            <a:r>
              <a:rPr sz="2400" dirty="0">
                <a:latin typeface="Times New Roman"/>
                <a:cs typeface="Times New Roman"/>
              </a:rPr>
              <a:t>,</a:t>
            </a:r>
            <a:r>
              <a:rPr sz="2400" spc="-15" dirty="0">
                <a:latin typeface="Times New Roman"/>
                <a:cs typeface="Times New Roman"/>
              </a:rPr>
              <a:t> </a:t>
            </a:r>
            <a:r>
              <a:rPr sz="2400" spc="-85" dirty="0">
                <a:latin typeface="Times New Roman"/>
                <a:cs typeface="Times New Roman"/>
              </a:rPr>
              <a:t>which</a:t>
            </a:r>
            <a:r>
              <a:rPr sz="2400" spc="65" dirty="0">
                <a:latin typeface="Times New Roman"/>
                <a:cs typeface="Times New Roman"/>
              </a:rPr>
              <a:t> </a:t>
            </a:r>
            <a:r>
              <a:rPr sz="2400" spc="-55" dirty="0">
                <a:latin typeface="Times New Roman"/>
                <a:cs typeface="Times New Roman"/>
              </a:rPr>
              <a:t>can</a:t>
            </a:r>
            <a:r>
              <a:rPr sz="2400" spc="60" dirty="0">
                <a:latin typeface="Times New Roman"/>
                <a:cs typeface="Times New Roman"/>
              </a:rPr>
              <a:t> </a:t>
            </a:r>
            <a:r>
              <a:rPr sz="2400" dirty="0">
                <a:latin typeface="Times New Roman"/>
                <a:cs typeface="Times New Roman"/>
              </a:rPr>
              <a:t>be</a:t>
            </a:r>
            <a:r>
              <a:rPr sz="2400" spc="65" dirty="0">
                <a:latin typeface="Times New Roman"/>
                <a:cs typeface="Times New Roman"/>
              </a:rPr>
              <a:t> </a:t>
            </a:r>
            <a:r>
              <a:rPr sz="2400" spc="-25" dirty="0">
                <a:latin typeface="Times New Roman"/>
                <a:cs typeface="Times New Roman"/>
              </a:rPr>
              <a:t>either</a:t>
            </a:r>
            <a:r>
              <a:rPr sz="2400" spc="65" dirty="0">
                <a:latin typeface="Times New Roman"/>
                <a:cs typeface="Times New Roman"/>
              </a:rPr>
              <a:t> </a:t>
            </a:r>
            <a:r>
              <a:rPr sz="2400" b="1" dirty="0">
                <a:latin typeface="Times New Roman"/>
                <a:cs typeface="Times New Roman"/>
              </a:rPr>
              <a:t>public</a:t>
            </a:r>
            <a:r>
              <a:rPr sz="2400" b="1" spc="70" dirty="0">
                <a:latin typeface="Times New Roman"/>
                <a:cs typeface="Times New Roman"/>
              </a:rPr>
              <a:t> </a:t>
            </a:r>
            <a:r>
              <a:rPr sz="2400" spc="-110" dirty="0">
                <a:latin typeface="Times New Roman"/>
                <a:cs typeface="Times New Roman"/>
              </a:rPr>
              <a:t>(accessible from</a:t>
            </a:r>
            <a:r>
              <a:rPr sz="2400" spc="-65" dirty="0">
                <a:latin typeface="Times New Roman"/>
                <a:cs typeface="Times New Roman"/>
              </a:rPr>
              <a:t> </a:t>
            </a:r>
            <a:r>
              <a:rPr sz="2400" spc="-60" dirty="0">
                <a:latin typeface="Times New Roman"/>
                <a:cs typeface="Times New Roman"/>
              </a:rPr>
              <a:t>the</a:t>
            </a:r>
            <a:r>
              <a:rPr sz="2400" spc="-90" dirty="0">
                <a:latin typeface="Times New Roman"/>
                <a:cs typeface="Times New Roman"/>
              </a:rPr>
              <a:t> </a:t>
            </a:r>
            <a:r>
              <a:rPr sz="2400" spc="-45" dirty="0">
                <a:latin typeface="Times New Roman"/>
                <a:cs typeface="Times New Roman"/>
              </a:rPr>
              <a:t>internet)</a:t>
            </a:r>
            <a:r>
              <a:rPr sz="2400" spc="-105" dirty="0">
                <a:latin typeface="Times New Roman"/>
                <a:cs typeface="Times New Roman"/>
              </a:rPr>
              <a:t> </a:t>
            </a:r>
            <a:r>
              <a:rPr sz="2400" dirty="0">
                <a:latin typeface="Times New Roman"/>
                <a:cs typeface="Times New Roman"/>
              </a:rPr>
              <a:t>or</a:t>
            </a:r>
            <a:r>
              <a:rPr sz="2400" spc="-105" dirty="0">
                <a:latin typeface="Times New Roman"/>
                <a:cs typeface="Times New Roman"/>
              </a:rPr>
              <a:t> </a:t>
            </a:r>
            <a:r>
              <a:rPr sz="2400" b="1" spc="-10" dirty="0">
                <a:latin typeface="Times New Roman"/>
                <a:cs typeface="Times New Roman"/>
              </a:rPr>
              <a:t>private</a:t>
            </a:r>
            <a:r>
              <a:rPr sz="2400" b="1" spc="-85" dirty="0">
                <a:latin typeface="Times New Roman"/>
                <a:cs typeface="Times New Roman"/>
              </a:rPr>
              <a:t> </a:t>
            </a:r>
            <a:r>
              <a:rPr sz="2400" spc="-114" dirty="0">
                <a:latin typeface="Times New Roman"/>
                <a:cs typeface="Times New Roman"/>
              </a:rPr>
              <a:t>(isolated</a:t>
            </a:r>
            <a:r>
              <a:rPr sz="2400" spc="-85" dirty="0">
                <a:latin typeface="Times New Roman"/>
                <a:cs typeface="Times New Roman"/>
              </a:rPr>
              <a:t> </a:t>
            </a:r>
            <a:r>
              <a:rPr sz="2400" spc="-110" dirty="0">
                <a:latin typeface="Times New Roman"/>
                <a:cs typeface="Times New Roman"/>
              </a:rPr>
              <a:t>from</a:t>
            </a:r>
            <a:r>
              <a:rPr sz="2400" spc="-65" dirty="0">
                <a:latin typeface="Times New Roman"/>
                <a:cs typeface="Times New Roman"/>
              </a:rPr>
              <a:t> </a:t>
            </a:r>
            <a:r>
              <a:rPr sz="2400" spc="-60" dirty="0">
                <a:latin typeface="Times New Roman"/>
                <a:cs typeface="Times New Roman"/>
              </a:rPr>
              <a:t>the</a:t>
            </a:r>
            <a:r>
              <a:rPr sz="2400" spc="-80" dirty="0">
                <a:latin typeface="Times New Roman"/>
                <a:cs typeface="Times New Roman"/>
              </a:rPr>
              <a:t> </a:t>
            </a:r>
            <a:r>
              <a:rPr sz="2400" spc="-10" dirty="0">
                <a:latin typeface="Times New Roman"/>
                <a:cs typeface="Times New Roman"/>
              </a:rPr>
              <a:t>internet).</a:t>
            </a:r>
            <a:endParaRPr sz="2400" dirty="0">
              <a:latin typeface="Times New Roman"/>
              <a:cs typeface="Times New Roman"/>
            </a:endParaRPr>
          </a:p>
          <a:p>
            <a:pPr marL="12700" marR="8255" lvl="1" indent="-8255">
              <a:lnSpc>
                <a:spcPct val="100000"/>
              </a:lnSpc>
              <a:buSzPct val="95833"/>
              <a:buChar char="•"/>
              <a:tabLst>
                <a:tab pos="118745" algn="l"/>
              </a:tabLst>
            </a:pPr>
            <a:r>
              <a:rPr sz="2400" spc="-130" dirty="0">
                <a:latin typeface="Times New Roman"/>
                <a:cs typeface="Times New Roman"/>
              </a:rPr>
              <a:t>	Subnets</a:t>
            </a:r>
            <a:r>
              <a:rPr sz="2400" spc="-20" dirty="0">
                <a:latin typeface="Times New Roman"/>
                <a:cs typeface="Times New Roman"/>
              </a:rPr>
              <a:t> </a:t>
            </a:r>
            <a:r>
              <a:rPr sz="2400" spc="-85" dirty="0">
                <a:latin typeface="Times New Roman"/>
                <a:cs typeface="Times New Roman"/>
              </a:rPr>
              <a:t>help</a:t>
            </a:r>
            <a:r>
              <a:rPr sz="2400" spc="-15" dirty="0">
                <a:latin typeface="Times New Roman"/>
                <a:cs typeface="Times New Roman"/>
              </a:rPr>
              <a:t> </a:t>
            </a:r>
            <a:r>
              <a:rPr sz="2400" spc="-35" dirty="0">
                <a:latin typeface="Times New Roman"/>
                <a:cs typeface="Times New Roman"/>
              </a:rPr>
              <a:t>in</a:t>
            </a:r>
            <a:r>
              <a:rPr sz="2400" spc="-10" dirty="0">
                <a:latin typeface="Times New Roman"/>
                <a:cs typeface="Times New Roman"/>
              </a:rPr>
              <a:t> </a:t>
            </a:r>
            <a:r>
              <a:rPr sz="2400" spc="-130" dirty="0">
                <a:latin typeface="Times New Roman"/>
                <a:cs typeface="Times New Roman"/>
              </a:rPr>
              <a:t>organizing</a:t>
            </a:r>
            <a:r>
              <a:rPr sz="2400" spc="-15" dirty="0">
                <a:latin typeface="Times New Roman"/>
                <a:cs typeface="Times New Roman"/>
              </a:rPr>
              <a:t> </a:t>
            </a:r>
            <a:r>
              <a:rPr sz="2400" spc="-114" dirty="0">
                <a:latin typeface="Times New Roman"/>
                <a:cs typeface="Times New Roman"/>
              </a:rPr>
              <a:t>and</a:t>
            </a:r>
            <a:r>
              <a:rPr sz="2400" spc="-5" dirty="0">
                <a:latin typeface="Times New Roman"/>
                <a:cs typeface="Times New Roman"/>
              </a:rPr>
              <a:t> </a:t>
            </a:r>
            <a:r>
              <a:rPr sz="2400" spc="-90" dirty="0">
                <a:latin typeface="Times New Roman"/>
                <a:cs typeface="Times New Roman"/>
              </a:rPr>
              <a:t>distributing</a:t>
            </a:r>
            <a:r>
              <a:rPr sz="2400" spc="-20" dirty="0">
                <a:latin typeface="Times New Roman"/>
                <a:cs typeface="Times New Roman"/>
              </a:rPr>
              <a:t> </a:t>
            </a:r>
            <a:r>
              <a:rPr sz="2400" spc="-95" dirty="0">
                <a:latin typeface="Times New Roman"/>
                <a:cs typeface="Times New Roman"/>
              </a:rPr>
              <a:t>resources</a:t>
            </a:r>
            <a:r>
              <a:rPr sz="2400" spc="-5" dirty="0">
                <a:latin typeface="Times New Roman"/>
                <a:cs typeface="Times New Roman"/>
              </a:rPr>
              <a:t> </a:t>
            </a:r>
            <a:r>
              <a:rPr sz="2400" spc="-135" dirty="0">
                <a:latin typeface="Times New Roman"/>
                <a:cs typeface="Times New Roman"/>
              </a:rPr>
              <a:t>across</a:t>
            </a:r>
            <a:r>
              <a:rPr sz="2400" spc="-15" dirty="0">
                <a:latin typeface="Times New Roman"/>
                <a:cs typeface="Times New Roman"/>
              </a:rPr>
              <a:t> </a:t>
            </a:r>
            <a:r>
              <a:rPr sz="2400" b="1" spc="-10" dirty="0">
                <a:latin typeface="Times New Roman"/>
                <a:cs typeface="Times New Roman"/>
              </a:rPr>
              <a:t>Availability </a:t>
            </a:r>
            <a:r>
              <a:rPr sz="2400" b="1" dirty="0">
                <a:latin typeface="Times New Roman"/>
                <a:cs typeface="Times New Roman"/>
              </a:rPr>
              <a:t>Zones</a:t>
            </a:r>
            <a:r>
              <a:rPr sz="2400" b="1" spc="-120" dirty="0">
                <a:latin typeface="Times New Roman"/>
                <a:cs typeface="Times New Roman"/>
              </a:rPr>
              <a:t> </a:t>
            </a:r>
            <a:r>
              <a:rPr sz="2400" b="1" spc="-10" dirty="0">
                <a:latin typeface="Times New Roman"/>
                <a:cs typeface="Times New Roman"/>
              </a:rPr>
              <a:t>(AZs)</a:t>
            </a:r>
            <a:r>
              <a:rPr sz="2400" spc="-10" dirty="0">
                <a:latin typeface="Times New Roman"/>
                <a:cs typeface="Times New Roman"/>
              </a:rPr>
              <a:t>.</a:t>
            </a:r>
            <a:endParaRPr sz="2400" dirty="0">
              <a:latin typeface="Times New Roman"/>
              <a:cs typeface="Times New Roman"/>
            </a:endParaRPr>
          </a:p>
          <a:p>
            <a:pPr>
              <a:lnSpc>
                <a:spcPct val="100000"/>
              </a:lnSpc>
              <a:spcBef>
                <a:spcPts val="120"/>
              </a:spcBef>
            </a:pPr>
            <a:endParaRPr sz="2400" dirty="0">
              <a:latin typeface="Times New Roman"/>
              <a:cs typeface="Times New Roman"/>
            </a:endParaRPr>
          </a:p>
          <a:p>
            <a:pPr marL="287020" indent="-274320">
              <a:lnSpc>
                <a:spcPct val="100000"/>
              </a:lnSpc>
              <a:buAutoNum type="arabicPeriod" startAt="4"/>
              <a:tabLst>
                <a:tab pos="287020" algn="l"/>
              </a:tabLst>
            </a:pPr>
            <a:r>
              <a:rPr sz="2400" b="1" dirty="0">
                <a:latin typeface="Times New Roman"/>
                <a:cs typeface="Times New Roman"/>
              </a:rPr>
              <a:t>Routing</a:t>
            </a:r>
            <a:r>
              <a:rPr sz="2400" b="1" spc="-75" dirty="0">
                <a:latin typeface="Times New Roman"/>
                <a:cs typeface="Times New Roman"/>
              </a:rPr>
              <a:t> </a:t>
            </a:r>
            <a:r>
              <a:rPr sz="2400" b="1" spc="-160" dirty="0">
                <a:latin typeface="Times New Roman"/>
                <a:cs typeface="Times New Roman"/>
              </a:rPr>
              <a:t>&amp;</a:t>
            </a:r>
            <a:r>
              <a:rPr sz="2400" b="1" spc="-65" dirty="0">
                <a:latin typeface="Times New Roman"/>
                <a:cs typeface="Times New Roman"/>
              </a:rPr>
              <a:t> </a:t>
            </a:r>
            <a:r>
              <a:rPr sz="2400" b="1" spc="-10" dirty="0">
                <a:latin typeface="Times New Roman"/>
                <a:cs typeface="Times New Roman"/>
              </a:rPr>
              <a:t>Connectivity</a:t>
            </a:r>
            <a:endParaRPr sz="2400" dirty="0">
              <a:latin typeface="Times New Roman"/>
              <a:cs typeface="Times New Roman"/>
            </a:endParaRPr>
          </a:p>
          <a:p>
            <a:pPr marL="384810" lvl="1" indent="-111125">
              <a:lnSpc>
                <a:spcPts val="2630"/>
              </a:lnSpc>
              <a:spcBef>
                <a:spcPts val="20"/>
              </a:spcBef>
              <a:buSzPct val="95454"/>
              <a:buFont typeface="Times New Roman"/>
              <a:buChar char="•"/>
              <a:tabLst>
                <a:tab pos="384810" algn="l"/>
              </a:tabLst>
            </a:pPr>
            <a:r>
              <a:rPr sz="2200" b="1" dirty="0">
                <a:latin typeface="Times New Roman"/>
                <a:cs typeface="Times New Roman"/>
              </a:rPr>
              <a:t>Route</a:t>
            </a:r>
            <a:r>
              <a:rPr sz="2200" b="1" spc="-25" dirty="0">
                <a:latin typeface="Times New Roman"/>
                <a:cs typeface="Times New Roman"/>
              </a:rPr>
              <a:t> </a:t>
            </a:r>
            <a:r>
              <a:rPr sz="2200" b="1" spc="-20" dirty="0">
                <a:latin typeface="Times New Roman"/>
                <a:cs typeface="Times New Roman"/>
              </a:rPr>
              <a:t>tables</a:t>
            </a:r>
            <a:r>
              <a:rPr sz="2200" b="1" spc="-25" dirty="0">
                <a:latin typeface="Times New Roman"/>
                <a:cs typeface="Times New Roman"/>
              </a:rPr>
              <a:t> </a:t>
            </a:r>
            <a:r>
              <a:rPr sz="2200" spc="-75" dirty="0">
                <a:latin typeface="Times New Roman"/>
                <a:cs typeface="Times New Roman"/>
              </a:rPr>
              <a:t>control</a:t>
            </a:r>
            <a:r>
              <a:rPr sz="2200" spc="5" dirty="0">
                <a:latin typeface="Times New Roman"/>
                <a:cs typeface="Times New Roman"/>
              </a:rPr>
              <a:t> </a:t>
            </a:r>
            <a:r>
              <a:rPr sz="2200" spc="-90" dirty="0">
                <a:latin typeface="Times New Roman"/>
                <a:cs typeface="Times New Roman"/>
              </a:rPr>
              <a:t>network</a:t>
            </a:r>
            <a:r>
              <a:rPr sz="2200" spc="-20" dirty="0">
                <a:latin typeface="Times New Roman"/>
                <a:cs typeface="Times New Roman"/>
              </a:rPr>
              <a:t> </a:t>
            </a:r>
            <a:r>
              <a:rPr sz="2200" spc="-114" dirty="0">
                <a:latin typeface="Times New Roman"/>
                <a:cs typeface="Times New Roman"/>
              </a:rPr>
              <a:t>traffic</a:t>
            </a:r>
            <a:r>
              <a:rPr sz="2200" spc="-45" dirty="0">
                <a:latin typeface="Times New Roman"/>
                <a:cs typeface="Times New Roman"/>
              </a:rPr>
              <a:t> </a:t>
            </a:r>
            <a:r>
              <a:rPr sz="2200" spc="-120" dirty="0">
                <a:latin typeface="Times New Roman"/>
                <a:cs typeface="Times New Roman"/>
              </a:rPr>
              <a:t>inside</a:t>
            </a:r>
            <a:r>
              <a:rPr sz="2200" spc="-35" dirty="0">
                <a:latin typeface="Times New Roman"/>
                <a:cs typeface="Times New Roman"/>
              </a:rPr>
              <a:t> </a:t>
            </a:r>
            <a:r>
              <a:rPr sz="2200" spc="-135" dirty="0">
                <a:latin typeface="Times New Roman"/>
                <a:cs typeface="Times New Roman"/>
              </a:rPr>
              <a:t>and</a:t>
            </a:r>
            <a:r>
              <a:rPr sz="2200" spc="-30" dirty="0">
                <a:latin typeface="Times New Roman"/>
                <a:cs typeface="Times New Roman"/>
              </a:rPr>
              <a:t> </a:t>
            </a:r>
            <a:r>
              <a:rPr sz="2200" spc="-95" dirty="0">
                <a:latin typeface="Times New Roman"/>
                <a:cs typeface="Times New Roman"/>
              </a:rPr>
              <a:t>outside</a:t>
            </a:r>
            <a:r>
              <a:rPr sz="2200" spc="-30" dirty="0">
                <a:latin typeface="Times New Roman"/>
                <a:cs typeface="Times New Roman"/>
              </a:rPr>
              <a:t> </a:t>
            </a:r>
            <a:r>
              <a:rPr sz="2200" spc="-80" dirty="0">
                <a:latin typeface="Times New Roman"/>
                <a:cs typeface="Times New Roman"/>
              </a:rPr>
              <a:t>the</a:t>
            </a:r>
            <a:r>
              <a:rPr sz="2200" spc="-325" dirty="0">
                <a:latin typeface="Times New Roman"/>
                <a:cs typeface="Times New Roman"/>
              </a:rPr>
              <a:t> </a:t>
            </a:r>
            <a:r>
              <a:rPr sz="2200" spc="-20" dirty="0">
                <a:latin typeface="Times New Roman"/>
                <a:cs typeface="Times New Roman"/>
              </a:rPr>
              <a:t>VPC.</a:t>
            </a:r>
            <a:endParaRPr sz="2200" dirty="0">
              <a:latin typeface="Times New Roman"/>
              <a:cs typeface="Times New Roman"/>
            </a:endParaRPr>
          </a:p>
          <a:p>
            <a:pPr marL="392430" lvl="1" indent="-119380">
              <a:lnSpc>
                <a:spcPts val="2870"/>
              </a:lnSpc>
              <a:buSzPct val="95833"/>
              <a:buFont typeface="Times New Roman"/>
              <a:buChar char="•"/>
              <a:tabLst>
                <a:tab pos="392430" algn="l"/>
              </a:tabLst>
            </a:pPr>
            <a:r>
              <a:rPr sz="2400" b="1" dirty="0">
                <a:latin typeface="Times New Roman"/>
                <a:cs typeface="Times New Roman"/>
              </a:rPr>
              <a:t>Internet</a:t>
            </a:r>
            <a:r>
              <a:rPr sz="2400" b="1" spc="-45" dirty="0">
                <a:latin typeface="Times New Roman"/>
                <a:cs typeface="Times New Roman"/>
              </a:rPr>
              <a:t> </a:t>
            </a:r>
            <a:r>
              <a:rPr sz="2400" b="1" spc="-75" dirty="0">
                <a:latin typeface="Times New Roman"/>
                <a:cs typeface="Times New Roman"/>
              </a:rPr>
              <a:t>Gateway</a:t>
            </a:r>
            <a:r>
              <a:rPr sz="2400" b="1" spc="-40" dirty="0">
                <a:latin typeface="Times New Roman"/>
                <a:cs typeface="Times New Roman"/>
              </a:rPr>
              <a:t> </a:t>
            </a:r>
            <a:r>
              <a:rPr sz="2400" b="1" spc="-85" dirty="0">
                <a:latin typeface="Times New Roman"/>
                <a:cs typeface="Times New Roman"/>
              </a:rPr>
              <a:t>(IGW)</a:t>
            </a:r>
            <a:r>
              <a:rPr sz="2400" b="1" spc="-35" dirty="0">
                <a:latin typeface="Times New Roman"/>
                <a:cs typeface="Times New Roman"/>
              </a:rPr>
              <a:t> </a:t>
            </a:r>
            <a:r>
              <a:rPr sz="2400" spc="-135" dirty="0">
                <a:latin typeface="Times New Roman"/>
                <a:cs typeface="Times New Roman"/>
              </a:rPr>
              <a:t>enables</a:t>
            </a:r>
            <a:r>
              <a:rPr sz="2400" spc="-35" dirty="0">
                <a:latin typeface="Times New Roman"/>
                <a:cs typeface="Times New Roman"/>
              </a:rPr>
              <a:t> </a:t>
            </a:r>
            <a:r>
              <a:rPr sz="2400" spc="-130" dirty="0">
                <a:latin typeface="Times New Roman"/>
                <a:cs typeface="Times New Roman"/>
              </a:rPr>
              <a:t>public</a:t>
            </a:r>
            <a:r>
              <a:rPr sz="2400" spc="-35" dirty="0">
                <a:latin typeface="Times New Roman"/>
                <a:cs typeface="Times New Roman"/>
              </a:rPr>
              <a:t> </a:t>
            </a:r>
            <a:r>
              <a:rPr sz="2400" spc="-45" dirty="0">
                <a:latin typeface="Times New Roman"/>
                <a:cs typeface="Times New Roman"/>
              </a:rPr>
              <a:t>internet</a:t>
            </a:r>
            <a:r>
              <a:rPr sz="2400" spc="-25" dirty="0">
                <a:latin typeface="Times New Roman"/>
                <a:cs typeface="Times New Roman"/>
              </a:rPr>
              <a:t> </a:t>
            </a:r>
            <a:r>
              <a:rPr sz="2400" spc="-10" dirty="0">
                <a:latin typeface="Times New Roman"/>
                <a:cs typeface="Times New Roman"/>
              </a:rPr>
              <a:t>access.</a:t>
            </a:r>
            <a:endParaRPr sz="2400" dirty="0">
              <a:latin typeface="Times New Roman"/>
              <a:cs typeface="Times New Roman"/>
            </a:endParaRPr>
          </a:p>
          <a:p>
            <a:pPr marL="286385" marR="6350" lvl="1" indent="-13335">
              <a:lnSpc>
                <a:spcPct val="100000"/>
              </a:lnSpc>
              <a:spcBef>
                <a:spcPts val="5"/>
              </a:spcBef>
              <a:buSzPct val="95833"/>
              <a:buFont typeface="Times New Roman"/>
              <a:buChar char="•"/>
              <a:tabLst>
                <a:tab pos="392430" algn="l"/>
              </a:tabLst>
            </a:pPr>
            <a:r>
              <a:rPr sz="2400" b="1" spc="-145" dirty="0">
                <a:latin typeface="Times New Roman"/>
                <a:cs typeface="Times New Roman"/>
              </a:rPr>
              <a:t>	NAT</a:t>
            </a:r>
            <a:r>
              <a:rPr sz="2400" b="1" spc="85" dirty="0">
                <a:latin typeface="Times New Roman"/>
                <a:cs typeface="Times New Roman"/>
              </a:rPr>
              <a:t> </a:t>
            </a:r>
            <a:r>
              <a:rPr sz="2400" b="1" spc="-35" dirty="0">
                <a:latin typeface="Times New Roman"/>
                <a:cs typeface="Times New Roman"/>
              </a:rPr>
              <a:t>Gateway/NAT</a:t>
            </a:r>
            <a:r>
              <a:rPr sz="2400" b="1" spc="85" dirty="0">
                <a:latin typeface="Times New Roman"/>
                <a:cs typeface="Times New Roman"/>
              </a:rPr>
              <a:t> </a:t>
            </a:r>
            <a:r>
              <a:rPr sz="2400" b="1" dirty="0">
                <a:latin typeface="Times New Roman"/>
                <a:cs typeface="Times New Roman"/>
              </a:rPr>
              <a:t>Instance</a:t>
            </a:r>
            <a:r>
              <a:rPr sz="2400" b="1" spc="90" dirty="0">
                <a:latin typeface="Times New Roman"/>
                <a:cs typeface="Times New Roman"/>
              </a:rPr>
              <a:t> </a:t>
            </a:r>
            <a:r>
              <a:rPr sz="2400" spc="-100" dirty="0">
                <a:latin typeface="Times New Roman"/>
                <a:cs typeface="Times New Roman"/>
              </a:rPr>
              <a:t>allows</a:t>
            </a:r>
            <a:r>
              <a:rPr sz="2400" spc="70" dirty="0">
                <a:latin typeface="Times New Roman"/>
                <a:cs typeface="Times New Roman"/>
              </a:rPr>
              <a:t> </a:t>
            </a:r>
            <a:r>
              <a:rPr sz="2400" spc="-55" dirty="0">
                <a:latin typeface="Times New Roman"/>
                <a:cs typeface="Times New Roman"/>
              </a:rPr>
              <a:t>private</a:t>
            </a:r>
            <a:r>
              <a:rPr sz="2400" spc="80" dirty="0">
                <a:latin typeface="Times New Roman"/>
                <a:cs typeface="Times New Roman"/>
              </a:rPr>
              <a:t> </a:t>
            </a:r>
            <a:r>
              <a:rPr sz="2400" spc="-75" dirty="0">
                <a:latin typeface="Times New Roman"/>
                <a:cs typeface="Times New Roman"/>
              </a:rPr>
              <a:t>subnets</a:t>
            </a:r>
            <a:r>
              <a:rPr sz="2400" spc="90" dirty="0">
                <a:latin typeface="Times New Roman"/>
                <a:cs typeface="Times New Roman"/>
              </a:rPr>
              <a:t> </a:t>
            </a:r>
            <a:r>
              <a:rPr sz="2400" dirty="0">
                <a:latin typeface="Times New Roman"/>
                <a:cs typeface="Times New Roman"/>
              </a:rPr>
              <a:t>to</a:t>
            </a:r>
            <a:r>
              <a:rPr sz="2400" spc="95" dirty="0">
                <a:latin typeface="Times New Roman"/>
                <a:cs typeface="Times New Roman"/>
              </a:rPr>
              <a:t> </a:t>
            </a:r>
            <a:r>
              <a:rPr sz="2400" spc="-120" dirty="0">
                <a:latin typeface="Times New Roman"/>
                <a:cs typeface="Times New Roman"/>
              </a:rPr>
              <a:t>access</a:t>
            </a:r>
            <a:r>
              <a:rPr sz="2400" spc="75" dirty="0">
                <a:latin typeface="Times New Roman"/>
                <a:cs typeface="Times New Roman"/>
              </a:rPr>
              <a:t> </a:t>
            </a:r>
            <a:r>
              <a:rPr sz="2400" spc="-25" dirty="0">
                <a:latin typeface="Times New Roman"/>
                <a:cs typeface="Times New Roman"/>
              </a:rPr>
              <a:t>the </a:t>
            </a:r>
            <a:r>
              <a:rPr sz="2400" spc="-45" dirty="0">
                <a:latin typeface="Times New Roman"/>
                <a:cs typeface="Times New Roman"/>
              </a:rPr>
              <a:t>internet</a:t>
            </a:r>
            <a:r>
              <a:rPr sz="2400" spc="-85" dirty="0">
                <a:latin typeface="Times New Roman"/>
                <a:cs typeface="Times New Roman"/>
              </a:rPr>
              <a:t> </a:t>
            </a:r>
            <a:r>
              <a:rPr sz="2400" spc="-10" dirty="0">
                <a:latin typeface="Times New Roman"/>
                <a:cs typeface="Times New Roman"/>
              </a:rPr>
              <a:t>securely.</a:t>
            </a:r>
            <a:endParaRPr sz="2400" dirty="0">
              <a:latin typeface="Times New Roman"/>
              <a:cs typeface="Times New Roman"/>
            </a:endParaRPr>
          </a:p>
          <a:p>
            <a:pPr marL="392430" lvl="1" indent="-119380">
              <a:lnSpc>
                <a:spcPct val="100000"/>
              </a:lnSpc>
              <a:buSzPct val="95833"/>
              <a:buFont typeface="Times New Roman"/>
              <a:buChar char="•"/>
              <a:tabLst>
                <a:tab pos="392430" algn="l"/>
              </a:tabLst>
            </a:pPr>
            <a:r>
              <a:rPr sz="2400" b="1" spc="-240" dirty="0">
                <a:latin typeface="Times New Roman"/>
                <a:cs typeface="Times New Roman"/>
              </a:rPr>
              <a:t>VPC</a:t>
            </a:r>
            <a:r>
              <a:rPr sz="2400" b="1" spc="-35" dirty="0">
                <a:latin typeface="Times New Roman"/>
                <a:cs typeface="Times New Roman"/>
              </a:rPr>
              <a:t> </a:t>
            </a:r>
            <a:r>
              <a:rPr sz="2400" b="1" spc="-20" dirty="0">
                <a:latin typeface="Times New Roman"/>
                <a:cs typeface="Times New Roman"/>
              </a:rPr>
              <a:t>Peering</a:t>
            </a:r>
            <a:r>
              <a:rPr sz="2400" b="1" spc="-30" dirty="0">
                <a:latin typeface="Times New Roman"/>
                <a:cs typeface="Times New Roman"/>
              </a:rPr>
              <a:t> </a:t>
            </a:r>
            <a:r>
              <a:rPr sz="2400" b="1" spc="-160" dirty="0">
                <a:latin typeface="Times New Roman"/>
                <a:cs typeface="Times New Roman"/>
              </a:rPr>
              <a:t>&amp;</a:t>
            </a:r>
            <a:r>
              <a:rPr sz="2400" b="1" spc="-340" dirty="0">
                <a:latin typeface="Times New Roman"/>
                <a:cs typeface="Times New Roman"/>
              </a:rPr>
              <a:t> </a:t>
            </a:r>
            <a:r>
              <a:rPr sz="2400" b="1" spc="-100" dirty="0">
                <a:latin typeface="Times New Roman"/>
                <a:cs typeface="Times New Roman"/>
              </a:rPr>
              <a:t>Transit</a:t>
            </a:r>
            <a:r>
              <a:rPr sz="2400" b="1" spc="-55" dirty="0">
                <a:latin typeface="Times New Roman"/>
                <a:cs typeface="Times New Roman"/>
              </a:rPr>
              <a:t> </a:t>
            </a:r>
            <a:r>
              <a:rPr sz="2400" b="1" spc="-75" dirty="0">
                <a:latin typeface="Times New Roman"/>
                <a:cs typeface="Times New Roman"/>
              </a:rPr>
              <a:t>Gateway</a:t>
            </a:r>
            <a:r>
              <a:rPr sz="2400" b="1" spc="-25" dirty="0">
                <a:latin typeface="Times New Roman"/>
                <a:cs typeface="Times New Roman"/>
              </a:rPr>
              <a:t> </a:t>
            </a:r>
            <a:r>
              <a:rPr sz="2400" spc="-145" dirty="0">
                <a:latin typeface="Times New Roman"/>
                <a:cs typeface="Times New Roman"/>
              </a:rPr>
              <a:t>allow</a:t>
            </a:r>
            <a:r>
              <a:rPr sz="2400" spc="-50" dirty="0">
                <a:latin typeface="Times New Roman"/>
                <a:cs typeface="Times New Roman"/>
              </a:rPr>
              <a:t> </a:t>
            </a:r>
            <a:r>
              <a:rPr sz="2400" spc="-65" dirty="0">
                <a:latin typeface="Times New Roman"/>
                <a:cs typeface="Times New Roman"/>
              </a:rPr>
              <a:t>inter-</a:t>
            </a:r>
            <a:r>
              <a:rPr sz="2400" spc="-215" dirty="0">
                <a:latin typeface="Times New Roman"/>
                <a:cs typeface="Times New Roman"/>
              </a:rPr>
              <a:t>VPC</a:t>
            </a:r>
            <a:r>
              <a:rPr sz="2400" spc="-35" dirty="0">
                <a:latin typeface="Times New Roman"/>
                <a:cs typeface="Times New Roman"/>
              </a:rPr>
              <a:t> </a:t>
            </a:r>
            <a:r>
              <a:rPr sz="2400" spc="-20" dirty="0">
                <a:latin typeface="Times New Roman"/>
                <a:cs typeface="Times New Roman"/>
              </a:rPr>
              <a:t>communication.</a:t>
            </a:r>
            <a:endParaRPr sz="2400" dirty="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35</a:t>
            </a:fld>
            <a:endParaRPr spc="-2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340" y="135712"/>
            <a:ext cx="5081270" cy="574675"/>
          </a:xfrm>
          <a:prstGeom prst="rect">
            <a:avLst/>
          </a:prstGeom>
        </p:spPr>
        <p:txBody>
          <a:bodyPr vert="horz" wrap="square" lIns="0" tIns="12700" rIns="0" bIns="0" rtlCol="0">
            <a:spAutoFit/>
          </a:bodyPr>
          <a:lstStyle/>
          <a:p>
            <a:pPr marL="12700">
              <a:lnSpc>
                <a:spcPct val="100000"/>
              </a:lnSpc>
              <a:spcBef>
                <a:spcPts val="100"/>
              </a:spcBef>
            </a:pPr>
            <a:r>
              <a:rPr sz="3600" dirty="0"/>
              <a:t>Virtual</a:t>
            </a:r>
            <a:r>
              <a:rPr sz="3600" spc="-145" dirty="0"/>
              <a:t> </a:t>
            </a:r>
            <a:r>
              <a:rPr sz="3600" spc="-45" dirty="0"/>
              <a:t>Private</a:t>
            </a:r>
            <a:r>
              <a:rPr sz="3600" spc="-140" dirty="0"/>
              <a:t> </a:t>
            </a:r>
            <a:r>
              <a:rPr sz="3600" dirty="0"/>
              <a:t>Cloud</a:t>
            </a:r>
            <a:r>
              <a:rPr sz="3600" spc="-145" dirty="0"/>
              <a:t> </a:t>
            </a:r>
            <a:r>
              <a:rPr sz="3600" spc="-10" dirty="0"/>
              <a:t>(VPC)</a:t>
            </a:r>
            <a:endParaRPr sz="3600"/>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a:spLocks noGrp="1"/>
          </p:cNvSpPr>
          <p:nvPr>
            <p:ph type="body" idx="1"/>
          </p:nvPr>
        </p:nvSpPr>
        <p:spPr>
          <a:prstGeom prst="rect">
            <a:avLst/>
          </a:prstGeom>
        </p:spPr>
        <p:txBody>
          <a:bodyPr vert="horz" wrap="square" lIns="0" tIns="12700" rIns="0" bIns="0" rtlCol="0">
            <a:spAutoFit/>
          </a:bodyPr>
          <a:lstStyle/>
          <a:p>
            <a:pPr marL="287020" indent="-274320">
              <a:lnSpc>
                <a:spcPct val="100000"/>
              </a:lnSpc>
              <a:spcBef>
                <a:spcPts val="100"/>
              </a:spcBef>
              <a:buAutoNum type="arabicPeriod" startAt="5"/>
              <a:tabLst>
                <a:tab pos="287020" algn="l"/>
              </a:tabLst>
            </a:pPr>
            <a:r>
              <a:rPr spc="-25" dirty="0"/>
              <a:t>Scalability</a:t>
            </a:r>
            <a:r>
              <a:rPr spc="-95" dirty="0"/>
              <a:t> </a:t>
            </a:r>
            <a:r>
              <a:rPr spc="-160" dirty="0"/>
              <a:t>&amp;</a:t>
            </a:r>
            <a:r>
              <a:rPr spc="-65" dirty="0"/>
              <a:t> </a:t>
            </a:r>
            <a:r>
              <a:rPr spc="-10" dirty="0"/>
              <a:t>Flexibility</a:t>
            </a:r>
          </a:p>
          <a:p>
            <a:pPr>
              <a:lnSpc>
                <a:spcPct val="100000"/>
              </a:lnSpc>
              <a:spcBef>
                <a:spcPts val="140"/>
              </a:spcBef>
              <a:buFont typeface="Times New Roman"/>
              <a:buAutoNum type="arabicPeriod" startAt="5"/>
            </a:pPr>
            <a:endParaRPr spc="-10" dirty="0"/>
          </a:p>
          <a:p>
            <a:pPr marL="384810" lvl="1" indent="-111125">
              <a:lnSpc>
                <a:spcPts val="2630"/>
              </a:lnSpc>
              <a:buSzPct val="95454"/>
              <a:buChar char="•"/>
              <a:tabLst>
                <a:tab pos="384810" algn="l"/>
              </a:tabLst>
            </a:pPr>
            <a:r>
              <a:rPr sz="2200" spc="-110" dirty="0">
                <a:latin typeface="Times New Roman"/>
                <a:cs typeface="Times New Roman"/>
              </a:rPr>
              <a:t>Multiple</a:t>
            </a:r>
            <a:r>
              <a:rPr sz="2200" spc="-20" dirty="0">
                <a:latin typeface="Times New Roman"/>
                <a:cs typeface="Times New Roman"/>
              </a:rPr>
              <a:t> </a:t>
            </a:r>
            <a:r>
              <a:rPr sz="2200" spc="-110" dirty="0">
                <a:latin typeface="Times New Roman"/>
                <a:cs typeface="Times New Roman"/>
              </a:rPr>
              <a:t>subnets</a:t>
            </a:r>
            <a:r>
              <a:rPr sz="2200" spc="-5" dirty="0">
                <a:latin typeface="Times New Roman"/>
                <a:cs typeface="Times New Roman"/>
              </a:rPr>
              <a:t> </a:t>
            </a:r>
            <a:r>
              <a:rPr sz="2200" spc="-140" dirty="0">
                <a:latin typeface="Times New Roman"/>
                <a:cs typeface="Times New Roman"/>
              </a:rPr>
              <a:t>can</a:t>
            </a:r>
            <a:r>
              <a:rPr sz="2200" spc="-15" dirty="0">
                <a:latin typeface="Times New Roman"/>
                <a:cs typeface="Times New Roman"/>
              </a:rPr>
              <a:t> </a:t>
            </a:r>
            <a:r>
              <a:rPr sz="2200" spc="-114" dirty="0">
                <a:latin typeface="Times New Roman"/>
                <a:cs typeface="Times New Roman"/>
              </a:rPr>
              <a:t>be</a:t>
            </a:r>
            <a:r>
              <a:rPr sz="2200" spc="-20" dirty="0">
                <a:latin typeface="Times New Roman"/>
                <a:cs typeface="Times New Roman"/>
              </a:rPr>
              <a:t> </a:t>
            </a:r>
            <a:r>
              <a:rPr sz="2200" spc="-95" dirty="0">
                <a:latin typeface="Times New Roman"/>
                <a:cs typeface="Times New Roman"/>
              </a:rPr>
              <a:t>created</a:t>
            </a:r>
            <a:r>
              <a:rPr sz="2200" spc="10" dirty="0">
                <a:latin typeface="Times New Roman"/>
                <a:cs typeface="Times New Roman"/>
              </a:rPr>
              <a:t> </a:t>
            </a:r>
            <a:r>
              <a:rPr sz="2200" spc="-120" dirty="0">
                <a:latin typeface="Times New Roman"/>
                <a:cs typeface="Times New Roman"/>
              </a:rPr>
              <a:t>inside</a:t>
            </a:r>
            <a:r>
              <a:rPr sz="2200" spc="-20" dirty="0">
                <a:latin typeface="Times New Roman"/>
                <a:cs typeface="Times New Roman"/>
              </a:rPr>
              <a:t> </a:t>
            </a:r>
            <a:r>
              <a:rPr sz="2200" spc="-185" dirty="0">
                <a:latin typeface="Times New Roman"/>
                <a:cs typeface="Times New Roman"/>
              </a:rPr>
              <a:t>a</a:t>
            </a:r>
            <a:r>
              <a:rPr sz="2200" spc="-325" dirty="0">
                <a:latin typeface="Times New Roman"/>
                <a:cs typeface="Times New Roman"/>
              </a:rPr>
              <a:t> </a:t>
            </a:r>
            <a:r>
              <a:rPr sz="2200" spc="-20" dirty="0">
                <a:latin typeface="Times New Roman"/>
                <a:cs typeface="Times New Roman"/>
              </a:rPr>
              <a:t>VPC.</a:t>
            </a:r>
            <a:endParaRPr sz="2200">
              <a:latin typeface="Times New Roman"/>
              <a:cs typeface="Times New Roman"/>
            </a:endParaRPr>
          </a:p>
          <a:p>
            <a:pPr marL="286385" marR="5080" lvl="1" indent="-13335">
              <a:lnSpc>
                <a:spcPts val="2880"/>
              </a:lnSpc>
              <a:spcBef>
                <a:spcPts val="85"/>
              </a:spcBef>
              <a:buSzPct val="95833"/>
              <a:buChar char="•"/>
              <a:tabLst>
                <a:tab pos="392430" algn="l"/>
                <a:tab pos="968375" algn="l"/>
                <a:tab pos="1492250" algn="l"/>
                <a:tab pos="2512060" algn="l"/>
                <a:tab pos="4255770" algn="l"/>
                <a:tab pos="5626100" algn="l"/>
                <a:tab pos="6353175" algn="l"/>
                <a:tab pos="7063740" algn="l"/>
                <a:tab pos="7464425" algn="l"/>
              </a:tabLst>
            </a:pPr>
            <a:r>
              <a:rPr sz="2400" spc="-320" dirty="0">
                <a:latin typeface="Times New Roman"/>
                <a:cs typeface="Times New Roman"/>
              </a:rPr>
              <a:t>	You</a:t>
            </a:r>
            <a:r>
              <a:rPr sz="2400" dirty="0">
                <a:latin typeface="Times New Roman"/>
                <a:cs typeface="Times New Roman"/>
              </a:rPr>
              <a:t>	</a:t>
            </a:r>
            <a:r>
              <a:rPr sz="2400" spc="-25" dirty="0">
                <a:latin typeface="Times New Roman"/>
                <a:cs typeface="Times New Roman"/>
              </a:rPr>
              <a:t>can</a:t>
            </a:r>
            <a:r>
              <a:rPr sz="2400" dirty="0">
                <a:latin typeface="Times New Roman"/>
                <a:cs typeface="Times New Roman"/>
              </a:rPr>
              <a:t>	</a:t>
            </a:r>
            <a:r>
              <a:rPr sz="2400" spc="-10" dirty="0">
                <a:latin typeface="Times New Roman"/>
                <a:cs typeface="Times New Roman"/>
              </a:rPr>
              <a:t>connect</a:t>
            </a:r>
            <a:r>
              <a:rPr sz="2400" dirty="0">
                <a:latin typeface="Times New Roman"/>
                <a:cs typeface="Times New Roman"/>
              </a:rPr>
              <a:t>	</a:t>
            </a:r>
            <a:r>
              <a:rPr sz="2400" b="1" spc="55" dirty="0">
                <a:latin typeface="Times New Roman"/>
                <a:cs typeface="Times New Roman"/>
              </a:rPr>
              <a:t>on-</a:t>
            </a:r>
            <a:r>
              <a:rPr sz="2400" b="1" spc="-10" dirty="0">
                <a:latin typeface="Times New Roman"/>
                <a:cs typeface="Times New Roman"/>
              </a:rPr>
              <a:t>premises</a:t>
            </a:r>
            <a:r>
              <a:rPr sz="2400" b="1" dirty="0">
                <a:latin typeface="Times New Roman"/>
                <a:cs typeface="Times New Roman"/>
              </a:rPr>
              <a:t>	</a:t>
            </a:r>
            <a:r>
              <a:rPr sz="2400" b="1" spc="-10" dirty="0">
                <a:latin typeface="Times New Roman"/>
                <a:cs typeface="Times New Roman"/>
              </a:rPr>
              <a:t>networks</a:t>
            </a:r>
            <a:r>
              <a:rPr sz="2400" b="1" dirty="0">
                <a:latin typeface="Times New Roman"/>
                <a:cs typeface="Times New Roman"/>
              </a:rPr>
              <a:t>	</a:t>
            </a:r>
            <a:r>
              <a:rPr sz="2400" spc="-10" dirty="0">
                <a:latin typeface="Times New Roman"/>
                <a:cs typeface="Times New Roman"/>
              </a:rPr>
              <a:t>using</a:t>
            </a:r>
            <a:r>
              <a:rPr sz="2400" dirty="0">
                <a:latin typeface="Times New Roman"/>
                <a:cs typeface="Times New Roman"/>
              </a:rPr>
              <a:t>	</a:t>
            </a:r>
            <a:r>
              <a:rPr sz="2400" b="1" spc="-25" dirty="0">
                <a:latin typeface="Times New Roman"/>
                <a:cs typeface="Times New Roman"/>
              </a:rPr>
              <a:t>VPN</a:t>
            </a:r>
            <a:r>
              <a:rPr sz="2400" b="1" dirty="0">
                <a:latin typeface="Times New Roman"/>
                <a:cs typeface="Times New Roman"/>
              </a:rPr>
              <a:t>	</a:t>
            </a:r>
            <a:r>
              <a:rPr sz="2400" spc="-25" dirty="0">
                <a:latin typeface="Times New Roman"/>
                <a:cs typeface="Times New Roman"/>
              </a:rPr>
              <a:t>or</a:t>
            </a:r>
            <a:r>
              <a:rPr sz="2400" dirty="0">
                <a:latin typeface="Times New Roman"/>
                <a:cs typeface="Times New Roman"/>
              </a:rPr>
              <a:t>	</a:t>
            </a:r>
            <a:r>
              <a:rPr sz="2400" b="1" spc="-10" dirty="0">
                <a:latin typeface="Times New Roman"/>
                <a:cs typeface="Times New Roman"/>
              </a:rPr>
              <a:t>Direct Connect</a:t>
            </a:r>
            <a:r>
              <a:rPr sz="2400" spc="-10" dirty="0">
                <a:latin typeface="Times New Roman"/>
                <a:cs typeface="Times New Roman"/>
              </a:rPr>
              <a:t>.</a:t>
            </a:r>
            <a:endParaRPr sz="2400">
              <a:latin typeface="Times New Roman"/>
              <a:cs typeface="Times New Roman"/>
            </a:endParaRPr>
          </a:p>
          <a:p>
            <a:pPr marL="286385" marR="5080" lvl="1" indent="-13335">
              <a:lnSpc>
                <a:spcPts val="2880"/>
              </a:lnSpc>
              <a:buSzPct val="95833"/>
              <a:buChar char="•"/>
              <a:tabLst>
                <a:tab pos="392430" algn="l"/>
              </a:tabLst>
            </a:pPr>
            <a:r>
              <a:rPr sz="2400" spc="-85" dirty="0">
                <a:latin typeface="Times New Roman"/>
                <a:cs typeface="Times New Roman"/>
              </a:rPr>
              <a:t>	Supports</a:t>
            </a:r>
            <a:r>
              <a:rPr sz="2400" spc="-30" dirty="0">
                <a:latin typeface="Times New Roman"/>
                <a:cs typeface="Times New Roman"/>
              </a:rPr>
              <a:t> </a:t>
            </a:r>
            <a:r>
              <a:rPr sz="2400" spc="-70" dirty="0">
                <a:latin typeface="Times New Roman"/>
                <a:cs typeface="Times New Roman"/>
              </a:rPr>
              <a:t>integration</a:t>
            </a:r>
            <a:r>
              <a:rPr sz="2400" spc="-25" dirty="0">
                <a:latin typeface="Times New Roman"/>
                <a:cs typeface="Times New Roman"/>
              </a:rPr>
              <a:t> </a:t>
            </a:r>
            <a:r>
              <a:rPr sz="2400" spc="-50" dirty="0">
                <a:latin typeface="Times New Roman"/>
                <a:cs typeface="Times New Roman"/>
              </a:rPr>
              <a:t>with</a:t>
            </a:r>
            <a:r>
              <a:rPr sz="2400" spc="-35" dirty="0">
                <a:latin typeface="Times New Roman"/>
                <a:cs typeface="Times New Roman"/>
              </a:rPr>
              <a:t> </a:t>
            </a:r>
            <a:r>
              <a:rPr sz="2400" b="1" spc="-40" dirty="0">
                <a:latin typeface="Times New Roman"/>
                <a:cs typeface="Times New Roman"/>
              </a:rPr>
              <a:t>Load</a:t>
            </a:r>
            <a:r>
              <a:rPr sz="2400" b="1" spc="-25" dirty="0">
                <a:latin typeface="Times New Roman"/>
                <a:cs typeface="Times New Roman"/>
              </a:rPr>
              <a:t> </a:t>
            </a:r>
            <a:r>
              <a:rPr sz="2400" b="1" spc="-20" dirty="0">
                <a:latin typeface="Times New Roman"/>
                <a:cs typeface="Times New Roman"/>
              </a:rPr>
              <a:t>Balancers,</a:t>
            </a:r>
            <a:r>
              <a:rPr sz="2400" b="1" spc="-105" dirty="0">
                <a:latin typeface="Times New Roman"/>
                <a:cs typeface="Times New Roman"/>
              </a:rPr>
              <a:t> </a:t>
            </a:r>
            <a:r>
              <a:rPr sz="2400" b="1" spc="-35" dirty="0">
                <a:latin typeface="Times New Roman"/>
                <a:cs typeface="Times New Roman"/>
              </a:rPr>
              <a:t>Firewalls,</a:t>
            </a:r>
            <a:r>
              <a:rPr sz="2400" b="1" spc="-100" dirty="0">
                <a:latin typeface="Times New Roman"/>
                <a:cs typeface="Times New Roman"/>
              </a:rPr>
              <a:t> </a:t>
            </a:r>
            <a:r>
              <a:rPr sz="2400" b="1" dirty="0">
                <a:latin typeface="Times New Roman"/>
                <a:cs typeface="Times New Roman"/>
              </a:rPr>
              <a:t>and</a:t>
            </a:r>
            <a:r>
              <a:rPr sz="2400" b="1" spc="-35" dirty="0">
                <a:latin typeface="Times New Roman"/>
                <a:cs typeface="Times New Roman"/>
              </a:rPr>
              <a:t> </a:t>
            </a:r>
            <a:r>
              <a:rPr sz="2400" b="1" spc="-10" dirty="0">
                <a:latin typeface="Times New Roman"/>
                <a:cs typeface="Times New Roman"/>
              </a:rPr>
              <a:t>Private Endpoints</a:t>
            </a:r>
            <a:endParaRPr sz="24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36</a:t>
            </a:fld>
            <a:endParaRPr spc="-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3600" b="1" dirty="0"/>
              <a:t>Steps</a:t>
            </a:r>
            <a:r>
              <a:rPr sz="3600" b="1" spc="-175" dirty="0"/>
              <a:t> </a:t>
            </a:r>
            <a:r>
              <a:rPr sz="3600" b="1" dirty="0"/>
              <a:t>to</a:t>
            </a:r>
            <a:r>
              <a:rPr sz="3600" b="1" spc="-175" dirty="0"/>
              <a:t> </a:t>
            </a:r>
            <a:r>
              <a:rPr sz="3600" b="1" dirty="0"/>
              <a:t>create</a:t>
            </a:r>
            <a:r>
              <a:rPr sz="3600" b="1" spc="-180" dirty="0"/>
              <a:t> </a:t>
            </a:r>
            <a:r>
              <a:rPr sz="3600" b="1" spc="-25" dirty="0"/>
              <a:t>VPC</a:t>
            </a:r>
            <a:r>
              <a:rPr lang="en-US" sz="3600" b="1" spc="-25" dirty="0"/>
              <a:t> in </a:t>
            </a:r>
            <a:r>
              <a:rPr lang="en-US" sz="3600" b="1" spc="-25" dirty="0" err="1"/>
              <a:t>aws</a:t>
            </a:r>
            <a:endParaRPr sz="3600" b="1" dirty="0"/>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b="1"/>
          </a:p>
        </p:txBody>
      </p:sp>
      <p:sp>
        <p:nvSpPr>
          <p:cNvPr id="4" name="object 4"/>
          <p:cNvSpPr txBox="1"/>
          <p:nvPr/>
        </p:nvSpPr>
        <p:spPr>
          <a:xfrm>
            <a:off x="1219200" y="1905000"/>
            <a:ext cx="6096000" cy="2103140"/>
          </a:xfrm>
          <a:prstGeom prst="rect">
            <a:avLst/>
          </a:prstGeom>
        </p:spPr>
        <p:txBody>
          <a:bodyPr vert="horz" wrap="square" lIns="0" tIns="88900" rIns="0" bIns="0" rtlCol="0">
            <a:spAutoFit/>
          </a:bodyPr>
          <a:lstStyle/>
          <a:p>
            <a:pPr marL="12700">
              <a:lnSpc>
                <a:spcPct val="100000"/>
              </a:lnSpc>
              <a:spcBef>
                <a:spcPts val="700"/>
              </a:spcBef>
              <a:buClr>
                <a:srgbClr val="D24717"/>
              </a:buClr>
              <a:buSzPct val="84090"/>
              <a:tabLst>
                <a:tab pos="469265" algn="l"/>
              </a:tabLst>
            </a:pPr>
            <a:r>
              <a:rPr lang="en-US" sz="2200" b="1" spc="-90" dirty="0">
                <a:latin typeface="Times New Roman"/>
                <a:cs typeface="Times New Roman"/>
              </a:rPr>
              <a:t>Write the steps to create each of the following</a:t>
            </a:r>
          </a:p>
          <a:p>
            <a:pPr marL="469265" indent="-456565">
              <a:lnSpc>
                <a:spcPct val="100000"/>
              </a:lnSpc>
              <a:spcBef>
                <a:spcPts val="700"/>
              </a:spcBef>
              <a:buClr>
                <a:srgbClr val="D24717"/>
              </a:buClr>
              <a:buSzPct val="84090"/>
              <a:buAutoNum type="arabicPeriod"/>
              <a:tabLst>
                <a:tab pos="469265" algn="l"/>
              </a:tabLst>
            </a:pPr>
            <a:r>
              <a:rPr sz="2200" b="1" spc="-90" dirty="0">
                <a:latin typeface="Times New Roman"/>
                <a:cs typeface="Times New Roman"/>
              </a:rPr>
              <a:t>Create</a:t>
            </a:r>
            <a:r>
              <a:rPr sz="2200" b="1" spc="-25" dirty="0">
                <a:latin typeface="Times New Roman"/>
                <a:cs typeface="Times New Roman"/>
              </a:rPr>
              <a:t> </a:t>
            </a:r>
            <a:r>
              <a:rPr sz="2200" b="1" spc="-185" dirty="0">
                <a:latin typeface="Times New Roman"/>
                <a:cs typeface="Times New Roman"/>
              </a:rPr>
              <a:t>a</a:t>
            </a:r>
            <a:r>
              <a:rPr sz="2200" b="1" spc="-320" dirty="0">
                <a:latin typeface="Times New Roman"/>
                <a:cs typeface="Times New Roman"/>
              </a:rPr>
              <a:t> </a:t>
            </a:r>
            <a:r>
              <a:rPr sz="2200" b="1" spc="-25" dirty="0">
                <a:latin typeface="Times New Roman"/>
                <a:cs typeface="Times New Roman"/>
              </a:rPr>
              <a:t>VPC</a:t>
            </a:r>
            <a:endParaRPr sz="2200" b="1" dirty="0">
              <a:latin typeface="Times New Roman"/>
              <a:cs typeface="Times New Roman"/>
            </a:endParaRPr>
          </a:p>
          <a:p>
            <a:pPr marL="469265" indent="-456565">
              <a:lnSpc>
                <a:spcPct val="100000"/>
              </a:lnSpc>
              <a:spcBef>
                <a:spcPts val="600"/>
              </a:spcBef>
              <a:buClr>
                <a:srgbClr val="D24717"/>
              </a:buClr>
              <a:buSzPct val="84090"/>
              <a:buAutoNum type="arabicPeriod"/>
              <a:tabLst>
                <a:tab pos="469265" algn="l"/>
              </a:tabLst>
            </a:pPr>
            <a:r>
              <a:rPr sz="2200" b="1" spc="-90" dirty="0">
                <a:latin typeface="Times New Roman"/>
                <a:cs typeface="Times New Roman"/>
              </a:rPr>
              <a:t>Create</a:t>
            </a:r>
            <a:r>
              <a:rPr sz="2200" b="1" spc="-35" dirty="0">
                <a:latin typeface="Times New Roman"/>
                <a:cs typeface="Times New Roman"/>
              </a:rPr>
              <a:t> </a:t>
            </a:r>
            <a:r>
              <a:rPr sz="2200" b="1" spc="-185" dirty="0">
                <a:latin typeface="Times New Roman"/>
                <a:cs typeface="Times New Roman"/>
              </a:rPr>
              <a:t>a</a:t>
            </a:r>
            <a:r>
              <a:rPr sz="2200" b="1" spc="-35" dirty="0">
                <a:latin typeface="Times New Roman"/>
                <a:cs typeface="Times New Roman"/>
              </a:rPr>
              <a:t> </a:t>
            </a:r>
            <a:r>
              <a:rPr sz="2200" b="1" spc="-10" dirty="0">
                <a:latin typeface="Times New Roman"/>
                <a:cs typeface="Times New Roman"/>
              </a:rPr>
              <a:t>subnet</a:t>
            </a:r>
            <a:endParaRPr sz="2200" b="1" dirty="0">
              <a:latin typeface="Times New Roman"/>
              <a:cs typeface="Times New Roman"/>
            </a:endParaRPr>
          </a:p>
          <a:p>
            <a:pPr marL="469265" indent="-456565">
              <a:lnSpc>
                <a:spcPct val="100000"/>
              </a:lnSpc>
              <a:spcBef>
                <a:spcPts val="600"/>
              </a:spcBef>
              <a:buClr>
                <a:srgbClr val="D24717"/>
              </a:buClr>
              <a:buSzPct val="84090"/>
              <a:buAutoNum type="arabicPeriod"/>
              <a:tabLst>
                <a:tab pos="469265" algn="l"/>
              </a:tabLst>
            </a:pPr>
            <a:r>
              <a:rPr sz="2200" b="1" spc="-80" dirty="0">
                <a:latin typeface="Times New Roman"/>
                <a:cs typeface="Times New Roman"/>
              </a:rPr>
              <a:t>Crate</a:t>
            </a:r>
            <a:r>
              <a:rPr sz="2200" b="1" spc="-60" dirty="0">
                <a:latin typeface="Times New Roman"/>
                <a:cs typeface="Times New Roman"/>
              </a:rPr>
              <a:t> </a:t>
            </a:r>
            <a:r>
              <a:rPr sz="2200" b="1" spc="-40" dirty="0">
                <a:latin typeface="Times New Roman"/>
                <a:cs typeface="Times New Roman"/>
              </a:rPr>
              <a:t>internet</a:t>
            </a:r>
            <a:r>
              <a:rPr sz="2200" b="1" spc="-70" dirty="0">
                <a:latin typeface="Times New Roman"/>
                <a:cs typeface="Times New Roman"/>
              </a:rPr>
              <a:t> </a:t>
            </a:r>
            <a:r>
              <a:rPr sz="2200" b="1" spc="-140" dirty="0">
                <a:latin typeface="Times New Roman"/>
                <a:cs typeface="Times New Roman"/>
              </a:rPr>
              <a:t>gateway</a:t>
            </a:r>
            <a:endParaRPr sz="2200" b="1" dirty="0">
              <a:latin typeface="Times New Roman"/>
              <a:cs typeface="Times New Roman"/>
            </a:endParaRPr>
          </a:p>
          <a:p>
            <a:pPr marL="469265" indent="-456565">
              <a:lnSpc>
                <a:spcPct val="100000"/>
              </a:lnSpc>
              <a:spcBef>
                <a:spcPts val="600"/>
              </a:spcBef>
              <a:buClr>
                <a:srgbClr val="D24717"/>
              </a:buClr>
              <a:buSzPct val="84090"/>
              <a:buAutoNum type="arabicPeriod"/>
              <a:tabLst>
                <a:tab pos="469265" algn="l"/>
              </a:tabLst>
            </a:pPr>
            <a:r>
              <a:rPr sz="2200" b="1" spc="-90" dirty="0">
                <a:latin typeface="Times New Roman"/>
                <a:cs typeface="Times New Roman"/>
              </a:rPr>
              <a:t>Create</a:t>
            </a:r>
            <a:r>
              <a:rPr sz="2200" b="1" spc="-30" dirty="0">
                <a:latin typeface="Times New Roman"/>
                <a:cs typeface="Times New Roman"/>
              </a:rPr>
              <a:t> </a:t>
            </a:r>
            <a:r>
              <a:rPr sz="2200" b="1" spc="-85" dirty="0">
                <a:latin typeface="Times New Roman"/>
                <a:cs typeface="Times New Roman"/>
              </a:rPr>
              <a:t>routing</a:t>
            </a:r>
            <a:r>
              <a:rPr sz="2200" b="1" spc="-20" dirty="0">
                <a:latin typeface="Times New Roman"/>
                <a:cs typeface="Times New Roman"/>
              </a:rPr>
              <a:t> table</a:t>
            </a:r>
            <a:endParaRPr sz="2200" b="1" dirty="0">
              <a:latin typeface="Times New Roman"/>
              <a:cs typeface="Times New Roman"/>
            </a:endParaRPr>
          </a:p>
        </p:txBody>
      </p:sp>
      <p:sp>
        <p:nvSpPr>
          <p:cNvPr id="5" name="object 5"/>
          <p:cNvSpPr txBox="1">
            <a:spLocks noGrp="1"/>
          </p:cNvSpPr>
          <p:nvPr>
            <p:ph type="sldNum" sz="quarter" idx="7"/>
          </p:nvPr>
        </p:nvSpPr>
        <p:spPr>
          <a:xfrm>
            <a:off x="230733" y="6329531"/>
            <a:ext cx="299720" cy="204800"/>
          </a:xfrm>
          <a:prstGeom prst="rect">
            <a:avLst/>
          </a:prstGeom>
        </p:spPr>
        <p:txBody>
          <a:bodyPr vert="horz" wrap="square" lIns="0" tIns="0" rIns="0" bIns="0" rtlCol="0">
            <a:spAutoFit/>
          </a:bodyPr>
          <a:lstStyle/>
          <a:p>
            <a:pPr marL="37465">
              <a:lnSpc>
                <a:spcPts val="1664"/>
              </a:lnSpc>
            </a:pPr>
            <a:fld id="{81D60167-4931-47E6-BA6A-407CBD079E47}" type="slidenum">
              <a:rPr b="1" spc="-25" dirty="0"/>
              <a:t>37</a:t>
            </a:fld>
            <a:endParaRPr b="1" spc="-25" dirty="0"/>
          </a:p>
        </p:txBody>
      </p:sp>
      <p:sp>
        <p:nvSpPr>
          <p:cNvPr id="6" name="TextBox 5">
            <a:extLst>
              <a:ext uri="{FF2B5EF4-FFF2-40B4-BE49-F238E27FC236}">
                <a16:creationId xmlns:a16="http://schemas.microsoft.com/office/drawing/2014/main" id="{BC5AB7B9-E18C-67B5-3B12-F7FC20940867}"/>
              </a:ext>
            </a:extLst>
          </p:cNvPr>
          <p:cNvSpPr txBox="1"/>
          <p:nvPr/>
        </p:nvSpPr>
        <p:spPr>
          <a:xfrm>
            <a:off x="1015360" y="1295400"/>
            <a:ext cx="3480440" cy="369332"/>
          </a:xfrm>
          <a:prstGeom prst="rect">
            <a:avLst/>
          </a:prstGeom>
          <a:noFill/>
        </p:spPr>
        <p:txBody>
          <a:bodyPr wrap="none" rtlCol="0">
            <a:spAutoFit/>
          </a:bodyPr>
          <a:lstStyle/>
          <a:p>
            <a:r>
              <a:rPr lang="en-US" b="1" dirty="0"/>
              <a:t>Seach for VPC in </a:t>
            </a:r>
            <a:r>
              <a:rPr lang="en-US" b="1" dirty="0" err="1"/>
              <a:t>aws</a:t>
            </a:r>
            <a:r>
              <a:rPr lang="en-US" b="1" dirty="0"/>
              <a:t> console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340" y="247599"/>
            <a:ext cx="1404620" cy="574675"/>
          </a:xfrm>
          <a:prstGeom prst="rect">
            <a:avLst/>
          </a:prstGeom>
        </p:spPr>
        <p:txBody>
          <a:bodyPr vert="horz" wrap="square" lIns="0" tIns="12700" rIns="0" bIns="0" rtlCol="0">
            <a:spAutoFit/>
          </a:bodyPr>
          <a:lstStyle/>
          <a:p>
            <a:pPr marL="12700">
              <a:lnSpc>
                <a:spcPct val="100000"/>
              </a:lnSpc>
              <a:spcBef>
                <a:spcPts val="100"/>
              </a:spcBef>
            </a:pPr>
            <a:r>
              <a:rPr sz="3600" spc="-10" dirty="0"/>
              <a:t>Subnet</a:t>
            </a:r>
            <a:endParaRPr sz="3600"/>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07340" y="1008024"/>
            <a:ext cx="8301355" cy="4818380"/>
          </a:xfrm>
          <a:prstGeom prst="rect">
            <a:avLst/>
          </a:prstGeom>
        </p:spPr>
        <p:txBody>
          <a:bodyPr vert="horz" wrap="square" lIns="0" tIns="64135" rIns="0" bIns="0" rtlCol="0">
            <a:spAutoFit/>
          </a:bodyPr>
          <a:lstStyle/>
          <a:p>
            <a:pPr marL="469265" indent="-456565">
              <a:lnSpc>
                <a:spcPct val="100000"/>
              </a:lnSpc>
              <a:spcBef>
                <a:spcPts val="505"/>
              </a:spcBef>
              <a:buClr>
                <a:srgbClr val="D24717"/>
              </a:buClr>
              <a:buSzPct val="84090"/>
              <a:buAutoNum type="arabicPeriod"/>
              <a:tabLst>
                <a:tab pos="469265" algn="l"/>
              </a:tabLst>
            </a:pPr>
            <a:r>
              <a:rPr sz="2200" spc="-125" dirty="0">
                <a:latin typeface="Times New Roman"/>
                <a:cs typeface="Times New Roman"/>
              </a:rPr>
              <a:t>Public</a:t>
            </a:r>
            <a:r>
              <a:rPr sz="2200" spc="-25" dirty="0">
                <a:latin typeface="Times New Roman"/>
                <a:cs typeface="Times New Roman"/>
              </a:rPr>
              <a:t> </a:t>
            </a:r>
            <a:r>
              <a:rPr sz="2200" spc="-100" dirty="0">
                <a:latin typeface="Times New Roman"/>
                <a:cs typeface="Times New Roman"/>
              </a:rPr>
              <a:t>subnet</a:t>
            </a:r>
            <a:r>
              <a:rPr sz="2200" dirty="0">
                <a:latin typeface="Times New Roman"/>
                <a:cs typeface="Times New Roman"/>
              </a:rPr>
              <a:t> </a:t>
            </a:r>
            <a:r>
              <a:rPr sz="2200" spc="-125" dirty="0">
                <a:latin typeface="Times New Roman"/>
                <a:cs typeface="Times New Roman"/>
              </a:rPr>
              <a:t>(IGW</a:t>
            </a:r>
            <a:r>
              <a:rPr sz="2200" spc="-30" dirty="0">
                <a:latin typeface="Times New Roman"/>
                <a:cs typeface="Times New Roman"/>
              </a:rPr>
              <a:t> </a:t>
            </a:r>
            <a:r>
              <a:rPr sz="2200" spc="-145" dirty="0">
                <a:latin typeface="Times New Roman"/>
                <a:cs typeface="Times New Roman"/>
              </a:rPr>
              <a:t>is</a:t>
            </a:r>
            <a:r>
              <a:rPr sz="2200" spc="-20" dirty="0">
                <a:latin typeface="Times New Roman"/>
                <a:cs typeface="Times New Roman"/>
              </a:rPr>
              <a:t> </a:t>
            </a:r>
            <a:r>
              <a:rPr sz="2200" spc="-10" dirty="0">
                <a:latin typeface="Times New Roman"/>
                <a:cs typeface="Times New Roman"/>
              </a:rPr>
              <a:t>connected)</a:t>
            </a:r>
            <a:endParaRPr sz="2200">
              <a:latin typeface="Times New Roman"/>
              <a:cs typeface="Times New Roman"/>
            </a:endParaRPr>
          </a:p>
          <a:p>
            <a:pPr marL="744220" lvl="1" indent="-457834">
              <a:lnSpc>
                <a:spcPct val="100000"/>
              </a:lnSpc>
              <a:spcBef>
                <a:spcPts val="409"/>
              </a:spcBef>
              <a:buClr>
                <a:srgbClr val="9B2C1F"/>
              </a:buClr>
              <a:buSzPct val="84090"/>
              <a:buAutoNum type="arabicPeriod"/>
              <a:tabLst>
                <a:tab pos="744220" algn="l"/>
              </a:tabLst>
            </a:pPr>
            <a:r>
              <a:rPr sz="2200" spc="-50" dirty="0">
                <a:latin typeface="Times New Roman"/>
                <a:cs typeface="Times New Roman"/>
              </a:rPr>
              <a:t>If</a:t>
            </a:r>
            <a:r>
              <a:rPr sz="2200" spc="-80" dirty="0">
                <a:latin typeface="Times New Roman"/>
                <a:cs typeface="Times New Roman"/>
              </a:rPr>
              <a:t> </a:t>
            </a:r>
            <a:r>
              <a:rPr sz="2200" dirty="0">
                <a:latin typeface="Times New Roman"/>
                <a:cs typeface="Times New Roman"/>
              </a:rPr>
              <a:t>a</a:t>
            </a:r>
            <a:r>
              <a:rPr sz="2200" spc="-85" dirty="0">
                <a:latin typeface="Times New Roman"/>
                <a:cs typeface="Times New Roman"/>
              </a:rPr>
              <a:t> </a:t>
            </a:r>
            <a:r>
              <a:rPr sz="2200" spc="-110" dirty="0">
                <a:latin typeface="Times New Roman"/>
                <a:cs typeface="Times New Roman"/>
              </a:rPr>
              <a:t>subnet’s</a:t>
            </a:r>
            <a:r>
              <a:rPr sz="2200" spc="-20" dirty="0">
                <a:latin typeface="Times New Roman"/>
                <a:cs typeface="Times New Roman"/>
              </a:rPr>
              <a:t> </a:t>
            </a:r>
            <a:r>
              <a:rPr sz="2200" spc="-75" dirty="0">
                <a:latin typeface="Times New Roman"/>
                <a:cs typeface="Times New Roman"/>
              </a:rPr>
              <a:t>traffic</a:t>
            </a:r>
            <a:r>
              <a:rPr sz="2200" spc="-20" dirty="0">
                <a:latin typeface="Times New Roman"/>
                <a:cs typeface="Times New Roman"/>
              </a:rPr>
              <a:t> is</a:t>
            </a:r>
            <a:r>
              <a:rPr sz="2200" spc="-25" dirty="0">
                <a:latin typeface="Times New Roman"/>
                <a:cs typeface="Times New Roman"/>
              </a:rPr>
              <a:t> routed</a:t>
            </a:r>
            <a:r>
              <a:rPr sz="2200" spc="-5" dirty="0">
                <a:latin typeface="Times New Roman"/>
                <a:cs typeface="Times New Roman"/>
              </a:rPr>
              <a:t> </a:t>
            </a:r>
            <a:r>
              <a:rPr sz="2200" dirty="0">
                <a:latin typeface="Times New Roman"/>
                <a:cs typeface="Times New Roman"/>
              </a:rPr>
              <a:t>to</a:t>
            </a:r>
            <a:r>
              <a:rPr sz="2200" spc="-25" dirty="0">
                <a:latin typeface="Times New Roman"/>
                <a:cs typeface="Times New Roman"/>
              </a:rPr>
              <a:t> </a:t>
            </a:r>
            <a:r>
              <a:rPr sz="2200" spc="-10" dirty="0">
                <a:latin typeface="Times New Roman"/>
                <a:cs typeface="Times New Roman"/>
              </a:rPr>
              <a:t>an</a:t>
            </a:r>
            <a:r>
              <a:rPr sz="2200" spc="-20" dirty="0">
                <a:latin typeface="Times New Roman"/>
                <a:cs typeface="Times New Roman"/>
              </a:rPr>
              <a:t> </a:t>
            </a:r>
            <a:r>
              <a:rPr sz="2200" spc="-170" dirty="0">
                <a:latin typeface="Times New Roman"/>
                <a:cs typeface="Times New Roman"/>
              </a:rPr>
              <a:t>IGW,</a:t>
            </a:r>
            <a:r>
              <a:rPr sz="2200" spc="30" dirty="0">
                <a:latin typeface="Times New Roman"/>
                <a:cs typeface="Times New Roman"/>
              </a:rPr>
              <a:t> </a:t>
            </a:r>
            <a:r>
              <a:rPr sz="2200" dirty="0">
                <a:latin typeface="Times New Roman"/>
                <a:cs typeface="Times New Roman"/>
              </a:rPr>
              <a:t>the</a:t>
            </a:r>
            <a:r>
              <a:rPr sz="2200" spc="-20" dirty="0">
                <a:latin typeface="Times New Roman"/>
                <a:cs typeface="Times New Roman"/>
              </a:rPr>
              <a:t> </a:t>
            </a:r>
            <a:r>
              <a:rPr sz="2200" spc="-60" dirty="0">
                <a:latin typeface="Times New Roman"/>
                <a:cs typeface="Times New Roman"/>
              </a:rPr>
              <a:t>subnet</a:t>
            </a:r>
            <a:r>
              <a:rPr sz="2200" spc="-25" dirty="0">
                <a:latin typeface="Times New Roman"/>
                <a:cs typeface="Times New Roman"/>
              </a:rPr>
              <a:t> </a:t>
            </a:r>
            <a:r>
              <a:rPr sz="2200" spc="-20" dirty="0">
                <a:latin typeface="Times New Roman"/>
                <a:cs typeface="Times New Roman"/>
              </a:rPr>
              <a:t>is</a:t>
            </a:r>
            <a:r>
              <a:rPr sz="2200" spc="-25" dirty="0">
                <a:latin typeface="Times New Roman"/>
                <a:cs typeface="Times New Roman"/>
              </a:rPr>
              <a:t> </a:t>
            </a:r>
            <a:r>
              <a:rPr sz="2200" spc="-85" dirty="0">
                <a:latin typeface="Times New Roman"/>
                <a:cs typeface="Times New Roman"/>
              </a:rPr>
              <a:t>known</a:t>
            </a:r>
            <a:r>
              <a:rPr sz="2200" spc="-20" dirty="0">
                <a:latin typeface="Times New Roman"/>
                <a:cs typeface="Times New Roman"/>
              </a:rPr>
              <a:t> </a:t>
            </a:r>
            <a:r>
              <a:rPr sz="2200" spc="-55" dirty="0">
                <a:latin typeface="Times New Roman"/>
                <a:cs typeface="Times New Roman"/>
              </a:rPr>
              <a:t>as</a:t>
            </a:r>
            <a:r>
              <a:rPr sz="2200" spc="-25" dirty="0">
                <a:latin typeface="Times New Roman"/>
                <a:cs typeface="Times New Roman"/>
              </a:rPr>
              <a:t> </a:t>
            </a:r>
            <a:r>
              <a:rPr sz="2200" dirty="0">
                <a:latin typeface="Times New Roman"/>
                <a:cs typeface="Times New Roman"/>
              </a:rPr>
              <a:t>a</a:t>
            </a:r>
            <a:r>
              <a:rPr sz="2200" spc="-25" dirty="0">
                <a:latin typeface="Times New Roman"/>
                <a:cs typeface="Times New Roman"/>
              </a:rPr>
              <a:t> </a:t>
            </a:r>
            <a:r>
              <a:rPr sz="2200" spc="-50" dirty="0">
                <a:latin typeface="Times New Roman"/>
                <a:cs typeface="Times New Roman"/>
              </a:rPr>
              <a:t>public</a:t>
            </a:r>
            <a:endParaRPr sz="2200">
              <a:latin typeface="Times New Roman"/>
              <a:cs typeface="Times New Roman"/>
            </a:endParaRPr>
          </a:p>
          <a:p>
            <a:pPr marL="744220">
              <a:lnSpc>
                <a:spcPct val="100000"/>
              </a:lnSpc>
            </a:pPr>
            <a:r>
              <a:rPr sz="2200" spc="-10" dirty="0">
                <a:latin typeface="Times New Roman"/>
                <a:cs typeface="Times New Roman"/>
              </a:rPr>
              <a:t>subnet.</a:t>
            </a:r>
            <a:endParaRPr sz="2200">
              <a:latin typeface="Times New Roman"/>
              <a:cs typeface="Times New Roman"/>
            </a:endParaRPr>
          </a:p>
          <a:p>
            <a:pPr marL="742950" marR="5080" lvl="1" indent="-456565" algn="just">
              <a:lnSpc>
                <a:spcPct val="100000"/>
              </a:lnSpc>
              <a:spcBef>
                <a:spcPts val="400"/>
              </a:spcBef>
              <a:buClr>
                <a:srgbClr val="9B2C1F"/>
              </a:buClr>
              <a:buSzPct val="84090"/>
              <a:buAutoNum type="arabicPeriod" startAt="2"/>
              <a:tabLst>
                <a:tab pos="744220" algn="l"/>
              </a:tabLst>
            </a:pPr>
            <a:r>
              <a:rPr sz="2200" dirty="0">
                <a:latin typeface="Times New Roman"/>
                <a:cs typeface="Times New Roman"/>
              </a:rPr>
              <a:t>If</a:t>
            </a:r>
            <a:r>
              <a:rPr sz="2200" spc="10" dirty="0">
                <a:latin typeface="Times New Roman"/>
                <a:cs typeface="Times New Roman"/>
              </a:rPr>
              <a:t> </a:t>
            </a:r>
            <a:r>
              <a:rPr sz="2200" dirty="0">
                <a:latin typeface="Times New Roman"/>
                <a:cs typeface="Times New Roman"/>
              </a:rPr>
              <a:t>you</a:t>
            </a:r>
            <a:r>
              <a:rPr sz="2200" spc="15" dirty="0">
                <a:latin typeface="Times New Roman"/>
                <a:cs typeface="Times New Roman"/>
              </a:rPr>
              <a:t> </a:t>
            </a:r>
            <a:r>
              <a:rPr sz="2200" dirty="0">
                <a:latin typeface="Times New Roman"/>
                <a:cs typeface="Times New Roman"/>
              </a:rPr>
              <a:t>want</a:t>
            </a:r>
            <a:r>
              <a:rPr sz="2200" spc="15" dirty="0">
                <a:latin typeface="Times New Roman"/>
                <a:cs typeface="Times New Roman"/>
              </a:rPr>
              <a:t> </a:t>
            </a:r>
            <a:r>
              <a:rPr sz="2200" dirty="0">
                <a:latin typeface="Times New Roman"/>
                <a:cs typeface="Times New Roman"/>
              </a:rPr>
              <a:t>your</a:t>
            </a:r>
            <a:r>
              <a:rPr sz="2200" spc="20" dirty="0">
                <a:latin typeface="Times New Roman"/>
                <a:cs typeface="Times New Roman"/>
              </a:rPr>
              <a:t> </a:t>
            </a:r>
            <a:r>
              <a:rPr sz="2200" spc="-65" dirty="0">
                <a:latin typeface="Times New Roman"/>
                <a:cs typeface="Times New Roman"/>
              </a:rPr>
              <a:t>instance</a:t>
            </a:r>
            <a:r>
              <a:rPr sz="2200" spc="5" dirty="0">
                <a:latin typeface="Times New Roman"/>
                <a:cs typeface="Times New Roman"/>
              </a:rPr>
              <a:t> </a:t>
            </a:r>
            <a:r>
              <a:rPr sz="2200" dirty="0">
                <a:latin typeface="Times New Roman"/>
                <a:cs typeface="Times New Roman"/>
              </a:rPr>
              <a:t>in</a:t>
            </a:r>
            <a:r>
              <a:rPr sz="2200" spc="10" dirty="0">
                <a:latin typeface="Times New Roman"/>
                <a:cs typeface="Times New Roman"/>
              </a:rPr>
              <a:t> </a:t>
            </a:r>
            <a:r>
              <a:rPr sz="2200" dirty="0">
                <a:latin typeface="Times New Roman"/>
                <a:cs typeface="Times New Roman"/>
              </a:rPr>
              <a:t>a</a:t>
            </a:r>
            <a:r>
              <a:rPr sz="2200" spc="15" dirty="0">
                <a:latin typeface="Times New Roman"/>
                <a:cs typeface="Times New Roman"/>
              </a:rPr>
              <a:t> </a:t>
            </a:r>
            <a:r>
              <a:rPr sz="2200" spc="-50" dirty="0">
                <a:latin typeface="Times New Roman"/>
                <a:cs typeface="Times New Roman"/>
              </a:rPr>
              <a:t>public</a:t>
            </a:r>
            <a:r>
              <a:rPr sz="2200" spc="10" dirty="0">
                <a:latin typeface="Times New Roman"/>
                <a:cs typeface="Times New Roman"/>
              </a:rPr>
              <a:t> </a:t>
            </a:r>
            <a:r>
              <a:rPr sz="2200" spc="-25" dirty="0">
                <a:latin typeface="Times New Roman"/>
                <a:cs typeface="Times New Roman"/>
              </a:rPr>
              <a:t>subnet</a:t>
            </a:r>
            <a:r>
              <a:rPr sz="2200" spc="5" dirty="0">
                <a:latin typeface="Times New Roman"/>
                <a:cs typeface="Times New Roman"/>
              </a:rPr>
              <a:t> </a:t>
            </a:r>
            <a:r>
              <a:rPr sz="2200" dirty="0">
                <a:latin typeface="Times New Roman"/>
                <a:cs typeface="Times New Roman"/>
              </a:rPr>
              <a:t>to</a:t>
            </a:r>
            <a:r>
              <a:rPr sz="2200" spc="20" dirty="0">
                <a:latin typeface="Times New Roman"/>
                <a:cs typeface="Times New Roman"/>
              </a:rPr>
              <a:t> </a:t>
            </a:r>
            <a:r>
              <a:rPr sz="2200" spc="-75" dirty="0">
                <a:latin typeface="Times New Roman"/>
                <a:cs typeface="Times New Roman"/>
              </a:rPr>
              <a:t>communicate</a:t>
            </a:r>
            <a:r>
              <a:rPr sz="2200" spc="5" dirty="0">
                <a:latin typeface="Times New Roman"/>
                <a:cs typeface="Times New Roman"/>
              </a:rPr>
              <a:t> </a:t>
            </a:r>
            <a:r>
              <a:rPr sz="2200" dirty="0">
                <a:latin typeface="Times New Roman"/>
                <a:cs typeface="Times New Roman"/>
              </a:rPr>
              <a:t>with</a:t>
            </a:r>
            <a:r>
              <a:rPr sz="2200" spc="15" dirty="0">
                <a:latin typeface="Times New Roman"/>
                <a:cs typeface="Times New Roman"/>
              </a:rPr>
              <a:t> </a:t>
            </a:r>
            <a:r>
              <a:rPr sz="2200" spc="-25" dirty="0">
                <a:latin typeface="Times New Roman"/>
                <a:cs typeface="Times New Roman"/>
              </a:rPr>
              <a:t>the 	</a:t>
            </a:r>
            <a:r>
              <a:rPr sz="2200" spc="-10" dirty="0">
                <a:latin typeface="Times New Roman"/>
                <a:cs typeface="Times New Roman"/>
              </a:rPr>
              <a:t>internet</a:t>
            </a:r>
            <a:r>
              <a:rPr sz="2200" spc="-15" dirty="0">
                <a:latin typeface="Times New Roman"/>
                <a:cs typeface="Times New Roman"/>
              </a:rPr>
              <a:t> </a:t>
            </a:r>
            <a:r>
              <a:rPr sz="2200" spc="-45" dirty="0">
                <a:latin typeface="Times New Roman"/>
                <a:cs typeface="Times New Roman"/>
              </a:rPr>
              <a:t>over</a:t>
            </a:r>
            <a:r>
              <a:rPr sz="2200" spc="5" dirty="0">
                <a:latin typeface="Times New Roman"/>
                <a:cs typeface="Times New Roman"/>
              </a:rPr>
              <a:t> </a:t>
            </a:r>
            <a:r>
              <a:rPr sz="2200" spc="-85" dirty="0">
                <a:latin typeface="Times New Roman"/>
                <a:cs typeface="Times New Roman"/>
              </a:rPr>
              <a:t>IPV4,</a:t>
            </a:r>
            <a:r>
              <a:rPr sz="2200" spc="-50" dirty="0">
                <a:latin typeface="Times New Roman"/>
                <a:cs typeface="Times New Roman"/>
              </a:rPr>
              <a:t> </a:t>
            </a:r>
            <a:r>
              <a:rPr sz="2200" dirty="0">
                <a:latin typeface="Times New Roman"/>
                <a:cs typeface="Times New Roman"/>
              </a:rPr>
              <a:t>it</a:t>
            </a:r>
            <a:r>
              <a:rPr sz="2200" spc="5" dirty="0">
                <a:latin typeface="Times New Roman"/>
                <a:cs typeface="Times New Roman"/>
              </a:rPr>
              <a:t> </a:t>
            </a:r>
            <a:r>
              <a:rPr sz="2200" spc="-20" dirty="0">
                <a:latin typeface="Times New Roman"/>
                <a:cs typeface="Times New Roman"/>
              </a:rPr>
              <a:t>must</a:t>
            </a:r>
            <a:r>
              <a:rPr sz="2200" spc="5" dirty="0">
                <a:latin typeface="Times New Roman"/>
                <a:cs typeface="Times New Roman"/>
              </a:rPr>
              <a:t> </a:t>
            </a:r>
            <a:r>
              <a:rPr sz="2200" spc="-130" dirty="0">
                <a:latin typeface="Times New Roman"/>
                <a:cs typeface="Times New Roman"/>
              </a:rPr>
              <a:t>have</a:t>
            </a:r>
            <a:r>
              <a:rPr sz="2200" spc="-5" dirty="0">
                <a:latin typeface="Times New Roman"/>
                <a:cs typeface="Times New Roman"/>
              </a:rPr>
              <a:t> </a:t>
            </a:r>
            <a:r>
              <a:rPr sz="2200" dirty="0">
                <a:latin typeface="Times New Roman"/>
                <a:cs typeface="Times New Roman"/>
              </a:rPr>
              <a:t>a </a:t>
            </a:r>
            <a:r>
              <a:rPr sz="2200" spc="-70" dirty="0">
                <a:latin typeface="Times New Roman"/>
                <a:cs typeface="Times New Roman"/>
              </a:rPr>
              <a:t>public</a:t>
            </a:r>
            <a:r>
              <a:rPr sz="2200" spc="5" dirty="0">
                <a:latin typeface="Times New Roman"/>
                <a:cs typeface="Times New Roman"/>
              </a:rPr>
              <a:t> </a:t>
            </a:r>
            <a:r>
              <a:rPr sz="2200" spc="-114" dirty="0">
                <a:latin typeface="Times New Roman"/>
                <a:cs typeface="Times New Roman"/>
              </a:rPr>
              <a:t>IPV4</a:t>
            </a:r>
            <a:r>
              <a:rPr sz="2200" dirty="0">
                <a:latin typeface="Times New Roman"/>
                <a:cs typeface="Times New Roman"/>
              </a:rPr>
              <a:t> </a:t>
            </a:r>
            <a:r>
              <a:rPr sz="2200" spc="-80" dirty="0">
                <a:latin typeface="Times New Roman"/>
                <a:cs typeface="Times New Roman"/>
              </a:rPr>
              <a:t>address</a:t>
            </a:r>
            <a:r>
              <a:rPr sz="2200" spc="15" dirty="0">
                <a:latin typeface="Times New Roman"/>
                <a:cs typeface="Times New Roman"/>
              </a:rPr>
              <a:t> </a:t>
            </a:r>
            <a:r>
              <a:rPr sz="2200" spc="-100" dirty="0">
                <a:latin typeface="Times New Roman"/>
                <a:cs typeface="Times New Roman"/>
              </a:rPr>
              <a:t>(dynamic)</a:t>
            </a:r>
            <a:r>
              <a:rPr sz="2200" spc="5" dirty="0">
                <a:latin typeface="Times New Roman"/>
                <a:cs typeface="Times New Roman"/>
              </a:rPr>
              <a:t> </a:t>
            </a:r>
            <a:r>
              <a:rPr sz="2200" dirty="0">
                <a:latin typeface="Times New Roman"/>
                <a:cs typeface="Times New Roman"/>
              </a:rPr>
              <a:t>or</a:t>
            </a:r>
            <a:r>
              <a:rPr sz="2200" spc="10" dirty="0">
                <a:latin typeface="Times New Roman"/>
                <a:cs typeface="Times New Roman"/>
              </a:rPr>
              <a:t> </a:t>
            </a:r>
            <a:r>
              <a:rPr sz="2200" spc="-25" dirty="0">
                <a:latin typeface="Times New Roman"/>
                <a:cs typeface="Times New Roman"/>
              </a:rPr>
              <a:t>on 	</a:t>
            </a:r>
            <a:r>
              <a:rPr sz="2200" spc="-140" dirty="0">
                <a:latin typeface="Times New Roman"/>
                <a:cs typeface="Times New Roman"/>
              </a:rPr>
              <a:t>Elastic</a:t>
            </a:r>
            <a:r>
              <a:rPr sz="2200" spc="-10" dirty="0">
                <a:latin typeface="Times New Roman"/>
                <a:cs typeface="Times New Roman"/>
              </a:rPr>
              <a:t> </a:t>
            </a:r>
            <a:r>
              <a:rPr sz="2200" spc="-150" dirty="0">
                <a:latin typeface="Times New Roman"/>
                <a:cs typeface="Times New Roman"/>
              </a:rPr>
              <a:t>IP</a:t>
            </a:r>
            <a:r>
              <a:rPr sz="2200" spc="-25" dirty="0">
                <a:latin typeface="Times New Roman"/>
                <a:cs typeface="Times New Roman"/>
              </a:rPr>
              <a:t> </a:t>
            </a:r>
            <a:r>
              <a:rPr sz="2200" spc="-125" dirty="0">
                <a:latin typeface="Times New Roman"/>
                <a:cs typeface="Times New Roman"/>
              </a:rPr>
              <a:t>address</a:t>
            </a:r>
            <a:r>
              <a:rPr sz="2200" dirty="0">
                <a:latin typeface="Times New Roman"/>
                <a:cs typeface="Times New Roman"/>
              </a:rPr>
              <a:t> </a:t>
            </a:r>
            <a:r>
              <a:rPr sz="2200" spc="-100" dirty="0">
                <a:latin typeface="Times New Roman"/>
                <a:cs typeface="Times New Roman"/>
              </a:rPr>
              <a:t>(doesn’t</a:t>
            </a:r>
            <a:r>
              <a:rPr sz="2200" spc="5" dirty="0">
                <a:latin typeface="Times New Roman"/>
                <a:cs typeface="Times New Roman"/>
              </a:rPr>
              <a:t> </a:t>
            </a:r>
            <a:r>
              <a:rPr sz="2200" spc="-10" dirty="0">
                <a:latin typeface="Times New Roman"/>
                <a:cs typeface="Times New Roman"/>
              </a:rPr>
              <a:t>changed).</a:t>
            </a:r>
            <a:endParaRPr sz="2200">
              <a:latin typeface="Times New Roman"/>
              <a:cs typeface="Times New Roman"/>
            </a:endParaRPr>
          </a:p>
          <a:p>
            <a:pPr lvl="1">
              <a:lnSpc>
                <a:spcPct val="100000"/>
              </a:lnSpc>
              <a:spcBef>
                <a:spcPts val="1105"/>
              </a:spcBef>
              <a:buClr>
                <a:srgbClr val="9B2C1F"/>
              </a:buClr>
              <a:buFont typeface="Times New Roman"/>
              <a:buAutoNum type="arabicPeriod" startAt="2"/>
            </a:pPr>
            <a:endParaRPr sz="2200">
              <a:latin typeface="Times New Roman"/>
              <a:cs typeface="Times New Roman"/>
            </a:endParaRPr>
          </a:p>
          <a:p>
            <a:pPr marL="469265" indent="-456565">
              <a:lnSpc>
                <a:spcPct val="100000"/>
              </a:lnSpc>
              <a:spcBef>
                <a:spcPts val="5"/>
              </a:spcBef>
              <a:buClr>
                <a:srgbClr val="D24717"/>
              </a:buClr>
              <a:buSzPct val="84090"/>
              <a:buAutoNum type="arabicPeriod"/>
              <a:tabLst>
                <a:tab pos="469265" algn="l"/>
              </a:tabLst>
            </a:pPr>
            <a:r>
              <a:rPr sz="2200" spc="-105" dirty="0">
                <a:latin typeface="Times New Roman"/>
                <a:cs typeface="Times New Roman"/>
              </a:rPr>
              <a:t>Private</a:t>
            </a:r>
            <a:r>
              <a:rPr sz="2200" spc="-50" dirty="0">
                <a:latin typeface="Times New Roman"/>
                <a:cs typeface="Times New Roman"/>
              </a:rPr>
              <a:t> </a:t>
            </a:r>
            <a:r>
              <a:rPr sz="2200" spc="-100" dirty="0">
                <a:latin typeface="Times New Roman"/>
                <a:cs typeface="Times New Roman"/>
              </a:rPr>
              <a:t>subnet</a:t>
            </a:r>
            <a:r>
              <a:rPr sz="2200" spc="-30" dirty="0">
                <a:latin typeface="Times New Roman"/>
                <a:cs typeface="Times New Roman"/>
              </a:rPr>
              <a:t> </a:t>
            </a:r>
            <a:r>
              <a:rPr sz="2200" spc="-45" dirty="0">
                <a:latin typeface="Times New Roman"/>
                <a:cs typeface="Times New Roman"/>
              </a:rPr>
              <a:t>(not</a:t>
            </a:r>
            <a:r>
              <a:rPr sz="2200" spc="-25" dirty="0">
                <a:latin typeface="Times New Roman"/>
                <a:cs typeface="Times New Roman"/>
              </a:rPr>
              <a:t> </a:t>
            </a:r>
            <a:r>
              <a:rPr sz="2200" spc="-100" dirty="0">
                <a:latin typeface="Times New Roman"/>
                <a:cs typeface="Times New Roman"/>
              </a:rPr>
              <a:t>connected</a:t>
            </a:r>
            <a:r>
              <a:rPr sz="2200" spc="10" dirty="0">
                <a:latin typeface="Times New Roman"/>
                <a:cs typeface="Times New Roman"/>
              </a:rPr>
              <a:t> </a:t>
            </a:r>
            <a:r>
              <a:rPr sz="2200" spc="-90" dirty="0">
                <a:latin typeface="Times New Roman"/>
                <a:cs typeface="Times New Roman"/>
              </a:rPr>
              <a:t>with</a:t>
            </a:r>
            <a:r>
              <a:rPr sz="2200" spc="-40" dirty="0">
                <a:latin typeface="Times New Roman"/>
                <a:cs typeface="Times New Roman"/>
              </a:rPr>
              <a:t> </a:t>
            </a:r>
            <a:r>
              <a:rPr sz="2200" spc="-20" dirty="0">
                <a:latin typeface="Times New Roman"/>
                <a:cs typeface="Times New Roman"/>
              </a:rPr>
              <a:t>IGW)</a:t>
            </a:r>
            <a:endParaRPr sz="2200">
              <a:latin typeface="Times New Roman"/>
              <a:cs typeface="Times New Roman"/>
            </a:endParaRPr>
          </a:p>
          <a:p>
            <a:pPr marL="744220" marR="5080" lvl="1" indent="-457834">
              <a:lnSpc>
                <a:spcPct val="100000"/>
              </a:lnSpc>
              <a:spcBef>
                <a:spcPts val="405"/>
              </a:spcBef>
              <a:buClr>
                <a:srgbClr val="9B2C1F"/>
              </a:buClr>
              <a:buSzPct val="84090"/>
              <a:buAutoNum type="arabicPeriod"/>
              <a:tabLst>
                <a:tab pos="744220" algn="l"/>
              </a:tabLst>
            </a:pPr>
            <a:r>
              <a:rPr sz="2200" spc="-35" dirty="0">
                <a:latin typeface="Times New Roman"/>
                <a:cs typeface="Times New Roman"/>
              </a:rPr>
              <a:t>If</a:t>
            </a:r>
            <a:r>
              <a:rPr sz="2200" spc="25" dirty="0">
                <a:latin typeface="Times New Roman"/>
                <a:cs typeface="Times New Roman"/>
              </a:rPr>
              <a:t> </a:t>
            </a:r>
            <a:r>
              <a:rPr sz="2200" dirty="0">
                <a:latin typeface="Times New Roman"/>
                <a:cs typeface="Times New Roman"/>
              </a:rPr>
              <a:t>a</a:t>
            </a:r>
            <a:r>
              <a:rPr sz="2200" spc="50" dirty="0">
                <a:latin typeface="Times New Roman"/>
                <a:cs typeface="Times New Roman"/>
              </a:rPr>
              <a:t> </a:t>
            </a:r>
            <a:r>
              <a:rPr sz="2200" spc="-55" dirty="0">
                <a:latin typeface="Times New Roman"/>
                <a:cs typeface="Times New Roman"/>
              </a:rPr>
              <a:t>subnet</a:t>
            </a:r>
            <a:r>
              <a:rPr sz="2200" spc="50" dirty="0">
                <a:latin typeface="Times New Roman"/>
                <a:cs typeface="Times New Roman"/>
              </a:rPr>
              <a:t> </a:t>
            </a:r>
            <a:r>
              <a:rPr sz="2200" spc="-45" dirty="0">
                <a:latin typeface="Times New Roman"/>
                <a:cs typeface="Times New Roman"/>
              </a:rPr>
              <a:t>does</a:t>
            </a:r>
            <a:r>
              <a:rPr sz="2200" spc="45" dirty="0">
                <a:latin typeface="Times New Roman"/>
                <a:cs typeface="Times New Roman"/>
              </a:rPr>
              <a:t> </a:t>
            </a:r>
            <a:r>
              <a:rPr sz="2200" dirty="0">
                <a:latin typeface="Times New Roman"/>
                <a:cs typeface="Times New Roman"/>
              </a:rPr>
              <a:t>not</a:t>
            </a:r>
            <a:r>
              <a:rPr sz="2200" spc="55" dirty="0">
                <a:latin typeface="Times New Roman"/>
                <a:cs typeface="Times New Roman"/>
              </a:rPr>
              <a:t> </a:t>
            </a:r>
            <a:r>
              <a:rPr sz="2200" spc="-114" dirty="0">
                <a:latin typeface="Times New Roman"/>
                <a:cs typeface="Times New Roman"/>
              </a:rPr>
              <a:t>have</a:t>
            </a:r>
            <a:r>
              <a:rPr sz="2200" spc="45" dirty="0">
                <a:latin typeface="Times New Roman"/>
                <a:cs typeface="Times New Roman"/>
              </a:rPr>
              <a:t> </a:t>
            </a:r>
            <a:r>
              <a:rPr sz="2200" dirty="0">
                <a:latin typeface="Times New Roman"/>
                <a:cs typeface="Times New Roman"/>
              </a:rPr>
              <a:t>a</a:t>
            </a:r>
            <a:r>
              <a:rPr sz="2200" spc="55" dirty="0">
                <a:latin typeface="Times New Roman"/>
                <a:cs typeface="Times New Roman"/>
              </a:rPr>
              <a:t> </a:t>
            </a:r>
            <a:r>
              <a:rPr sz="2200" dirty="0">
                <a:latin typeface="Times New Roman"/>
                <a:cs typeface="Times New Roman"/>
              </a:rPr>
              <a:t>route</a:t>
            </a:r>
            <a:r>
              <a:rPr sz="2200" spc="40" dirty="0">
                <a:latin typeface="Times New Roman"/>
                <a:cs typeface="Times New Roman"/>
              </a:rPr>
              <a:t> </a:t>
            </a:r>
            <a:r>
              <a:rPr sz="2200" dirty="0">
                <a:latin typeface="Times New Roman"/>
                <a:cs typeface="Times New Roman"/>
              </a:rPr>
              <a:t>to</a:t>
            </a:r>
            <a:r>
              <a:rPr sz="2200" spc="55" dirty="0">
                <a:latin typeface="Times New Roman"/>
                <a:cs typeface="Times New Roman"/>
              </a:rPr>
              <a:t> </a:t>
            </a:r>
            <a:r>
              <a:rPr sz="2200" dirty="0">
                <a:latin typeface="Times New Roman"/>
                <a:cs typeface="Times New Roman"/>
              </a:rPr>
              <a:t>the</a:t>
            </a:r>
            <a:r>
              <a:rPr sz="2200" spc="50" dirty="0">
                <a:latin typeface="Times New Roman"/>
                <a:cs typeface="Times New Roman"/>
              </a:rPr>
              <a:t> </a:t>
            </a:r>
            <a:r>
              <a:rPr sz="2200" spc="-10" dirty="0">
                <a:latin typeface="Times New Roman"/>
                <a:cs typeface="Times New Roman"/>
              </a:rPr>
              <a:t>internet</a:t>
            </a:r>
            <a:r>
              <a:rPr sz="2200" spc="50" dirty="0">
                <a:latin typeface="Times New Roman"/>
                <a:cs typeface="Times New Roman"/>
              </a:rPr>
              <a:t> </a:t>
            </a:r>
            <a:r>
              <a:rPr sz="2200" spc="-140" dirty="0">
                <a:latin typeface="Times New Roman"/>
                <a:cs typeface="Times New Roman"/>
              </a:rPr>
              <a:t>gateway,</a:t>
            </a:r>
            <a:r>
              <a:rPr sz="2200" spc="5" dirty="0">
                <a:latin typeface="Times New Roman"/>
                <a:cs typeface="Times New Roman"/>
              </a:rPr>
              <a:t> </a:t>
            </a:r>
            <a:r>
              <a:rPr sz="2200" dirty="0">
                <a:latin typeface="Times New Roman"/>
                <a:cs typeface="Times New Roman"/>
              </a:rPr>
              <a:t>the</a:t>
            </a:r>
            <a:r>
              <a:rPr sz="2200" spc="50" dirty="0">
                <a:latin typeface="Times New Roman"/>
                <a:cs typeface="Times New Roman"/>
              </a:rPr>
              <a:t> </a:t>
            </a:r>
            <a:r>
              <a:rPr sz="2200" spc="-55" dirty="0">
                <a:latin typeface="Times New Roman"/>
                <a:cs typeface="Times New Roman"/>
              </a:rPr>
              <a:t>subnet</a:t>
            </a:r>
            <a:r>
              <a:rPr sz="2200" spc="40" dirty="0">
                <a:latin typeface="Times New Roman"/>
                <a:cs typeface="Times New Roman"/>
              </a:rPr>
              <a:t> </a:t>
            </a:r>
            <a:r>
              <a:rPr sz="2200" spc="-25" dirty="0">
                <a:latin typeface="Times New Roman"/>
                <a:cs typeface="Times New Roman"/>
              </a:rPr>
              <a:t>is </a:t>
            </a:r>
            <a:r>
              <a:rPr sz="2200" spc="-135" dirty="0">
                <a:latin typeface="Times New Roman"/>
                <a:cs typeface="Times New Roman"/>
              </a:rPr>
              <a:t>known</a:t>
            </a:r>
            <a:r>
              <a:rPr sz="2200" spc="-25" dirty="0">
                <a:latin typeface="Times New Roman"/>
                <a:cs typeface="Times New Roman"/>
              </a:rPr>
              <a:t> </a:t>
            </a:r>
            <a:r>
              <a:rPr sz="2200" spc="-180" dirty="0">
                <a:latin typeface="Times New Roman"/>
                <a:cs typeface="Times New Roman"/>
              </a:rPr>
              <a:t>as</a:t>
            </a:r>
            <a:r>
              <a:rPr sz="2200" spc="-25" dirty="0">
                <a:latin typeface="Times New Roman"/>
                <a:cs typeface="Times New Roman"/>
              </a:rPr>
              <a:t> </a:t>
            </a:r>
            <a:r>
              <a:rPr sz="2200" spc="-185" dirty="0">
                <a:latin typeface="Times New Roman"/>
                <a:cs typeface="Times New Roman"/>
              </a:rPr>
              <a:t>a</a:t>
            </a:r>
            <a:r>
              <a:rPr sz="2200" spc="-35" dirty="0">
                <a:latin typeface="Times New Roman"/>
                <a:cs typeface="Times New Roman"/>
              </a:rPr>
              <a:t> </a:t>
            </a:r>
            <a:r>
              <a:rPr sz="2200" spc="-100" dirty="0">
                <a:latin typeface="Times New Roman"/>
                <a:cs typeface="Times New Roman"/>
              </a:rPr>
              <a:t>private</a:t>
            </a:r>
            <a:r>
              <a:rPr sz="2200" spc="-15" dirty="0">
                <a:latin typeface="Times New Roman"/>
                <a:cs typeface="Times New Roman"/>
              </a:rPr>
              <a:t> </a:t>
            </a:r>
            <a:r>
              <a:rPr sz="2200" spc="-10" dirty="0">
                <a:latin typeface="Times New Roman"/>
                <a:cs typeface="Times New Roman"/>
              </a:rPr>
              <a:t>subnet.</a:t>
            </a:r>
            <a:endParaRPr sz="2200">
              <a:latin typeface="Times New Roman"/>
              <a:cs typeface="Times New Roman"/>
            </a:endParaRPr>
          </a:p>
          <a:p>
            <a:pPr marL="744220" lvl="1" indent="-457834">
              <a:lnSpc>
                <a:spcPct val="100000"/>
              </a:lnSpc>
              <a:spcBef>
                <a:spcPts val="395"/>
              </a:spcBef>
              <a:buClr>
                <a:srgbClr val="9B2C1F"/>
              </a:buClr>
              <a:buSzPct val="84090"/>
              <a:buAutoNum type="arabicPeriod"/>
              <a:tabLst>
                <a:tab pos="744220" algn="l"/>
              </a:tabLst>
            </a:pPr>
            <a:r>
              <a:rPr sz="2200" spc="-50" dirty="0">
                <a:latin typeface="Times New Roman"/>
                <a:cs typeface="Times New Roman"/>
              </a:rPr>
              <a:t>When</a:t>
            </a:r>
            <a:r>
              <a:rPr sz="2200" spc="-80" dirty="0">
                <a:latin typeface="Times New Roman"/>
                <a:cs typeface="Times New Roman"/>
              </a:rPr>
              <a:t> </a:t>
            </a:r>
            <a:r>
              <a:rPr sz="2200" spc="-55" dirty="0">
                <a:latin typeface="Times New Roman"/>
                <a:cs typeface="Times New Roman"/>
              </a:rPr>
              <a:t>you</a:t>
            </a:r>
            <a:r>
              <a:rPr sz="2200" spc="-25" dirty="0">
                <a:latin typeface="Times New Roman"/>
                <a:cs typeface="Times New Roman"/>
              </a:rPr>
              <a:t> </a:t>
            </a:r>
            <a:r>
              <a:rPr sz="2200" spc="-50" dirty="0">
                <a:latin typeface="Times New Roman"/>
                <a:cs typeface="Times New Roman"/>
              </a:rPr>
              <a:t>create</a:t>
            </a:r>
            <a:r>
              <a:rPr sz="2200" spc="-35" dirty="0">
                <a:latin typeface="Times New Roman"/>
                <a:cs typeface="Times New Roman"/>
              </a:rPr>
              <a:t> </a:t>
            </a:r>
            <a:r>
              <a:rPr sz="2200" dirty="0">
                <a:latin typeface="Times New Roman"/>
                <a:cs typeface="Times New Roman"/>
              </a:rPr>
              <a:t>a</a:t>
            </a:r>
            <a:r>
              <a:rPr sz="2200" spc="-15" dirty="0">
                <a:latin typeface="Times New Roman"/>
                <a:cs typeface="Times New Roman"/>
              </a:rPr>
              <a:t> </a:t>
            </a:r>
            <a:r>
              <a:rPr sz="2200" spc="-95" dirty="0">
                <a:latin typeface="Times New Roman"/>
                <a:cs typeface="Times New Roman"/>
              </a:rPr>
              <a:t>VPC,</a:t>
            </a:r>
            <a:r>
              <a:rPr sz="2200" spc="-45" dirty="0">
                <a:latin typeface="Times New Roman"/>
                <a:cs typeface="Times New Roman"/>
              </a:rPr>
              <a:t> </a:t>
            </a:r>
            <a:r>
              <a:rPr sz="2200" spc="-60" dirty="0">
                <a:latin typeface="Times New Roman"/>
                <a:cs typeface="Times New Roman"/>
              </a:rPr>
              <a:t>you</a:t>
            </a:r>
            <a:r>
              <a:rPr sz="2200" spc="-20" dirty="0">
                <a:latin typeface="Times New Roman"/>
                <a:cs typeface="Times New Roman"/>
              </a:rPr>
              <a:t> </a:t>
            </a:r>
            <a:r>
              <a:rPr sz="2200" spc="-40" dirty="0">
                <a:latin typeface="Times New Roman"/>
                <a:cs typeface="Times New Roman"/>
              </a:rPr>
              <a:t>must</a:t>
            </a:r>
            <a:r>
              <a:rPr sz="2200" spc="-15" dirty="0">
                <a:latin typeface="Times New Roman"/>
                <a:cs typeface="Times New Roman"/>
              </a:rPr>
              <a:t> </a:t>
            </a:r>
            <a:r>
              <a:rPr sz="2200" spc="-110" dirty="0">
                <a:latin typeface="Times New Roman"/>
                <a:cs typeface="Times New Roman"/>
              </a:rPr>
              <a:t>specify</a:t>
            </a:r>
            <a:r>
              <a:rPr sz="2200" spc="-25" dirty="0">
                <a:latin typeface="Times New Roman"/>
                <a:cs typeface="Times New Roman"/>
              </a:rPr>
              <a:t> </a:t>
            </a:r>
            <a:r>
              <a:rPr sz="2200" dirty="0">
                <a:latin typeface="Times New Roman"/>
                <a:cs typeface="Times New Roman"/>
              </a:rPr>
              <a:t>on</a:t>
            </a:r>
            <a:r>
              <a:rPr sz="2200" spc="-30" dirty="0">
                <a:latin typeface="Times New Roman"/>
                <a:cs typeface="Times New Roman"/>
              </a:rPr>
              <a:t> </a:t>
            </a:r>
            <a:r>
              <a:rPr sz="2200" spc="-125" dirty="0">
                <a:latin typeface="Times New Roman"/>
                <a:cs typeface="Times New Roman"/>
              </a:rPr>
              <a:t>IPV4</a:t>
            </a:r>
            <a:r>
              <a:rPr sz="2200" spc="-10" dirty="0">
                <a:latin typeface="Times New Roman"/>
                <a:cs typeface="Times New Roman"/>
              </a:rPr>
              <a:t> </a:t>
            </a:r>
            <a:r>
              <a:rPr sz="2200" spc="-85" dirty="0">
                <a:latin typeface="Times New Roman"/>
                <a:cs typeface="Times New Roman"/>
              </a:rPr>
              <a:t>CIDR</a:t>
            </a:r>
            <a:r>
              <a:rPr sz="2200" spc="-15" dirty="0">
                <a:latin typeface="Times New Roman"/>
                <a:cs typeface="Times New Roman"/>
              </a:rPr>
              <a:t> </a:t>
            </a:r>
            <a:r>
              <a:rPr sz="2200" spc="-70" dirty="0">
                <a:latin typeface="Times New Roman"/>
                <a:cs typeface="Times New Roman"/>
              </a:rPr>
              <a:t>block</a:t>
            </a:r>
            <a:r>
              <a:rPr sz="2200" spc="-25" dirty="0">
                <a:latin typeface="Times New Roman"/>
                <a:cs typeface="Times New Roman"/>
              </a:rPr>
              <a:t> </a:t>
            </a:r>
            <a:r>
              <a:rPr sz="2200" dirty="0">
                <a:latin typeface="Times New Roman"/>
                <a:cs typeface="Times New Roman"/>
              </a:rPr>
              <a:t>for</a:t>
            </a:r>
            <a:r>
              <a:rPr sz="2200" spc="-20" dirty="0">
                <a:latin typeface="Times New Roman"/>
                <a:cs typeface="Times New Roman"/>
              </a:rPr>
              <a:t> </a:t>
            </a:r>
            <a:r>
              <a:rPr sz="2200" spc="-25" dirty="0">
                <a:latin typeface="Times New Roman"/>
                <a:cs typeface="Times New Roman"/>
              </a:rPr>
              <a:t>the</a:t>
            </a:r>
            <a:endParaRPr sz="2200">
              <a:latin typeface="Times New Roman"/>
              <a:cs typeface="Times New Roman"/>
            </a:endParaRPr>
          </a:p>
          <a:p>
            <a:pPr marL="744220">
              <a:lnSpc>
                <a:spcPct val="100000"/>
              </a:lnSpc>
            </a:pPr>
            <a:r>
              <a:rPr sz="2200" spc="-110" dirty="0">
                <a:latin typeface="Times New Roman"/>
                <a:cs typeface="Times New Roman"/>
              </a:rPr>
              <a:t>VPC.The</a:t>
            </a:r>
            <a:r>
              <a:rPr sz="2200" spc="-45" dirty="0">
                <a:latin typeface="Times New Roman"/>
                <a:cs typeface="Times New Roman"/>
              </a:rPr>
              <a:t> </a:t>
            </a:r>
            <a:r>
              <a:rPr sz="2200" spc="-140" dirty="0">
                <a:latin typeface="Times New Roman"/>
                <a:cs typeface="Times New Roman"/>
              </a:rPr>
              <a:t>allowed</a:t>
            </a:r>
            <a:r>
              <a:rPr sz="2200" spc="-45" dirty="0">
                <a:latin typeface="Times New Roman"/>
                <a:cs typeface="Times New Roman"/>
              </a:rPr>
              <a:t> </a:t>
            </a:r>
            <a:r>
              <a:rPr sz="2200" spc="-125" dirty="0">
                <a:latin typeface="Times New Roman"/>
                <a:cs typeface="Times New Roman"/>
              </a:rPr>
              <a:t>block</a:t>
            </a:r>
            <a:r>
              <a:rPr sz="2200" spc="-25" dirty="0">
                <a:latin typeface="Times New Roman"/>
                <a:cs typeface="Times New Roman"/>
              </a:rPr>
              <a:t> </a:t>
            </a:r>
            <a:r>
              <a:rPr sz="2200" spc="-145" dirty="0">
                <a:latin typeface="Times New Roman"/>
                <a:cs typeface="Times New Roman"/>
              </a:rPr>
              <a:t>size</a:t>
            </a:r>
            <a:r>
              <a:rPr sz="2200" spc="-50" dirty="0">
                <a:latin typeface="Times New Roman"/>
                <a:cs typeface="Times New Roman"/>
              </a:rPr>
              <a:t> </a:t>
            </a:r>
            <a:r>
              <a:rPr sz="2200" spc="-145" dirty="0">
                <a:latin typeface="Times New Roman"/>
                <a:cs typeface="Times New Roman"/>
              </a:rPr>
              <a:t>is</a:t>
            </a:r>
            <a:r>
              <a:rPr sz="2200" spc="-35" dirty="0">
                <a:latin typeface="Times New Roman"/>
                <a:cs typeface="Times New Roman"/>
              </a:rPr>
              <a:t> </a:t>
            </a:r>
            <a:r>
              <a:rPr sz="2200" spc="-105" dirty="0">
                <a:latin typeface="Times New Roman"/>
                <a:cs typeface="Times New Roman"/>
              </a:rPr>
              <a:t>between</a:t>
            </a:r>
            <a:r>
              <a:rPr sz="2200" spc="-25" dirty="0">
                <a:latin typeface="Times New Roman"/>
                <a:cs typeface="Times New Roman"/>
              </a:rPr>
              <a:t> </a:t>
            </a:r>
            <a:r>
              <a:rPr sz="2200" spc="95" dirty="0">
                <a:latin typeface="Times New Roman"/>
                <a:cs typeface="Times New Roman"/>
              </a:rPr>
              <a:t>/16</a:t>
            </a:r>
            <a:r>
              <a:rPr sz="2200" spc="-25" dirty="0">
                <a:latin typeface="Times New Roman"/>
                <a:cs typeface="Times New Roman"/>
              </a:rPr>
              <a:t> </a:t>
            </a:r>
            <a:r>
              <a:rPr sz="2200" dirty="0">
                <a:latin typeface="Times New Roman"/>
                <a:cs typeface="Times New Roman"/>
              </a:rPr>
              <a:t>to</a:t>
            </a:r>
            <a:r>
              <a:rPr sz="2200" spc="-25" dirty="0">
                <a:latin typeface="Times New Roman"/>
                <a:cs typeface="Times New Roman"/>
              </a:rPr>
              <a:t> </a:t>
            </a:r>
            <a:r>
              <a:rPr sz="2200" spc="95" dirty="0">
                <a:latin typeface="Times New Roman"/>
                <a:cs typeface="Times New Roman"/>
              </a:rPr>
              <a:t>/28</a:t>
            </a:r>
            <a:r>
              <a:rPr sz="2200" spc="-25" dirty="0">
                <a:latin typeface="Times New Roman"/>
                <a:cs typeface="Times New Roman"/>
              </a:rPr>
              <a:t> </a:t>
            </a:r>
            <a:r>
              <a:rPr sz="2200" spc="-10" dirty="0">
                <a:latin typeface="Times New Roman"/>
                <a:cs typeface="Times New Roman"/>
              </a:rPr>
              <a:t>netmask.</a:t>
            </a:r>
            <a:endParaRPr sz="2200">
              <a:latin typeface="Times New Roman"/>
              <a:cs typeface="Times New Roman"/>
            </a:endParaRPr>
          </a:p>
          <a:p>
            <a:pPr marL="744220" lvl="1" indent="-457834">
              <a:lnSpc>
                <a:spcPct val="100000"/>
              </a:lnSpc>
              <a:spcBef>
                <a:spcPts val="400"/>
              </a:spcBef>
              <a:buClr>
                <a:srgbClr val="9B2C1F"/>
              </a:buClr>
              <a:buSzPct val="84090"/>
              <a:buAutoNum type="arabicPeriod" startAt="3"/>
              <a:tabLst>
                <a:tab pos="744220" algn="l"/>
              </a:tabLst>
            </a:pPr>
            <a:r>
              <a:rPr sz="2200" spc="-120" dirty="0">
                <a:latin typeface="Times New Roman"/>
                <a:cs typeface="Times New Roman"/>
              </a:rPr>
              <a:t>The</a:t>
            </a:r>
            <a:r>
              <a:rPr sz="2200" spc="-45" dirty="0">
                <a:latin typeface="Times New Roman"/>
                <a:cs typeface="Times New Roman"/>
              </a:rPr>
              <a:t> </a:t>
            </a:r>
            <a:r>
              <a:rPr sz="2200" spc="-80" dirty="0">
                <a:latin typeface="Times New Roman"/>
                <a:cs typeface="Times New Roman"/>
              </a:rPr>
              <a:t>first</a:t>
            </a:r>
            <a:r>
              <a:rPr sz="2200" spc="-40" dirty="0">
                <a:latin typeface="Times New Roman"/>
                <a:cs typeface="Times New Roman"/>
              </a:rPr>
              <a:t> </a:t>
            </a:r>
            <a:r>
              <a:rPr sz="2200" spc="-90" dirty="0">
                <a:latin typeface="Times New Roman"/>
                <a:cs typeface="Times New Roman"/>
              </a:rPr>
              <a:t>four</a:t>
            </a:r>
            <a:r>
              <a:rPr sz="2200" spc="-15" dirty="0">
                <a:latin typeface="Times New Roman"/>
                <a:cs typeface="Times New Roman"/>
              </a:rPr>
              <a:t> </a:t>
            </a:r>
            <a:r>
              <a:rPr sz="2200" spc="-135" dirty="0">
                <a:latin typeface="Times New Roman"/>
                <a:cs typeface="Times New Roman"/>
              </a:rPr>
              <a:t>and</a:t>
            </a:r>
            <a:r>
              <a:rPr sz="2200" spc="-30" dirty="0">
                <a:latin typeface="Times New Roman"/>
                <a:cs typeface="Times New Roman"/>
              </a:rPr>
              <a:t> </a:t>
            </a:r>
            <a:r>
              <a:rPr sz="2200" spc="-105" dirty="0">
                <a:latin typeface="Times New Roman"/>
                <a:cs typeface="Times New Roman"/>
              </a:rPr>
              <a:t>last</a:t>
            </a:r>
            <a:r>
              <a:rPr sz="2200" spc="-50" dirty="0">
                <a:latin typeface="Times New Roman"/>
                <a:cs typeface="Times New Roman"/>
              </a:rPr>
              <a:t> </a:t>
            </a:r>
            <a:r>
              <a:rPr sz="2200" spc="-150" dirty="0">
                <a:latin typeface="Times New Roman"/>
                <a:cs typeface="Times New Roman"/>
              </a:rPr>
              <a:t>IP</a:t>
            </a:r>
            <a:r>
              <a:rPr sz="2200" spc="-25" dirty="0">
                <a:latin typeface="Times New Roman"/>
                <a:cs typeface="Times New Roman"/>
              </a:rPr>
              <a:t> </a:t>
            </a:r>
            <a:r>
              <a:rPr sz="2200" spc="-125" dirty="0">
                <a:latin typeface="Times New Roman"/>
                <a:cs typeface="Times New Roman"/>
              </a:rPr>
              <a:t>address</a:t>
            </a:r>
            <a:r>
              <a:rPr sz="2200" spc="-20" dirty="0">
                <a:latin typeface="Times New Roman"/>
                <a:cs typeface="Times New Roman"/>
              </a:rPr>
              <a:t> </a:t>
            </a:r>
            <a:r>
              <a:rPr sz="2200" spc="-145" dirty="0">
                <a:latin typeface="Times New Roman"/>
                <a:cs typeface="Times New Roman"/>
              </a:rPr>
              <a:t>of</a:t>
            </a:r>
            <a:r>
              <a:rPr sz="2200" spc="-30" dirty="0">
                <a:latin typeface="Times New Roman"/>
                <a:cs typeface="Times New Roman"/>
              </a:rPr>
              <a:t> </a:t>
            </a:r>
            <a:r>
              <a:rPr sz="2200" spc="-100" dirty="0">
                <a:latin typeface="Times New Roman"/>
                <a:cs typeface="Times New Roman"/>
              </a:rPr>
              <a:t>subnet</a:t>
            </a:r>
            <a:r>
              <a:rPr sz="2200" spc="-25" dirty="0">
                <a:latin typeface="Times New Roman"/>
                <a:cs typeface="Times New Roman"/>
              </a:rPr>
              <a:t> </a:t>
            </a:r>
            <a:r>
              <a:rPr sz="2200" spc="-150" dirty="0">
                <a:latin typeface="Times New Roman"/>
                <a:cs typeface="Times New Roman"/>
              </a:rPr>
              <a:t>can</a:t>
            </a:r>
            <a:r>
              <a:rPr sz="2200" spc="-20" dirty="0">
                <a:latin typeface="Times New Roman"/>
                <a:cs typeface="Times New Roman"/>
              </a:rPr>
              <a:t> </a:t>
            </a:r>
            <a:r>
              <a:rPr sz="2200" spc="-45" dirty="0">
                <a:latin typeface="Times New Roman"/>
                <a:cs typeface="Times New Roman"/>
              </a:rPr>
              <a:t>not</a:t>
            </a:r>
            <a:r>
              <a:rPr sz="2200" spc="-40" dirty="0">
                <a:latin typeface="Times New Roman"/>
                <a:cs typeface="Times New Roman"/>
              </a:rPr>
              <a:t> </a:t>
            </a:r>
            <a:r>
              <a:rPr sz="2200" spc="-110" dirty="0">
                <a:latin typeface="Times New Roman"/>
                <a:cs typeface="Times New Roman"/>
              </a:rPr>
              <a:t>be</a:t>
            </a:r>
            <a:r>
              <a:rPr sz="2200" spc="-35" dirty="0">
                <a:latin typeface="Times New Roman"/>
                <a:cs typeface="Times New Roman"/>
              </a:rPr>
              <a:t> </a:t>
            </a:r>
            <a:r>
              <a:rPr sz="2200" spc="-10" dirty="0">
                <a:latin typeface="Times New Roman"/>
                <a:cs typeface="Times New Roman"/>
              </a:rPr>
              <a:t>changed.</a:t>
            </a:r>
            <a:endParaRPr sz="22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38</a:t>
            </a:fld>
            <a:endParaRPr spc="-2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340" y="247599"/>
            <a:ext cx="1404620" cy="574675"/>
          </a:xfrm>
          <a:prstGeom prst="rect">
            <a:avLst/>
          </a:prstGeom>
        </p:spPr>
        <p:txBody>
          <a:bodyPr vert="horz" wrap="square" lIns="0" tIns="12700" rIns="0" bIns="0" rtlCol="0">
            <a:spAutoFit/>
          </a:bodyPr>
          <a:lstStyle/>
          <a:p>
            <a:pPr marL="12700">
              <a:lnSpc>
                <a:spcPct val="100000"/>
              </a:lnSpc>
              <a:spcBef>
                <a:spcPts val="100"/>
              </a:spcBef>
            </a:pPr>
            <a:r>
              <a:rPr sz="3600" spc="-10" dirty="0"/>
              <a:t>Subnet</a:t>
            </a:r>
            <a:endParaRPr sz="3600"/>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762000" y="1447800"/>
            <a:ext cx="5330825" cy="3411831"/>
          </a:xfrm>
          <a:prstGeom prst="rect">
            <a:avLst/>
          </a:prstGeom>
        </p:spPr>
        <p:txBody>
          <a:bodyPr vert="horz" wrap="square" lIns="0" tIns="13335" rIns="0" bIns="0" rtlCol="0">
            <a:spAutoFit/>
          </a:bodyPr>
          <a:lstStyle/>
          <a:p>
            <a:pPr marL="12700">
              <a:lnSpc>
                <a:spcPct val="100000"/>
              </a:lnSpc>
              <a:spcBef>
                <a:spcPts val="105"/>
              </a:spcBef>
            </a:pPr>
            <a:r>
              <a:rPr sz="2000" spc="-135" dirty="0">
                <a:latin typeface="Times New Roman"/>
                <a:cs typeface="Times New Roman"/>
              </a:rPr>
              <a:t>Suppose</a:t>
            </a:r>
            <a:r>
              <a:rPr sz="2000" spc="-15" dirty="0">
                <a:latin typeface="Times New Roman"/>
                <a:cs typeface="Times New Roman"/>
              </a:rPr>
              <a:t> </a:t>
            </a:r>
            <a:r>
              <a:rPr sz="2000" spc="-10" dirty="0">
                <a:latin typeface="Times New Roman"/>
                <a:cs typeface="Times New Roman"/>
              </a:rPr>
              <a:t>CIDR=10.0.0.0/16</a:t>
            </a:r>
            <a:endParaRPr sz="2000" dirty="0">
              <a:latin typeface="Times New Roman"/>
              <a:cs typeface="Times New Roman"/>
            </a:endParaRPr>
          </a:p>
          <a:p>
            <a:pPr>
              <a:lnSpc>
                <a:spcPct val="100000"/>
              </a:lnSpc>
              <a:spcBef>
                <a:spcPts val="1295"/>
              </a:spcBef>
            </a:pPr>
            <a:endParaRPr sz="2000" dirty="0">
              <a:latin typeface="Times New Roman"/>
              <a:cs typeface="Times New Roman"/>
            </a:endParaRPr>
          </a:p>
          <a:p>
            <a:pPr marL="12700">
              <a:lnSpc>
                <a:spcPct val="100000"/>
              </a:lnSpc>
              <a:spcBef>
                <a:spcPts val="5"/>
              </a:spcBef>
            </a:pPr>
            <a:r>
              <a:rPr sz="2000" spc="-30" dirty="0">
                <a:latin typeface="Times New Roman"/>
                <a:cs typeface="Times New Roman"/>
              </a:rPr>
              <a:t>10.0.0.0-</a:t>
            </a:r>
            <a:r>
              <a:rPr sz="2000" spc="-45" dirty="0">
                <a:latin typeface="Times New Roman"/>
                <a:cs typeface="Times New Roman"/>
              </a:rPr>
              <a:t> </a:t>
            </a:r>
            <a:r>
              <a:rPr sz="2000" spc="-85" dirty="0">
                <a:latin typeface="Times New Roman"/>
                <a:cs typeface="Times New Roman"/>
              </a:rPr>
              <a:t>network</a:t>
            </a:r>
            <a:r>
              <a:rPr sz="2000" spc="-35" dirty="0">
                <a:latin typeface="Times New Roman"/>
                <a:cs typeface="Times New Roman"/>
              </a:rPr>
              <a:t> </a:t>
            </a:r>
            <a:r>
              <a:rPr sz="2000" spc="-10" dirty="0">
                <a:latin typeface="Times New Roman"/>
                <a:cs typeface="Times New Roman"/>
              </a:rPr>
              <a:t>address</a:t>
            </a:r>
            <a:endParaRPr sz="2000" dirty="0">
              <a:latin typeface="Times New Roman"/>
              <a:cs typeface="Times New Roman"/>
            </a:endParaRPr>
          </a:p>
          <a:p>
            <a:pPr marL="12700">
              <a:lnSpc>
                <a:spcPct val="100000"/>
              </a:lnSpc>
              <a:spcBef>
                <a:spcPts val="600"/>
              </a:spcBef>
            </a:pPr>
            <a:r>
              <a:rPr sz="2000" spc="-40" dirty="0">
                <a:latin typeface="Times New Roman"/>
                <a:cs typeface="Times New Roman"/>
              </a:rPr>
              <a:t>10.0.0.1-</a:t>
            </a:r>
            <a:r>
              <a:rPr sz="2000" spc="-85" dirty="0">
                <a:latin typeface="Times New Roman"/>
                <a:cs typeface="Times New Roman"/>
              </a:rPr>
              <a:t>reserved</a:t>
            </a:r>
            <a:r>
              <a:rPr sz="2000" spc="-25" dirty="0">
                <a:latin typeface="Times New Roman"/>
                <a:cs typeface="Times New Roman"/>
              </a:rPr>
              <a:t> </a:t>
            </a:r>
            <a:r>
              <a:rPr sz="2000" spc="-165" dirty="0">
                <a:latin typeface="Times New Roman"/>
                <a:cs typeface="Times New Roman"/>
              </a:rPr>
              <a:t>by</a:t>
            </a:r>
            <a:r>
              <a:rPr sz="2000" spc="-185" dirty="0">
                <a:latin typeface="Times New Roman"/>
                <a:cs typeface="Times New Roman"/>
              </a:rPr>
              <a:t> </a:t>
            </a:r>
            <a:r>
              <a:rPr sz="2000" spc="-270" dirty="0">
                <a:latin typeface="Times New Roman"/>
                <a:cs typeface="Times New Roman"/>
              </a:rPr>
              <a:t>AWS</a:t>
            </a:r>
            <a:r>
              <a:rPr sz="2000" spc="-10" dirty="0">
                <a:latin typeface="Times New Roman"/>
                <a:cs typeface="Times New Roman"/>
              </a:rPr>
              <a:t> </a:t>
            </a:r>
            <a:r>
              <a:rPr sz="2000" spc="-70" dirty="0">
                <a:latin typeface="Times New Roman"/>
                <a:cs typeface="Times New Roman"/>
              </a:rPr>
              <a:t>for</a:t>
            </a:r>
            <a:r>
              <a:rPr sz="2000" dirty="0">
                <a:latin typeface="Times New Roman"/>
                <a:cs typeface="Times New Roman"/>
              </a:rPr>
              <a:t> </a:t>
            </a:r>
            <a:r>
              <a:rPr sz="2000" spc="-65" dirty="0">
                <a:latin typeface="Times New Roman"/>
                <a:cs typeface="Times New Roman"/>
              </a:rPr>
              <a:t>the</a:t>
            </a:r>
            <a:r>
              <a:rPr sz="2000" spc="-295" dirty="0">
                <a:latin typeface="Times New Roman"/>
                <a:cs typeface="Times New Roman"/>
              </a:rPr>
              <a:t> </a:t>
            </a:r>
            <a:r>
              <a:rPr sz="2000" spc="-180" dirty="0">
                <a:latin typeface="Times New Roman"/>
                <a:cs typeface="Times New Roman"/>
              </a:rPr>
              <a:t>VPC</a:t>
            </a:r>
            <a:r>
              <a:rPr sz="2000" spc="-30" dirty="0">
                <a:latin typeface="Times New Roman"/>
                <a:cs typeface="Times New Roman"/>
              </a:rPr>
              <a:t> </a:t>
            </a:r>
            <a:r>
              <a:rPr sz="2000" spc="-10" dirty="0">
                <a:latin typeface="Times New Roman"/>
                <a:cs typeface="Times New Roman"/>
              </a:rPr>
              <a:t>router</a:t>
            </a:r>
            <a:endParaRPr sz="2000" dirty="0">
              <a:latin typeface="Times New Roman"/>
              <a:cs typeface="Times New Roman"/>
            </a:endParaRPr>
          </a:p>
          <a:p>
            <a:pPr marL="12700" marR="5080">
              <a:lnSpc>
                <a:spcPct val="125000"/>
              </a:lnSpc>
            </a:pPr>
            <a:r>
              <a:rPr sz="2000" spc="-30" dirty="0">
                <a:latin typeface="Times New Roman"/>
                <a:cs typeface="Times New Roman"/>
              </a:rPr>
              <a:t>10.0.0.2-</a:t>
            </a:r>
            <a:r>
              <a:rPr sz="2000" spc="-25" dirty="0">
                <a:latin typeface="Times New Roman"/>
                <a:cs typeface="Times New Roman"/>
              </a:rPr>
              <a:t> </a:t>
            </a:r>
            <a:r>
              <a:rPr sz="2000" spc="-85" dirty="0">
                <a:latin typeface="Times New Roman"/>
                <a:cs typeface="Times New Roman"/>
              </a:rPr>
              <a:t>reserved</a:t>
            </a:r>
            <a:r>
              <a:rPr sz="2000" spc="-25" dirty="0">
                <a:latin typeface="Times New Roman"/>
                <a:cs typeface="Times New Roman"/>
              </a:rPr>
              <a:t> </a:t>
            </a:r>
            <a:r>
              <a:rPr sz="2000" spc="-165" dirty="0">
                <a:latin typeface="Times New Roman"/>
                <a:cs typeface="Times New Roman"/>
              </a:rPr>
              <a:t>by</a:t>
            </a:r>
            <a:r>
              <a:rPr sz="2000" spc="-190" dirty="0">
                <a:latin typeface="Times New Roman"/>
                <a:cs typeface="Times New Roman"/>
              </a:rPr>
              <a:t> </a:t>
            </a:r>
            <a:r>
              <a:rPr sz="2000" spc="-135" dirty="0">
                <a:latin typeface="Times New Roman"/>
                <a:cs typeface="Times New Roman"/>
              </a:rPr>
              <a:t>AWS.The</a:t>
            </a:r>
            <a:r>
              <a:rPr sz="2000" spc="-30" dirty="0">
                <a:latin typeface="Times New Roman"/>
                <a:cs typeface="Times New Roman"/>
              </a:rPr>
              <a:t> </a:t>
            </a:r>
            <a:r>
              <a:rPr sz="2000" spc="-145" dirty="0">
                <a:latin typeface="Times New Roman"/>
                <a:cs typeface="Times New Roman"/>
              </a:rPr>
              <a:t>IP</a:t>
            </a:r>
            <a:r>
              <a:rPr sz="2000" spc="-20" dirty="0">
                <a:latin typeface="Times New Roman"/>
                <a:cs typeface="Times New Roman"/>
              </a:rPr>
              <a:t> </a:t>
            </a:r>
            <a:r>
              <a:rPr sz="2000" spc="-114" dirty="0">
                <a:latin typeface="Times New Roman"/>
                <a:cs typeface="Times New Roman"/>
              </a:rPr>
              <a:t>address</a:t>
            </a:r>
            <a:r>
              <a:rPr sz="2000" spc="-20" dirty="0">
                <a:latin typeface="Times New Roman"/>
                <a:cs typeface="Times New Roman"/>
              </a:rPr>
              <a:t> </a:t>
            </a:r>
            <a:r>
              <a:rPr sz="2000" spc="-130" dirty="0">
                <a:latin typeface="Times New Roman"/>
                <a:cs typeface="Times New Roman"/>
              </a:rPr>
              <a:t>of</a:t>
            </a:r>
            <a:r>
              <a:rPr sz="2000" spc="-20" dirty="0">
                <a:latin typeface="Times New Roman"/>
                <a:cs typeface="Times New Roman"/>
              </a:rPr>
              <a:t> </a:t>
            </a:r>
            <a:r>
              <a:rPr sz="2000" spc="-185" dirty="0">
                <a:latin typeface="Times New Roman"/>
                <a:cs typeface="Times New Roman"/>
              </a:rPr>
              <a:t>DNS</a:t>
            </a:r>
            <a:r>
              <a:rPr sz="2000" spc="-10" dirty="0">
                <a:latin typeface="Times New Roman"/>
                <a:cs typeface="Times New Roman"/>
              </a:rPr>
              <a:t> </a:t>
            </a:r>
            <a:r>
              <a:rPr sz="2000" spc="-25" dirty="0">
                <a:latin typeface="Times New Roman"/>
                <a:cs typeface="Times New Roman"/>
              </a:rPr>
              <a:t>server </a:t>
            </a:r>
            <a:r>
              <a:rPr sz="2000" spc="-40" dirty="0">
                <a:latin typeface="Times New Roman"/>
                <a:cs typeface="Times New Roman"/>
              </a:rPr>
              <a:t>10.0.0.3-</a:t>
            </a:r>
            <a:r>
              <a:rPr sz="2000" spc="-85" dirty="0">
                <a:latin typeface="Times New Roman"/>
                <a:cs typeface="Times New Roman"/>
              </a:rPr>
              <a:t>reserved</a:t>
            </a:r>
            <a:r>
              <a:rPr sz="2000" spc="5" dirty="0">
                <a:latin typeface="Times New Roman"/>
                <a:cs typeface="Times New Roman"/>
              </a:rPr>
              <a:t> </a:t>
            </a:r>
            <a:r>
              <a:rPr sz="2000" spc="-80" dirty="0">
                <a:latin typeface="Times New Roman"/>
                <a:cs typeface="Times New Roman"/>
              </a:rPr>
              <a:t>for</a:t>
            </a:r>
            <a:r>
              <a:rPr sz="2000" spc="20" dirty="0">
                <a:latin typeface="Times New Roman"/>
                <a:cs typeface="Times New Roman"/>
              </a:rPr>
              <a:t> </a:t>
            </a:r>
            <a:r>
              <a:rPr sz="2000" spc="-70" dirty="0">
                <a:latin typeface="Times New Roman"/>
                <a:cs typeface="Times New Roman"/>
              </a:rPr>
              <a:t>future</a:t>
            </a:r>
            <a:r>
              <a:rPr sz="2000" spc="15" dirty="0">
                <a:latin typeface="Times New Roman"/>
                <a:cs typeface="Times New Roman"/>
              </a:rPr>
              <a:t> </a:t>
            </a:r>
            <a:r>
              <a:rPr sz="2000" spc="-25" dirty="0">
                <a:latin typeface="Times New Roman"/>
                <a:cs typeface="Times New Roman"/>
              </a:rPr>
              <a:t>use</a:t>
            </a:r>
            <a:endParaRPr sz="2000" dirty="0">
              <a:latin typeface="Times New Roman"/>
              <a:cs typeface="Times New Roman"/>
            </a:endParaRPr>
          </a:p>
          <a:p>
            <a:pPr marL="12700">
              <a:lnSpc>
                <a:spcPct val="100000"/>
              </a:lnSpc>
              <a:spcBef>
                <a:spcPts val="600"/>
              </a:spcBef>
            </a:pPr>
            <a:r>
              <a:rPr sz="2000" spc="-50" dirty="0">
                <a:latin typeface="Times New Roman"/>
                <a:cs typeface="Times New Roman"/>
              </a:rPr>
              <a:t>10.0.0.255-</a:t>
            </a:r>
            <a:r>
              <a:rPr sz="2000" spc="-130" dirty="0">
                <a:latin typeface="Times New Roman"/>
                <a:cs typeface="Times New Roman"/>
              </a:rPr>
              <a:t>Broadcast</a:t>
            </a:r>
            <a:r>
              <a:rPr sz="2000" spc="80" dirty="0">
                <a:latin typeface="Times New Roman"/>
                <a:cs typeface="Times New Roman"/>
              </a:rPr>
              <a:t> </a:t>
            </a:r>
            <a:r>
              <a:rPr sz="2000" spc="-10" dirty="0">
                <a:latin typeface="Times New Roman"/>
                <a:cs typeface="Times New Roman"/>
              </a:rPr>
              <a:t>address</a:t>
            </a:r>
            <a:endParaRPr lang="en-US" sz="2000" spc="-10" dirty="0">
              <a:latin typeface="Times New Roman"/>
              <a:cs typeface="Times New Roman"/>
            </a:endParaRPr>
          </a:p>
          <a:p>
            <a:pPr marL="12700">
              <a:lnSpc>
                <a:spcPct val="100000"/>
              </a:lnSpc>
              <a:spcBef>
                <a:spcPts val="600"/>
              </a:spcBef>
            </a:pPr>
            <a:endParaRPr lang="en-US" sz="2000" spc="-10" dirty="0">
              <a:latin typeface="Times New Roman"/>
              <a:cs typeface="Times New Roman"/>
            </a:endParaRPr>
          </a:p>
          <a:p>
            <a:pPr marL="12700">
              <a:lnSpc>
                <a:spcPct val="100000"/>
              </a:lnSpc>
              <a:spcBef>
                <a:spcPts val="600"/>
              </a:spcBef>
            </a:pPr>
            <a:r>
              <a:rPr lang="en-US" sz="2000" spc="-10" dirty="0">
                <a:latin typeface="Times New Roman"/>
                <a:cs typeface="Times New Roman"/>
              </a:rPr>
              <a:t>Other are available for your EC2’s except the five</a:t>
            </a:r>
            <a:endParaRPr sz="2000" dirty="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39</a:t>
            </a:fld>
            <a:endParaRPr spc="-2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05998F-0FED-A79A-54C6-A7C58857D0F8}"/>
              </a:ext>
            </a:extLst>
          </p:cNvPr>
          <p:cNvSpPr>
            <a:spLocks noChangeArrowheads="1"/>
          </p:cNvSpPr>
          <p:nvPr/>
        </p:nvSpPr>
        <p:spPr bwMode="auto">
          <a:xfrm>
            <a:off x="231646" y="838200"/>
            <a:ext cx="4343401" cy="558614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a:ln>
                  <a:noFill/>
                </a:ln>
                <a:solidFill>
                  <a:schemeClr val="tx1"/>
                </a:solidFill>
                <a:effectLst/>
                <a:latin typeface="Arial" panose="020B0604020202020204" pitchFamily="34" charset="0"/>
              </a:rPr>
              <a:t>1. Subnet: </a:t>
            </a:r>
            <a:r>
              <a:rPr kumimoji="0" lang="en-US" altLang="en-US" sz="1700" b="1" i="0" u="none" strike="noStrike" cap="none" normalizeH="0" baseline="0" dirty="0">
                <a:ln>
                  <a:noFill/>
                </a:ln>
                <a:solidFill>
                  <a:schemeClr val="tx1"/>
                </a:solidFill>
                <a:effectLst/>
                <a:latin typeface="Arial Unicode MS"/>
              </a:rPr>
              <a:t>10.0.0.0/24</a:t>
            </a:r>
            <a:endParaRPr kumimoji="0" lang="en-US" altLang="en-US" sz="17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Arial" panose="020B0604020202020204" pitchFamily="34" charset="0"/>
              </a:rPr>
              <a:t>This means: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CIDR block</a:t>
            </a:r>
            <a:r>
              <a:rPr kumimoji="0" lang="en-US" altLang="en-US" sz="1700" b="0" i="0" u="none" strike="noStrike" cap="none" normalizeH="0" baseline="0" dirty="0">
                <a:ln>
                  <a:noFill/>
                </a:ln>
                <a:solidFill>
                  <a:schemeClr val="tx1"/>
                </a:solidFill>
                <a:effectLst/>
                <a:latin typeface="Arial" panose="020B0604020202020204" pitchFamily="34" charset="0"/>
              </a:rPr>
              <a:t>: 10.0.0.0/24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Total IPs</a:t>
            </a:r>
            <a:r>
              <a:rPr kumimoji="0" lang="en-US" altLang="en-US" sz="1700" b="0" i="0" u="none" strike="noStrike" cap="none" normalizeH="0" baseline="0" dirty="0">
                <a:ln>
                  <a:noFill/>
                </a:ln>
                <a:solidFill>
                  <a:schemeClr val="tx1"/>
                </a:solidFill>
                <a:effectLst/>
                <a:latin typeface="Arial" panose="020B0604020202020204" pitchFamily="34" charset="0"/>
              </a:rPr>
              <a:t>: 256 addresses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Usable IPs</a:t>
            </a:r>
            <a:r>
              <a:rPr kumimoji="0" lang="en-US" altLang="en-US" sz="1700" b="0" i="0" u="none" strike="noStrike" cap="none" normalizeH="0" baseline="0" dirty="0">
                <a:ln>
                  <a:noFill/>
                </a:ln>
                <a:solidFill>
                  <a:schemeClr val="tx1"/>
                </a:solidFill>
                <a:effectLst/>
                <a:latin typeface="Arial" panose="020B0604020202020204" pitchFamily="34" charset="0"/>
              </a:rPr>
              <a:t>: 254 (AWS reserves 5)</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a:ln>
                  <a:noFill/>
                </a:ln>
                <a:solidFill>
                  <a:schemeClr val="tx1"/>
                </a:solidFill>
                <a:effectLst/>
                <a:latin typeface="Arial" panose="020B0604020202020204" pitchFamily="34" charset="0"/>
              </a:rPr>
              <a:t>🔹 Range of IPs: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From</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a:ln>
                  <a:noFill/>
                </a:ln>
                <a:solidFill>
                  <a:schemeClr val="tx1"/>
                </a:solidFill>
                <a:effectLst/>
                <a:latin typeface="Arial Unicode MS"/>
              </a:rPr>
              <a:t>10.0.0.0</a:t>
            </a:r>
            <a:r>
              <a:rPr kumimoji="0" lang="en-US" altLang="en-US" sz="1700" b="0" i="0" u="none" strike="noStrike" cap="none" normalizeH="0" baseline="0" dirty="0">
                <a:ln>
                  <a:noFill/>
                </a:ln>
                <a:solidFill>
                  <a:schemeClr val="tx1"/>
                </a:solidFill>
                <a:effectLst/>
              </a:rPr>
              <a:t> (network address)</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To</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a:ln>
                  <a:noFill/>
                </a:ln>
                <a:solidFill>
                  <a:schemeClr val="tx1"/>
                </a:solidFill>
                <a:effectLst/>
                <a:latin typeface="Arial Unicode MS"/>
              </a:rPr>
              <a:t>10.0.0.255</a:t>
            </a:r>
            <a:r>
              <a:rPr kumimoji="0" lang="en-US" altLang="en-US" sz="1700" b="0" i="0" u="none" strike="noStrike" cap="none" normalizeH="0" baseline="0" dirty="0">
                <a:ln>
                  <a:noFill/>
                </a:ln>
                <a:solidFill>
                  <a:schemeClr val="tx1"/>
                </a:solidFill>
                <a:effectLst/>
              </a:rPr>
              <a:t> (broadcast address)</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a:ln>
                  <a:noFill/>
                </a:ln>
                <a:solidFill>
                  <a:schemeClr val="tx1"/>
                </a:solidFill>
                <a:effectLst/>
                <a:latin typeface="Arial" panose="020B0604020202020204" pitchFamily="34" charset="0"/>
              </a:rPr>
              <a:t>🔹 Usable IP addresses: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From </a:t>
            </a:r>
            <a:r>
              <a:rPr kumimoji="0" lang="en-US" altLang="en-US" sz="1700" b="0" i="0" u="none" strike="noStrike" cap="none" normalizeH="0" baseline="0" dirty="0">
                <a:ln>
                  <a:noFill/>
                </a:ln>
                <a:solidFill>
                  <a:schemeClr val="tx1"/>
                </a:solidFill>
                <a:effectLst/>
                <a:latin typeface="Arial Unicode MS"/>
              </a:rPr>
              <a:t>10.0.0.1</a:t>
            </a:r>
            <a:r>
              <a:rPr kumimoji="0" lang="en-US" altLang="en-US" sz="1700" b="0" i="0" u="none" strike="noStrike" cap="none" normalizeH="0" baseline="0" dirty="0">
                <a:ln>
                  <a:noFill/>
                </a:ln>
                <a:solidFill>
                  <a:schemeClr val="tx1"/>
                </a:solidFill>
                <a:effectLst/>
              </a:rPr>
              <a:t> to </a:t>
            </a:r>
            <a:r>
              <a:rPr kumimoji="0" lang="en-US" altLang="en-US" sz="1700" b="0" i="0" u="none" strike="noStrike" cap="none" normalizeH="0" baseline="0" dirty="0">
                <a:ln>
                  <a:noFill/>
                </a:ln>
                <a:solidFill>
                  <a:schemeClr val="tx1"/>
                </a:solidFill>
                <a:effectLst/>
                <a:latin typeface="Arial Unicode MS"/>
              </a:rPr>
              <a:t>10.0.0.254</a:t>
            </a:r>
            <a:endParaRPr kumimoji="0" lang="en-US" altLang="en-US" sz="1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Arial" panose="020B0604020202020204" pitchFamily="34" charset="0"/>
              </a:rPr>
              <a:t> AWS reserves 5 IPs in each subnet: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Unicode MS"/>
              </a:rPr>
              <a:t>10.0.0.0</a:t>
            </a:r>
            <a:r>
              <a:rPr kumimoji="0" lang="en-US" altLang="en-US" sz="1700" b="0" i="0" u="none" strike="noStrike" cap="none" normalizeH="0" baseline="0" dirty="0">
                <a:ln>
                  <a:noFill/>
                </a:ln>
                <a:solidFill>
                  <a:schemeClr val="tx1"/>
                </a:solidFill>
                <a:effectLst/>
              </a:rPr>
              <a:t> – Network address</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Unicode MS"/>
              </a:rPr>
              <a:t>10.0.0.1</a:t>
            </a:r>
            <a:r>
              <a:rPr kumimoji="0" lang="en-US" altLang="en-US" sz="1700" b="0" i="0" u="none" strike="noStrike" cap="none" normalizeH="0" baseline="0" dirty="0">
                <a:ln>
                  <a:noFill/>
                </a:ln>
                <a:solidFill>
                  <a:schemeClr val="tx1"/>
                </a:solidFill>
                <a:effectLst/>
              </a:rPr>
              <a:t> – Reserved by AWS for VPC router</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Unicode MS"/>
              </a:rPr>
              <a:t>10.0.0.2</a:t>
            </a:r>
            <a:r>
              <a:rPr kumimoji="0" lang="en-US" altLang="en-US" sz="1700" b="0" i="0" u="none" strike="noStrike" cap="none" normalizeH="0" baseline="0" dirty="0">
                <a:ln>
                  <a:noFill/>
                </a:ln>
                <a:solidFill>
                  <a:schemeClr val="tx1"/>
                </a:solidFill>
                <a:effectLst/>
              </a:rPr>
              <a:t> – Reserved by AWS</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Unicode MS"/>
              </a:rPr>
              <a:t>10.0.0.3</a:t>
            </a:r>
            <a:r>
              <a:rPr kumimoji="0" lang="en-US" altLang="en-US" sz="1700" b="0" i="0" u="none" strike="noStrike" cap="none" normalizeH="0" baseline="0" dirty="0">
                <a:ln>
                  <a:noFill/>
                </a:ln>
                <a:solidFill>
                  <a:schemeClr val="tx1"/>
                </a:solidFill>
                <a:effectLst/>
              </a:rPr>
              <a:t> – Reserved by AWS</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Unicode MS"/>
              </a:rPr>
              <a:t>10.0.0.255</a:t>
            </a:r>
            <a:r>
              <a:rPr kumimoji="0" lang="en-US" altLang="en-US" sz="1700" b="0" i="0" u="none" strike="noStrike" cap="none" normalizeH="0" baseline="0" dirty="0">
                <a:ln>
                  <a:noFill/>
                </a:ln>
                <a:solidFill>
                  <a:schemeClr val="tx1"/>
                </a:solidFill>
                <a:effectLst/>
              </a:rPr>
              <a:t> – Broadcast address (not usable)</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p:txBody>
      </p:sp>
      <p:sp>
        <p:nvSpPr>
          <p:cNvPr id="4" name="Rectangle 3">
            <a:extLst>
              <a:ext uri="{FF2B5EF4-FFF2-40B4-BE49-F238E27FC236}">
                <a16:creationId xmlns:a16="http://schemas.microsoft.com/office/drawing/2014/main" id="{3BF22071-13A9-3785-E546-13339C3DDCB3}"/>
              </a:ext>
            </a:extLst>
          </p:cNvPr>
          <p:cNvSpPr>
            <a:spLocks noChangeArrowheads="1"/>
          </p:cNvSpPr>
          <p:nvPr/>
        </p:nvSpPr>
        <p:spPr bwMode="auto">
          <a:xfrm>
            <a:off x="4596386" y="838200"/>
            <a:ext cx="4343400" cy="532453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a:ln>
                  <a:noFill/>
                </a:ln>
                <a:solidFill>
                  <a:schemeClr val="tx1"/>
                </a:solidFill>
                <a:effectLst/>
                <a:latin typeface="Arial" panose="020B0604020202020204" pitchFamily="34" charset="0"/>
              </a:rPr>
              <a:t>2. Subnet: </a:t>
            </a:r>
            <a:r>
              <a:rPr kumimoji="0" lang="en-US" altLang="en-US" sz="1700" b="1" i="0" u="none" strike="noStrike" cap="none" normalizeH="0" baseline="0" dirty="0">
                <a:ln>
                  <a:noFill/>
                </a:ln>
                <a:solidFill>
                  <a:schemeClr val="tx1"/>
                </a:solidFill>
                <a:effectLst/>
                <a:latin typeface="Arial Unicode MS"/>
              </a:rPr>
              <a:t>10.0.1.0/24</a:t>
            </a:r>
            <a:endParaRPr kumimoji="0" lang="en-US" altLang="en-US" sz="17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Arial" panose="020B0604020202020204" pitchFamily="34" charset="0"/>
              </a:rPr>
              <a:t>This means: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CIDR block</a:t>
            </a:r>
            <a:r>
              <a:rPr kumimoji="0" lang="en-US" altLang="en-US" sz="1700" b="0" i="0" u="none" strike="noStrike" cap="none" normalizeH="0" baseline="0" dirty="0">
                <a:ln>
                  <a:noFill/>
                </a:ln>
                <a:solidFill>
                  <a:schemeClr val="tx1"/>
                </a:solidFill>
                <a:effectLst/>
                <a:latin typeface="Arial" panose="020B0604020202020204" pitchFamily="34" charset="0"/>
              </a:rPr>
              <a:t>: 10.0.1.0/24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Total IPs</a:t>
            </a:r>
            <a:r>
              <a:rPr kumimoji="0" lang="en-US" altLang="en-US" sz="1700" b="0" i="0" u="none" strike="noStrike" cap="none" normalizeH="0" baseline="0" dirty="0">
                <a:ln>
                  <a:noFill/>
                </a:ln>
                <a:solidFill>
                  <a:schemeClr val="tx1"/>
                </a:solidFill>
                <a:effectLst/>
                <a:latin typeface="Arial" panose="020B0604020202020204" pitchFamily="34" charset="0"/>
              </a:rPr>
              <a:t>: 256 addresses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Usable IPs</a:t>
            </a:r>
            <a:r>
              <a:rPr kumimoji="0" lang="en-US" altLang="en-US" sz="1700" b="0" i="0" u="none" strike="noStrike" cap="none" normalizeH="0" baseline="0" dirty="0">
                <a:ln>
                  <a:noFill/>
                </a:ln>
                <a:solidFill>
                  <a:schemeClr val="tx1"/>
                </a:solidFill>
                <a:effectLst/>
                <a:latin typeface="Arial" panose="020B0604020202020204" pitchFamily="34" charset="0"/>
              </a:rPr>
              <a:t>: 254</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a:ln>
                  <a:noFill/>
                </a:ln>
                <a:solidFill>
                  <a:schemeClr val="tx1"/>
                </a:solidFill>
                <a:effectLst/>
                <a:latin typeface="Arial" panose="020B0604020202020204" pitchFamily="34" charset="0"/>
              </a:rPr>
              <a:t>🔹 Range of IPs: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From</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a:ln>
                  <a:noFill/>
                </a:ln>
                <a:solidFill>
                  <a:schemeClr val="tx1"/>
                </a:solidFill>
                <a:effectLst/>
                <a:latin typeface="Arial Unicode MS"/>
              </a:rPr>
              <a:t>10.0.1.0</a:t>
            </a:r>
            <a:endParaRPr kumimoji="0" lang="en-US" altLang="en-US" sz="1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Arial" panose="020B0604020202020204" pitchFamily="34" charset="0"/>
              </a:rPr>
              <a:t>To</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a:ln>
                  <a:noFill/>
                </a:ln>
                <a:solidFill>
                  <a:schemeClr val="tx1"/>
                </a:solidFill>
                <a:effectLst/>
                <a:latin typeface="Arial Unicode MS"/>
              </a:rPr>
              <a:t>10.0.1.255</a:t>
            </a:r>
            <a:endParaRPr kumimoji="0" lang="en-US" altLang="en-US" sz="1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a:ln>
                  <a:noFill/>
                </a:ln>
                <a:solidFill>
                  <a:schemeClr val="tx1"/>
                </a:solidFill>
                <a:effectLst/>
                <a:latin typeface="Arial" panose="020B0604020202020204" pitchFamily="34" charset="0"/>
              </a:rPr>
              <a:t>🔹 Usable IP addresses: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From </a:t>
            </a:r>
            <a:r>
              <a:rPr kumimoji="0" lang="en-US" altLang="en-US" sz="1700" b="0" i="0" u="none" strike="noStrike" cap="none" normalizeH="0" baseline="0" dirty="0">
                <a:ln>
                  <a:noFill/>
                </a:ln>
                <a:solidFill>
                  <a:schemeClr val="tx1"/>
                </a:solidFill>
                <a:effectLst/>
                <a:latin typeface="Arial Unicode MS"/>
              </a:rPr>
              <a:t>10.0.1.1</a:t>
            </a:r>
            <a:r>
              <a:rPr kumimoji="0" lang="en-US" altLang="en-US" sz="1700" b="0" i="0" u="none" strike="noStrike" cap="none" normalizeH="0" baseline="0" dirty="0">
                <a:ln>
                  <a:noFill/>
                </a:ln>
                <a:solidFill>
                  <a:schemeClr val="tx1"/>
                </a:solidFill>
                <a:effectLst/>
              </a:rPr>
              <a:t> to </a:t>
            </a:r>
            <a:r>
              <a:rPr kumimoji="0" lang="en-US" altLang="en-US" sz="1700" b="0" i="0" u="none" strike="noStrike" cap="none" normalizeH="0" baseline="0" dirty="0">
                <a:ln>
                  <a:noFill/>
                </a:ln>
                <a:solidFill>
                  <a:schemeClr val="tx1"/>
                </a:solidFill>
                <a:effectLst/>
                <a:latin typeface="Arial Unicode MS"/>
              </a:rPr>
              <a:t>10.0.1.254</a:t>
            </a:r>
            <a:endParaRPr kumimoji="0" lang="en-US" altLang="en-US" sz="1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Arial" panose="020B0604020202020204" pitchFamily="34" charset="0"/>
              </a:rPr>
              <a:t>AWS reserves 5 addresses here as well: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Unicode MS"/>
              </a:rPr>
              <a:t>10.0.1.0</a:t>
            </a:r>
            <a:r>
              <a:rPr kumimoji="0" lang="en-US" altLang="en-US" sz="1700" b="0" i="0" u="none" strike="noStrike" cap="none" normalizeH="0" baseline="0" dirty="0">
                <a:ln>
                  <a:noFill/>
                </a:ln>
                <a:solidFill>
                  <a:schemeClr val="tx1"/>
                </a:solidFill>
                <a:effectLst/>
              </a:rPr>
              <a:t> – Network address</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Unicode MS"/>
              </a:rPr>
              <a:t>10.0.1.1</a:t>
            </a:r>
            <a:r>
              <a:rPr kumimoji="0" lang="en-US" altLang="en-US" sz="1700" b="0" i="0" u="none" strike="noStrike" cap="none" normalizeH="0" baseline="0" dirty="0">
                <a:ln>
                  <a:noFill/>
                </a:ln>
                <a:solidFill>
                  <a:schemeClr val="tx1"/>
                </a:solidFill>
                <a:effectLst/>
              </a:rPr>
              <a:t> – Reserved by AWS for VPC router</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Unicode MS"/>
              </a:rPr>
              <a:t>10.0.1.2</a:t>
            </a:r>
            <a:r>
              <a:rPr kumimoji="0" lang="en-US" altLang="en-US" sz="1700" b="0" i="0" u="none" strike="noStrike" cap="none" normalizeH="0" baseline="0" dirty="0">
                <a:ln>
                  <a:noFill/>
                </a:ln>
                <a:solidFill>
                  <a:schemeClr val="tx1"/>
                </a:solidFill>
                <a:effectLst/>
              </a:rPr>
              <a:t> – Reserved by AWS</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Unicode MS"/>
              </a:rPr>
              <a:t>10.0.1.3</a:t>
            </a:r>
            <a:r>
              <a:rPr kumimoji="0" lang="en-US" altLang="en-US" sz="1700" b="0" i="0" u="none" strike="noStrike" cap="none" normalizeH="0" baseline="0" dirty="0">
                <a:ln>
                  <a:noFill/>
                </a:ln>
                <a:solidFill>
                  <a:schemeClr val="tx1"/>
                </a:solidFill>
                <a:effectLst/>
              </a:rPr>
              <a:t> – Reserved by AWS</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Unicode MS"/>
              </a:rPr>
              <a:t>10.0.1.255</a:t>
            </a:r>
            <a:r>
              <a:rPr kumimoji="0" lang="en-US" altLang="en-US" sz="1700" b="0" i="0" u="none" strike="noStrike" cap="none" normalizeH="0" baseline="0" dirty="0">
                <a:ln>
                  <a:noFill/>
                </a:ln>
                <a:solidFill>
                  <a:schemeClr val="tx1"/>
                </a:solidFill>
                <a:effectLst/>
              </a:rPr>
              <a:t> – Broadcast address</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554104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3600" spc="-20" dirty="0"/>
              <a:t>Security</a:t>
            </a:r>
            <a:r>
              <a:rPr sz="3600" spc="-160" dirty="0"/>
              <a:t> </a:t>
            </a:r>
            <a:r>
              <a:rPr sz="3600" spc="-10" dirty="0"/>
              <a:t>Groups</a:t>
            </a:r>
            <a:endParaRPr sz="3600"/>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56133" y="6314643"/>
            <a:ext cx="236220" cy="239395"/>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FFFFFF"/>
                </a:solidFill>
                <a:latin typeface="Franklin Gothic Medium"/>
                <a:cs typeface="Franklin Gothic Medium"/>
              </a:rPr>
              <a:t>28</a:t>
            </a:r>
            <a:endParaRPr sz="1400">
              <a:latin typeface="Franklin Gothic Medium"/>
              <a:cs typeface="Franklin Gothic Medium"/>
            </a:endParaRPr>
          </a:p>
        </p:txBody>
      </p:sp>
      <p:sp>
        <p:nvSpPr>
          <p:cNvPr id="5" name="object 5"/>
          <p:cNvSpPr txBox="1"/>
          <p:nvPr/>
        </p:nvSpPr>
        <p:spPr>
          <a:xfrm>
            <a:off x="296976" y="942289"/>
            <a:ext cx="8923224" cy="5277727"/>
          </a:xfrm>
          <a:prstGeom prst="rect">
            <a:avLst/>
          </a:prstGeom>
        </p:spPr>
        <p:txBody>
          <a:bodyPr vert="horz" wrap="square" lIns="0" tIns="12065" rIns="0" bIns="0" rtlCol="0">
            <a:spAutoFit/>
          </a:bodyPr>
          <a:lstStyle/>
          <a:p>
            <a:pPr marL="12700" marR="7620" algn="just">
              <a:lnSpc>
                <a:spcPct val="100000"/>
              </a:lnSpc>
              <a:spcBef>
                <a:spcPts val="95"/>
              </a:spcBef>
            </a:pPr>
            <a:r>
              <a:rPr sz="2200" dirty="0">
                <a:latin typeface="Times New Roman"/>
                <a:cs typeface="Times New Roman"/>
              </a:rPr>
              <a:t>In</a:t>
            </a:r>
            <a:r>
              <a:rPr sz="2200" spc="340" dirty="0">
                <a:latin typeface="Times New Roman"/>
                <a:cs typeface="Times New Roman"/>
              </a:rPr>
              <a:t> </a:t>
            </a:r>
            <a:r>
              <a:rPr sz="2200" spc="-20" dirty="0">
                <a:latin typeface="Times New Roman"/>
                <a:cs typeface="Times New Roman"/>
              </a:rPr>
              <a:t>AWS</a:t>
            </a:r>
            <a:r>
              <a:rPr sz="2200" spc="350" dirty="0">
                <a:latin typeface="Times New Roman"/>
                <a:cs typeface="Times New Roman"/>
              </a:rPr>
              <a:t> </a:t>
            </a:r>
            <a:r>
              <a:rPr sz="2200" dirty="0">
                <a:latin typeface="Times New Roman"/>
                <a:cs typeface="Times New Roman"/>
              </a:rPr>
              <a:t>(Amazon</a:t>
            </a:r>
            <a:r>
              <a:rPr sz="2200" spc="335" dirty="0">
                <a:latin typeface="Times New Roman"/>
                <a:cs typeface="Times New Roman"/>
              </a:rPr>
              <a:t> </a:t>
            </a:r>
            <a:r>
              <a:rPr sz="2200" dirty="0">
                <a:latin typeface="Times New Roman"/>
                <a:cs typeface="Times New Roman"/>
              </a:rPr>
              <a:t>Web</a:t>
            </a:r>
            <a:r>
              <a:rPr sz="2200" spc="355" dirty="0">
                <a:latin typeface="Times New Roman"/>
                <a:cs typeface="Times New Roman"/>
              </a:rPr>
              <a:t> </a:t>
            </a:r>
            <a:r>
              <a:rPr sz="2200" dirty="0">
                <a:latin typeface="Times New Roman"/>
                <a:cs typeface="Times New Roman"/>
              </a:rPr>
              <a:t>Services),</a:t>
            </a:r>
            <a:r>
              <a:rPr sz="2200" spc="270" dirty="0">
                <a:latin typeface="Times New Roman"/>
                <a:cs typeface="Times New Roman"/>
              </a:rPr>
              <a:t> </a:t>
            </a:r>
            <a:r>
              <a:rPr sz="2200" dirty="0">
                <a:latin typeface="Times New Roman"/>
                <a:cs typeface="Times New Roman"/>
              </a:rPr>
              <a:t>a</a:t>
            </a:r>
            <a:r>
              <a:rPr sz="2200" spc="340" dirty="0">
                <a:latin typeface="Times New Roman"/>
                <a:cs typeface="Times New Roman"/>
              </a:rPr>
              <a:t> </a:t>
            </a:r>
            <a:r>
              <a:rPr sz="2200" dirty="0">
                <a:latin typeface="Times New Roman"/>
                <a:cs typeface="Times New Roman"/>
              </a:rPr>
              <a:t>Security</a:t>
            </a:r>
            <a:r>
              <a:rPr sz="2200" spc="345" dirty="0">
                <a:latin typeface="Times New Roman"/>
                <a:cs typeface="Times New Roman"/>
              </a:rPr>
              <a:t> </a:t>
            </a:r>
            <a:r>
              <a:rPr sz="2200" dirty="0">
                <a:latin typeface="Times New Roman"/>
                <a:cs typeface="Times New Roman"/>
              </a:rPr>
              <a:t>Group</a:t>
            </a:r>
            <a:r>
              <a:rPr sz="2200" spc="345" dirty="0">
                <a:latin typeface="Times New Roman"/>
                <a:cs typeface="Times New Roman"/>
              </a:rPr>
              <a:t> </a:t>
            </a:r>
            <a:r>
              <a:rPr sz="2200" dirty="0">
                <a:latin typeface="Times New Roman"/>
                <a:cs typeface="Times New Roman"/>
              </a:rPr>
              <a:t>(SG)</a:t>
            </a:r>
            <a:r>
              <a:rPr sz="2200" spc="345" dirty="0">
                <a:latin typeface="Times New Roman"/>
                <a:cs typeface="Times New Roman"/>
              </a:rPr>
              <a:t> </a:t>
            </a:r>
            <a:r>
              <a:rPr sz="2200" dirty="0">
                <a:latin typeface="Times New Roman"/>
                <a:cs typeface="Times New Roman"/>
              </a:rPr>
              <a:t>in</a:t>
            </a:r>
            <a:r>
              <a:rPr sz="2200" spc="360" dirty="0">
                <a:latin typeface="Times New Roman"/>
                <a:cs typeface="Times New Roman"/>
              </a:rPr>
              <a:t> </a:t>
            </a:r>
            <a:r>
              <a:rPr sz="2200" dirty="0">
                <a:latin typeface="Times New Roman"/>
                <a:cs typeface="Times New Roman"/>
              </a:rPr>
              <a:t>a</a:t>
            </a:r>
            <a:r>
              <a:rPr sz="2200" spc="340" dirty="0">
                <a:latin typeface="Times New Roman"/>
                <a:cs typeface="Times New Roman"/>
              </a:rPr>
              <a:t> </a:t>
            </a:r>
            <a:r>
              <a:rPr sz="2200" spc="-110" dirty="0">
                <a:latin typeface="Times New Roman"/>
                <a:cs typeface="Times New Roman"/>
              </a:rPr>
              <a:t>VPC </a:t>
            </a:r>
            <a:r>
              <a:rPr sz="2200" dirty="0">
                <a:latin typeface="Times New Roman"/>
                <a:cs typeface="Times New Roman"/>
              </a:rPr>
              <a:t>(Virtual</a:t>
            </a:r>
            <a:r>
              <a:rPr sz="2200" spc="-5" dirty="0">
                <a:latin typeface="Times New Roman"/>
                <a:cs typeface="Times New Roman"/>
              </a:rPr>
              <a:t> </a:t>
            </a:r>
            <a:r>
              <a:rPr sz="2200" dirty="0">
                <a:latin typeface="Times New Roman"/>
                <a:cs typeface="Times New Roman"/>
              </a:rPr>
              <a:t>Private Cloud)</a:t>
            </a:r>
            <a:r>
              <a:rPr sz="2200" spc="-10" dirty="0">
                <a:latin typeface="Times New Roman"/>
                <a:cs typeface="Times New Roman"/>
              </a:rPr>
              <a:t> acts</a:t>
            </a:r>
            <a:r>
              <a:rPr sz="2200" spc="-5" dirty="0">
                <a:latin typeface="Times New Roman"/>
                <a:cs typeface="Times New Roman"/>
              </a:rPr>
              <a:t> </a:t>
            </a:r>
            <a:r>
              <a:rPr sz="2200" dirty="0">
                <a:latin typeface="Times New Roman"/>
                <a:cs typeface="Times New Roman"/>
              </a:rPr>
              <a:t>as</a:t>
            </a:r>
            <a:r>
              <a:rPr sz="2200" spc="-5" dirty="0">
                <a:latin typeface="Times New Roman"/>
                <a:cs typeface="Times New Roman"/>
              </a:rPr>
              <a:t> </a:t>
            </a:r>
            <a:r>
              <a:rPr sz="2200" dirty="0">
                <a:latin typeface="Times New Roman"/>
                <a:cs typeface="Times New Roman"/>
              </a:rPr>
              <a:t>a</a:t>
            </a:r>
            <a:r>
              <a:rPr sz="2200" spc="-5" dirty="0">
                <a:latin typeface="Times New Roman"/>
                <a:cs typeface="Times New Roman"/>
              </a:rPr>
              <a:t> </a:t>
            </a:r>
            <a:r>
              <a:rPr sz="2200" spc="-25" dirty="0">
                <a:latin typeface="Times New Roman"/>
                <a:cs typeface="Times New Roman"/>
              </a:rPr>
              <a:t>virtual</a:t>
            </a:r>
            <a:r>
              <a:rPr sz="2200" spc="-5" dirty="0">
                <a:latin typeface="Times New Roman"/>
                <a:cs typeface="Times New Roman"/>
              </a:rPr>
              <a:t> </a:t>
            </a:r>
            <a:r>
              <a:rPr sz="2200" spc="-80" dirty="0">
                <a:latin typeface="Times New Roman"/>
                <a:cs typeface="Times New Roman"/>
              </a:rPr>
              <a:t>firewall</a:t>
            </a:r>
            <a:r>
              <a:rPr sz="2200" spc="-5" dirty="0">
                <a:latin typeface="Times New Roman"/>
                <a:cs typeface="Times New Roman"/>
              </a:rPr>
              <a:t> </a:t>
            </a:r>
            <a:r>
              <a:rPr sz="2200" dirty="0">
                <a:latin typeface="Times New Roman"/>
                <a:cs typeface="Times New Roman"/>
              </a:rPr>
              <a:t>that</a:t>
            </a:r>
            <a:r>
              <a:rPr sz="2200" spc="-5" dirty="0">
                <a:latin typeface="Times New Roman"/>
                <a:cs typeface="Times New Roman"/>
              </a:rPr>
              <a:t> </a:t>
            </a:r>
            <a:r>
              <a:rPr sz="2200" spc="-35" dirty="0">
                <a:latin typeface="Times New Roman"/>
                <a:cs typeface="Times New Roman"/>
              </a:rPr>
              <a:t>controls</a:t>
            </a:r>
            <a:r>
              <a:rPr sz="2200" dirty="0">
                <a:latin typeface="Times New Roman"/>
                <a:cs typeface="Times New Roman"/>
              </a:rPr>
              <a:t> </a:t>
            </a:r>
            <a:r>
              <a:rPr sz="2200" spc="-45" dirty="0">
                <a:latin typeface="Times New Roman"/>
                <a:cs typeface="Times New Roman"/>
              </a:rPr>
              <a:t>inbound</a:t>
            </a:r>
            <a:r>
              <a:rPr sz="2200" dirty="0">
                <a:latin typeface="Times New Roman"/>
                <a:cs typeface="Times New Roman"/>
              </a:rPr>
              <a:t> </a:t>
            </a:r>
            <a:r>
              <a:rPr sz="2200" spc="-25" dirty="0">
                <a:latin typeface="Times New Roman"/>
                <a:cs typeface="Times New Roman"/>
              </a:rPr>
              <a:t>and </a:t>
            </a:r>
            <a:r>
              <a:rPr sz="2200" spc="-70" dirty="0">
                <a:latin typeface="Times New Roman"/>
                <a:cs typeface="Times New Roman"/>
              </a:rPr>
              <a:t>outbound </a:t>
            </a:r>
            <a:r>
              <a:rPr sz="2200" spc="-90" dirty="0">
                <a:latin typeface="Times New Roman"/>
                <a:cs typeface="Times New Roman"/>
              </a:rPr>
              <a:t>traffic</a:t>
            </a:r>
            <a:r>
              <a:rPr sz="2200" spc="-45" dirty="0">
                <a:latin typeface="Times New Roman"/>
                <a:cs typeface="Times New Roman"/>
              </a:rPr>
              <a:t> </a:t>
            </a:r>
            <a:r>
              <a:rPr sz="2200" spc="-10" dirty="0">
                <a:latin typeface="Times New Roman"/>
                <a:cs typeface="Times New Roman"/>
              </a:rPr>
              <a:t>for</a:t>
            </a:r>
            <a:r>
              <a:rPr sz="2200" spc="-130" dirty="0">
                <a:latin typeface="Times New Roman"/>
                <a:cs typeface="Times New Roman"/>
              </a:rPr>
              <a:t> </a:t>
            </a:r>
            <a:r>
              <a:rPr sz="2200" spc="-315" dirty="0">
                <a:latin typeface="Times New Roman"/>
                <a:cs typeface="Times New Roman"/>
              </a:rPr>
              <a:t>AWS</a:t>
            </a:r>
            <a:r>
              <a:rPr sz="2200" spc="180" dirty="0">
                <a:latin typeface="Times New Roman"/>
                <a:cs typeface="Times New Roman"/>
              </a:rPr>
              <a:t> </a:t>
            </a:r>
            <a:r>
              <a:rPr sz="2200" spc="-75" dirty="0">
                <a:latin typeface="Times New Roman"/>
                <a:cs typeface="Times New Roman"/>
              </a:rPr>
              <a:t>resources</a:t>
            </a:r>
            <a:r>
              <a:rPr sz="2200" spc="-20" dirty="0">
                <a:latin typeface="Times New Roman"/>
                <a:cs typeface="Times New Roman"/>
              </a:rPr>
              <a:t> </a:t>
            </a:r>
            <a:r>
              <a:rPr sz="2200" spc="-75" dirty="0">
                <a:latin typeface="Times New Roman"/>
                <a:cs typeface="Times New Roman"/>
              </a:rPr>
              <a:t>like</a:t>
            </a:r>
            <a:r>
              <a:rPr sz="2200" spc="5" dirty="0">
                <a:latin typeface="Times New Roman"/>
                <a:cs typeface="Times New Roman"/>
              </a:rPr>
              <a:t> </a:t>
            </a:r>
            <a:r>
              <a:rPr sz="2200" spc="-229" dirty="0">
                <a:latin typeface="Times New Roman"/>
                <a:cs typeface="Times New Roman"/>
              </a:rPr>
              <a:t>EC2</a:t>
            </a:r>
            <a:r>
              <a:rPr sz="2200" spc="95" dirty="0">
                <a:latin typeface="Times New Roman"/>
                <a:cs typeface="Times New Roman"/>
              </a:rPr>
              <a:t> </a:t>
            </a:r>
            <a:r>
              <a:rPr sz="2200" dirty="0">
                <a:latin typeface="Times New Roman"/>
                <a:cs typeface="Times New Roman"/>
              </a:rPr>
              <a:t>instances,</a:t>
            </a:r>
            <a:r>
              <a:rPr sz="2200" spc="-55" dirty="0">
                <a:latin typeface="Times New Roman"/>
                <a:cs typeface="Times New Roman"/>
              </a:rPr>
              <a:t> </a:t>
            </a:r>
            <a:r>
              <a:rPr sz="2200" spc="-80" dirty="0">
                <a:latin typeface="Times New Roman"/>
                <a:cs typeface="Times New Roman"/>
              </a:rPr>
              <a:t>RDS</a:t>
            </a:r>
            <a:r>
              <a:rPr sz="2200" spc="5" dirty="0">
                <a:latin typeface="Times New Roman"/>
                <a:cs typeface="Times New Roman"/>
              </a:rPr>
              <a:t> </a:t>
            </a:r>
            <a:r>
              <a:rPr sz="2200" spc="-25" dirty="0">
                <a:latin typeface="Times New Roman"/>
                <a:cs typeface="Times New Roman"/>
              </a:rPr>
              <a:t>databases,</a:t>
            </a:r>
            <a:r>
              <a:rPr sz="2200" spc="-70" dirty="0">
                <a:latin typeface="Times New Roman"/>
                <a:cs typeface="Times New Roman"/>
              </a:rPr>
              <a:t> </a:t>
            </a:r>
            <a:r>
              <a:rPr sz="2200" spc="-25" dirty="0">
                <a:latin typeface="Times New Roman"/>
                <a:cs typeface="Times New Roman"/>
              </a:rPr>
              <a:t>and </a:t>
            </a:r>
            <a:r>
              <a:rPr sz="2200" spc="-110" dirty="0">
                <a:latin typeface="Times New Roman"/>
                <a:cs typeface="Times New Roman"/>
              </a:rPr>
              <a:t>Lambda</a:t>
            </a:r>
            <a:r>
              <a:rPr sz="2200" spc="30" dirty="0">
                <a:latin typeface="Times New Roman"/>
                <a:cs typeface="Times New Roman"/>
              </a:rPr>
              <a:t> </a:t>
            </a:r>
            <a:r>
              <a:rPr sz="2200" dirty="0">
                <a:latin typeface="Times New Roman"/>
                <a:cs typeface="Times New Roman"/>
              </a:rPr>
              <a:t>functions</a:t>
            </a:r>
            <a:r>
              <a:rPr sz="2200" spc="25" dirty="0">
                <a:latin typeface="Times New Roman"/>
                <a:cs typeface="Times New Roman"/>
              </a:rPr>
              <a:t> </a:t>
            </a:r>
            <a:r>
              <a:rPr sz="2200" dirty="0">
                <a:latin typeface="Times New Roman"/>
                <a:cs typeface="Times New Roman"/>
              </a:rPr>
              <a:t>(when</a:t>
            </a:r>
            <a:r>
              <a:rPr sz="2200" spc="20" dirty="0">
                <a:latin typeface="Times New Roman"/>
                <a:cs typeface="Times New Roman"/>
              </a:rPr>
              <a:t> </a:t>
            </a:r>
            <a:r>
              <a:rPr sz="2200" dirty="0">
                <a:latin typeface="Times New Roman"/>
                <a:cs typeface="Times New Roman"/>
              </a:rPr>
              <a:t>using</a:t>
            </a:r>
            <a:r>
              <a:rPr sz="2200" spc="-295" dirty="0">
                <a:latin typeface="Times New Roman"/>
                <a:cs typeface="Times New Roman"/>
              </a:rPr>
              <a:t> </a:t>
            </a:r>
            <a:r>
              <a:rPr sz="2200" spc="-220" dirty="0">
                <a:latin typeface="Times New Roman"/>
                <a:cs typeface="Times New Roman"/>
              </a:rPr>
              <a:t>VPC</a:t>
            </a:r>
            <a:r>
              <a:rPr sz="2200" spc="10" dirty="0">
                <a:latin typeface="Times New Roman"/>
                <a:cs typeface="Times New Roman"/>
              </a:rPr>
              <a:t> </a:t>
            </a:r>
            <a:r>
              <a:rPr sz="2200" spc="-10" dirty="0">
                <a:latin typeface="Times New Roman"/>
                <a:cs typeface="Times New Roman"/>
              </a:rPr>
              <a:t>networking).</a:t>
            </a:r>
            <a:endParaRPr sz="2200" dirty="0">
              <a:latin typeface="Times New Roman"/>
              <a:cs typeface="Times New Roman"/>
            </a:endParaRPr>
          </a:p>
          <a:p>
            <a:pPr algn="just">
              <a:lnSpc>
                <a:spcPct val="100000"/>
              </a:lnSpc>
              <a:spcBef>
                <a:spcPts val="1315"/>
              </a:spcBef>
            </a:pPr>
            <a:endParaRPr sz="2200" dirty="0">
              <a:latin typeface="Times New Roman"/>
              <a:cs typeface="Times New Roman"/>
            </a:endParaRPr>
          </a:p>
          <a:p>
            <a:pPr marL="12700" algn="just">
              <a:lnSpc>
                <a:spcPct val="100000"/>
              </a:lnSpc>
            </a:pPr>
            <a:r>
              <a:rPr sz="2200" b="1" spc="-105" dirty="0">
                <a:latin typeface="Times New Roman"/>
                <a:cs typeface="Times New Roman"/>
              </a:rPr>
              <a:t>Key</a:t>
            </a:r>
            <a:r>
              <a:rPr sz="2200" b="1" spc="-40" dirty="0">
                <a:latin typeface="Times New Roman"/>
                <a:cs typeface="Times New Roman"/>
              </a:rPr>
              <a:t> </a:t>
            </a:r>
            <a:r>
              <a:rPr sz="2200" b="1" spc="-50" dirty="0">
                <a:latin typeface="Times New Roman"/>
                <a:cs typeface="Times New Roman"/>
              </a:rPr>
              <a:t>Features </a:t>
            </a:r>
            <a:r>
              <a:rPr sz="2200" b="1" dirty="0">
                <a:latin typeface="Times New Roman"/>
                <a:cs typeface="Times New Roman"/>
              </a:rPr>
              <a:t>of</a:t>
            </a:r>
            <a:r>
              <a:rPr sz="2200" b="1" spc="-150" dirty="0">
                <a:latin typeface="Times New Roman"/>
                <a:cs typeface="Times New Roman"/>
              </a:rPr>
              <a:t> </a:t>
            </a:r>
            <a:r>
              <a:rPr sz="2200" b="1" spc="-250" dirty="0">
                <a:latin typeface="Times New Roman"/>
                <a:cs typeface="Times New Roman"/>
              </a:rPr>
              <a:t>AWS</a:t>
            </a:r>
            <a:r>
              <a:rPr sz="2200" b="1" spc="-40" dirty="0">
                <a:latin typeface="Times New Roman"/>
                <a:cs typeface="Times New Roman"/>
              </a:rPr>
              <a:t> </a:t>
            </a:r>
            <a:r>
              <a:rPr sz="2200" b="1" spc="-10" dirty="0">
                <a:latin typeface="Times New Roman"/>
                <a:cs typeface="Times New Roman"/>
              </a:rPr>
              <a:t>Security</a:t>
            </a:r>
            <a:r>
              <a:rPr sz="2200" b="1" spc="-45" dirty="0">
                <a:latin typeface="Times New Roman"/>
                <a:cs typeface="Times New Roman"/>
              </a:rPr>
              <a:t> </a:t>
            </a:r>
            <a:r>
              <a:rPr sz="2200" b="1" spc="-10" dirty="0">
                <a:latin typeface="Times New Roman"/>
                <a:cs typeface="Times New Roman"/>
              </a:rPr>
              <a:t>Groups:</a:t>
            </a:r>
            <a:endParaRPr sz="2200" dirty="0">
              <a:latin typeface="Times New Roman"/>
              <a:cs typeface="Times New Roman"/>
            </a:endParaRPr>
          </a:p>
          <a:p>
            <a:pPr marL="286385" indent="-273685" algn="just">
              <a:lnSpc>
                <a:spcPct val="100000"/>
              </a:lnSpc>
              <a:spcBef>
                <a:spcPts val="600"/>
              </a:spcBef>
              <a:buClr>
                <a:srgbClr val="D24717"/>
              </a:buClr>
              <a:buSzPct val="84090"/>
              <a:buAutoNum type="arabicPeriod"/>
              <a:tabLst>
                <a:tab pos="286385" algn="l"/>
              </a:tabLst>
            </a:pPr>
            <a:r>
              <a:rPr sz="2200" b="1" spc="-10" dirty="0">
                <a:latin typeface="Times New Roman"/>
                <a:cs typeface="Times New Roman"/>
              </a:rPr>
              <a:t>Stateful:</a:t>
            </a:r>
            <a:endParaRPr sz="2200" dirty="0">
              <a:latin typeface="Times New Roman"/>
              <a:cs typeface="Times New Roman"/>
            </a:endParaRPr>
          </a:p>
          <a:p>
            <a:pPr marL="755015" lvl="1" indent="-285115" algn="just">
              <a:lnSpc>
                <a:spcPct val="100000"/>
              </a:lnSpc>
              <a:spcBef>
                <a:spcPts val="409"/>
              </a:spcBef>
              <a:buClr>
                <a:srgbClr val="9B2C1F"/>
              </a:buClr>
              <a:buSzPct val="84090"/>
              <a:buAutoNum type="arabicPeriod"/>
              <a:tabLst>
                <a:tab pos="755015" algn="l"/>
              </a:tabLst>
            </a:pPr>
            <a:r>
              <a:rPr sz="2200" spc="-45" dirty="0">
                <a:latin typeface="Times New Roman"/>
                <a:cs typeface="Times New Roman"/>
              </a:rPr>
              <a:t>If</a:t>
            </a:r>
            <a:r>
              <a:rPr sz="2200" spc="-35" dirty="0">
                <a:latin typeface="Times New Roman"/>
                <a:cs typeface="Times New Roman"/>
              </a:rPr>
              <a:t> </a:t>
            </a:r>
            <a:r>
              <a:rPr sz="2200" spc="-10" dirty="0">
                <a:latin typeface="Times New Roman"/>
                <a:cs typeface="Times New Roman"/>
              </a:rPr>
              <a:t>an</a:t>
            </a:r>
            <a:r>
              <a:rPr sz="2200" spc="-25" dirty="0">
                <a:latin typeface="Times New Roman"/>
                <a:cs typeface="Times New Roman"/>
              </a:rPr>
              <a:t> </a:t>
            </a:r>
            <a:r>
              <a:rPr sz="2200" spc="-70" dirty="0">
                <a:latin typeface="Times New Roman"/>
                <a:cs typeface="Times New Roman"/>
              </a:rPr>
              <a:t>inbound</a:t>
            </a:r>
            <a:r>
              <a:rPr sz="2200" spc="-10" dirty="0">
                <a:latin typeface="Times New Roman"/>
                <a:cs typeface="Times New Roman"/>
              </a:rPr>
              <a:t> </a:t>
            </a:r>
            <a:r>
              <a:rPr sz="2200" dirty="0">
                <a:latin typeface="Times New Roman"/>
                <a:cs typeface="Times New Roman"/>
              </a:rPr>
              <a:t>rule</a:t>
            </a:r>
            <a:r>
              <a:rPr sz="2200" spc="-30" dirty="0">
                <a:latin typeface="Times New Roman"/>
                <a:cs typeface="Times New Roman"/>
              </a:rPr>
              <a:t> </a:t>
            </a:r>
            <a:r>
              <a:rPr sz="2200" spc="-100" dirty="0">
                <a:latin typeface="Times New Roman"/>
                <a:cs typeface="Times New Roman"/>
              </a:rPr>
              <a:t>allows</a:t>
            </a:r>
            <a:r>
              <a:rPr sz="2200" spc="-35" dirty="0">
                <a:latin typeface="Times New Roman"/>
                <a:cs typeface="Times New Roman"/>
              </a:rPr>
              <a:t> </a:t>
            </a:r>
            <a:r>
              <a:rPr sz="2200" spc="-55" dirty="0">
                <a:latin typeface="Times New Roman"/>
                <a:cs typeface="Times New Roman"/>
              </a:rPr>
              <a:t>traffic,</a:t>
            </a:r>
            <a:r>
              <a:rPr sz="2200" spc="-80" dirty="0">
                <a:latin typeface="Times New Roman"/>
                <a:cs typeface="Times New Roman"/>
              </a:rPr>
              <a:t> </a:t>
            </a:r>
            <a:r>
              <a:rPr sz="2200" dirty="0">
                <a:latin typeface="Times New Roman"/>
                <a:cs typeface="Times New Roman"/>
              </a:rPr>
              <a:t>the</a:t>
            </a:r>
            <a:r>
              <a:rPr sz="2200" spc="-30" dirty="0">
                <a:latin typeface="Times New Roman"/>
                <a:cs typeface="Times New Roman"/>
              </a:rPr>
              <a:t> </a:t>
            </a:r>
            <a:r>
              <a:rPr sz="2200" spc="-55" dirty="0">
                <a:latin typeface="Times New Roman"/>
                <a:cs typeface="Times New Roman"/>
              </a:rPr>
              <a:t>outbound</a:t>
            </a:r>
            <a:r>
              <a:rPr sz="2200" spc="-10" dirty="0">
                <a:latin typeface="Times New Roman"/>
                <a:cs typeface="Times New Roman"/>
              </a:rPr>
              <a:t> </a:t>
            </a:r>
            <a:r>
              <a:rPr sz="2200" spc="-75" dirty="0">
                <a:latin typeface="Times New Roman"/>
                <a:cs typeface="Times New Roman"/>
              </a:rPr>
              <a:t>response</a:t>
            </a:r>
            <a:r>
              <a:rPr sz="2200" spc="-35" dirty="0">
                <a:latin typeface="Times New Roman"/>
                <a:cs typeface="Times New Roman"/>
              </a:rPr>
              <a:t> </a:t>
            </a:r>
            <a:r>
              <a:rPr sz="2200" spc="-10" dirty="0">
                <a:latin typeface="Times New Roman"/>
                <a:cs typeface="Times New Roman"/>
              </a:rPr>
              <a:t>is</a:t>
            </a:r>
            <a:r>
              <a:rPr sz="2200" spc="-30" dirty="0">
                <a:latin typeface="Times New Roman"/>
                <a:cs typeface="Times New Roman"/>
              </a:rPr>
              <a:t> </a:t>
            </a:r>
            <a:r>
              <a:rPr sz="2200" spc="-90" dirty="0">
                <a:latin typeface="Times New Roman"/>
                <a:cs typeface="Times New Roman"/>
              </a:rPr>
              <a:t>automatically</a:t>
            </a:r>
            <a:endParaRPr sz="2200" dirty="0">
              <a:latin typeface="Times New Roman"/>
              <a:cs typeface="Times New Roman"/>
            </a:endParaRPr>
          </a:p>
          <a:p>
            <a:pPr marL="756285" algn="just">
              <a:lnSpc>
                <a:spcPct val="100000"/>
              </a:lnSpc>
            </a:pPr>
            <a:r>
              <a:rPr sz="2200" spc="-10" dirty="0">
                <a:latin typeface="Times New Roman"/>
                <a:cs typeface="Times New Roman"/>
              </a:rPr>
              <a:t>allowed.</a:t>
            </a:r>
            <a:endParaRPr sz="2200" dirty="0">
              <a:latin typeface="Times New Roman"/>
              <a:cs typeface="Times New Roman"/>
            </a:endParaRPr>
          </a:p>
          <a:p>
            <a:pPr marL="754380" marR="6350" lvl="1" indent="-285115" algn="just">
              <a:lnSpc>
                <a:spcPct val="100000"/>
              </a:lnSpc>
              <a:spcBef>
                <a:spcPts val="400"/>
              </a:spcBef>
              <a:buClr>
                <a:srgbClr val="9B2C1F"/>
              </a:buClr>
              <a:buSzPct val="84090"/>
              <a:buAutoNum type="arabicPeriod" startAt="2"/>
              <a:tabLst>
                <a:tab pos="756285" algn="l"/>
              </a:tabLst>
            </a:pPr>
            <a:r>
              <a:rPr sz="2200" spc="-45" dirty="0">
                <a:latin typeface="Times New Roman"/>
                <a:cs typeface="Times New Roman"/>
              </a:rPr>
              <a:t>If</a:t>
            </a:r>
            <a:r>
              <a:rPr sz="2200" spc="-25" dirty="0">
                <a:latin typeface="Times New Roman"/>
                <a:cs typeface="Times New Roman"/>
              </a:rPr>
              <a:t> </a:t>
            </a:r>
            <a:r>
              <a:rPr sz="2200" spc="-10" dirty="0">
                <a:latin typeface="Times New Roman"/>
                <a:cs typeface="Times New Roman"/>
              </a:rPr>
              <a:t>an</a:t>
            </a:r>
            <a:r>
              <a:rPr sz="2200" spc="-25" dirty="0">
                <a:latin typeface="Times New Roman"/>
                <a:cs typeface="Times New Roman"/>
              </a:rPr>
              <a:t> </a:t>
            </a:r>
            <a:r>
              <a:rPr sz="2200" spc="-60" dirty="0">
                <a:latin typeface="Times New Roman"/>
                <a:cs typeface="Times New Roman"/>
              </a:rPr>
              <a:t>outbound</a:t>
            </a:r>
            <a:r>
              <a:rPr sz="2200" spc="-5" dirty="0">
                <a:latin typeface="Times New Roman"/>
                <a:cs typeface="Times New Roman"/>
              </a:rPr>
              <a:t> </a:t>
            </a:r>
            <a:r>
              <a:rPr sz="2200" dirty="0">
                <a:latin typeface="Times New Roman"/>
                <a:cs typeface="Times New Roman"/>
              </a:rPr>
              <a:t>rule</a:t>
            </a:r>
            <a:r>
              <a:rPr sz="2200" spc="-30" dirty="0">
                <a:latin typeface="Times New Roman"/>
                <a:cs typeface="Times New Roman"/>
              </a:rPr>
              <a:t> </a:t>
            </a:r>
            <a:r>
              <a:rPr sz="2200" spc="-100" dirty="0">
                <a:latin typeface="Times New Roman"/>
                <a:cs typeface="Times New Roman"/>
              </a:rPr>
              <a:t>allows</a:t>
            </a:r>
            <a:r>
              <a:rPr sz="2200" spc="-30" dirty="0">
                <a:latin typeface="Times New Roman"/>
                <a:cs typeface="Times New Roman"/>
              </a:rPr>
              <a:t> </a:t>
            </a:r>
            <a:r>
              <a:rPr sz="2200" spc="-55" dirty="0">
                <a:latin typeface="Times New Roman"/>
                <a:cs typeface="Times New Roman"/>
              </a:rPr>
              <a:t>traffic,</a:t>
            </a:r>
            <a:r>
              <a:rPr sz="2200" spc="-85" dirty="0">
                <a:latin typeface="Times New Roman"/>
                <a:cs typeface="Times New Roman"/>
              </a:rPr>
              <a:t> </a:t>
            </a:r>
            <a:r>
              <a:rPr sz="2200" dirty="0">
                <a:latin typeface="Times New Roman"/>
                <a:cs typeface="Times New Roman"/>
              </a:rPr>
              <a:t>the</a:t>
            </a:r>
            <a:r>
              <a:rPr sz="2200" spc="-25" dirty="0">
                <a:latin typeface="Times New Roman"/>
                <a:cs typeface="Times New Roman"/>
              </a:rPr>
              <a:t> </a:t>
            </a:r>
            <a:r>
              <a:rPr sz="2200" spc="-70" dirty="0">
                <a:latin typeface="Times New Roman"/>
                <a:cs typeface="Times New Roman"/>
              </a:rPr>
              <a:t>inbound</a:t>
            </a:r>
            <a:r>
              <a:rPr sz="2200" spc="-10" dirty="0">
                <a:latin typeface="Times New Roman"/>
                <a:cs typeface="Times New Roman"/>
              </a:rPr>
              <a:t> </a:t>
            </a:r>
            <a:r>
              <a:rPr sz="2200" spc="-75" dirty="0">
                <a:latin typeface="Times New Roman"/>
                <a:cs typeface="Times New Roman"/>
              </a:rPr>
              <a:t>response</a:t>
            </a:r>
            <a:r>
              <a:rPr sz="2200" spc="-25" dirty="0">
                <a:latin typeface="Times New Roman"/>
                <a:cs typeface="Times New Roman"/>
              </a:rPr>
              <a:t> </a:t>
            </a:r>
            <a:r>
              <a:rPr sz="2200" spc="-10" dirty="0">
                <a:latin typeface="Times New Roman"/>
                <a:cs typeface="Times New Roman"/>
              </a:rPr>
              <a:t>is</a:t>
            </a:r>
            <a:r>
              <a:rPr sz="2200" spc="-25" dirty="0">
                <a:latin typeface="Times New Roman"/>
                <a:cs typeface="Times New Roman"/>
              </a:rPr>
              <a:t> </a:t>
            </a:r>
            <a:r>
              <a:rPr sz="2200" spc="-100" dirty="0">
                <a:latin typeface="Times New Roman"/>
                <a:cs typeface="Times New Roman"/>
              </a:rPr>
              <a:t>automatically 	</a:t>
            </a:r>
            <a:r>
              <a:rPr sz="2200" spc="-10" dirty="0">
                <a:latin typeface="Times New Roman"/>
                <a:cs typeface="Times New Roman"/>
              </a:rPr>
              <a:t>allowed.</a:t>
            </a:r>
            <a:endParaRPr sz="2200" dirty="0">
              <a:latin typeface="Times New Roman"/>
              <a:cs typeface="Times New Roman"/>
            </a:endParaRPr>
          </a:p>
          <a:p>
            <a:pPr marL="286385" indent="-273685" algn="just">
              <a:lnSpc>
                <a:spcPct val="100000"/>
              </a:lnSpc>
              <a:spcBef>
                <a:spcPts val="600"/>
              </a:spcBef>
              <a:buClr>
                <a:srgbClr val="D24717"/>
              </a:buClr>
              <a:buSzPct val="84090"/>
              <a:buAutoNum type="arabicPeriod"/>
              <a:tabLst>
                <a:tab pos="286385" algn="l"/>
              </a:tabLst>
            </a:pPr>
            <a:r>
              <a:rPr sz="2200" b="1" dirty="0">
                <a:latin typeface="Times New Roman"/>
                <a:cs typeface="Times New Roman"/>
              </a:rPr>
              <a:t>Inbound</a:t>
            </a:r>
            <a:r>
              <a:rPr sz="2200" b="1" spc="-50" dirty="0">
                <a:latin typeface="Times New Roman"/>
                <a:cs typeface="Times New Roman"/>
              </a:rPr>
              <a:t> </a:t>
            </a:r>
            <a:r>
              <a:rPr sz="2200" b="1" dirty="0">
                <a:latin typeface="Times New Roman"/>
                <a:cs typeface="Times New Roman"/>
              </a:rPr>
              <a:t>and</a:t>
            </a:r>
            <a:r>
              <a:rPr sz="2200" b="1" spc="-40" dirty="0">
                <a:latin typeface="Times New Roman"/>
                <a:cs typeface="Times New Roman"/>
              </a:rPr>
              <a:t> </a:t>
            </a:r>
            <a:r>
              <a:rPr sz="2200" b="1" dirty="0">
                <a:latin typeface="Times New Roman"/>
                <a:cs typeface="Times New Roman"/>
              </a:rPr>
              <a:t>Outbound</a:t>
            </a:r>
            <a:r>
              <a:rPr sz="2200" b="1" spc="-35" dirty="0">
                <a:latin typeface="Times New Roman"/>
                <a:cs typeface="Times New Roman"/>
              </a:rPr>
              <a:t> </a:t>
            </a:r>
            <a:r>
              <a:rPr sz="2200" b="1" spc="-10" dirty="0">
                <a:latin typeface="Times New Roman"/>
                <a:cs typeface="Times New Roman"/>
              </a:rPr>
              <a:t>Rules:</a:t>
            </a:r>
            <a:endParaRPr sz="2200" dirty="0">
              <a:latin typeface="Times New Roman"/>
              <a:cs typeface="Times New Roman"/>
            </a:endParaRPr>
          </a:p>
          <a:p>
            <a:pPr marL="755015" lvl="1" indent="-285115" algn="just">
              <a:lnSpc>
                <a:spcPct val="100000"/>
              </a:lnSpc>
              <a:spcBef>
                <a:spcPts val="395"/>
              </a:spcBef>
              <a:buClr>
                <a:srgbClr val="9B2C1F"/>
              </a:buClr>
              <a:buSzPct val="84090"/>
              <a:buAutoNum type="arabicPeriod"/>
              <a:tabLst>
                <a:tab pos="755015" algn="l"/>
              </a:tabLst>
            </a:pPr>
            <a:r>
              <a:rPr sz="2200" spc="-270" dirty="0">
                <a:latin typeface="Times New Roman"/>
                <a:cs typeface="Times New Roman"/>
              </a:rPr>
              <a:t>You</a:t>
            </a:r>
            <a:r>
              <a:rPr sz="2200" spc="-35" dirty="0">
                <a:latin typeface="Times New Roman"/>
                <a:cs typeface="Times New Roman"/>
              </a:rPr>
              <a:t> </a:t>
            </a:r>
            <a:r>
              <a:rPr sz="2200" spc="-140" dirty="0">
                <a:latin typeface="Times New Roman"/>
                <a:cs typeface="Times New Roman"/>
              </a:rPr>
              <a:t>can</a:t>
            </a:r>
            <a:r>
              <a:rPr sz="2200" spc="-30" dirty="0">
                <a:latin typeface="Times New Roman"/>
                <a:cs typeface="Times New Roman"/>
              </a:rPr>
              <a:t> </a:t>
            </a:r>
            <a:r>
              <a:rPr sz="2200" spc="-110" dirty="0">
                <a:latin typeface="Times New Roman"/>
                <a:cs typeface="Times New Roman"/>
              </a:rPr>
              <a:t>define</a:t>
            </a:r>
            <a:r>
              <a:rPr sz="2200" spc="-40" dirty="0">
                <a:latin typeface="Times New Roman"/>
                <a:cs typeface="Times New Roman"/>
              </a:rPr>
              <a:t> </a:t>
            </a:r>
            <a:r>
              <a:rPr sz="2200" dirty="0">
                <a:latin typeface="Times New Roman"/>
                <a:cs typeface="Times New Roman"/>
              </a:rPr>
              <a:t>allow</a:t>
            </a:r>
            <a:r>
              <a:rPr sz="2200" spc="-40" dirty="0">
                <a:latin typeface="Times New Roman"/>
                <a:cs typeface="Times New Roman"/>
              </a:rPr>
              <a:t> </a:t>
            </a:r>
            <a:r>
              <a:rPr sz="2200" dirty="0">
                <a:latin typeface="Times New Roman"/>
                <a:cs typeface="Times New Roman"/>
              </a:rPr>
              <a:t>rules</a:t>
            </a:r>
            <a:r>
              <a:rPr sz="2200" spc="-35" dirty="0">
                <a:latin typeface="Times New Roman"/>
                <a:cs typeface="Times New Roman"/>
              </a:rPr>
              <a:t> </a:t>
            </a:r>
            <a:r>
              <a:rPr sz="2200" spc="-85" dirty="0">
                <a:latin typeface="Times New Roman"/>
                <a:cs typeface="Times New Roman"/>
              </a:rPr>
              <a:t>for</a:t>
            </a:r>
            <a:r>
              <a:rPr sz="2200" spc="-30" dirty="0">
                <a:latin typeface="Times New Roman"/>
                <a:cs typeface="Times New Roman"/>
              </a:rPr>
              <a:t> </a:t>
            </a:r>
            <a:r>
              <a:rPr sz="2200" spc="-95" dirty="0">
                <a:latin typeface="Times New Roman"/>
                <a:cs typeface="Times New Roman"/>
              </a:rPr>
              <a:t>both</a:t>
            </a:r>
            <a:r>
              <a:rPr sz="2200" spc="-35" dirty="0">
                <a:latin typeface="Times New Roman"/>
                <a:cs typeface="Times New Roman"/>
              </a:rPr>
              <a:t> </a:t>
            </a:r>
            <a:r>
              <a:rPr sz="2200" spc="-10" dirty="0">
                <a:latin typeface="Times New Roman"/>
                <a:cs typeface="Times New Roman"/>
              </a:rPr>
              <a:t>directions.</a:t>
            </a:r>
            <a:endParaRPr sz="2200" dirty="0">
              <a:latin typeface="Times New Roman"/>
              <a:cs typeface="Times New Roman"/>
            </a:endParaRPr>
          </a:p>
          <a:p>
            <a:pPr marL="755650" lvl="1" indent="-285750" algn="just">
              <a:lnSpc>
                <a:spcPct val="100000"/>
              </a:lnSpc>
              <a:spcBef>
                <a:spcPts val="409"/>
              </a:spcBef>
              <a:buClr>
                <a:srgbClr val="9B2C1F"/>
              </a:buClr>
              <a:buSzPct val="84090"/>
              <a:buAutoNum type="arabicPeriod"/>
              <a:tabLst>
                <a:tab pos="755650" algn="l"/>
                <a:tab pos="1507490" algn="l"/>
                <a:tab pos="2233295" algn="l"/>
                <a:tab pos="2737485" algn="l"/>
                <a:tab pos="3275965" algn="l"/>
                <a:tab pos="4652010" algn="l"/>
                <a:tab pos="5202555" algn="l"/>
                <a:tab pos="6374765" algn="l"/>
                <a:tab pos="7101840" algn="l"/>
                <a:tab pos="7533005" algn="l"/>
              </a:tabLst>
            </a:pPr>
            <a:r>
              <a:rPr sz="2200" spc="-20" dirty="0">
                <a:latin typeface="Times New Roman"/>
                <a:cs typeface="Times New Roman"/>
              </a:rPr>
              <a:t>Deny</a:t>
            </a:r>
            <a:r>
              <a:rPr sz="2200" dirty="0">
                <a:latin typeface="Times New Roman"/>
                <a:cs typeface="Times New Roman"/>
              </a:rPr>
              <a:t>	</a:t>
            </a:r>
            <a:r>
              <a:rPr sz="2200" spc="-20" dirty="0">
                <a:latin typeface="Times New Roman"/>
                <a:cs typeface="Times New Roman"/>
              </a:rPr>
              <a:t>rules</a:t>
            </a:r>
            <a:r>
              <a:rPr sz="2200" dirty="0">
                <a:latin typeface="Times New Roman"/>
                <a:cs typeface="Times New Roman"/>
              </a:rPr>
              <a:t>	</a:t>
            </a:r>
            <a:r>
              <a:rPr sz="2200" spc="-25" dirty="0">
                <a:latin typeface="Times New Roman"/>
                <a:cs typeface="Times New Roman"/>
              </a:rPr>
              <a:t>are</a:t>
            </a:r>
            <a:r>
              <a:rPr sz="2200" dirty="0">
                <a:latin typeface="Times New Roman"/>
                <a:cs typeface="Times New Roman"/>
              </a:rPr>
              <a:t>	</a:t>
            </a:r>
            <a:r>
              <a:rPr sz="2200" spc="-25" dirty="0">
                <a:latin typeface="Times New Roman"/>
                <a:cs typeface="Times New Roman"/>
              </a:rPr>
              <a:t>not</a:t>
            </a:r>
            <a:r>
              <a:rPr sz="2200" dirty="0">
                <a:latin typeface="Times New Roman"/>
                <a:cs typeface="Times New Roman"/>
              </a:rPr>
              <a:t>	</a:t>
            </a:r>
            <a:r>
              <a:rPr sz="2200" spc="-10" dirty="0">
                <a:latin typeface="Times New Roman"/>
                <a:cs typeface="Times New Roman"/>
              </a:rPr>
              <a:t>supported</a:t>
            </a:r>
            <a:r>
              <a:rPr sz="2200" dirty="0">
                <a:latin typeface="Times New Roman"/>
                <a:cs typeface="Times New Roman"/>
              </a:rPr>
              <a:t>	</a:t>
            </a:r>
            <a:r>
              <a:rPr sz="2200" spc="-20" dirty="0">
                <a:latin typeface="Times New Roman"/>
                <a:cs typeface="Times New Roman"/>
              </a:rPr>
              <a:t>(use</a:t>
            </a:r>
            <a:r>
              <a:rPr sz="2200" dirty="0">
                <a:latin typeface="Times New Roman"/>
                <a:cs typeface="Times New Roman"/>
              </a:rPr>
              <a:t>	</a:t>
            </a:r>
            <a:r>
              <a:rPr sz="2200" spc="-10" dirty="0">
                <a:latin typeface="Times New Roman"/>
                <a:cs typeface="Times New Roman"/>
              </a:rPr>
              <a:t>Network</a:t>
            </a:r>
            <a:r>
              <a:rPr sz="2200" dirty="0">
                <a:latin typeface="Times New Roman"/>
                <a:cs typeface="Times New Roman"/>
              </a:rPr>
              <a:t>	</a:t>
            </a:r>
            <a:r>
              <a:rPr sz="2200" spc="-20" dirty="0">
                <a:latin typeface="Times New Roman"/>
                <a:cs typeface="Times New Roman"/>
              </a:rPr>
              <a:t>ACLs</a:t>
            </a:r>
            <a:r>
              <a:rPr sz="2200" dirty="0">
                <a:latin typeface="Times New Roman"/>
                <a:cs typeface="Times New Roman"/>
              </a:rPr>
              <a:t>	</a:t>
            </a:r>
            <a:r>
              <a:rPr sz="2200" spc="-25" dirty="0">
                <a:latin typeface="Times New Roman"/>
                <a:cs typeface="Times New Roman"/>
              </a:rPr>
              <a:t>for</a:t>
            </a:r>
            <a:r>
              <a:rPr sz="2200" dirty="0">
                <a:latin typeface="Times New Roman"/>
                <a:cs typeface="Times New Roman"/>
              </a:rPr>
              <a:t>	</a:t>
            </a:r>
            <a:r>
              <a:rPr sz="2200" spc="-80" dirty="0">
                <a:latin typeface="Times New Roman"/>
                <a:cs typeface="Times New Roman"/>
              </a:rPr>
              <a:t>explicit</a:t>
            </a:r>
            <a:endParaRPr sz="2200" dirty="0">
              <a:latin typeface="Times New Roman"/>
              <a:cs typeface="Times New Roman"/>
            </a:endParaRPr>
          </a:p>
        </p:txBody>
      </p:sp>
      <p:sp>
        <p:nvSpPr>
          <p:cNvPr id="6" name="object 6"/>
          <p:cNvSpPr txBox="1"/>
          <p:nvPr/>
        </p:nvSpPr>
        <p:spPr>
          <a:xfrm>
            <a:off x="1040688" y="6146698"/>
            <a:ext cx="826769" cy="360680"/>
          </a:xfrm>
          <a:prstGeom prst="rect">
            <a:avLst/>
          </a:prstGeom>
        </p:spPr>
        <p:txBody>
          <a:bodyPr vert="horz" wrap="square" lIns="0" tIns="12065" rIns="0" bIns="0" rtlCol="0">
            <a:spAutoFit/>
          </a:bodyPr>
          <a:lstStyle/>
          <a:p>
            <a:pPr marL="12700">
              <a:lnSpc>
                <a:spcPct val="100000"/>
              </a:lnSpc>
              <a:spcBef>
                <a:spcPts val="95"/>
              </a:spcBef>
            </a:pPr>
            <a:r>
              <a:rPr sz="2200" spc="-75" dirty="0">
                <a:latin typeface="Times New Roman"/>
                <a:cs typeface="Times New Roman"/>
              </a:rPr>
              <a:t>denies).</a:t>
            </a:r>
            <a:endParaRPr sz="2200" dirty="0">
              <a:latin typeface="Times New Roman"/>
              <a:cs typeface="Times New Roman"/>
            </a:endParaRPr>
          </a:p>
        </p:txBody>
      </p:sp>
    </p:spTree>
    <p:extLst>
      <p:ext uri="{BB962C8B-B14F-4D97-AF65-F5344CB8AC3E}">
        <p14:creationId xmlns:p14="http://schemas.microsoft.com/office/powerpoint/2010/main" val="19318009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3600" spc="-20" dirty="0"/>
              <a:t>Security</a:t>
            </a:r>
            <a:r>
              <a:rPr sz="3600" spc="-160" dirty="0"/>
              <a:t> </a:t>
            </a:r>
            <a:r>
              <a:rPr sz="3600" spc="-10" dirty="0"/>
              <a:t>Groups</a:t>
            </a:r>
            <a:endParaRPr sz="3600"/>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896301" y="1676400"/>
            <a:ext cx="7351395" cy="2372995"/>
          </a:xfrm>
          <a:prstGeom prst="rect">
            <a:avLst/>
          </a:prstGeom>
        </p:spPr>
        <p:txBody>
          <a:bodyPr vert="horz" wrap="square" lIns="0" tIns="12065" rIns="0" bIns="0" rtlCol="0">
            <a:spAutoFit/>
          </a:bodyPr>
          <a:lstStyle/>
          <a:p>
            <a:pPr marL="111125" indent="-106045">
              <a:lnSpc>
                <a:spcPct val="100000"/>
              </a:lnSpc>
              <a:spcBef>
                <a:spcPts val="95"/>
              </a:spcBef>
              <a:buSzPct val="95454"/>
              <a:buFont typeface="Times New Roman"/>
              <a:buChar char="•"/>
              <a:tabLst>
                <a:tab pos="111125" algn="l"/>
              </a:tabLst>
            </a:pPr>
            <a:r>
              <a:rPr sz="2200" b="1" dirty="0">
                <a:latin typeface="Times New Roman"/>
                <a:cs typeface="Times New Roman"/>
              </a:rPr>
              <a:t>Attached</a:t>
            </a:r>
            <a:r>
              <a:rPr sz="2200" b="1" spc="-70" dirty="0">
                <a:latin typeface="Times New Roman"/>
                <a:cs typeface="Times New Roman"/>
              </a:rPr>
              <a:t> </a:t>
            </a:r>
            <a:r>
              <a:rPr sz="2200" b="1" spc="55" dirty="0">
                <a:latin typeface="Times New Roman"/>
                <a:cs typeface="Times New Roman"/>
              </a:rPr>
              <a:t>to</a:t>
            </a:r>
            <a:r>
              <a:rPr sz="2200" b="1" spc="-105" dirty="0">
                <a:latin typeface="Times New Roman"/>
                <a:cs typeface="Times New Roman"/>
              </a:rPr>
              <a:t> </a:t>
            </a:r>
            <a:r>
              <a:rPr sz="2200" b="1" spc="-10" dirty="0">
                <a:latin typeface="Times New Roman"/>
                <a:cs typeface="Times New Roman"/>
              </a:rPr>
              <a:t>Resources:</a:t>
            </a:r>
            <a:endParaRPr sz="2200" dirty="0">
              <a:latin typeface="Times New Roman"/>
              <a:cs typeface="Times New Roman"/>
            </a:endParaRPr>
          </a:p>
          <a:p>
            <a:pPr marL="111125" indent="-106045">
              <a:lnSpc>
                <a:spcPct val="100000"/>
              </a:lnSpc>
              <a:spcBef>
                <a:spcPts val="5"/>
              </a:spcBef>
              <a:buSzPct val="95454"/>
              <a:buChar char="•"/>
              <a:tabLst>
                <a:tab pos="111125" algn="l"/>
              </a:tabLst>
            </a:pPr>
            <a:r>
              <a:rPr sz="2200" spc="-175" dirty="0">
                <a:latin typeface="Times New Roman"/>
                <a:cs typeface="Times New Roman"/>
              </a:rPr>
              <a:t>Each</a:t>
            </a:r>
            <a:r>
              <a:rPr sz="2200" spc="-25" dirty="0">
                <a:latin typeface="Times New Roman"/>
                <a:cs typeface="Times New Roman"/>
              </a:rPr>
              <a:t> </a:t>
            </a:r>
            <a:r>
              <a:rPr sz="2200" spc="-85" dirty="0">
                <a:latin typeface="Times New Roman"/>
                <a:cs typeface="Times New Roman"/>
              </a:rPr>
              <a:t>resource</a:t>
            </a:r>
            <a:r>
              <a:rPr sz="2200" spc="-5" dirty="0">
                <a:latin typeface="Times New Roman"/>
                <a:cs typeface="Times New Roman"/>
              </a:rPr>
              <a:t> </a:t>
            </a:r>
            <a:r>
              <a:rPr sz="2200" spc="-60" dirty="0">
                <a:latin typeface="Times New Roman"/>
                <a:cs typeface="Times New Roman"/>
              </a:rPr>
              <a:t>(e.g.,</a:t>
            </a:r>
            <a:r>
              <a:rPr sz="2200" spc="-135" dirty="0">
                <a:latin typeface="Times New Roman"/>
                <a:cs typeface="Times New Roman"/>
              </a:rPr>
              <a:t> </a:t>
            </a:r>
            <a:r>
              <a:rPr sz="2200" b="1" spc="-245" dirty="0">
                <a:latin typeface="Times New Roman"/>
                <a:cs typeface="Times New Roman"/>
              </a:rPr>
              <a:t>EC2</a:t>
            </a:r>
            <a:r>
              <a:rPr sz="2200" b="1" spc="-20" dirty="0">
                <a:latin typeface="Times New Roman"/>
                <a:cs typeface="Times New Roman"/>
              </a:rPr>
              <a:t> </a:t>
            </a:r>
            <a:r>
              <a:rPr sz="2200" b="1" dirty="0">
                <a:latin typeface="Times New Roman"/>
                <a:cs typeface="Times New Roman"/>
              </a:rPr>
              <a:t>instance</a:t>
            </a:r>
            <a:r>
              <a:rPr sz="2200" dirty="0">
                <a:latin typeface="Times New Roman"/>
                <a:cs typeface="Times New Roman"/>
              </a:rPr>
              <a:t>)</a:t>
            </a:r>
            <a:r>
              <a:rPr sz="2200" spc="-15" dirty="0">
                <a:latin typeface="Times New Roman"/>
                <a:cs typeface="Times New Roman"/>
              </a:rPr>
              <a:t> </a:t>
            </a:r>
            <a:r>
              <a:rPr sz="2200" spc="-150" dirty="0">
                <a:latin typeface="Times New Roman"/>
                <a:cs typeface="Times New Roman"/>
              </a:rPr>
              <a:t>can</a:t>
            </a:r>
            <a:r>
              <a:rPr sz="2200" spc="-35" dirty="0">
                <a:latin typeface="Times New Roman"/>
                <a:cs typeface="Times New Roman"/>
              </a:rPr>
              <a:t> </a:t>
            </a:r>
            <a:r>
              <a:rPr sz="2200" spc="-185" dirty="0">
                <a:latin typeface="Times New Roman"/>
                <a:cs typeface="Times New Roman"/>
              </a:rPr>
              <a:t>have</a:t>
            </a:r>
            <a:r>
              <a:rPr sz="2200" spc="-45" dirty="0">
                <a:latin typeface="Times New Roman"/>
                <a:cs typeface="Times New Roman"/>
              </a:rPr>
              <a:t> </a:t>
            </a:r>
            <a:r>
              <a:rPr sz="2200" spc="-95" dirty="0">
                <a:latin typeface="Times New Roman"/>
                <a:cs typeface="Times New Roman"/>
              </a:rPr>
              <a:t>multiple</a:t>
            </a:r>
            <a:r>
              <a:rPr sz="2200" spc="-35" dirty="0">
                <a:latin typeface="Times New Roman"/>
                <a:cs typeface="Times New Roman"/>
              </a:rPr>
              <a:t> </a:t>
            </a:r>
            <a:r>
              <a:rPr sz="2200" spc="-110" dirty="0">
                <a:latin typeface="Times New Roman"/>
                <a:cs typeface="Times New Roman"/>
              </a:rPr>
              <a:t>Security</a:t>
            </a:r>
            <a:r>
              <a:rPr sz="2200" spc="-30" dirty="0">
                <a:latin typeface="Times New Roman"/>
                <a:cs typeface="Times New Roman"/>
              </a:rPr>
              <a:t> Groups.</a:t>
            </a:r>
            <a:endParaRPr sz="2200" dirty="0">
              <a:latin typeface="Times New Roman"/>
              <a:cs typeface="Times New Roman"/>
            </a:endParaRPr>
          </a:p>
          <a:p>
            <a:pPr marL="111125" indent="-106045">
              <a:lnSpc>
                <a:spcPct val="100000"/>
              </a:lnSpc>
              <a:buSzPct val="95454"/>
              <a:buChar char="•"/>
              <a:tabLst>
                <a:tab pos="111125" algn="l"/>
              </a:tabLst>
            </a:pPr>
            <a:r>
              <a:rPr sz="2200" spc="-60" dirty="0">
                <a:latin typeface="Times New Roman"/>
                <a:cs typeface="Times New Roman"/>
              </a:rPr>
              <a:t>One</a:t>
            </a:r>
            <a:r>
              <a:rPr sz="2200" spc="-80" dirty="0">
                <a:latin typeface="Times New Roman"/>
                <a:cs typeface="Times New Roman"/>
              </a:rPr>
              <a:t> </a:t>
            </a:r>
            <a:r>
              <a:rPr sz="2200" b="1" spc="-10" dirty="0">
                <a:latin typeface="Times New Roman"/>
                <a:cs typeface="Times New Roman"/>
              </a:rPr>
              <a:t>Security</a:t>
            </a:r>
            <a:r>
              <a:rPr sz="2200" b="1" spc="-40" dirty="0">
                <a:latin typeface="Times New Roman"/>
                <a:cs typeface="Times New Roman"/>
              </a:rPr>
              <a:t> </a:t>
            </a:r>
            <a:r>
              <a:rPr sz="2200" b="1" spc="-45" dirty="0">
                <a:latin typeface="Times New Roman"/>
                <a:cs typeface="Times New Roman"/>
              </a:rPr>
              <a:t>Group </a:t>
            </a:r>
            <a:r>
              <a:rPr sz="2200" spc="-150" dirty="0">
                <a:latin typeface="Times New Roman"/>
                <a:cs typeface="Times New Roman"/>
              </a:rPr>
              <a:t>can</a:t>
            </a:r>
            <a:r>
              <a:rPr sz="2200" spc="-40" dirty="0">
                <a:latin typeface="Times New Roman"/>
                <a:cs typeface="Times New Roman"/>
              </a:rPr>
              <a:t> </a:t>
            </a:r>
            <a:r>
              <a:rPr sz="2200" spc="-105" dirty="0">
                <a:latin typeface="Times New Roman"/>
                <a:cs typeface="Times New Roman"/>
              </a:rPr>
              <a:t>be</a:t>
            </a:r>
            <a:r>
              <a:rPr sz="2200" spc="-60" dirty="0">
                <a:latin typeface="Times New Roman"/>
                <a:cs typeface="Times New Roman"/>
              </a:rPr>
              <a:t> </a:t>
            </a:r>
            <a:r>
              <a:rPr sz="2200" spc="-145" dirty="0">
                <a:latin typeface="Times New Roman"/>
                <a:cs typeface="Times New Roman"/>
              </a:rPr>
              <a:t>assigned</a:t>
            </a:r>
            <a:r>
              <a:rPr sz="2200" spc="-50" dirty="0">
                <a:latin typeface="Times New Roman"/>
                <a:cs typeface="Times New Roman"/>
              </a:rPr>
              <a:t> </a:t>
            </a:r>
            <a:r>
              <a:rPr sz="2200" dirty="0">
                <a:latin typeface="Times New Roman"/>
                <a:cs typeface="Times New Roman"/>
              </a:rPr>
              <a:t>to</a:t>
            </a:r>
            <a:r>
              <a:rPr sz="2200" spc="-60" dirty="0">
                <a:latin typeface="Times New Roman"/>
                <a:cs typeface="Times New Roman"/>
              </a:rPr>
              <a:t> </a:t>
            </a:r>
            <a:r>
              <a:rPr sz="2200" spc="-95" dirty="0">
                <a:latin typeface="Times New Roman"/>
                <a:cs typeface="Times New Roman"/>
              </a:rPr>
              <a:t>multiple</a:t>
            </a:r>
            <a:r>
              <a:rPr sz="2200" spc="-50" dirty="0">
                <a:latin typeface="Times New Roman"/>
                <a:cs typeface="Times New Roman"/>
              </a:rPr>
              <a:t> </a:t>
            </a:r>
            <a:r>
              <a:rPr sz="2200" spc="-10" dirty="0">
                <a:latin typeface="Times New Roman"/>
                <a:cs typeface="Times New Roman"/>
              </a:rPr>
              <a:t>resources.</a:t>
            </a:r>
            <a:endParaRPr sz="2200" dirty="0">
              <a:latin typeface="Times New Roman"/>
              <a:cs typeface="Times New Roman"/>
            </a:endParaRPr>
          </a:p>
          <a:p>
            <a:pPr>
              <a:lnSpc>
                <a:spcPct val="100000"/>
              </a:lnSpc>
              <a:spcBef>
                <a:spcPts val="110"/>
              </a:spcBef>
              <a:buFont typeface="Times New Roman"/>
              <a:buChar char="•"/>
            </a:pPr>
            <a:endParaRPr sz="2200" dirty="0">
              <a:latin typeface="Times New Roman"/>
              <a:cs typeface="Times New Roman"/>
            </a:endParaRPr>
          </a:p>
          <a:p>
            <a:pPr marL="111125" indent="-106045">
              <a:lnSpc>
                <a:spcPct val="100000"/>
              </a:lnSpc>
              <a:buSzPct val="95454"/>
              <a:buFont typeface="Times New Roman"/>
              <a:buChar char="•"/>
              <a:tabLst>
                <a:tab pos="111125" algn="l"/>
              </a:tabLst>
            </a:pPr>
            <a:r>
              <a:rPr sz="2200" b="1" dirty="0">
                <a:latin typeface="Times New Roman"/>
                <a:cs typeface="Times New Roman"/>
              </a:rPr>
              <a:t>Default</a:t>
            </a:r>
            <a:r>
              <a:rPr sz="2200" b="1" spc="-45" dirty="0">
                <a:latin typeface="Times New Roman"/>
                <a:cs typeface="Times New Roman"/>
              </a:rPr>
              <a:t> </a:t>
            </a:r>
            <a:r>
              <a:rPr sz="2200" b="1" spc="-10" dirty="0">
                <a:latin typeface="Times New Roman"/>
                <a:cs typeface="Times New Roman"/>
              </a:rPr>
              <a:t>Behavior:</a:t>
            </a:r>
            <a:endParaRPr sz="2200" dirty="0">
              <a:latin typeface="Times New Roman"/>
              <a:cs typeface="Times New Roman"/>
            </a:endParaRPr>
          </a:p>
          <a:p>
            <a:pPr marL="111125" indent="-106045">
              <a:lnSpc>
                <a:spcPct val="100000"/>
              </a:lnSpc>
              <a:buSzPct val="95454"/>
              <a:buFont typeface="Times New Roman"/>
              <a:buChar char="•"/>
              <a:tabLst>
                <a:tab pos="111125" algn="l"/>
              </a:tabLst>
            </a:pPr>
            <a:r>
              <a:rPr sz="2200" b="1" spc="-50" dirty="0">
                <a:latin typeface="Times New Roman"/>
                <a:cs typeface="Times New Roman"/>
              </a:rPr>
              <a:t>By</a:t>
            </a:r>
            <a:r>
              <a:rPr sz="2200" b="1" spc="-60" dirty="0">
                <a:latin typeface="Times New Roman"/>
                <a:cs typeface="Times New Roman"/>
              </a:rPr>
              <a:t> </a:t>
            </a:r>
            <a:r>
              <a:rPr sz="2200" b="1" dirty="0">
                <a:latin typeface="Times New Roman"/>
                <a:cs typeface="Times New Roman"/>
              </a:rPr>
              <a:t>default,</a:t>
            </a:r>
            <a:r>
              <a:rPr sz="2200" b="1" spc="-125" dirty="0">
                <a:latin typeface="Times New Roman"/>
                <a:cs typeface="Times New Roman"/>
              </a:rPr>
              <a:t> </a:t>
            </a:r>
            <a:r>
              <a:rPr sz="2200" b="1" dirty="0">
                <a:latin typeface="Times New Roman"/>
                <a:cs typeface="Times New Roman"/>
              </a:rPr>
              <a:t>all</a:t>
            </a:r>
            <a:r>
              <a:rPr sz="2200" b="1" spc="-65" dirty="0">
                <a:latin typeface="Times New Roman"/>
                <a:cs typeface="Times New Roman"/>
              </a:rPr>
              <a:t> </a:t>
            </a:r>
            <a:r>
              <a:rPr sz="2200" b="1" dirty="0">
                <a:latin typeface="Times New Roman"/>
                <a:cs typeface="Times New Roman"/>
              </a:rPr>
              <a:t>inbound</a:t>
            </a:r>
            <a:r>
              <a:rPr sz="2200" b="1" spc="-45" dirty="0">
                <a:latin typeface="Times New Roman"/>
                <a:cs typeface="Times New Roman"/>
              </a:rPr>
              <a:t> </a:t>
            </a:r>
            <a:r>
              <a:rPr sz="2200" b="1" spc="-25" dirty="0">
                <a:latin typeface="Times New Roman"/>
                <a:cs typeface="Times New Roman"/>
              </a:rPr>
              <a:t>traffic</a:t>
            </a:r>
            <a:r>
              <a:rPr sz="2200" b="1" spc="-45" dirty="0">
                <a:latin typeface="Times New Roman"/>
                <a:cs typeface="Times New Roman"/>
              </a:rPr>
              <a:t> </a:t>
            </a:r>
            <a:r>
              <a:rPr sz="2200" b="1" dirty="0">
                <a:latin typeface="Times New Roman"/>
                <a:cs typeface="Times New Roman"/>
              </a:rPr>
              <a:t>is</a:t>
            </a:r>
            <a:r>
              <a:rPr sz="2200" b="1" spc="-60" dirty="0">
                <a:latin typeface="Times New Roman"/>
                <a:cs typeface="Times New Roman"/>
              </a:rPr>
              <a:t> </a:t>
            </a:r>
            <a:r>
              <a:rPr sz="2200" b="1" spc="-10" dirty="0">
                <a:latin typeface="Times New Roman"/>
                <a:cs typeface="Times New Roman"/>
              </a:rPr>
              <a:t>denied.</a:t>
            </a:r>
            <a:endParaRPr sz="2200" dirty="0">
              <a:latin typeface="Times New Roman"/>
              <a:cs typeface="Times New Roman"/>
            </a:endParaRPr>
          </a:p>
          <a:p>
            <a:pPr marL="111125" indent="-106045">
              <a:lnSpc>
                <a:spcPct val="100000"/>
              </a:lnSpc>
              <a:buSzPct val="95454"/>
              <a:buFont typeface="Times New Roman"/>
              <a:buChar char="•"/>
              <a:tabLst>
                <a:tab pos="111125" algn="l"/>
              </a:tabLst>
            </a:pPr>
            <a:r>
              <a:rPr sz="2200" b="1" spc="-10" dirty="0">
                <a:latin typeface="Times New Roman"/>
                <a:cs typeface="Times New Roman"/>
              </a:rPr>
              <a:t>All</a:t>
            </a:r>
            <a:r>
              <a:rPr sz="2200" b="1" spc="-50" dirty="0">
                <a:latin typeface="Times New Roman"/>
                <a:cs typeface="Times New Roman"/>
              </a:rPr>
              <a:t> </a:t>
            </a:r>
            <a:r>
              <a:rPr sz="2200" b="1" dirty="0">
                <a:latin typeface="Times New Roman"/>
                <a:cs typeface="Times New Roman"/>
              </a:rPr>
              <a:t>outbound</a:t>
            </a:r>
            <a:r>
              <a:rPr sz="2200" b="1" spc="-25" dirty="0">
                <a:latin typeface="Times New Roman"/>
                <a:cs typeface="Times New Roman"/>
              </a:rPr>
              <a:t> traffic</a:t>
            </a:r>
            <a:r>
              <a:rPr sz="2200" b="1" spc="-30" dirty="0">
                <a:latin typeface="Times New Roman"/>
                <a:cs typeface="Times New Roman"/>
              </a:rPr>
              <a:t> </a:t>
            </a:r>
            <a:r>
              <a:rPr sz="2200" b="1" dirty="0">
                <a:latin typeface="Times New Roman"/>
                <a:cs typeface="Times New Roman"/>
              </a:rPr>
              <a:t>is</a:t>
            </a:r>
            <a:r>
              <a:rPr sz="2200" b="1" spc="-40" dirty="0">
                <a:latin typeface="Times New Roman"/>
                <a:cs typeface="Times New Roman"/>
              </a:rPr>
              <a:t> </a:t>
            </a:r>
            <a:r>
              <a:rPr sz="2200" b="1" dirty="0">
                <a:latin typeface="Times New Roman"/>
                <a:cs typeface="Times New Roman"/>
              </a:rPr>
              <a:t>allowed</a:t>
            </a:r>
            <a:r>
              <a:rPr sz="2200" b="1" spc="-35" dirty="0">
                <a:latin typeface="Times New Roman"/>
                <a:cs typeface="Times New Roman"/>
              </a:rPr>
              <a:t> </a:t>
            </a:r>
            <a:r>
              <a:rPr sz="2200" b="1" dirty="0">
                <a:latin typeface="Times New Roman"/>
                <a:cs typeface="Times New Roman"/>
              </a:rPr>
              <a:t>unless</a:t>
            </a:r>
            <a:r>
              <a:rPr sz="2200" b="1" spc="-35" dirty="0">
                <a:latin typeface="Times New Roman"/>
                <a:cs typeface="Times New Roman"/>
              </a:rPr>
              <a:t> </a:t>
            </a:r>
            <a:r>
              <a:rPr sz="2200" b="1" spc="-10" dirty="0">
                <a:latin typeface="Times New Roman"/>
                <a:cs typeface="Times New Roman"/>
              </a:rPr>
              <a:t>restricted.</a:t>
            </a:r>
            <a:endParaRPr sz="2200" dirty="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42</a:t>
            </a:fld>
            <a:endParaRPr spc="-25" dirty="0"/>
          </a:p>
        </p:txBody>
      </p:sp>
    </p:spTree>
    <p:extLst>
      <p:ext uri="{BB962C8B-B14F-4D97-AF65-F5344CB8AC3E}">
        <p14:creationId xmlns:p14="http://schemas.microsoft.com/office/powerpoint/2010/main" val="7426149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2E2AA-92E3-FD1E-4573-13CDF2EBD727}"/>
              </a:ext>
            </a:extLst>
          </p:cNvPr>
          <p:cNvSpPr>
            <a:spLocks noGrp="1"/>
          </p:cNvSpPr>
          <p:nvPr>
            <p:ph type="title"/>
          </p:nvPr>
        </p:nvSpPr>
        <p:spPr>
          <a:xfrm>
            <a:off x="307340" y="247599"/>
            <a:ext cx="8529319" cy="446276"/>
          </a:xfrm>
        </p:spPr>
        <p:txBody>
          <a:bodyPr/>
          <a:lstStyle/>
          <a:p>
            <a:r>
              <a:rPr lang="en-US" dirty="0"/>
              <a:t>Internet gateway</a:t>
            </a:r>
          </a:p>
        </p:txBody>
      </p:sp>
      <p:pic>
        <p:nvPicPr>
          <p:cNvPr id="3074" name="Picture 2" descr="Internet Gateway Traffic">
            <a:extLst>
              <a:ext uri="{FF2B5EF4-FFF2-40B4-BE49-F238E27FC236}">
                <a16:creationId xmlns:a16="http://schemas.microsoft.com/office/drawing/2014/main" id="{9BC0F5B3-BD26-50D2-9DFF-244FACD026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371600"/>
            <a:ext cx="7696200" cy="4735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44982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62725-B4C7-0C6B-3C3E-3EB43BC96634}"/>
              </a:ext>
            </a:extLst>
          </p:cNvPr>
          <p:cNvSpPr txBox="1">
            <a:spLocks/>
          </p:cNvSpPr>
          <p:nvPr/>
        </p:nvSpPr>
        <p:spPr>
          <a:xfrm>
            <a:off x="307340" y="247599"/>
            <a:ext cx="8529319" cy="492443"/>
          </a:xfrm>
          <a:prstGeom prst="rect">
            <a:avLst/>
          </a:prstGeom>
        </p:spPr>
        <p:txBody>
          <a:bodyPr/>
          <a:lstStyle>
            <a:lvl1pPr>
              <a:defRPr>
                <a:latin typeface="+mj-lt"/>
                <a:ea typeface="+mj-ea"/>
                <a:cs typeface="+mj-cs"/>
              </a:defRPr>
            </a:lvl1pPr>
          </a:lstStyle>
          <a:p>
            <a:r>
              <a:rPr lang="en-US" sz="3200" spc="-10" dirty="0"/>
              <a:t>Internet  gateways</a:t>
            </a:r>
            <a:endParaRPr lang="en-US" dirty="0"/>
          </a:p>
        </p:txBody>
      </p:sp>
      <p:sp>
        <p:nvSpPr>
          <p:cNvPr id="5" name="TextBox 4">
            <a:extLst>
              <a:ext uri="{FF2B5EF4-FFF2-40B4-BE49-F238E27FC236}">
                <a16:creationId xmlns:a16="http://schemas.microsoft.com/office/drawing/2014/main" id="{B1239634-9C93-2553-D6EA-C22B965449AA}"/>
              </a:ext>
            </a:extLst>
          </p:cNvPr>
          <p:cNvSpPr txBox="1"/>
          <p:nvPr/>
        </p:nvSpPr>
        <p:spPr>
          <a:xfrm>
            <a:off x="310388" y="1066800"/>
            <a:ext cx="8227059" cy="5632311"/>
          </a:xfrm>
          <a:prstGeom prst="rect">
            <a:avLst/>
          </a:prstGeom>
          <a:noFill/>
        </p:spPr>
        <p:txBody>
          <a:bodyPr wrap="square">
            <a:spAutoFit/>
          </a:bodyPr>
          <a:lstStyle/>
          <a:p>
            <a:pPr algn="just">
              <a:lnSpc>
                <a:spcPts val="2400"/>
              </a:lnSpc>
              <a:buFont typeface="Arial" panose="020B0604020202020204" pitchFamily="34" charset="0"/>
              <a:buChar char="•"/>
            </a:pPr>
            <a:r>
              <a:rPr lang="en-US" sz="2100" b="0" i="0" dirty="0">
                <a:solidFill>
                  <a:srgbClr val="242424"/>
                </a:solidFill>
                <a:effectLst/>
                <a:latin typeface="source-serif-pro"/>
              </a:rPr>
              <a:t>Internet Gateway (IGW) is a horizontally scaled, redundant, and highly available VPC component that allows communication between your VPC and the internet.</a:t>
            </a:r>
          </a:p>
          <a:p>
            <a:pPr algn="just">
              <a:lnSpc>
                <a:spcPts val="2400"/>
              </a:lnSpc>
              <a:buFont typeface="Arial" panose="020B0604020202020204" pitchFamily="34" charset="0"/>
              <a:buChar char="•"/>
            </a:pPr>
            <a:r>
              <a:rPr lang="en-US" sz="2100" b="0" i="0" dirty="0">
                <a:solidFill>
                  <a:srgbClr val="242424"/>
                </a:solidFill>
                <a:effectLst/>
                <a:latin typeface="source-serif-pro"/>
              </a:rPr>
              <a:t>Internet Gateway enables resources (like EC2 instances) in public subnets to connect to the internet. Similarly, resources on the internet can initiate a connection to resources in your subnet using the public IP.</a:t>
            </a:r>
          </a:p>
          <a:p>
            <a:pPr algn="just">
              <a:lnSpc>
                <a:spcPts val="2400"/>
              </a:lnSpc>
              <a:buFont typeface="Arial" panose="020B0604020202020204" pitchFamily="34" charset="0"/>
              <a:buChar char="•"/>
            </a:pPr>
            <a:r>
              <a:rPr lang="en-US" sz="2100" b="0" i="0" dirty="0">
                <a:solidFill>
                  <a:srgbClr val="242424"/>
                </a:solidFill>
                <a:effectLst/>
                <a:latin typeface="source-serif-pro"/>
              </a:rPr>
              <a:t>If a VPC </a:t>
            </a:r>
            <a:r>
              <a:rPr lang="en-US" sz="2100" b="0" i="1" dirty="0">
                <a:solidFill>
                  <a:srgbClr val="242424"/>
                </a:solidFill>
                <a:effectLst/>
                <a:latin typeface="source-serif-pro"/>
              </a:rPr>
              <a:t>does not</a:t>
            </a:r>
            <a:r>
              <a:rPr lang="en-US" sz="2100" b="0" i="0" dirty="0">
                <a:solidFill>
                  <a:srgbClr val="242424"/>
                </a:solidFill>
                <a:effectLst/>
                <a:latin typeface="source-serif-pro"/>
              </a:rPr>
              <a:t> have an Internet Gateway, then the resources in the VPC cannot be accessed from the Internet (unless the traffic flows via a Corporate Network and VPN/Direct Connect).</a:t>
            </a:r>
          </a:p>
          <a:p>
            <a:pPr algn="just">
              <a:lnSpc>
                <a:spcPts val="2400"/>
              </a:lnSpc>
              <a:buFont typeface="Arial" panose="020B0604020202020204" pitchFamily="34" charset="0"/>
              <a:buChar char="•"/>
            </a:pPr>
            <a:r>
              <a:rPr lang="en-US" sz="2100" b="0" i="0" dirty="0">
                <a:solidFill>
                  <a:srgbClr val="242424"/>
                </a:solidFill>
                <a:effectLst/>
                <a:latin typeface="source-serif-pro"/>
              </a:rPr>
              <a:t>Internet Gateway supports IPv4 and IPv6 traffic.</a:t>
            </a:r>
          </a:p>
          <a:p>
            <a:pPr algn="just">
              <a:lnSpc>
                <a:spcPts val="2400"/>
              </a:lnSpc>
              <a:buFont typeface="Arial" panose="020B0604020202020204" pitchFamily="34" charset="0"/>
              <a:buChar char="•"/>
            </a:pPr>
            <a:r>
              <a:rPr lang="en-US" sz="2100" b="0" i="0" dirty="0">
                <a:solidFill>
                  <a:srgbClr val="242424"/>
                </a:solidFill>
                <a:effectLst/>
                <a:latin typeface="source-serif-pro"/>
              </a:rPr>
              <a:t>Internet Gateway does not cause availability risks or bandwidth constraints on your network traffic.</a:t>
            </a:r>
          </a:p>
          <a:p>
            <a:pPr algn="just">
              <a:lnSpc>
                <a:spcPts val="2400"/>
              </a:lnSpc>
              <a:buFont typeface="Arial" panose="020B0604020202020204" pitchFamily="34" charset="0"/>
              <a:buChar char="•"/>
            </a:pPr>
            <a:r>
              <a:rPr lang="en-US" sz="2100" b="0" i="0" dirty="0">
                <a:solidFill>
                  <a:srgbClr val="242424"/>
                </a:solidFill>
                <a:effectLst/>
                <a:latin typeface="source-serif-pro"/>
              </a:rPr>
              <a:t>In order to make subnet public, add a route to your subnet’s route table that directs internet-bound traffic to the internet gateway.</a:t>
            </a:r>
          </a:p>
          <a:p>
            <a:pPr algn="just">
              <a:lnSpc>
                <a:spcPts val="2400"/>
              </a:lnSpc>
              <a:buFont typeface="Arial" panose="020B0604020202020204" pitchFamily="34" charset="0"/>
              <a:buChar char="•"/>
            </a:pPr>
            <a:r>
              <a:rPr lang="en-US" sz="2100" b="0" i="0" dirty="0">
                <a:solidFill>
                  <a:srgbClr val="242424"/>
                </a:solidFill>
                <a:effectLst/>
                <a:latin typeface="source-serif-pro"/>
              </a:rPr>
              <a:t>You can associate exactly one Internet Gateway with a VPC.</a:t>
            </a:r>
          </a:p>
          <a:p>
            <a:pPr algn="just">
              <a:lnSpc>
                <a:spcPts val="2400"/>
              </a:lnSpc>
              <a:buFont typeface="Arial" panose="020B0604020202020204" pitchFamily="34" charset="0"/>
              <a:buChar char="•"/>
            </a:pPr>
            <a:r>
              <a:rPr lang="en-US" sz="2100" b="0" i="0" dirty="0">
                <a:solidFill>
                  <a:srgbClr val="242424"/>
                </a:solidFill>
                <a:effectLst/>
                <a:latin typeface="source-serif-pro"/>
              </a:rPr>
              <a:t>Internet Gateway is not Availability Zone specific.</a:t>
            </a:r>
          </a:p>
          <a:p>
            <a:pPr algn="just">
              <a:lnSpc>
                <a:spcPts val="2400"/>
              </a:lnSpc>
              <a:buFont typeface="Arial" panose="020B0604020202020204" pitchFamily="34" charset="0"/>
              <a:buChar char="•"/>
            </a:pPr>
            <a:r>
              <a:rPr lang="en-US" sz="2100" b="0" i="0" dirty="0">
                <a:solidFill>
                  <a:srgbClr val="242424"/>
                </a:solidFill>
                <a:effectLst/>
                <a:latin typeface="source-serif-pro"/>
              </a:rPr>
              <a:t>There’s no additional charge for having an internet gateway in your account.</a:t>
            </a:r>
          </a:p>
        </p:txBody>
      </p:sp>
    </p:spTree>
    <p:extLst>
      <p:ext uri="{BB962C8B-B14F-4D97-AF65-F5344CB8AC3E}">
        <p14:creationId xmlns:p14="http://schemas.microsoft.com/office/powerpoint/2010/main" val="16422774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340" y="247599"/>
            <a:ext cx="3270885" cy="574675"/>
          </a:xfrm>
          <a:prstGeom prst="rect">
            <a:avLst/>
          </a:prstGeom>
        </p:spPr>
        <p:txBody>
          <a:bodyPr vert="horz" wrap="square" lIns="0" tIns="12700" rIns="0" bIns="0" rtlCol="0">
            <a:spAutoFit/>
          </a:bodyPr>
          <a:lstStyle/>
          <a:p>
            <a:pPr marL="12700">
              <a:lnSpc>
                <a:spcPct val="100000"/>
              </a:lnSpc>
              <a:spcBef>
                <a:spcPts val="100"/>
              </a:spcBef>
            </a:pPr>
            <a:r>
              <a:rPr sz="3600" spc="-20" dirty="0"/>
              <a:t>Internet</a:t>
            </a:r>
            <a:r>
              <a:rPr sz="3600" spc="-170" dirty="0"/>
              <a:t> </a:t>
            </a:r>
            <a:r>
              <a:rPr sz="3600" spc="-75" dirty="0"/>
              <a:t>Gateway</a:t>
            </a:r>
            <a:endParaRPr sz="3600"/>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914400" y="1289049"/>
            <a:ext cx="8229600" cy="4908395"/>
          </a:xfrm>
          <a:prstGeom prst="rect">
            <a:avLst/>
          </a:prstGeom>
        </p:spPr>
        <p:txBody>
          <a:bodyPr vert="horz" wrap="square" lIns="0" tIns="12065" rIns="0" bIns="0" rtlCol="0">
            <a:spAutoFit/>
          </a:bodyPr>
          <a:lstStyle/>
          <a:p>
            <a:pPr marL="12700">
              <a:lnSpc>
                <a:spcPct val="100000"/>
              </a:lnSpc>
              <a:spcBef>
                <a:spcPts val="95"/>
              </a:spcBef>
            </a:pPr>
            <a:r>
              <a:rPr sz="2200" spc="-140" dirty="0">
                <a:latin typeface="Times New Roman"/>
                <a:cs typeface="Times New Roman"/>
              </a:rPr>
              <a:t>IGW</a:t>
            </a:r>
            <a:r>
              <a:rPr sz="2200" spc="-55" dirty="0">
                <a:latin typeface="Times New Roman"/>
                <a:cs typeface="Times New Roman"/>
              </a:rPr>
              <a:t> </a:t>
            </a:r>
            <a:r>
              <a:rPr sz="2200" spc="-145" dirty="0">
                <a:latin typeface="Times New Roman"/>
                <a:cs typeface="Times New Roman"/>
              </a:rPr>
              <a:t>is</a:t>
            </a:r>
            <a:r>
              <a:rPr sz="2200" spc="-50" dirty="0">
                <a:latin typeface="Times New Roman"/>
                <a:cs typeface="Times New Roman"/>
              </a:rPr>
              <a:t> </a:t>
            </a:r>
            <a:r>
              <a:rPr sz="2200" spc="-185" dirty="0">
                <a:latin typeface="Times New Roman"/>
                <a:cs typeface="Times New Roman"/>
              </a:rPr>
              <a:t>a</a:t>
            </a:r>
            <a:r>
              <a:rPr sz="2200" spc="-60" dirty="0">
                <a:latin typeface="Times New Roman"/>
                <a:cs typeface="Times New Roman"/>
              </a:rPr>
              <a:t> </a:t>
            </a:r>
            <a:r>
              <a:rPr sz="2200" spc="-90" dirty="0">
                <a:latin typeface="Times New Roman"/>
                <a:cs typeface="Times New Roman"/>
              </a:rPr>
              <a:t>virtual</a:t>
            </a:r>
            <a:r>
              <a:rPr sz="2200" spc="-50" dirty="0">
                <a:latin typeface="Times New Roman"/>
                <a:cs typeface="Times New Roman"/>
              </a:rPr>
              <a:t> </a:t>
            </a:r>
            <a:r>
              <a:rPr sz="2200" spc="-30" dirty="0">
                <a:latin typeface="Times New Roman"/>
                <a:cs typeface="Times New Roman"/>
              </a:rPr>
              <a:t>router</a:t>
            </a:r>
            <a:r>
              <a:rPr sz="2200" spc="-25" dirty="0">
                <a:latin typeface="Times New Roman"/>
                <a:cs typeface="Times New Roman"/>
              </a:rPr>
              <a:t> </a:t>
            </a:r>
            <a:r>
              <a:rPr sz="2200" spc="-75" dirty="0">
                <a:latin typeface="Times New Roman"/>
                <a:cs typeface="Times New Roman"/>
              </a:rPr>
              <a:t>that</a:t>
            </a:r>
            <a:r>
              <a:rPr sz="2200" spc="-50" dirty="0">
                <a:latin typeface="Times New Roman"/>
                <a:cs typeface="Times New Roman"/>
              </a:rPr>
              <a:t> </a:t>
            </a:r>
            <a:r>
              <a:rPr sz="2200" spc="-110" dirty="0">
                <a:latin typeface="Times New Roman"/>
                <a:cs typeface="Times New Roman"/>
              </a:rPr>
              <a:t>connects</a:t>
            </a:r>
            <a:r>
              <a:rPr sz="2200" spc="-20" dirty="0">
                <a:latin typeface="Times New Roman"/>
                <a:cs typeface="Times New Roman"/>
              </a:rPr>
              <a:t> </a:t>
            </a:r>
            <a:r>
              <a:rPr sz="2200" spc="-185" dirty="0">
                <a:latin typeface="Times New Roman"/>
                <a:cs typeface="Times New Roman"/>
              </a:rPr>
              <a:t>a</a:t>
            </a:r>
            <a:r>
              <a:rPr sz="2200" spc="-335" dirty="0">
                <a:latin typeface="Times New Roman"/>
                <a:cs typeface="Times New Roman"/>
              </a:rPr>
              <a:t> </a:t>
            </a:r>
            <a:r>
              <a:rPr sz="2200" spc="-185" dirty="0">
                <a:latin typeface="Times New Roman"/>
                <a:cs typeface="Times New Roman"/>
              </a:rPr>
              <a:t>VPC</a:t>
            </a:r>
            <a:r>
              <a:rPr sz="2200" spc="-40" dirty="0">
                <a:latin typeface="Times New Roman"/>
                <a:cs typeface="Times New Roman"/>
              </a:rPr>
              <a:t> </a:t>
            </a:r>
            <a:r>
              <a:rPr sz="2200" dirty="0">
                <a:latin typeface="Times New Roman"/>
                <a:cs typeface="Times New Roman"/>
              </a:rPr>
              <a:t>to</a:t>
            </a:r>
            <a:r>
              <a:rPr sz="2200" spc="-45" dirty="0">
                <a:latin typeface="Times New Roman"/>
                <a:cs typeface="Times New Roman"/>
              </a:rPr>
              <a:t> </a:t>
            </a:r>
            <a:r>
              <a:rPr sz="2200" spc="-70" dirty="0">
                <a:latin typeface="Times New Roman"/>
                <a:cs typeface="Times New Roman"/>
              </a:rPr>
              <a:t>the</a:t>
            </a:r>
            <a:r>
              <a:rPr sz="2200" spc="-60" dirty="0">
                <a:latin typeface="Times New Roman"/>
                <a:cs typeface="Times New Roman"/>
              </a:rPr>
              <a:t> </a:t>
            </a:r>
            <a:r>
              <a:rPr sz="2200" spc="-10" dirty="0">
                <a:latin typeface="Times New Roman"/>
                <a:cs typeface="Times New Roman"/>
              </a:rPr>
              <a:t>Internet</a:t>
            </a:r>
            <a:endParaRPr sz="2200" dirty="0">
              <a:latin typeface="Times New Roman"/>
              <a:cs typeface="Times New Roman"/>
            </a:endParaRPr>
          </a:p>
          <a:p>
            <a:pPr>
              <a:lnSpc>
                <a:spcPct val="100000"/>
              </a:lnSpc>
              <a:spcBef>
                <a:spcPts val="1310"/>
              </a:spcBef>
            </a:pPr>
            <a:endParaRPr sz="2200" dirty="0">
              <a:latin typeface="Times New Roman"/>
              <a:cs typeface="Times New Roman"/>
            </a:endParaRPr>
          </a:p>
          <a:p>
            <a:pPr marL="12700">
              <a:lnSpc>
                <a:spcPct val="100000"/>
              </a:lnSpc>
              <a:spcBef>
                <a:spcPts val="5"/>
              </a:spcBef>
            </a:pPr>
            <a:r>
              <a:rPr sz="2200" spc="-114" dirty="0">
                <a:latin typeface="Times New Roman"/>
                <a:cs typeface="Times New Roman"/>
              </a:rPr>
              <a:t>Default</a:t>
            </a:r>
            <a:r>
              <a:rPr sz="2200" spc="-310" dirty="0">
                <a:latin typeface="Times New Roman"/>
                <a:cs typeface="Times New Roman"/>
              </a:rPr>
              <a:t> </a:t>
            </a:r>
            <a:r>
              <a:rPr sz="2200" spc="-185" dirty="0">
                <a:latin typeface="Times New Roman"/>
                <a:cs typeface="Times New Roman"/>
              </a:rPr>
              <a:t>VPC</a:t>
            </a:r>
            <a:r>
              <a:rPr sz="2200" spc="-25" dirty="0">
                <a:latin typeface="Times New Roman"/>
                <a:cs typeface="Times New Roman"/>
              </a:rPr>
              <a:t> </a:t>
            </a:r>
            <a:r>
              <a:rPr sz="2200" spc="-145" dirty="0">
                <a:latin typeface="Times New Roman"/>
                <a:cs typeface="Times New Roman"/>
              </a:rPr>
              <a:t>is</a:t>
            </a:r>
            <a:r>
              <a:rPr sz="2200" spc="-30" dirty="0">
                <a:latin typeface="Times New Roman"/>
                <a:cs typeface="Times New Roman"/>
              </a:rPr>
              <a:t> </a:t>
            </a:r>
            <a:r>
              <a:rPr sz="2200" spc="-135" dirty="0">
                <a:latin typeface="Times New Roman"/>
                <a:cs typeface="Times New Roman"/>
              </a:rPr>
              <a:t>already</a:t>
            </a:r>
            <a:r>
              <a:rPr sz="2200" spc="-15" dirty="0">
                <a:latin typeface="Times New Roman"/>
                <a:cs typeface="Times New Roman"/>
              </a:rPr>
              <a:t> </a:t>
            </a:r>
            <a:r>
              <a:rPr sz="2200" spc="-100" dirty="0">
                <a:latin typeface="Times New Roman"/>
                <a:cs typeface="Times New Roman"/>
              </a:rPr>
              <a:t>attached</a:t>
            </a:r>
            <a:r>
              <a:rPr sz="2200" dirty="0">
                <a:latin typeface="Times New Roman"/>
                <a:cs typeface="Times New Roman"/>
              </a:rPr>
              <a:t> </a:t>
            </a:r>
            <a:r>
              <a:rPr sz="2200" spc="-90" dirty="0">
                <a:latin typeface="Times New Roman"/>
                <a:cs typeface="Times New Roman"/>
              </a:rPr>
              <a:t>with</a:t>
            </a:r>
            <a:r>
              <a:rPr sz="2200" spc="-20" dirty="0">
                <a:latin typeface="Times New Roman"/>
                <a:cs typeface="Times New Roman"/>
              </a:rPr>
              <a:t> </a:t>
            </a:r>
            <a:r>
              <a:rPr sz="2200" spc="-140" dirty="0">
                <a:latin typeface="Times New Roman"/>
                <a:cs typeface="Times New Roman"/>
              </a:rPr>
              <a:t>an</a:t>
            </a:r>
            <a:r>
              <a:rPr sz="2200" spc="-25" dirty="0">
                <a:latin typeface="Times New Roman"/>
                <a:cs typeface="Times New Roman"/>
              </a:rPr>
              <a:t> IGW</a:t>
            </a:r>
            <a:endParaRPr sz="2200" dirty="0">
              <a:latin typeface="Times New Roman"/>
              <a:cs typeface="Times New Roman"/>
            </a:endParaRPr>
          </a:p>
          <a:p>
            <a:pPr>
              <a:lnSpc>
                <a:spcPct val="100000"/>
              </a:lnSpc>
              <a:spcBef>
                <a:spcPts val="1305"/>
              </a:spcBef>
            </a:pPr>
            <a:endParaRPr sz="2200" dirty="0">
              <a:latin typeface="Times New Roman"/>
              <a:cs typeface="Times New Roman"/>
            </a:endParaRPr>
          </a:p>
          <a:p>
            <a:pPr marL="12700">
              <a:lnSpc>
                <a:spcPct val="100000"/>
              </a:lnSpc>
              <a:spcBef>
                <a:spcPts val="5"/>
              </a:spcBef>
            </a:pPr>
            <a:r>
              <a:rPr sz="2200" spc="-45" dirty="0">
                <a:latin typeface="Times New Roman"/>
                <a:cs typeface="Times New Roman"/>
              </a:rPr>
              <a:t>If</a:t>
            </a:r>
            <a:r>
              <a:rPr sz="2200" spc="-20" dirty="0">
                <a:latin typeface="Times New Roman"/>
                <a:cs typeface="Times New Roman"/>
              </a:rPr>
              <a:t> </a:t>
            </a:r>
            <a:r>
              <a:rPr sz="2200" spc="-55" dirty="0">
                <a:latin typeface="Times New Roman"/>
                <a:cs typeface="Times New Roman"/>
              </a:rPr>
              <a:t>you</a:t>
            </a:r>
            <a:r>
              <a:rPr sz="2200" spc="-10" dirty="0">
                <a:latin typeface="Times New Roman"/>
                <a:cs typeface="Times New Roman"/>
              </a:rPr>
              <a:t> </a:t>
            </a:r>
            <a:r>
              <a:rPr sz="2200" spc="-50" dirty="0">
                <a:latin typeface="Times New Roman"/>
                <a:cs typeface="Times New Roman"/>
              </a:rPr>
              <a:t>create</a:t>
            </a:r>
            <a:r>
              <a:rPr sz="2200" spc="-25" dirty="0">
                <a:latin typeface="Times New Roman"/>
                <a:cs typeface="Times New Roman"/>
              </a:rPr>
              <a:t> </a:t>
            </a:r>
            <a:r>
              <a:rPr sz="2200" dirty="0">
                <a:latin typeface="Times New Roman"/>
                <a:cs typeface="Times New Roman"/>
              </a:rPr>
              <a:t>a</a:t>
            </a:r>
            <a:r>
              <a:rPr sz="2200" spc="-10" dirty="0">
                <a:latin typeface="Times New Roman"/>
                <a:cs typeface="Times New Roman"/>
              </a:rPr>
              <a:t> </a:t>
            </a:r>
            <a:r>
              <a:rPr sz="2200" spc="-40" dirty="0">
                <a:latin typeface="Times New Roman"/>
                <a:cs typeface="Times New Roman"/>
              </a:rPr>
              <a:t>new</a:t>
            </a:r>
            <a:r>
              <a:rPr sz="2200" spc="-15" dirty="0">
                <a:latin typeface="Times New Roman"/>
                <a:cs typeface="Times New Roman"/>
              </a:rPr>
              <a:t> </a:t>
            </a:r>
            <a:r>
              <a:rPr sz="2200" spc="-100" dirty="0">
                <a:latin typeface="Times New Roman"/>
                <a:cs typeface="Times New Roman"/>
              </a:rPr>
              <a:t>VPC</a:t>
            </a:r>
            <a:r>
              <a:rPr sz="2200" spc="-15" dirty="0">
                <a:latin typeface="Times New Roman"/>
                <a:cs typeface="Times New Roman"/>
              </a:rPr>
              <a:t> </a:t>
            </a:r>
            <a:r>
              <a:rPr sz="2200" spc="-20" dirty="0">
                <a:latin typeface="Times New Roman"/>
                <a:cs typeface="Times New Roman"/>
              </a:rPr>
              <a:t>then </a:t>
            </a:r>
            <a:r>
              <a:rPr sz="2200" spc="-55" dirty="0">
                <a:latin typeface="Times New Roman"/>
                <a:cs typeface="Times New Roman"/>
              </a:rPr>
              <a:t>you</a:t>
            </a:r>
            <a:r>
              <a:rPr sz="2200" spc="-5" dirty="0">
                <a:latin typeface="Times New Roman"/>
                <a:cs typeface="Times New Roman"/>
              </a:rPr>
              <a:t> </a:t>
            </a:r>
            <a:r>
              <a:rPr sz="2200" spc="-35" dirty="0">
                <a:latin typeface="Times New Roman"/>
                <a:cs typeface="Times New Roman"/>
              </a:rPr>
              <a:t>must</a:t>
            </a:r>
            <a:r>
              <a:rPr sz="2200" spc="-20" dirty="0">
                <a:latin typeface="Times New Roman"/>
                <a:cs typeface="Times New Roman"/>
              </a:rPr>
              <a:t> </a:t>
            </a:r>
            <a:r>
              <a:rPr sz="2200" spc="-55" dirty="0">
                <a:latin typeface="Times New Roman"/>
                <a:cs typeface="Times New Roman"/>
              </a:rPr>
              <a:t>attach</a:t>
            </a:r>
            <a:r>
              <a:rPr sz="2200" spc="-20" dirty="0">
                <a:latin typeface="Times New Roman"/>
                <a:cs typeface="Times New Roman"/>
              </a:rPr>
              <a:t> </a:t>
            </a:r>
            <a:r>
              <a:rPr sz="2200" dirty="0">
                <a:latin typeface="Times New Roman"/>
                <a:cs typeface="Times New Roman"/>
              </a:rPr>
              <a:t>the</a:t>
            </a:r>
            <a:r>
              <a:rPr sz="2200" spc="-15" dirty="0">
                <a:latin typeface="Times New Roman"/>
                <a:cs typeface="Times New Roman"/>
              </a:rPr>
              <a:t> </a:t>
            </a:r>
            <a:r>
              <a:rPr sz="2200" spc="-50" dirty="0">
                <a:latin typeface="Times New Roman"/>
                <a:cs typeface="Times New Roman"/>
              </a:rPr>
              <a:t>IGW</a:t>
            </a:r>
            <a:r>
              <a:rPr sz="2200" spc="-15" dirty="0">
                <a:latin typeface="Times New Roman"/>
                <a:cs typeface="Times New Roman"/>
              </a:rPr>
              <a:t> </a:t>
            </a:r>
            <a:r>
              <a:rPr sz="2200" dirty="0">
                <a:latin typeface="Times New Roman"/>
                <a:cs typeface="Times New Roman"/>
              </a:rPr>
              <a:t>in</a:t>
            </a:r>
            <a:r>
              <a:rPr sz="2200" spc="-15" dirty="0">
                <a:latin typeface="Times New Roman"/>
                <a:cs typeface="Times New Roman"/>
              </a:rPr>
              <a:t> </a:t>
            </a:r>
            <a:r>
              <a:rPr sz="2200" dirty="0">
                <a:latin typeface="Times New Roman"/>
                <a:cs typeface="Times New Roman"/>
              </a:rPr>
              <a:t>order</a:t>
            </a:r>
            <a:r>
              <a:rPr sz="2200" spc="-10" dirty="0">
                <a:latin typeface="Times New Roman"/>
                <a:cs typeface="Times New Roman"/>
              </a:rPr>
              <a:t> </a:t>
            </a:r>
            <a:r>
              <a:rPr sz="2200" dirty="0">
                <a:latin typeface="Times New Roman"/>
                <a:cs typeface="Times New Roman"/>
              </a:rPr>
              <a:t>to</a:t>
            </a:r>
            <a:r>
              <a:rPr sz="2200" spc="-10" dirty="0">
                <a:latin typeface="Times New Roman"/>
                <a:cs typeface="Times New Roman"/>
              </a:rPr>
              <a:t> </a:t>
            </a:r>
            <a:r>
              <a:rPr sz="2200" spc="-114" dirty="0">
                <a:latin typeface="Times New Roman"/>
                <a:cs typeface="Times New Roman"/>
              </a:rPr>
              <a:t>access</a:t>
            </a:r>
            <a:r>
              <a:rPr sz="2200" spc="-25" dirty="0">
                <a:latin typeface="Times New Roman"/>
                <a:cs typeface="Times New Roman"/>
              </a:rPr>
              <a:t> the</a:t>
            </a:r>
            <a:r>
              <a:rPr lang="en-US" sz="2200" spc="-25" dirty="0">
                <a:latin typeface="Times New Roman"/>
                <a:cs typeface="Times New Roman"/>
              </a:rPr>
              <a:t> </a:t>
            </a:r>
            <a:r>
              <a:rPr sz="2200" spc="-10" dirty="0">
                <a:latin typeface="Times New Roman"/>
                <a:cs typeface="Times New Roman"/>
              </a:rPr>
              <a:t>Internet</a:t>
            </a:r>
            <a:endParaRPr sz="2200" dirty="0">
              <a:latin typeface="Times New Roman"/>
              <a:cs typeface="Times New Roman"/>
            </a:endParaRPr>
          </a:p>
          <a:p>
            <a:pPr>
              <a:lnSpc>
                <a:spcPct val="100000"/>
              </a:lnSpc>
              <a:spcBef>
                <a:spcPts val="1310"/>
              </a:spcBef>
            </a:pPr>
            <a:endParaRPr sz="2200" dirty="0">
              <a:latin typeface="Times New Roman"/>
              <a:cs typeface="Times New Roman"/>
            </a:endParaRPr>
          </a:p>
          <a:p>
            <a:pPr marL="12700">
              <a:lnSpc>
                <a:spcPct val="100000"/>
              </a:lnSpc>
            </a:pPr>
            <a:r>
              <a:rPr sz="2200" spc="-120" dirty="0">
                <a:latin typeface="Times New Roman"/>
                <a:cs typeface="Times New Roman"/>
              </a:rPr>
              <a:t>Ensure</a:t>
            </a:r>
            <a:r>
              <a:rPr sz="2200" spc="-15" dirty="0">
                <a:latin typeface="Times New Roman"/>
                <a:cs typeface="Times New Roman"/>
              </a:rPr>
              <a:t> </a:t>
            </a:r>
            <a:r>
              <a:rPr sz="2200" spc="-75" dirty="0">
                <a:latin typeface="Times New Roman"/>
                <a:cs typeface="Times New Roman"/>
              </a:rPr>
              <a:t>that</a:t>
            </a:r>
            <a:r>
              <a:rPr sz="2200" spc="-50" dirty="0">
                <a:latin typeface="Times New Roman"/>
                <a:cs typeface="Times New Roman"/>
              </a:rPr>
              <a:t> </a:t>
            </a:r>
            <a:r>
              <a:rPr sz="2200" spc="-105" dirty="0">
                <a:latin typeface="Times New Roman"/>
                <a:cs typeface="Times New Roman"/>
              </a:rPr>
              <a:t>your</a:t>
            </a:r>
            <a:r>
              <a:rPr sz="2200" spc="-25" dirty="0">
                <a:latin typeface="Times New Roman"/>
                <a:cs typeface="Times New Roman"/>
              </a:rPr>
              <a:t> </a:t>
            </a:r>
            <a:r>
              <a:rPr sz="2200" spc="-140" dirty="0">
                <a:latin typeface="Times New Roman"/>
                <a:cs typeface="Times New Roman"/>
              </a:rPr>
              <a:t>subnet’s</a:t>
            </a:r>
            <a:r>
              <a:rPr sz="2200" spc="-35" dirty="0">
                <a:latin typeface="Times New Roman"/>
                <a:cs typeface="Times New Roman"/>
              </a:rPr>
              <a:t> </a:t>
            </a:r>
            <a:r>
              <a:rPr sz="2200" spc="-50" dirty="0">
                <a:latin typeface="Times New Roman"/>
                <a:cs typeface="Times New Roman"/>
              </a:rPr>
              <a:t>route</a:t>
            </a:r>
            <a:r>
              <a:rPr sz="2200" spc="-30" dirty="0">
                <a:latin typeface="Times New Roman"/>
                <a:cs typeface="Times New Roman"/>
              </a:rPr>
              <a:t> </a:t>
            </a:r>
            <a:r>
              <a:rPr sz="2200" spc="-105" dirty="0">
                <a:latin typeface="Times New Roman"/>
                <a:cs typeface="Times New Roman"/>
              </a:rPr>
              <a:t>table</a:t>
            </a:r>
            <a:r>
              <a:rPr sz="2200" spc="-60" dirty="0">
                <a:latin typeface="Times New Roman"/>
                <a:cs typeface="Times New Roman"/>
              </a:rPr>
              <a:t> </a:t>
            </a:r>
            <a:r>
              <a:rPr sz="2200" spc="-100" dirty="0">
                <a:latin typeface="Times New Roman"/>
                <a:cs typeface="Times New Roman"/>
              </a:rPr>
              <a:t>points</a:t>
            </a:r>
            <a:r>
              <a:rPr sz="2200" spc="-40" dirty="0">
                <a:latin typeface="Times New Roman"/>
                <a:cs typeface="Times New Roman"/>
              </a:rPr>
              <a:t> </a:t>
            </a:r>
            <a:r>
              <a:rPr sz="2200" dirty="0">
                <a:latin typeface="Times New Roman"/>
                <a:cs typeface="Times New Roman"/>
              </a:rPr>
              <a:t>to</a:t>
            </a:r>
            <a:r>
              <a:rPr sz="2200" spc="-35" dirty="0">
                <a:latin typeface="Times New Roman"/>
                <a:cs typeface="Times New Roman"/>
              </a:rPr>
              <a:t> </a:t>
            </a:r>
            <a:r>
              <a:rPr sz="2200" spc="-70" dirty="0">
                <a:latin typeface="Times New Roman"/>
                <a:cs typeface="Times New Roman"/>
              </a:rPr>
              <a:t>the</a:t>
            </a:r>
            <a:r>
              <a:rPr sz="2200" spc="-55" dirty="0">
                <a:latin typeface="Times New Roman"/>
                <a:cs typeface="Times New Roman"/>
              </a:rPr>
              <a:t> </a:t>
            </a:r>
            <a:r>
              <a:rPr sz="2200" spc="-25" dirty="0">
                <a:latin typeface="Times New Roman"/>
                <a:cs typeface="Times New Roman"/>
              </a:rPr>
              <a:t>IGW</a:t>
            </a:r>
            <a:endParaRPr sz="2200" dirty="0">
              <a:latin typeface="Times New Roman"/>
              <a:cs typeface="Times New Roman"/>
            </a:endParaRPr>
          </a:p>
          <a:p>
            <a:pPr>
              <a:lnSpc>
                <a:spcPct val="100000"/>
              </a:lnSpc>
              <a:spcBef>
                <a:spcPts val="1310"/>
              </a:spcBef>
            </a:pPr>
            <a:endParaRPr sz="2200" dirty="0">
              <a:latin typeface="Times New Roman"/>
              <a:cs typeface="Times New Roman"/>
            </a:endParaRPr>
          </a:p>
          <a:p>
            <a:pPr marL="12700">
              <a:lnSpc>
                <a:spcPct val="100000"/>
              </a:lnSpc>
            </a:pPr>
            <a:r>
              <a:rPr sz="2200" spc="-75" dirty="0">
                <a:latin typeface="Times New Roman"/>
                <a:cs typeface="Times New Roman"/>
              </a:rPr>
              <a:t>It</a:t>
            </a:r>
            <a:r>
              <a:rPr sz="2200" spc="-30" dirty="0">
                <a:latin typeface="Times New Roman"/>
                <a:cs typeface="Times New Roman"/>
              </a:rPr>
              <a:t> </a:t>
            </a:r>
            <a:r>
              <a:rPr sz="2200" spc="-90" dirty="0">
                <a:latin typeface="Times New Roman"/>
                <a:cs typeface="Times New Roman"/>
              </a:rPr>
              <a:t>performs</a:t>
            </a:r>
            <a:r>
              <a:rPr sz="2200" spc="10" dirty="0">
                <a:latin typeface="Times New Roman"/>
                <a:cs typeface="Times New Roman"/>
              </a:rPr>
              <a:t> </a:t>
            </a:r>
            <a:r>
              <a:rPr sz="2200" spc="-250" dirty="0">
                <a:latin typeface="Times New Roman"/>
                <a:cs typeface="Times New Roman"/>
              </a:rPr>
              <a:t>NAT</a:t>
            </a:r>
            <a:r>
              <a:rPr sz="2200" spc="-10" dirty="0">
                <a:latin typeface="Times New Roman"/>
                <a:cs typeface="Times New Roman"/>
              </a:rPr>
              <a:t> </a:t>
            </a:r>
            <a:r>
              <a:rPr sz="2200" spc="-105" dirty="0">
                <a:latin typeface="Times New Roman"/>
                <a:cs typeface="Times New Roman"/>
              </a:rPr>
              <a:t>between</a:t>
            </a:r>
            <a:r>
              <a:rPr sz="2200" spc="-35" dirty="0">
                <a:latin typeface="Times New Roman"/>
                <a:cs typeface="Times New Roman"/>
              </a:rPr>
              <a:t> </a:t>
            </a:r>
            <a:r>
              <a:rPr sz="2200" spc="-105" dirty="0">
                <a:latin typeface="Times New Roman"/>
                <a:cs typeface="Times New Roman"/>
              </a:rPr>
              <a:t>your</a:t>
            </a:r>
            <a:r>
              <a:rPr sz="2200" spc="-10" dirty="0">
                <a:latin typeface="Times New Roman"/>
                <a:cs typeface="Times New Roman"/>
              </a:rPr>
              <a:t> </a:t>
            </a:r>
            <a:r>
              <a:rPr sz="2200" spc="-100" dirty="0">
                <a:latin typeface="Times New Roman"/>
                <a:cs typeface="Times New Roman"/>
              </a:rPr>
              <a:t>private</a:t>
            </a:r>
            <a:r>
              <a:rPr sz="2200" spc="-20" dirty="0">
                <a:latin typeface="Times New Roman"/>
                <a:cs typeface="Times New Roman"/>
              </a:rPr>
              <a:t> </a:t>
            </a:r>
            <a:r>
              <a:rPr sz="2200" spc="-135" dirty="0">
                <a:latin typeface="Times New Roman"/>
                <a:cs typeface="Times New Roman"/>
              </a:rPr>
              <a:t>and</a:t>
            </a:r>
            <a:r>
              <a:rPr sz="2200" spc="-20" dirty="0">
                <a:latin typeface="Times New Roman"/>
                <a:cs typeface="Times New Roman"/>
              </a:rPr>
              <a:t> </a:t>
            </a:r>
            <a:r>
              <a:rPr sz="2200" spc="-125" dirty="0">
                <a:latin typeface="Times New Roman"/>
                <a:cs typeface="Times New Roman"/>
              </a:rPr>
              <a:t>public</a:t>
            </a:r>
            <a:r>
              <a:rPr sz="2200" spc="-15" dirty="0">
                <a:latin typeface="Times New Roman"/>
                <a:cs typeface="Times New Roman"/>
              </a:rPr>
              <a:t> </a:t>
            </a:r>
            <a:r>
              <a:rPr sz="2200" spc="-185" dirty="0">
                <a:latin typeface="Times New Roman"/>
                <a:cs typeface="Times New Roman"/>
              </a:rPr>
              <a:t>IPV4</a:t>
            </a:r>
            <a:r>
              <a:rPr sz="2200" spc="-15" dirty="0">
                <a:latin typeface="Times New Roman"/>
                <a:cs typeface="Times New Roman"/>
              </a:rPr>
              <a:t> </a:t>
            </a:r>
            <a:r>
              <a:rPr sz="2200" spc="-10" dirty="0">
                <a:latin typeface="Times New Roman"/>
                <a:cs typeface="Times New Roman"/>
              </a:rPr>
              <a:t>address.</a:t>
            </a:r>
            <a:endParaRPr sz="2200" dirty="0">
              <a:latin typeface="Times New Roman"/>
              <a:cs typeface="Times New Roman"/>
            </a:endParaRPr>
          </a:p>
          <a:p>
            <a:pPr>
              <a:lnSpc>
                <a:spcPct val="100000"/>
              </a:lnSpc>
              <a:spcBef>
                <a:spcPts val="1310"/>
              </a:spcBef>
            </a:pPr>
            <a:endParaRPr sz="2200" dirty="0">
              <a:latin typeface="Times New Roman"/>
              <a:cs typeface="Times New Roman"/>
            </a:endParaRPr>
          </a:p>
          <a:p>
            <a:pPr marL="12700">
              <a:lnSpc>
                <a:spcPct val="100000"/>
              </a:lnSpc>
              <a:spcBef>
                <a:spcPts val="5"/>
              </a:spcBef>
            </a:pPr>
            <a:r>
              <a:rPr sz="2200" spc="-65" dirty="0">
                <a:latin typeface="Times New Roman"/>
                <a:cs typeface="Times New Roman"/>
              </a:rPr>
              <a:t>It</a:t>
            </a:r>
            <a:r>
              <a:rPr sz="2200" spc="-50" dirty="0">
                <a:latin typeface="Times New Roman"/>
                <a:cs typeface="Times New Roman"/>
              </a:rPr>
              <a:t> </a:t>
            </a:r>
            <a:r>
              <a:rPr sz="2200" spc="-80" dirty="0">
                <a:latin typeface="Times New Roman"/>
                <a:cs typeface="Times New Roman"/>
              </a:rPr>
              <a:t>supports</a:t>
            </a:r>
            <a:r>
              <a:rPr sz="2200" spc="-5" dirty="0">
                <a:latin typeface="Times New Roman"/>
                <a:cs typeface="Times New Roman"/>
              </a:rPr>
              <a:t> </a:t>
            </a:r>
            <a:r>
              <a:rPr sz="2200" spc="-90" dirty="0">
                <a:latin typeface="Times New Roman"/>
                <a:cs typeface="Times New Roman"/>
              </a:rPr>
              <a:t>both</a:t>
            </a:r>
            <a:r>
              <a:rPr sz="2200" spc="-45" dirty="0">
                <a:latin typeface="Times New Roman"/>
                <a:cs typeface="Times New Roman"/>
              </a:rPr>
              <a:t> </a:t>
            </a:r>
            <a:r>
              <a:rPr sz="2200" spc="-180" dirty="0">
                <a:latin typeface="Times New Roman"/>
                <a:cs typeface="Times New Roman"/>
              </a:rPr>
              <a:t>IPV4</a:t>
            </a:r>
            <a:r>
              <a:rPr sz="2200" spc="-35" dirty="0">
                <a:latin typeface="Times New Roman"/>
                <a:cs typeface="Times New Roman"/>
              </a:rPr>
              <a:t> </a:t>
            </a:r>
            <a:r>
              <a:rPr sz="2200" spc="-135" dirty="0">
                <a:latin typeface="Times New Roman"/>
                <a:cs typeface="Times New Roman"/>
              </a:rPr>
              <a:t>and</a:t>
            </a:r>
            <a:r>
              <a:rPr sz="2200" spc="-35" dirty="0">
                <a:latin typeface="Times New Roman"/>
                <a:cs typeface="Times New Roman"/>
              </a:rPr>
              <a:t> </a:t>
            </a:r>
            <a:r>
              <a:rPr sz="2200" spc="-20" dirty="0">
                <a:latin typeface="Times New Roman"/>
                <a:cs typeface="Times New Roman"/>
              </a:rPr>
              <a:t>IPV6</a:t>
            </a:r>
            <a:endParaRPr sz="2200" dirty="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45</a:t>
            </a:fld>
            <a:endParaRPr spc="-25" dirty="0"/>
          </a:p>
        </p:txBody>
      </p:sp>
    </p:spTree>
    <p:extLst>
      <p:ext uri="{BB962C8B-B14F-4D97-AF65-F5344CB8AC3E}">
        <p14:creationId xmlns:p14="http://schemas.microsoft.com/office/powerpoint/2010/main" val="7323851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D56FD-C28D-3D97-CC76-B1A0BCB905FB}"/>
              </a:ext>
            </a:extLst>
          </p:cNvPr>
          <p:cNvSpPr>
            <a:spLocks noGrp="1"/>
          </p:cNvSpPr>
          <p:nvPr>
            <p:ph type="title"/>
          </p:nvPr>
        </p:nvSpPr>
        <p:spPr>
          <a:xfrm>
            <a:off x="307340" y="247599"/>
            <a:ext cx="8529319" cy="446276"/>
          </a:xfrm>
        </p:spPr>
        <p:txBody>
          <a:bodyPr/>
          <a:lstStyle/>
          <a:p>
            <a:r>
              <a:rPr lang="en-US" dirty="0"/>
              <a:t>Route Tables,</a:t>
            </a:r>
          </a:p>
        </p:txBody>
      </p:sp>
      <p:sp>
        <p:nvSpPr>
          <p:cNvPr id="3" name="Text Placeholder 2">
            <a:extLst>
              <a:ext uri="{FF2B5EF4-FFF2-40B4-BE49-F238E27FC236}">
                <a16:creationId xmlns:a16="http://schemas.microsoft.com/office/drawing/2014/main" id="{3D8300B1-CDC4-5026-8250-85B92D995D83}"/>
              </a:ext>
            </a:extLst>
          </p:cNvPr>
          <p:cNvSpPr>
            <a:spLocks noGrp="1"/>
          </p:cNvSpPr>
          <p:nvPr>
            <p:ph type="body" idx="1"/>
          </p:nvPr>
        </p:nvSpPr>
        <p:spPr>
          <a:xfrm>
            <a:off x="307340" y="1057402"/>
            <a:ext cx="8301355" cy="2215991"/>
          </a:xfrm>
        </p:spPr>
        <p:txBody>
          <a:bodyPr/>
          <a:lstStyle/>
          <a:p>
            <a:r>
              <a:rPr lang="en-US" dirty="0"/>
              <a:t>A route table contains a set of rules, called routes, that determine where network traffic from a subnet or gateway is directed. Each route specifies a destination and a target. The destination is the range of IP addresses to which you want traffic to go, and the target is the gateway, network interface, or connection through which that traffic should travel.</a:t>
            </a:r>
          </a:p>
        </p:txBody>
      </p:sp>
    </p:spTree>
    <p:extLst>
      <p:ext uri="{BB962C8B-B14F-4D97-AF65-F5344CB8AC3E}">
        <p14:creationId xmlns:p14="http://schemas.microsoft.com/office/powerpoint/2010/main" val="32790703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6C128-EB7A-10DB-9C88-EA36DD8123FB}"/>
              </a:ext>
            </a:extLst>
          </p:cNvPr>
          <p:cNvSpPr>
            <a:spLocks noGrp="1"/>
          </p:cNvSpPr>
          <p:nvPr>
            <p:ph type="title"/>
          </p:nvPr>
        </p:nvSpPr>
        <p:spPr>
          <a:xfrm>
            <a:off x="307340" y="247599"/>
            <a:ext cx="8529319" cy="938719"/>
          </a:xfrm>
        </p:spPr>
        <p:txBody>
          <a:bodyPr/>
          <a:lstStyle/>
          <a:p>
            <a:pPr rtl="0"/>
            <a:r>
              <a:rPr lang="en-US" altLang="en-US" sz="3200" b="1" dirty="0">
                <a:latin typeface="Arial" panose="020B0604020202020204" pitchFamily="34" charset="0"/>
              </a:rPr>
              <a:t>How Route Tables Work</a:t>
            </a:r>
            <a:br>
              <a:rPr lang="en-US" altLang="en-US" sz="3200" b="1" dirty="0">
                <a:latin typeface="Arial" panose="020B0604020202020204" pitchFamily="34" charset="0"/>
              </a:rPr>
            </a:br>
            <a:endParaRPr lang="en-US" dirty="0"/>
          </a:p>
        </p:txBody>
      </p:sp>
      <p:sp>
        <p:nvSpPr>
          <p:cNvPr id="12" name="Rectangle 9">
            <a:extLst>
              <a:ext uri="{FF2B5EF4-FFF2-40B4-BE49-F238E27FC236}">
                <a16:creationId xmlns:a16="http://schemas.microsoft.com/office/drawing/2014/main" id="{A5701622-B893-D46C-B517-2893D52EDF76}"/>
              </a:ext>
            </a:extLst>
          </p:cNvPr>
          <p:cNvSpPr>
            <a:spLocks noChangeArrowheads="1"/>
          </p:cNvSpPr>
          <p:nvPr/>
        </p:nvSpPr>
        <p:spPr bwMode="auto">
          <a:xfrm>
            <a:off x="27562" y="990209"/>
            <a:ext cx="8809097" cy="5586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1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100" b="0" i="0" u="none" strike="noStrike" cap="none" normalizeH="0" baseline="0" dirty="0">
                <a:ln>
                  <a:noFill/>
                </a:ln>
                <a:solidFill>
                  <a:schemeClr val="tx1"/>
                </a:solidFill>
                <a:effectLst/>
                <a:latin typeface="Arial" panose="020B0604020202020204" pitchFamily="34" charset="0"/>
              </a:rPr>
              <a:t>A route table is essential for controlling the flow of traffic within a virtual private cloud (VPC) and between the VPC and external networks. Here’s a breakdown of its key components and functions: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Arial" panose="020B0604020202020204" pitchFamily="34" charset="0"/>
              </a:rPr>
              <a:t>Destination:</a:t>
            </a:r>
            <a:r>
              <a:rPr kumimoji="0" lang="en-US" altLang="en-US" sz="2100" b="0" i="0" u="none" strike="noStrike" cap="none" normalizeH="0" baseline="0" dirty="0">
                <a:ln>
                  <a:noFill/>
                </a:ln>
                <a:solidFill>
                  <a:schemeClr val="tx1"/>
                </a:solidFill>
                <a:effectLst/>
                <a:latin typeface="Arial" panose="020B0604020202020204" pitchFamily="34" charset="0"/>
              </a:rPr>
              <a:t> This is a CIDR block (e.g., </a:t>
            </a:r>
            <a:r>
              <a:rPr kumimoji="0" lang="en-US" altLang="en-US" sz="2100" b="0" i="0" u="none" strike="noStrike" cap="none" normalizeH="0" baseline="0" dirty="0">
                <a:ln>
                  <a:noFill/>
                </a:ln>
                <a:solidFill>
                  <a:schemeClr val="tx1"/>
                </a:solidFill>
                <a:effectLst/>
                <a:latin typeface="Arial Unicode MS"/>
              </a:rPr>
              <a:t>10.0.0.0/16</a:t>
            </a:r>
            <a:r>
              <a:rPr kumimoji="0" lang="en-US" altLang="en-US" sz="2100" b="0" i="0" u="none" strike="noStrike" cap="none" normalizeH="0" baseline="0" dirty="0">
                <a:ln>
                  <a:noFill/>
                </a:ln>
                <a:solidFill>
                  <a:schemeClr val="tx1"/>
                </a:solidFill>
                <a:effectLst/>
              </a:rPr>
              <a:t>) that specifies the range of IP addresses for which a route applies. For example, a destination of </a:t>
            </a:r>
            <a:r>
              <a:rPr kumimoji="0" lang="en-US" altLang="en-US" sz="2100" b="0" i="0" u="none" strike="noStrike" cap="none" normalizeH="0" baseline="0" dirty="0">
                <a:ln>
                  <a:noFill/>
                </a:ln>
                <a:solidFill>
                  <a:schemeClr val="tx1"/>
                </a:solidFill>
                <a:effectLst/>
                <a:latin typeface="Arial Unicode MS"/>
              </a:rPr>
              <a:t>0.0.0.0/0</a:t>
            </a:r>
            <a:r>
              <a:rPr kumimoji="0" lang="en-US" altLang="en-US" sz="2100" b="0" i="0" u="none" strike="noStrike" cap="none" normalizeH="0" baseline="0" dirty="0">
                <a:ln>
                  <a:noFill/>
                </a:ln>
                <a:solidFill>
                  <a:schemeClr val="tx1"/>
                </a:solidFill>
                <a:effectLst/>
              </a:rPr>
              <a:t> represents all IP addresses outside the VPC, which is often used for internet traffic.</a:t>
            </a: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Arial" panose="020B0604020202020204" pitchFamily="34" charset="0"/>
              </a:rPr>
              <a:t>Target:</a:t>
            </a:r>
            <a:r>
              <a:rPr kumimoji="0" lang="en-US" altLang="en-US" sz="2100" b="0" i="0" u="none" strike="noStrike" cap="none" normalizeH="0" baseline="0" dirty="0">
                <a:ln>
                  <a:noFill/>
                </a:ln>
                <a:solidFill>
                  <a:schemeClr val="tx1"/>
                </a:solidFill>
                <a:effectLst/>
                <a:latin typeface="Arial" panose="020B0604020202020204" pitchFamily="34" charset="0"/>
              </a:rPr>
              <a:t> This is the next hop for the traffic. The target could be:</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An </a:t>
            </a:r>
            <a:r>
              <a:rPr kumimoji="0" lang="en-US" altLang="en-US" sz="2100" b="1" i="0" u="none" strike="noStrike" cap="none" normalizeH="0" baseline="0" dirty="0">
                <a:ln>
                  <a:noFill/>
                </a:ln>
                <a:solidFill>
                  <a:schemeClr val="tx1"/>
                </a:solidFill>
                <a:effectLst/>
                <a:latin typeface="Arial" panose="020B0604020202020204" pitchFamily="34" charset="0"/>
              </a:rPr>
              <a:t>Internet Gateway (IGW)</a:t>
            </a:r>
            <a:r>
              <a:rPr kumimoji="0" lang="en-US" altLang="en-US" sz="2100" b="0" i="0" u="none" strike="noStrike" cap="none" normalizeH="0" baseline="0" dirty="0">
                <a:ln>
                  <a:noFill/>
                </a:ln>
                <a:solidFill>
                  <a:schemeClr val="tx1"/>
                </a:solidFill>
                <a:effectLst/>
                <a:latin typeface="Arial" panose="020B0604020202020204" pitchFamily="34" charset="0"/>
              </a:rPr>
              <a:t> for outbound internet access.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A </a:t>
            </a:r>
            <a:r>
              <a:rPr kumimoji="0" lang="en-US" altLang="en-US" sz="2100" b="1" i="0" u="none" strike="noStrike" cap="none" normalizeH="0" baseline="0" dirty="0">
                <a:ln>
                  <a:noFill/>
                </a:ln>
                <a:solidFill>
                  <a:schemeClr val="tx1"/>
                </a:solidFill>
                <a:effectLst/>
                <a:latin typeface="Arial" panose="020B0604020202020204" pitchFamily="34" charset="0"/>
              </a:rPr>
              <a:t>NAT Gateway</a:t>
            </a:r>
            <a:r>
              <a:rPr kumimoji="0" lang="en-US" altLang="en-US" sz="2100" b="0" i="0" u="none" strike="noStrike" cap="none" normalizeH="0" baseline="0" dirty="0">
                <a:ln>
                  <a:noFill/>
                </a:ln>
                <a:solidFill>
                  <a:schemeClr val="tx1"/>
                </a:solidFill>
                <a:effectLst/>
                <a:latin typeface="Arial" panose="020B0604020202020204" pitchFamily="34" charset="0"/>
              </a:rPr>
              <a:t> for private subnet instances to access the internet.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A </a:t>
            </a:r>
            <a:r>
              <a:rPr kumimoji="0" lang="en-US" altLang="en-US" sz="2100" b="1" i="0" u="none" strike="noStrike" cap="none" normalizeH="0" baseline="0" dirty="0">
                <a:ln>
                  <a:noFill/>
                </a:ln>
                <a:solidFill>
                  <a:schemeClr val="tx1"/>
                </a:solidFill>
                <a:effectLst/>
                <a:latin typeface="Arial" panose="020B0604020202020204" pitchFamily="34" charset="0"/>
              </a:rPr>
              <a:t>Virtual Private Gateway (VGW)</a:t>
            </a:r>
            <a:r>
              <a:rPr kumimoji="0" lang="en-US" altLang="en-US" sz="2100" b="0" i="0" u="none" strike="noStrike" cap="none" normalizeH="0" baseline="0" dirty="0">
                <a:ln>
                  <a:noFill/>
                </a:ln>
                <a:solidFill>
                  <a:schemeClr val="tx1"/>
                </a:solidFill>
                <a:effectLst/>
                <a:latin typeface="Arial" panose="020B0604020202020204" pitchFamily="34" charset="0"/>
              </a:rPr>
              <a:t> for connecting to a corporate network via a VPN.</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A </a:t>
            </a:r>
            <a:r>
              <a:rPr kumimoji="0" lang="en-US" altLang="en-US" sz="2100" b="1" i="0" u="none" strike="noStrike" cap="none" normalizeH="0" baseline="0" dirty="0">
                <a:ln>
                  <a:noFill/>
                </a:ln>
                <a:solidFill>
                  <a:schemeClr val="tx1"/>
                </a:solidFill>
                <a:effectLst/>
                <a:latin typeface="Arial" panose="020B0604020202020204" pitchFamily="34" charset="0"/>
              </a:rPr>
              <a:t>Peering Connection</a:t>
            </a:r>
            <a:r>
              <a:rPr kumimoji="0" lang="en-US" altLang="en-US" sz="2100" b="0" i="0" u="none" strike="noStrike" cap="none" normalizeH="0" baseline="0" dirty="0">
                <a:ln>
                  <a:noFill/>
                </a:ln>
                <a:solidFill>
                  <a:schemeClr val="tx1"/>
                </a:solidFill>
                <a:effectLst/>
                <a:latin typeface="Arial" panose="020B0604020202020204" pitchFamily="34" charset="0"/>
              </a:rPr>
              <a:t> to route traffic to another VPC.</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An </a:t>
            </a:r>
            <a:r>
              <a:rPr kumimoji="0" lang="en-US" altLang="en-US" sz="2100" b="1" i="0" u="none" strike="noStrike" cap="none" normalizeH="0" baseline="0" dirty="0">
                <a:ln>
                  <a:noFill/>
                </a:ln>
                <a:solidFill>
                  <a:schemeClr val="tx1"/>
                </a:solidFill>
                <a:effectLst/>
                <a:latin typeface="Arial" panose="020B0604020202020204" pitchFamily="34" charset="0"/>
              </a:rPr>
              <a:t>Elastic Network Interface (ENI)</a:t>
            </a:r>
            <a:r>
              <a:rPr kumimoji="0" lang="en-US" altLang="en-US" sz="2100" b="0" i="0" u="none" strike="noStrike" cap="none" normalizeH="0" baseline="0" dirty="0">
                <a:ln>
                  <a:noFill/>
                </a:ln>
                <a:solidFill>
                  <a:schemeClr val="tx1"/>
                </a:solidFill>
                <a:effectLst/>
                <a:latin typeface="Arial" panose="020B0604020202020204" pitchFamily="34" charset="0"/>
              </a:rPr>
              <a:t> to send traffic to a specific instance or a VPC endpoint.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942517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17BD6-C492-8046-B135-5E813AEDCD9D}"/>
              </a:ext>
            </a:extLst>
          </p:cNvPr>
          <p:cNvSpPr>
            <a:spLocks noGrp="1"/>
          </p:cNvSpPr>
          <p:nvPr>
            <p:ph type="title"/>
          </p:nvPr>
        </p:nvSpPr>
        <p:spPr>
          <a:xfrm>
            <a:off x="307340" y="247599"/>
            <a:ext cx="8529319" cy="938719"/>
          </a:xfrm>
        </p:spPr>
        <p:txBody>
          <a:bodyPr/>
          <a:lstStyle/>
          <a:p>
            <a:pPr rtl="0"/>
            <a:r>
              <a:rPr lang="en-US" altLang="en-US" sz="3200" b="1" dirty="0">
                <a:latin typeface="Arial" panose="020B0604020202020204" pitchFamily="34" charset="0"/>
              </a:rPr>
              <a:t>Types of Route Tables</a:t>
            </a:r>
            <a:br>
              <a:rPr lang="en-US" altLang="en-US" sz="3200" b="1" dirty="0">
                <a:latin typeface="Arial" panose="020B0604020202020204" pitchFamily="34" charset="0"/>
              </a:rPr>
            </a:br>
            <a:endParaRPr lang="en-US" dirty="0"/>
          </a:p>
        </p:txBody>
      </p:sp>
      <p:sp>
        <p:nvSpPr>
          <p:cNvPr id="4" name="Rectangle 1">
            <a:extLst>
              <a:ext uri="{FF2B5EF4-FFF2-40B4-BE49-F238E27FC236}">
                <a16:creationId xmlns:a16="http://schemas.microsoft.com/office/drawing/2014/main" id="{0F842791-1FC3-E4BB-9956-C6AC5479BAD5}"/>
              </a:ext>
            </a:extLst>
          </p:cNvPr>
          <p:cNvSpPr>
            <a:spLocks noGrp="1" noChangeArrowheads="1"/>
          </p:cNvSpPr>
          <p:nvPr>
            <p:ph type="body" idx="1"/>
          </p:nvPr>
        </p:nvSpPr>
        <p:spPr bwMode="auto">
          <a:xfrm>
            <a:off x="249191" y="744520"/>
            <a:ext cx="8587468"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a:ln>
                  <a:noFill/>
                </a:ln>
                <a:solidFill>
                  <a:schemeClr val="tx1"/>
                </a:solidFill>
                <a:effectLst/>
                <a:latin typeface="Arial" panose="020B0604020202020204" pitchFamily="34" charset="0"/>
              </a:rPr>
              <a:t>Main Route Table:</a:t>
            </a:r>
            <a:r>
              <a:rPr kumimoji="0" lang="en-US" altLang="en-US" sz="2000" b="0" i="0" u="none" strike="noStrike" cap="none" normalizeH="0" baseline="0" dirty="0">
                <a:ln>
                  <a:noFill/>
                </a:ln>
                <a:solidFill>
                  <a:schemeClr val="tx1"/>
                </a:solidFill>
                <a:effectLst/>
                <a:latin typeface="Arial" panose="020B0604020202020204" pitchFamily="34" charset="0"/>
              </a:rPr>
              <a:t> Every VPC comes with a default main route table. By default, all subnets are implicitly associated with the main route table unless you explicitly associate them with a custom route table. You can modify the main route table, but you cannot delete it.</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a:ln>
                  <a:noFill/>
                </a:ln>
                <a:solidFill>
                  <a:schemeClr val="tx1"/>
                </a:solidFill>
                <a:effectLst/>
                <a:latin typeface="Arial" panose="020B0604020202020204" pitchFamily="34" charset="0"/>
              </a:rPr>
              <a:t>Custom Route Table:</a:t>
            </a:r>
            <a:r>
              <a:rPr kumimoji="0" lang="en-US" altLang="en-US" sz="2000" b="0" i="0" u="none" strike="noStrike" cap="none" normalizeH="0" baseline="0" dirty="0">
                <a:ln>
                  <a:noFill/>
                </a:ln>
                <a:solidFill>
                  <a:schemeClr val="tx1"/>
                </a:solidFill>
                <a:effectLst/>
                <a:latin typeface="Arial" panose="020B0604020202020204" pitchFamily="34" charset="0"/>
              </a:rPr>
              <a:t> You can create custom route tables and explicitly associate them with specific subnets. This allows for more granular control over network traffic. For example, you can have one custom route table for public subnets that directs traffic to an Internet Gateway and another for private subnets that directs traffic to a NAT gateway.</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Example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Let's consider a common scenario with a public and a private subnet.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Public Subnet:</a:t>
            </a:r>
            <a:r>
              <a:rPr kumimoji="0" lang="en-US" altLang="en-US" sz="2000" b="0" i="0" u="none" strike="noStrike" cap="none" normalizeH="0" baseline="0" dirty="0">
                <a:ln>
                  <a:noFill/>
                </a:ln>
                <a:solidFill>
                  <a:schemeClr val="tx1"/>
                </a:solidFill>
                <a:effectLst/>
                <a:latin typeface="Arial" panose="020B0604020202020204" pitchFamily="34" charset="0"/>
              </a:rPr>
              <a:t> The route table for the public subnet has a route for all internet traffic (</a:t>
            </a:r>
            <a:r>
              <a:rPr kumimoji="0" lang="en-US" altLang="en-US" sz="2000" b="0" i="0" u="none" strike="noStrike" cap="none" normalizeH="0" baseline="0" dirty="0">
                <a:ln>
                  <a:noFill/>
                </a:ln>
                <a:solidFill>
                  <a:schemeClr val="tx1"/>
                </a:solidFill>
                <a:effectLst/>
                <a:latin typeface="Arial Unicode MS"/>
              </a:rPr>
              <a:t>0.0.0.0/0</a:t>
            </a:r>
            <a:r>
              <a:rPr kumimoji="0" lang="en-US" altLang="en-US" sz="2000" b="0" i="0" u="none" strike="noStrike" cap="none" normalizeH="0" baseline="0" dirty="0">
                <a:ln>
                  <a:noFill/>
                </a:ln>
                <a:solidFill>
                  <a:schemeClr val="tx1"/>
                </a:solidFill>
                <a:effectLst/>
              </a:rPr>
              <a:t>) that points to an </a:t>
            </a:r>
            <a:r>
              <a:rPr kumimoji="0" lang="en-US" altLang="en-US" sz="2000" b="1" i="0" u="none" strike="noStrike" cap="none" normalizeH="0" baseline="0" dirty="0">
                <a:ln>
                  <a:noFill/>
                </a:ln>
                <a:solidFill>
                  <a:schemeClr val="tx1"/>
                </a:solidFill>
                <a:effectLst/>
                <a:latin typeface="Arial" panose="020B0604020202020204" pitchFamily="34" charset="0"/>
              </a:rPr>
              <a:t>Internet Gateway</a:t>
            </a:r>
            <a:r>
              <a:rPr kumimoji="0" lang="en-US" altLang="en-US" sz="2000" b="0" i="0" u="none" strike="noStrike" cap="none" normalizeH="0" baseline="0" dirty="0">
                <a:ln>
                  <a:noFill/>
                </a:ln>
                <a:solidFill>
                  <a:schemeClr val="tx1"/>
                </a:solidFill>
                <a:effectLst/>
                <a:latin typeface="Arial" panose="020B0604020202020204" pitchFamily="34" charset="0"/>
              </a:rPr>
              <a:t>. This allows instances in this subnet to have direct internet access.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Private Subnet:</a:t>
            </a:r>
            <a:r>
              <a:rPr kumimoji="0" lang="en-US" altLang="en-US" sz="2000" b="0" i="0" u="none" strike="noStrike" cap="none" normalizeH="0" baseline="0" dirty="0">
                <a:ln>
                  <a:noFill/>
                </a:ln>
                <a:solidFill>
                  <a:schemeClr val="tx1"/>
                </a:solidFill>
                <a:effectLst/>
                <a:latin typeface="Arial" panose="020B0604020202020204" pitchFamily="34" charset="0"/>
              </a:rPr>
              <a:t> The route table for the private subnet has a route for all internet traffic (</a:t>
            </a:r>
            <a:r>
              <a:rPr kumimoji="0" lang="en-US" altLang="en-US" sz="2000" b="0" i="0" u="none" strike="noStrike" cap="none" normalizeH="0" baseline="0" dirty="0">
                <a:ln>
                  <a:noFill/>
                </a:ln>
                <a:solidFill>
                  <a:schemeClr val="tx1"/>
                </a:solidFill>
                <a:effectLst/>
                <a:latin typeface="Arial Unicode MS"/>
              </a:rPr>
              <a:t>0.0.0.0/0</a:t>
            </a:r>
            <a:r>
              <a:rPr kumimoji="0" lang="en-US" altLang="en-US" sz="2000" b="0" i="0" u="none" strike="noStrike" cap="none" normalizeH="0" baseline="0" dirty="0">
                <a:ln>
                  <a:noFill/>
                </a:ln>
                <a:solidFill>
                  <a:schemeClr val="tx1"/>
                </a:solidFill>
                <a:effectLst/>
              </a:rPr>
              <a:t>) that points to a </a:t>
            </a:r>
            <a:r>
              <a:rPr kumimoji="0" lang="en-US" altLang="en-US" sz="2000" b="1" i="0" u="none" strike="noStrike" cap="none" normalizeH="0" baseline="0" dirty="0">
                <a:ln>
                  <a:noFill/>
                </a:ln>
                <a:solidFill>
                  <a:schemeClr val="tx1"/>
                </a:solidFill>
                <a:effectLst/>
                <a:latin typeface="Arial" panose="020B0604020202020204" pitchFamily="34" charset="0"/>
              </a:rPr>
              <a:t>NAT Gateway</a:t>
            </a:r>
            <a:r>
              <a:rPr kumimoji="0" lang="en-US" altLang="en-US" sz="2000" b="0" i="0" u="none" strike="noStrike" cap="none" normalizeH="0" baseline="0" dirty="0">
                <a:ln>
                  <a:noFill/>
                </a:ln>
                <a:solidFill>
                  <a:schemeClr val="tx1"/>
                </a:solidFill>
                <a:effectLst/>
                <a:latin typeface="Arial" panose="020B0604020202020204" pitchFamily="34" charset="0"/>
              </a:rPr>
              <a:t>. This allows instances in this subnet to access the internet for updates or patches, but prevents unsolicited inbound connections from the internet.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103420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E27F9-6746-B0AA-8FC2-9E2CAEBE6059}"/>
              </a:ext>
            </a:extLst>
          </p:cNvPr>
          <p:cNvSpPr>
            <a:spLocks noGrp="1"/>
          </p:cNvSpPr>
          <p:nvPr>
            <p:ph type="title"/>
          </p:nvPr>
        </p:nvSpPr>
        <p:spPr>
          <a:xfrm>
            <a:off x="307340" y="247599"/>
            <a:ext cx="8529319" cy="446276"/>
          </a:xfrm>
        </p:spPr>
        <p:txBody>
          <a:bodyPr/>
          <a:lstStyle/>
          <a:p>
            <a:r>
              <a:rPr lang="en-US" dirty="0" err="1"/>
              <a:t>Arcchitecture</a:t>
            </a:r>
            <a:endParaRPr lang="en-US" dirty="0"/>
          </a:p>
        </p:txBody>
      </p:sp>
      <p:pic>
        <p:nvPicPr>
          <p:cNvPr id="7170" name="Picture 2" descr="Diagram of private subnet associated with main route table and public subnet with custom route table">
            <a:extLst>
              <a:ext uri="{FF2B5EF4-FFF2-40B4-BE49-F238E27FC236}">
                <a16:creationId xmlns:a16="http://schemas.microsoft.com/office/drawing/2014/main" id="{B089F57E-C918-3E70-12C8-F730DA5FEC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524000"/>
            <a:ext cx="7467600" cy="4404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33723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BB9FC-9A3C-F5D2-E3EB-C28117236B0F}"/>
              </a:ext>
            </a:extLst>
          </p:cNvPr>
          <p:cNvSpPr>
            <a:spLocks noGrp="1"/>
          </p:cNvSpPr>
          <p:nvPr>
            <p:ph type="title"/>
          </p:nvPr>
        </p:nvSpPr>
        <p:spPr>
          <a:xfrm>
            <a:off x="307340" y="247599"/>
            <a:ext cx="8529319" cy="492443"/>
          </a:xfrm>
        </p:spPr>
        <p:txBody>
          <a:bodyPr/>
          <a:lstStyle/>
          <a:p>
            <a:r>
              <a:rPr lang="en-US" sz="3200" spc="-10" dirty="0"/>
              <a:t>NAT gateways</a:t>
            </a:r>
            <a:endParaRPr lang="en-US" dirty="0"/>
          </a:p>
        </p:txBody>
      </p:sp>
      <p:sp>
        <p:nvSpPr>
          <p:cNvPr id="3" name="Text Placeholder 2">
            <a:extLst>
              <a:ext uri="{FF2B5EF4-FFF2-40B4-BE49-F238E27FC236}">
                <a16:creationId xmlns:a16="http://schemas.microsoft.com/office/drawing/2014/main" id="{91C2E0C7-04B1-2311-327C-FCCA392863DC}"/>
              </a:ext>
            </a:extLst>
          </p:cNvPr>
          <p:cNvSpPr>
            <a:spLocks noGrp="1"/>
          </p:cNvSpPr>
          <p:nvPr>
            <p:ph type="body" idx="1"/>
          </p:nvPr>
        </p:nvSpPr>
        <p:spPr>
          <a:xfrm>
            <a:off x="307340" y="1057402"/>
            <a:ext cx="8301355" cy="2585323"/>
          </a:xfrm>
        </p:spPr>
        <p:txBody>
          <a:bodyPr/>
          <a:lstStyle/>
          <a:p>
            <a:pPr algn="just"/>
            <a:r>
              <a:rPr lang="en-US" b="0" dirty="0"/>
              <a:t>A NAT gateway (Network Address Translation gateway) is a managed service that allows resources in a private subnet to securely access the internet or other external services. It does this by translating the private IP addresses of the instances into a single, public IP address. This enables </a:t>
            </a:r>
            <a:r>
              <a:rPr lang="en-US" dirty="0"/>
              <a:t>outbound-only</a:t>
            </a:r>
            <a:r>
              <a:rPr lang="en-US" b="0" dirty="0"/>
              <a:t> communication, meaning instances can initiate connections to the outside world, but outside services can't initiate connections back to them.</a:t>
            </a:r>
          </a:p>
        </p:txBody>
      </p:sp>
    </p:spTree>
    <p:extLst>
      <p:ext uri="{BB962C8B-B14F-4D97-AF65-F5344CB8AC3E}">
        <p14:creationId xmlns:p14="http://schemas.microsoft.com/office/powerpoint/2010/main" val="38118550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26B6C-8C1C-ED78-903A-C375FBBE7B9B}"/>
              </a:ext>
            </a:extLst>
          </p:cNvPr>
          <p:cNvSpPr>
            <a:spLocks noGrp="1"/>
          </p:cNvSpPr>
          <p:nvPr>
            <p:ph type="title"/>
          </p:nvPr>
        </p:nvSpPr>
        <p:spPr>
          <a:xfrm>
            <a:off x="307340" y="247599"/>
            <a:ext cx="8529319" cy="446276"/>
          </a:xfrm>
        </p:spPr>
        <p:txBody>
          <a:bodyPr/>
          <a:lstStyle/>
          <a:p>
            <a:r>
              <a:rPr lang="en-US" dirty="0"/>
              <a:t>VPC and NAT gateways architecture</a:t>
            </a:r>
          </a:p>
        </p:txBody>
      </p:sp>
      <p:pic>
        <p:nvPicPr>
          <p:cNvPr id="2050" name="Picture 2">
            <a:extLst>
              <a:ext uri="{FF2B5EF4-FFF2-40B4-BE49-F238E27FC236}">
                <a16:creationId xmlns:a16="http://schemas.microsoft.com/office/drawing/2014/main" id="{4371581D-5366-7CDF-8E4E-14098325B1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020225"/>
            <a:ext cx="7097712" cy="5590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1722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9832E-6E4E-A713-D731-2CB3733E9C38}"/>
              </a:ext>
            </a:extLst>
          </p:cNvPr>
          <p:cNvSpPr>
            <a:spLocks noGrp="1"/>
          </p:cNvSpPr>
          <p:nvPr>
            <p:ph type="title"/>
          </p:nvPr>
        </p:nvSpPr>
        <p:spPr>
          <a:xfrm>
            <a:off x="307340" y="247599"/>
            <a:ext cx="8529319" cy="446276"/>
          </a:xfrm>
        </p:spPr>
        <p:txBody>
          <a:bodyPr/>
          <a:lstStyle/>
          <a:p>
            <a:r>
              <a:rPr lang="en-US" dirty="0"/>
              <a:t>Other General Information </a:t>
            </a:r>
          </a:p>
        </p:txBody>
      </p:sp>
      <p:sp>
        <p:nvSpPr>
          <p:cNvPr id="3" name="Text Placeholder 2">
            <a:extLst>
              <a:ext uri="{FF2B5EF4-FFF2-40B4-BE49-F238E27FC236}">
                <a16:creationId xmlns:a16="http://schemas.microsoft.com/office/drawing/2014/main" id="{101EC0C3-2657-E45E-B9F6-BC359825C7E3}"/>
              </a:ext>
            </a:extLst>
          </p:cNvPr>
          <p:cNvSpPr>
            <a:spLocks noGrp="1"/>
          </p:cNvSpPr>
          <p:nvPr>
            <p:ph type="body" idx="1"/>
          </p:nvPr>
        </p:nvSpPr>
        <p:spPr>
          <a:xfrm>
            <a:off x="307340" y="1057402"/>
            <a:ext cx="8608060" cy="6140142"/>
          </a:xfrm>
        </p:spPr>
        <p:txBody>
          <a:bodyPr/>
          <a:lstStyle/>
          <a:p>
            <a:pPr algn="just"/>
            <a:r>
              <a:rPr lang="en-US" sz="2100" b="0" dirty="0"/>
              <a:t>NAT Gateway (NGW) is a managed Network Address Translation (NAT) service.</a:t>
            </a:r>
          </a:p>
          <a:p>
            <a:pPr algn="just"/>
            <a:r>
              <a:rPr lang="en-US" sz="2100" b="0" dirty="0"/>
              <a:t>NAT Gateway does something similar to Internet Gateway (IGW), but it only works one way: Instances in a private subnet can connect to services outside your VPC but external services cannot initiate a connection with those instances.</a:t>
            </a:r>
          </a:p>
          <a:p>
            <a:pPr algn="just"/>
            <a:r>
              <a:rPr lang="en-US" sz="2100" b="0" dirty="0"/>
              <a:t>NAT gateways are supported for IPv4 or IPv6 traffic.</a:t>
            </a:r>
          </a:p>
          <a:p>
            <a:pPr algn="just"/>
            <a:r>
              <a:rPr lang="en-US" sz="2100" b="0" dirty="0"/>
              <a:t>NAT gateway supports the following protocols: TCP, UDP, and ICMP.</a:t>
            </a:r>
          </a:p>
          <a:p>
            <a:pPr algn="just"/>
            <a:r>
              <a:rPr lang="en-US" sz="2100" b="0" dirty="0"/>
              <a:t>Each NAT gateway is created in a specific Availability Zone and implemented with redundancy in that zone.</a:t>
            </a:r>
          </a:p>
          <a:p>
            <a:pPr algn="just"/>
            <a:r>
              <a:rPr lang="en-US" sz="2100" b="0" dirty="0"/>
              <a:t>If you have resources in multiple Availability Zones and they share one NAT gateway, and if the NAT gateway’s Availability Zone is down, resources in the other Availability Zones lose internet access.</a:t>
            </a:r>
          </a:p>
          <a:p>
            <a:pPr algn="just"/>
            <a:r>
              <a:rPr lang="en-US" sz="2100" b="0" dirty="0"/>
              <a:t>To create an Availability Zone-independent architecture, create a NAT gateway in each Availability Zone.</a:t>
            </a:r>
          </a:p>
          <a:p>
            <a:pPr algn="just"/>
            <a:r>
              <a:rPr lang="en-US" sz="2100" b="0" dirty="0"/>
              <a:t>You can associate exactly one Elastic IP address with a public NAT gateway.</a:t>
            </a:r>
          </a:p>
          <a:p>
            <a:pPr algn="just"/>
            <a:r>
              <a:rPr lang="en-US" sz="2100" b="0" dirty="0"/>
              <a:t>You are charged for each hour that your NAT gateway is available and each Gigabyte of data that it processes.</a:t>
            </a:r>
          </a:p>
          <a:p>
            <a:pPr algn="just"/>
            <a:endParaRPr lang="en-US" sz="2100" dirty="0"/>
          </a:p>
        </p:txBody>
      </p:sp>
    </p:spTree>
    <p:extLst>
      <p:ext uri="{BB962C8B-B14F-4D97-AF65-F5344CB8AC3E}">
        <p14:creationId xmlns:p14="http://schemas.microsoft.com/office/powerpoint/2010/main" val="3873164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F8435-DDF4-47D3-56F9-86A475495850}"/>
              </a:ext>
            </a:extLst>
          </p:cNvPr>
          <p:cNvSpPr>
            <a:spLocks noGrp="1"/>
          </p:cNvSpPr>
          <p:nvPr>
            <p:ph type="title"/>
          </p:nvPr>
        </p:nvSpPr>
        <p:spPr>
          <a:xfrm>
            <a:off x="307340" y="247599"/>
            <a:ext cx="8529319" cy="446276"/>
          </a:xfrm>
        </p:spPr>
        <p:txBody>
          <a:bodyPr/>
          <a:lstStyle/>
          <a:p>
            <a:r>
              <a:rPr lang="en-US" dirty="0"/>
              <a:t>Key Features </a:t>
            </a:r>
          </a:p>
        </p:txBody>
      </p:sp>
      <p:sp>
        <p:nvSpPr>
          <p:cNvPr id="4" name="Rectangle 1">
            <a:extLst>
              <a:ext uri="{FF2B5EF4-FFF2-40B4-BE49-F238E27FC236}">
                <a16:creationId xmlns:a16="http://schemas.microsoft.com/office/drawing/2014/main" id="{DF7045D2-F3FF-89F7-4294-AA4F0B791FB1}"/>
              </a:ext>
            </a:extLst>
          </p:cNvPr>
          <p:cNvSpPr>
            <a:spLocks noGrp="1" noChangeArrowheads="1"/>
          </p:cNvSpPr>
          <p:nvPr>
            <p:ph type="body" idx="1"/>
          </p:nvPr>
        </p:nvSpPr>
        <p:spPr bwMode="auto">
          <a:xfrm>
            <a:off x="337820" y="1317122"/>
            <a:ext cx="8498839" cy="5442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Outbound-Only Communication</a:t>
            </a:r>
            <a:r>
              <a:rPr kumimoji="0" lang="en-US" altLang="en-US" sz="1800" b="0" i="0" u="none" strike="noStrike" cap="none" normalizeH="0" baseline="0" dirty="0">
                <a:ln>
                  <a:noFill/>
                </a:ln>
                <a:solidFill>
                  <a:schemeClr val="tx1"/>
                </a:solidFill>
                <a:effectLst/>
                <a:latin typeface="Arial" panose="020B0604020202020204" pitchFamily="34" charset="0"/>
              </a:rPr>
              <a:t>: This is the primary function. Instances in a private subnet can connect to the internet to get software updates, patches, or access APIs, but the internet can't initiate a connection to those instances. This provides a crucial layer of security.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High Availability &amp; Scalability</a:t>
            </a:r>
            <a:r>
              <a:rPr kumimoji="0" lang="en-US" altLang="en-US" sz="1800" b="0" i="0" u="none" strike="noStrike" cap="none" normalizeH="0" baseline="0" dirty="0">
                <a:ln>
                  <a:noFill/>
                </a:ln>
                <a:solidFill>
                  <a:schemeClr val="tx1"/>
                </a:solidFill>
                <a:effectLst/>
                <a:latin typeface="Arial" panose="020B0604020202020204" pitchFamily="34" charset="0"/>
              </a:rPr>
              <a:t>: They are designed for high availability within an AZ and automatically scale to handle varying traffic demands.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Simplified Management</a:t>
            </a:r>
            <a:r>
              <a:rPr kumimoji="0" lang="en-US" altLang="en-US" sz="1800" b="0" i="0" u="none" strike="noStrike" cap="none" normalizeH="0" baseline="0" dirty="0">
                <a:ln>
                  <a:noFill/>
                </a:ln>
                <a:solidFill>
                  <a:schemeClr val="tx1"/>
                </a:solidFill>
                <a:effectLst/>
                <a:latin typeface="Arial" panose="020B0604020202020204" pitchFamily="34" charset="0"/>
              </a:rPr>
              <a:t>: You don't need to manually configure and manage NAT instances, which reduces administrative overhead.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Cost-Effectiveness</a:t>
            </a:r>
            <a:r>
              <a:rPr kumimoji="0" lang="en-US" altLang="en-US" sz="1800" b="0" i="0" u="none" strike="noStrike" cap="none" normalizeH="0" baseline="0" dirty="0">
                <a:ln>
                  <a:noFill/>
                </a:ln>
                <a:solidFill>
                  <a:schemeClr val="tx1"/>
                </a:solidFill>
                <a:effectLst/>
                <a:latin typeface="Arial" panose="020B0604020202020204" pitchFamily="34" charset="0"/>
              </a:rPr>
              <a:t>: Instead of assigning a public IP address to every single instance in a private subnet, you can use a single NAT gateway with one public IP address to serve multiple instances.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Support for Multiple Protocols</a:t>
            </a:r>
            <a:r>
              <a:rPr kumimoji="0" lang="en-US" altLang="en-US" sz="1800" b="0" i="0" u="none" strike="noStrike" cap="none" normalizeH="0" baseline="0" dirty="0">
                <a:ln>
                  <a:noFill/>
                </a:ln>
                <a:solidFill>
                  <a:schemeClr val="tx1"/>
                </a:solidFill>
                <a:effectLst/>
                <a:latin typeface="Arial" panose="020B0604020202020204" pitchFamily="34" charset="0"/>
              </a:rPr>
              <a:t>: NAT gateways typically support common protocols like TCP and UDP, and some also support ICMP.</a:t>
            </a:r>
          </a:p>
        </p:txBody>
      </p:sp>
    </p:spTree>
    <p:extLst>
      <p:ext uri="{BB962C8B-B14F-4D97-AF65-F5344CB8AC3E}">
        <p14:creationId xmlns:p14="http://schemas.microsoft.com/office/powerpoint/2010/main" val="35028713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z="3600" spc="-10" dirty="0"/>
              <a:t>NAT gateways (other general information)</a:t>
            </a:r>
            <a:endParaRPr sz="3600" dirty="0"/>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07340" y="1422654"/>
            <a:ext cx="8042275" cy="3652520"/>
          </a:xfrm>
          <a:prstGeom prst="rect">
            <a:avLst/>
          </a:prstGeom>
        </p:spPr>
        <p:txBody>
          <a:bodyPr vert="horz" wrap="square" lIns="0" tIns="12065" rIns="0" bIns="0" rtlCol="0">
            <a:spAutoFit/>
          </a:bodyPr>
          <a:lstStyle/>
          <a:p>
            <a:pPr marL="12700">
              <a:lnSpc>
                <a:spcPct val="100000"/>
              </a:lnSpc>
              <a:spcBef>
                <a:spcPts val="95"/>
              </a:spcBef>
            </a:pPr>
            <a:r>
              <a:rPr sz="2200" b="1" i="1" spc="-190" dirty="0">
                <a:latin typeface="Times New Roman"/>
                <a:cs typeface="Times New Roman"/>
              </a:rPr>
              <a:t>NAT</a:t>
            </a:r>
            <a:r>
              <a:rPr sz="2200" b="1" i="1" spc="-50" dirty="0">
                <a:latin typeface="Times New Roman"/>
                <a:cs typeface="Times New Roman"/>
              </a:rPr>
              <a:t> </a:t>
            </a:r>
            <a:r>
              <a:rPr sz="2200" b="1" i="1" spc="-70" dirty="0">
                <a:latin typeface="Times New Roman"/>
                <a:cs typeface="Times New Roman"/>
              </a:rPr>
              <a:t>gateway</a:t>
            </a:r>
            <a:r>
              <a:rPr sz="2200" b="1" i="1" spc="-75" dirty="0">
                <a:latin typeface="Times New Roman"/>
                <a:cs typeface="Times New Roman"/>
              </a:rPr>
              <a:t> </a:t>
            </a:r>
            <a:r>
              <a:rPr sz="2200" b="1" i="1" spc="-10" dirty="0">
                <a:latin typeface="Times New Roman"/>
                <a:cs typeface="Times New Roman"/>
              </a:rPr>
              <a:t>is</a:t>
            </a:r>
            <a:r>
              <a:rPr sz="2200" b="1" i="1" spc="-110" dirty="0">
                <a:latin typeface="Times New Roman"/>
                <a:cs typeface="Times New Roman"/>
              </a:rPr>
              <a:t> </a:t>
            </a:r>
            <a:r>
              <a:rPr sz="2200" b="1" i="1" spc="-75" dirty="0">
                <a:latin typeface="Times New Roman"/>
                <a:cs typeface="Times New Roman"/>
              </a:rPr>
              <a:t>always</a:t>
            </a:r>
            <a:r>
              <a:rPr sz="2200" b="1" i="1" spc="-60" dirty="0">
                <a:latin typeface="Times New Roman"/>
                <a:cs typeface="Times New Roman"/>
              </a:rPr>
              <a:t> </a:t>
            </a:r>
            <a:r>
              <a:rPr sz="2200" b="1" i="1" spc="-65" dirty="0">
                <a:latin typeface="Times New Roman"/>
                <a:cs typeface="Times New Roman"/>
              </a:rPr>
              <a:t>made</a:t>
            </a:r>
            <a:r>
              <a:rPr sz="2200" b="1" i="1" spc="-75" dirty="0">
                <a:latin typeface="Times New Roman"/>
                <a:cs typeface="Times New Roman"/>
              </a:rPr>
              <a:t> </a:t>
            </a:r>
            <a:r>
              <a:rPr sz="2200" b="1" i="1" spc="-20" dirty="0">
                <a:latin typeface="Times New Roman"/>
                <a:cs typeface="Times New Roman"/>
              </a:rPr>
              <a:t>in</a:t>
            </a:r>
            <a:r>
              <a:rPr sz="2200" b="1" i="1" spc="-55" dirty="0">
                <a:latin typeface="Times New Roman"/>
                <a:cs typeface="Times New Roman"/>
              </a:rPr>
              <a:t> </a:t>
            </a:r>
            <a:r>
              <a:rPr sz="2200" b="1" i="1" spc="-75" dirty="0">
                <a:latin typeface="Times New Roman"/>
                <a:cs typeface="Times New Roman"/>
              </a:rPr>
              <a:t>public</a:t>
            </a:r>
            <a:r>
              <a:rPr sz="2200" b="1" i="1" spc="-65" dirty="0">
                <a:latin typeface="Times New Roman"/>
                <a:cs typeface="Times New Roman"/>
              </a:rPr>
              <a:t> </a:t>
            </a:r>
            <a:r>
              <a:rPr sz="2200" b="1" i="1" spc="-45" dirty="0">
                <a:latin typeface="Times New Roman"/>
                <a:cs typeface="Times New Roman"/>
              </a:rPr>
              <a:t>subnet</a:t>
            </a:r>
            <a:r>
              <a:rPr sz="2200" b="1" i="1" spc="-40" dirty="0">
                <a:latin typeface="Times New Roman"/>
                <a:cs typeface="Times New Roman"/>
              </a:rPr>
              <a:t> and</a:t>
            </a:r>
            <a:r>
              <a:rPr sz="2200" b="1" i="1" spc="-70" dirty="0">
                <a:latin typeface="Times New Roman"/>
                <a:cs typeface="Times New Roman"/>
              </a:rPr>
              <a:t> </a:t>
            </a:r>
            <a:r>
              <a:rPr sz="2200" b="1" i="1" spc="-85" dirty="0">
                <a:latin typeface="Times New Roman"/>
                <a:cs typeface="Times New Roman"/>
              </a:rPr>
              <a:t>used</a:t>
            </a:r>
            <a:r>
              <a:rPr sz="2200" b="1" i="1" spc="-50" dirty="0">
                <a:latin typeface="Times New Roman"/>
                <a:cs typeface="Times New Roman"/>
              </a:rPr>
              <a:t> </a:t>
            </a:r>
            <a:r>
              <a:rPr sz="2200" b="1" i="1" spc="-105" dirty="0">
                <a:latin typeface="Times New Roman"/>
                <a:cs typeface="Times New Roman"/>
              </a:rPr>
              <a:t>for</a:t>
            </a:r>
            <a:r>
              <a:rPr sz="2200" b="1" i="1" spc="-45" dirty="0">
                <a:latin typeface="Times New Roman"/>
                <a:cs typeface="Times New Roman"/>
              </a:rPr>
              <a:t> </a:t>
            </a:r>
            <a:r>
              <a:rPr sz="2200" b="1" i="1" spc="-20" dirty="0">
                <a:latin typeface="Times New Roman"/>
                <a:cs typeface="Times New Roman"/>
              </a:rPr>
              <a:t>private</a:t>
            </a:r>
            <a:r>
              <a:rPr sz="2200" b="1" i="1" spc="-55" dirty="0">
                <a:latin typeface="Times New Roman"/>
                <a:cs typeface="Times New Roman"/>
              </a:rPr>
              <a:t> </a:t>
            </a:r>
            <a:r>
              <a:rPr sz="2200" b="1" i="1" spc="-10" dirty="0">
                <a:latin typeface="Times New Roman"/>
                <a:cs typeface="Times New Roman"/>
              </a:rPr>
              <a:t>subnet.</a:t>
            </a:r>
            <a:endParaRPr sz="2200" dirty="0">
              <a:latin typeface="Times New Roman"/>
              <a:cs typeface="Times New Roman"/>
            </a:endParaRPr>
          </a:p>
          <a:p>
            <a:pPr>
              <a:lnSpc>
                <a:spcPct val="100000"/>
              </a:lnSpc>
              <a:spcBef>
                <a:spcPts val="1310"/>
              </a:spcBef>
            </a:pPr>
            <a:endParaRPr sz="2200" dirty="0">
              <a:latin typeface="Times New Roman"/>
              <a:cs typeface="Times New Roman"/>
            </a:endParaRPr>
          </a:p>
          <a:p>
            <a:pPr marL="12700">
              <a:lnSpc>
                <a:spcPct val="100000"/>
              </a:lnSpc>
            </a:pPr>
            <a:r>
              <a:rPr sz="2200" b="1" i="1" spc="-60" dirty="0">
                <a:latin typeface="Times New Roman"/>
                <a:cs typeface="Times New Roman"/>
              </a:rPr>
              <a:t>Router</a:t>
            </a:r>
            <a:r>
              <a:rPr sz="2200" b="1" i="1" spc="-35" dirty="0">
                <a:latin typeface="Times New Roman"/>
                <a:cs typeface="Times New Roman"/>
              </a:rPr>
              <a:t> </a:t>
            </a:r>
            <a:r>
              <a:rPr sz="2200" b="1" i="1" spc="-10" dirty="0">
                <a:latin typeface="Times New Roman"/>
                <a:cs typeface="Times New Roman"/>
              </a:rPr>
              <a:t>is</a:t>
            </a:r>
            <a:r>
              <a:rPr sz="2200" b="1" i="1" spc="-35" dirty="0">
                <a:latin typeface="Times New Roman"/>
                <a:cs typeface="Times New Roman"/>
              </a:rPr>
              <a:t> </a:t>
            </a:r>
            <a:r>
              <a:rPr sz="2200" b="1" i="1" spc="-65" dirty="0">
                <a:latin typeface="Times New Roman"/>
                <a:cs typeface="Times New Roman"/>
              </a:rPr>
              <a:t>made</a:t>
            </a:r>
            <a:r>
              <a:rPr sz="2200" b="1" i="1" spc="-60" dirty="0">
                <a:latin typeface="Times New Roman"/>
                <a:cs typeface="Times New Roman"/>
              </a:rPr>
              <a:t> </a:t>
            </a:r>
            <a:r>
              <a:rPr sz="2200" b="1" i="1" spc="-105" dirty="0">
                <a:latin typeface="Times New Roman"/>
                <a:cs typeface="Times New Roman"/>
              </a:rPr>
              <a:t>insideVPC</a:t>
            </a:r>
            <a:r>
              <a:rPr sz="2200" b="1" i="1" spc="-45" dirty="0">
                <a:latin typeface="Times New Roman"/>
                <a:cs typeface="Times New Roman"/>
              </a:rPr>
              <a:t> </a:t>
            </a:r>
            <a:r>
              <a:rPr sz="2200" b="1" i="1" spc="-100" dirty="0">
                <a:latin typeface="Times New Roman"/>
                <a:cs typeface="Times New Roman"/>
              </a:rPr>
              <a:t>or</a:t>
            </a:r>
            <a:r>
              <a:rPr sz="2200" b="1" i="1" spc="-55" dirty="0">
                <a:latin typeface="Times New Roman"/>
                <a:cs typeface="Times New Roman"/>
              </a:rPr>
              <a:t> </a:t>
            </a:r>
            <a:r>
              <a:rPr sz="2200" b="1" i="1" spc="-10" dirty="0">
                <a:latin typeface="Times New Roman"/>
                <a:cs typeface="Times New Roman"/>
              </a:rPr>
              <a:t>region</a:t>
            </a:r>
            <a:endParaRPr sz="2200" dirty="0">
              <a:latin typeface="Times New Roman"/>
              <a:cs typeface="Times New Roman"/>
            </a:endParaRPr>
          </a:p>
          <a:p>
            <a:pPr marL="12700" marR="1239520">
              <a:lnSpc>
                <a:spcPct val="245500"/>
              </a:lnSpc>
            </a:pPr>
            <a:r>
              <a:rPr sz="2200" spc="-75" dirty="0">
                <a:latin typeface="Times New Roman"/>
                <a:cs typeface="Times New Roman"/>
              </a:rPr>
              <a:t>Once</a:t>
            </a:r>
            <a:r>
              <a:rPr sz="2200" spc="-25" dirty="0">
                <a:latin typeface="Times New Roman"/>
                <a:cs typeface="Times New Roman"/>
              </a:rPr>
              <a:t> </a:t>
            </a:r>
            <a:r>
              <a:rPr sz="2200" spc="-80" dirty="0">
                <a:latin typeface="Times New Roman"/>
                <a:cs typeface="Times New Roman"/>
              </a:rPr>
              <a:t>the</a:t>
            </a:r>
            <a:r>
              <a:rPr sz="2200" spc="-325" dirty="0">
                <a:latin typeface="Times New Roman"/>
                <a:cs typeface="Times New Roman"/>
              </a:rPr>
              <a:t> </a:t>
            </a:r>
            <a:r>
              <a:rPr sz="2200" spc="-185" dirty="0">
                <a:latin typeface="Times New Roman"/>
                <a:cs typeface="Times New Roman"/>
              </a:rPr>
              <a:t>VPC</a:t>
            </a:r>
            <a:r>
              <a:rPr sz="2200" spc="-35" dirty="0">
                <a:latin typeface="Times New Roman"/>
                <a:cs typeface="Times New Roman"/>
              </a:rPr>
              <a:t> </a:t>
            </a:r>
            <a:r>
              <a:rPr sz="2200" spc="-145" dirty="0">
                <a:latin typeface="Times New Roman"/>
                <a:cs typeface="Times New Roman"/>
              </a:rPr>
              <a:t>is</a:t>
            </a:r>
            <a:r>
              <a:rPr sz="2200" spc="-30" dirty="0">
                <a:latin typeface="Times New Roman"/>
                <a:cs typeface="Times New Roman"/>
              </a:rPr>
              <a:t> </a:t>
            </a:r>
            <a:r>
              <a:rPr sz="2200" spc="-75" dirty="0">
                <a:latin typeface="Times New Roman"/>
                <a:cs typeface="Times New Roman"/>
              </a:rPr>
              <a:t>created,</a:t>
            </a:r>
            <a:r>
              <a:rPr sz="2200" spc="-110" dirty="0">
                <a:latin typeface="Times New Roman"/>
                <a:cs typeface="Times New Roman"/>
              </a:rPr>
              <a:t> </a:t>
            </a:r>
            <a:r>
              <a:rPr sz="2200" spc="-150" dirty="0">
                <a:latin typeface="Times New Roman"/>
                <a:cs typeface="Times New Roman"/>
              </a:rPr>
              <a:t>you</a:t>
            </a:r>
            <a:r>
              <a:rPr sz="2200" spc="-10" dirty="0">
                <a:latin typeface="Times New Roman"/>
                <a:cs typeface="Times New Roman"/>
              </a:rPr>
              <a:t> </a:t>
            </a:r>
            <a:r>
              <a:rPr sz="2200" spc="-150" dirty="0">
                <a:latin typeface="Times New Roman"/>
                <a:cs typeface="Times New Roman"/>
              </a:rPr>
              <a:t>can</a:t>
            </a:r>
            <a:r>
              <a:rPr sz="2200" spc="-15" dirty="0">
                <a:latin typeface="Times New Roman"/>
                <a:cs typeface="Times New Roman"/>
              </a:rPr>
              <a:t> </a:t>
            </a:r>
            <a:r>
              <a:rPr sz="2200" spc="-45" dirty="0">
                <a:latin typeface="Times New Roman"/>
                <a:cs typeface="Times New Roman"/>
              </a:rPr>
              <a:t>not</a:t>
            </a:r>
            <a:r>
              <a:rPr sz="2200" spc="-35" dirty="0">
                <a:latin typeface="Times New Roman"/>
                <a:cs typeface="Times New Roman"/>
              </a:rPr>
              <a:t> </a:t>
            </a:r>
            <a:r>
              <a:rPr sz="2200" spc="-135" dirty="0">
                <a:latin typeface="Times New Roman"/>
                <a:cs typeface="Times New Roman"/>
              </a:rPr>
              <a:t>change</a:t>
            </a:r>
            <a:r>
              <a:rPr sz="2200" spc="-25" dirty="0">
                <a:latin typeface="Times New Roman"/>
                <a:cs typeface="Times New Roman"/>
              </a:rPr>
              <a:t> </a:t>
            </a:r>
            <a:r>
              <a:rPr sz="2200" spc="-85" dirty="0">
                <a:latin typeface="Times New Roman"/>
                <a:cs typeface="Times New Roman"/>
              </a:rPr>
              <a:t>its</a:t>
            </a:r>
            <a:r>
              <a:rPr sz="2200" spc="-45" dirty="0">
                <a:latin typeface="Times New Roman"/>
                <a:cs typeface="Times New Roman"/>
              </a:rPr>
              <a:t> </a:t>
            </a:r>
            <a:r>
              <a:rPr sz="2200" spc="-155" dirty="0">
                <a:latin typeface="Times New Roman"/>
                <a:cs typeface="Times New Roman"/>
              </a:rPr>
              <a:t>CIDR</a:t>
            </a:r>
            <a:r>
              <a:rPr sz="2200" spc="-25" dirty="0">
                <a:latin typeface="Times New Roman"/>
                <a:cs typeface="Times New Roman"/>
              </a:rPr>
              <a:t> </a:t>
            </a:r>
            <a:r>
              <a:rPr sz="2200" spc="-125" dirty="0">
                <a:latin typeface="Times New Roman"/>
                <a:cs typeface="Times New Roman"/>
              </a:rPr>
              <a:t>block</a:t>
            </a:r>
            <a:r>
              <a:rPr sz="2200" spc="-20" dirty="0">
                <a:latin typeface="Times New Roman"/>
                <a:cs typeface="Times New Roman"/>
              </a:rPr>
              <a:t> </a:t>
            </a:r>
            <a:r>
              <a:rPr sz="2200" spc="-40" dirty="0">
                <a:latin typeface="Times New Roman"/>
                <a:cs typeface="Times New Roman"/>
              </a:rPr>
              <a:t>range. </a:t>
            </a:r>
            <a:r>
              <a:rPr sz="2200" spc="-120" dirty="0">
                <a:latin typeface="Times New Roman"/>
                <a:cs typeface="Times New Roman"/>
              </a:rPr>
              <a:t>The</a:t>
            </a:r>
            <a:r>
              <a:rPr sz="2200" spc="-25" dirty="0">
                <a:latin typeface="Times New Roman"/>
                <a:cs typeface="Times New Roman"/>
              </a:rPr>
              <a:t> </a:t>
            </a:r>
            <a:r>
              <a:rPr sz="2200" spc="-100" dirty="0">
                <a:latin typeface="Times New Roman"/>
                <a:cs typeface="Times New Roman"/>
              </a:rPr>
              <a:t>different</a:t>
            </a:r>
            <a:r>
              <a:rPr sz="2200" spc="-5" dirty="0">
                <a:latin typeface="Times New Roman"/>
                <a:cs typeface="Times New Roman"/>
              </a:rPr>
              <a:t> </a:t>
            </a:r>
            <a:r>
              <a:rPr sz="2200" spc="-114" dirty="0">
                <a:latin typeface="Times New Roman"/>
                <a:cs typeface="Times New Roman"/>
              </a:rPr>
              <a:t>subnets</a:t>
            </a:r>
            <a:r>
              <a:rPr sz="2200" spc="-5" dirty="0">
                <a:latin typeface="Times New Roman"/>
                <a:cs typeface="Times New Roman"/>
              </a:rPr>
              <a:t> </a:t>
            </a:r>
            <a:r>
              <a:rPr sz="2200" spc="-100" dirty="0">
                <a:latin typeface="Times New Roman"/>
                <a:cs typeface="Times New Roman"/>
              </a:rPr>
              <a:t>within</a:t>
            </a:r>
            <a:r>
              <a:rPr sz="2200" spc="-10" dirty="0">
                <a:latin typeface="Times New Roman"/>
                <a:cs typeface="Times New Roman"/>
              </a:rPr>
              <a:t> </a:t>
            </a:r>
            <a:r>
              <a:rPr sz="2200" spc="-185" dirty="0">
                <a:latin typeface="Times New Roman"/>
                <a:cs typeface="Times New Roman"/>
              </a:rPr>
              <a:t>a</a:t>
            </a:r>
            <a:r>
              <a:rPr sz="2200" spc="-320" dirty="0">
                <a:latin typeface="Times New Roman"/>
                <a:cs typeface="Times New Roman"/>
              </a:rPr>
              <a:t> </a:t>
            </a:r>
            <a:r>
              <a:rPr sz="2200" spc="-185" dirty="0">
                <a:latin typeface="Times New Roman"/>
                <a:cs typeface="Times New Roman"/>
              </a:rPr>
              <a:t>VPC</a:t>
            </a:r>
            <a:r>
              <a:rPr sz="2200" spc="-20" dirty="0">
                <a:latin typeface="Times New Roman"/>
                <a:cs typeface="Times New Roman"/>
              </a:rPr>
              <a:t> </a:t>
            </a:r>
            <a:r>
              <a:rPr sz="2200" spc="-100" dirty="0">
                <a:latin typeface="Times New Roman"/>
                <a:cs typeface="Times New Roman"/>
              </a:rPr>
              <a:t>cannot</a:t>
            </a:r>
            <a:r>
              <a:rPr sz="2200" spc="10" dirty="0">
                <a:latin typeface="Times New Roman"/>
                <a:cs typeface="Times New Roman"/>
              </a:rPr>
              <a:t> </a:t>
            </a:r>
            <a:r>
              <a:rPr sz="2200" spc="-10" dirty="0">
                <a:latin typeface="Times New Roman"/>
                <a:cs typeface="Times New Roman"/>
              </a:rPr>
              <a:t>overlap.</a:t>
            </a:r>
            <a:endParaRPr sz="2200" dirty="0">
              <a:latin typeface="Times New Roman"/>
              <a:cs typeface="Times New Roman"/>
            </a:endParaRPr>
          </a:p>
          <a:p>
            <a:pPr>
              <a:lnSpc>
                <a:spcPct val="100000"/>
              </a:lnSpc>
              <a:spcBef>
                <a:spcPts val="1310"/>
              </a:spcBef>
            </a:pPr>
            <a:endParaRPr sz="2200" dirty="0">
              <a:latin typeface="Times New Roman"/>
              <a:cs typeface="Times New Roman"/>
            </a:endParaRPr>
          </a:p>
          <a:p>
            <a:pPr marL="12700">
              <a:lnSpc>
                <a:spcPct val="100000"/>
              </a:lnSpc>
              <a:spcBef>
                <a:spcPts val="5"/>
              </a:spcBef>
            </a:pPr>
            <a:r>
              <a:rPr sz="2200" spc="-270" dirty="0">
                <a:latin typeface="Times New Roman"/>
                <a:cs typeface="Times New Roman"/>
              </a:rPr>
              <a:t>You</a:t>
            </a:r>
            <a:r>
              <a:rPr sz="2200" spc="-30" dirty="0">
                <a:latin typeface="Times New Roman"/>
                <a:cs typeface="Times New Roman"/>
              </a:rPr>
              <a:t> </a:t>
            </a:r>
            <a:r>
              <a:rPr sz="2200" spc="-150" dirty="0">
                <a:latin typeface="Times New Roman"/>
                <a:cs typeface="Times New Roman"/>
              </a:rPr>
              <a:t>can</a:t>
            </a:r>
            <a:r>
              <a:rPr sz="2200" spc="-15" dirty="0">
                <a:latin typeface="Times New Roman"/>
                <a:cs typeface="Times New Roman"/>
              </a:rPr>
              <a:t> </a:t>
            </a:r>
            <a:r>
              <a:rPr sz="2200" spc="-110" dirty="0">
                <a:latin typeface="Times New Roman"/>
                <a:cs typeface="Times New Roman"/>
              </a:rPr>
              <a:t>expand</a:t>
            </a:r>
            <a:r>
              <a:rPr sz="2200" spc="-10" dirty="0">
                <a:latin typeface="Times New Roman"/>
                <a:cs typeface="Times New Roman"/>
              </a:rPr>
              <a:t> </a:t>
            </a:r>
            <a:r>
              <a:rPr sz="2200" spc="-110" dirty="0">
                <a:latin typeface="Times New Roman"/>
                <a:cs typeface="Times New Roman"/>
              </a:rPr>
              <a:t>your</a:t>
            </a:r>
            <a:r>
              <a:rPr sz="2200" spc="-295" dirty="0">
                <a:latin typeface="Times New Roman"/>
                <a:cs typeface="Times New Roman"/>
              </a:rPr>
              <a:t> </a:t>
            </a:r>
            <a:r>
              <a:rPr sz="2200" spc="-185" dirty="0">
                <a:latin typeface="Times New Roman"/>
                <a:cs typeface="Times New Roman"/>
              </a:rPr>
              <a:t>VPC</a:t>
            </a:r>
            <a:r>
              <a:rPr sz="2200" spc="-35" dirty="0">
                <a:latin typeface="Times New Roman"/>
                <a:cs typeface="Times New Roman"/>
              </a:rPr>
              <a:t> </a:t>
            </a:r>
            <a:r>
              <a:rPr sz="2200" spc="-155" dirty="0">
                <a:latin typeface="Times New Roman"/>
                <a:cs typeface="Times New Roman"/>
              </a:rPr>
              <a:t>CIDR</a:t>
            </a:r>
            <a:r>
              <a:rPr sz="2200" spc="-25" dirty="0">
                <a:latin typeface="Times New Roman"/>
                <a:cs typeface="Times New Roman"/>
              </a:rPr>
              <a:t> </a:t>
            </a:r>
            <a:r>
              <a:rPr sz="2200" spc="-185" dirty="0">
                <a:latin typeface="Times New Roman"/>
                <a:cs typeface="Times New Roman"/>
              </a:rPr>
              <a:t>by</a:t>
            </a:r>
            <a:r>
              <a:rPr sz="2200" spc="-30" dirty="0">
                <a:latin typeface="Times New Roman"/>
                <a:cs typeface="Times New Roman"/>
              </a:rPr>
              <a:t> </a:t>
            </a:r>
            <a:r>
              <a:rPr sz="2200" spc="-135" dirty="0">
                <a:latin typeface="Times New Roman"/>
                <a:cs typeface="Times New Roman"/>
              </a:rPr>
              <a:t>adding</a:t>
            </a:r>
            <a:r>
              <a:rPr sz="2200" spc="-25" dirty="0">
                <a:latin typeface="Times New Roman"/>
                <a:cs typeface="Times New Roman"/>
              </a:rPr>
              <a:t> new/extra</a:t>
            </a:r>
            <a:r>
              <a:rPr sz="2200" spc="-10" dirty="0">
                <a:latin typeface="Times New Roman"/>
                <a:cs typeface="Times New Roman"/>
              </a:rPr>
              <a:t> </a:t>
            </a:r>
            <a:r>
              <a:rPr sz="2200" spc="-150" dirty="0">
                <a:latin typeface="Times New Roman"/>
                <a:cs typeface="Times New Roman"/>
              </a:rPr>
              <a:t>IP</a:t>
            </a:r>
            <a:r>
              <a:rPr sz="2200" spc="-35" dirty="0">
                <a:latin typeface="Times New Roman"/>
                <a:cs typeface="Times New Roman"/>
              </a:rPr>
              <a:t> </a:t>
            </a:r>
            <a:r>
              <a:rPr sz="2200" spc="-125" dirty="0">
                <a:latin typeface="Times New Roman"/>
                <a:cs typeface="Times New Roman"/>
              </a:rPr>
              <a:t>address</a:t>
            </a:r>
            <a:r>
              <a:rPr sz="2200" spc="-15" dirty="0">
                <a:latin typeface="Times New Roman"/>
                <a:cs typeface="Times New Roman"/>
              </a:rPr>
              <a:t> </a:t>
            </a:r>
            <a:r>
              <a:rPr sz="2200" spc="-10" dirty="0">
                <a:latin typeface="Times New Roman"/>
                <a:cs typeface="Times New Roman"/>
              </a:rPr>
              <a:t>ranges</a:t>
            </a:r>
            <a:endParaRPr sz="2200" dirty="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t>54</a:t>
            </a:fld>
            <a:endParaRPr spc="-25"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3600" spc="-135" dirty="0"/>
              <a:t>NAT</a:t>
            </a:r>
            <a:r>
              <a:rPr sz="3600" spc="-85" dirty="0"/>
              <a:t> </a:t>
            </a:r>
            <a:r>
              <a:rPr sz="3600" spc="-80" dirty="0"/>
              <a:t>Gateway</a:t>
            </a:r>
            <a:endParaRPr sz="3600"/>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140208" y="1137309"/>
            <a:ext cx="8857488" cy="5329023"/>
          </a:xfrm>
          <a:prstGeom prst="rect">
            <a:avLst/>
          </a:prstGeom>
        </p:spPr>
        <p:txBody>
          <a:bodyPr vert="horz" wrap="square" lIns="0" tIns="12065" rIns="0" bIns="0" rtlCol="0">
            <a:spAutoFit/>
          </a:bodyPr>
          <a:lstStyle/>
          <a:p>
            <a:pPr marL="136525" marR="40005" algn="just">
              <a:lnSpc>
                <a:spcPct val="100000"/>
              </a:lnSpc>
              <a:spcBef>
                <a:spcPts val="95"/>
              </a:spcBef>
            </a:pPr>
            <a:r>
              <a:rPr sz="2200" spc="-270" dirty="0">
                <a:latin typeface="Times New Roman"/>
                <a:cs typeface="Times New Roman"/>
              </a:rPr>
              <a:t>You</a:t>
            </a:r>
            <a:r>
              <a:rPr sz="2200" spc="-45" dirty="0">
                <a:latin typeface="Times New Roman"/>
                <a:cs typeface="Times New Roman"/>
              </a:rPr>
              <a:t> </a:t>
            </a:r>
            <a:r>
              <a:rPr sz="2200" spc="-145" dirty="0">
                <a:latin typeface="Times New Roman"/>
                <a:cs typeface="Times New Roman"/>
              </a:rPr>
              <a:t>can</a:t>
            </a:r>
            <a:r>
              <a:rPr sz="2200" spc="-50" dirty="0">
                <a:latin typeface="Times New Roman"/>
                <a:cs typeface="Times New Roman"/>
              </a:rPr>
              <a:t> </a:t>
            </a:r>
            <a:r>
              <a:rPr sz="2200" spc="-114" dirty="0">
                <a:latin typeface="Times New Roman"/>
                <a:cs typeface="Times New Roman"/>
              </a:rPr>
              <a:t>use</a:t>
            </a:r>
            <a:r>
              <a:rPr sz="2200" spc="-65" dirty="0">
                <a:latin typeface="Times New Roman"/>
                <a:cs typeface="Times New Roman"/>
              </a:rPr>
              <a:t> </a:t>
            </a:r>
            <a:r>
              <a:rPr sz="2200" spc="-180" dirty="0">
                <a:latin typeface="Times New Roman"/>
                <a:cs typeface="Times New Roman"/>
              </a:rPr>
              <a:t>a</a:t>
            </a:r>
            <a:r>
              <a:rPr sz="2200" spc="-35" dirty="0">
                <a:latin typeface="Times New Roman"/>
                <a:cs typeface="Times New Roman"/>
              </a:rPr>
              <a:t> </a:t>
            </a:r>
            <a:r>
              <a:rPr sz="2200" spc="-95" dirty="0">
                <a:latin typeface="Times New Roman"/>
                <a:cs typeface="Times New Roman"/>
              </a:rPr>
              <a:t>Network</a:t>
            </a:r>
            <a:r>
              <a:rPr sz="2200" spc="-75" dirty="0">
                <a:latin typeface="Times New Roman"/>
                <a:cs typeface="Times New Roman"/>
              </a:rPr>
              <a:t> </a:t>
            </a:r>
            <a:r>
              <a:rPr sz="2200" spc="-135" dirty="0">
                <a:latin typeface="Times New Roman"/>
                <a:cs typeface="Times New Roman"/>
              </a:rPr>
              <a:t>Address</a:t>
            </a:r>
            <a:r>
              <a:rPr sz="2200" spc="-75" dirty="0">
                <a:latin typeface="Times New Roman"/>
                <a:cs typeface="Times New Roman"/>
              </a:rPr>
              <a:t> </a:t>
            </a:r>
            <a:r>
              <a:rPr sz="2200" spc="-120" dirty="0">
                <a:latin typeface="Times New Roman"/>
                <a:cs typeface="Times New Roman"/>
              </a:rPr>
              <a:t>Translation</a:t>
            </a:r>
            <a:r>
              <a:rPr sz="2200" spc="-35" dirty="0">
                <a:latin typeface="Times New Roman"/>
                <a:cs typeface="Times New Roman"/>
              </a:rPr>
              <a:t> </a:t>
            </a:r>
            <a:r>
              <a:rPr sz="2200" spc="-170" dirty="0">
                <a:latin typeface="Times New Roman"/>
                <a:cs typeface="Times New Roman"/>
              </a:rPr>
              <a:t>(NAT)</a:t>
            </a:r>
            <a:r>
              <a:rPr sz="2200" spc="-50" dirty="0">
                <a:latin typeface="Times New Roman"/>
                <a:cs typeface="Times New Roman"/>
              </a:rPr>
              <a:t> </a:t>
            </a:r>
            <a:r>
              <a:rPr sz="2200" spc="-160" dirty="0">
                <a:latin typeface="Times New Roman"/>
                <a:cs typeface="Times New Roman"/>
              </a:rPr>
              <a:t>gateway</a:t>
            </a:r>
            <a:r>
              <a:rPr sz="2200" spc="-60" dirty="0">
                <a:latin typeface="Times New Roman"/>
                <a:cs typeface="Times New Roman"/>
              </a:rPr>
              <a:t> </a:t>
            </a:r>
            <a:r>
              <a:rPr sz="2200" spc="-40" dirty="0">
                <a:latin typeface="Times New Roman"/>
                <a:cs typeface="Times New Roman"/>
              </a:rPr>
              <a:t>to</a:t>
            </a:r>
            <a:r>
              <a:rPr sz="2200" spc="-45" dirty="0">
                <a:latin typeface="Times New Roman"/>
                <a:cs typeface="Times New Roman"/>
              </a:rPr>
              <a:t> </a:t>
            </a:r>
            <a:r>
              <a:rPr sz="2200" spc="-125" dirty="0">
                <a:latin typeface="Times New Roman"/>
                <a:cs typeface="Times New Roman"/>
              </a:rPr>
              <a:t>enable</a:t>
            </a:r>
            <a:r>
              <a:rPr sz="2200" spc="-80" dirty="0">
                <a:latin typeface="Times New Roman"/>
                <a:cs typeface="Times New Roman"/>
              </a:rPr>
              <a:t> </a:t>
            </a:r>
            <a:r>
              <a:rPr sz="2200" spc="-130" dirty="0">
                <a:latin typeface="Times New Roman"/>
                <a:cs typeface="Times New Roman"/>
              </a:rPr>
              <a:t>instances</a:t>
            </a:r>
            <a:r>
              <a:rPr sz="2200" spc="-75" dirty="0">
                <a:latin typeface="Times New Roman"/>
                <a:cs typeface="Times New Roman"/>
              </a:rPr>
              <a:t> </a:t>
            </a:r>
            <a:r>
              <a:rPr sz="2200" spc="-114" dirty="0">
                <a:latin typeface="Times New Roman"/>
                <a:cs typeface="Times New Roman"/>
              </a:rPr>
              <a:t>in</a:t>
            </a:r>
            <a:r>
              <a:rPr sz="2200" spc="-70" dirty="0">
                <a:latin typeface="Times New Roman"/>
                <a:cs typeface="Times New Roman"/>
              </a:rPr>
              <a:t> </a:t>
            </a:r>
            <a:r>
              <a:rPr sz="2200" spc="-180" dirty="0">
                <a:latin typeface="Times New Roman"/>
                <a:cs typeface="Times New Roman"/>
              </a:rPr>
              <a:t>a</a:t>
            </a:r>
            <a:r>
              <a:rPr sz="2200" spc="-100" dirty="0">
                <a:latin typeface="Times New Roman"/>
                <a:cs typeface="Times New Roman"/>
              </a:rPr>
              <a:t> </a:t>
            </a:r>
            <a:r>
              <a:rPr sz="2200" spc="-95" dirty="0">
                <a:latin typeface="Times New Roman"/>
                <a:cs typeface="Times New Roman"/>
              </a:rPr>
              <a:t>private</a:t>
            </a:r>
            <a:r>
              <a:rPr sz="2200" spc="55" dirty="0">
                <a:latin typeface="Times New Roman"/>
                <a:cs typeface="Times New Roman"/>
              </a:rPr>
              <a:t> </a:t>
            </a:r>
            <a:r>
              <a:rPr sz="2200" spc="-100" dirty="0">
                <a:latin typeface="Times New Roman"/>
                <a:cs typeface="Times New Roman"/>
              </a:rPr>
              <a:t>subnet</a:t>
            </a:r>
            <a:r>
              <a:rPr sz="2200" spc="70" dirty="0">
                <a:latin typeface="Times New Roman"/>
                <a:cs typeface="Times New Roman"/>
              </a:rPr>
              <a:t> </a:t>
            </a:r>
            <a:r>
              <a:rPr sz="2200" spc="-40" dirty="0">
                <a:latin typeface="Times New Roman"/>
                <a:cs typeface="Times New Roman"/>
              </a:rPr>
              <a:t>to</a:t>
            </a:r>
            <a:r>
              <a:rPr sz="2200" spc="60" dirty="0">
                <a:latin typeface="Times New Roman"/>
                <a:cs typeface="Times New Roman"/>
              </a:rPr>
              <a:t> </a:t>
            </a:r>
            <a:r>
              <a:rPr sz="2200" spc="-90" dirty="0">
                <a:latin typeface="Times New Roman"/>
                <a:cs typeface="Times New Roman"/>
              </a:rPr>
              <a:t>connect</a:t>
            </a:r>
            <a:r>
              <a:rPr sz="2200" spc="65" dirty="0">
                <a:latin typeface="Times New Roman"/>
                <a:cs typeface="Times New Roman"/>
              </a:rPr>
              <a:t> </a:t>
            </a:r>
            <a:r>
              <a:rPr sz="2200" spc="-40" dirty="0">
                <a:latin typeface="Times New Roman"/>
                <a:cs typeface="Times New Roman"/>
              </a:rPr>
              <a:t>to</a:t>
            </a:r>
            <a:r>
              <a:rPr sz="2200" spc="60" dirty="0">
                <a:latin typeface="Times New Roman"/>
                <a:cs typeface="Times New Roman"/>
              </a:rPr>
              <a:t> </a:t>
            </a:r>
            <a:r>
              <a:rPr sz="2200" spc="-70" dirty="0">
                <a:latin typeface="Times New Roman"/>
                <a:cs typeface="Times New Roman"/>
              </a:rPr>
              <a:t>the</a:t>
            </a:r>
            <a:r>
              <a:rPr sz="2200" spc="55" dirty="0">
                <a:latin typeface="Times New Roman"/>
                <a:cs typeface="Times New Roman"/>
              </a:rPr>
              <a:t> </a:t>
            </a:r>
            <a:r>
              <a:rPr sz="2200" spc="-45" dirty="0">
                <a:latin typeface="Times New Roman"/>
                <a:cs typeface="Times New Roman"/>
              </a:rPr>
              <a:t>internet</a:t>
            </a:r>
            <a:r>
              <a:rPr sz="2200" spc="65" dirty="0">
                <a:latin typeface="Times New Roman"/>
                <a:cs typeface="Times New Roman"/>
              </a:rPr>
              <a:t> </a:t>
            </a:r>
            <a:r>
              <a:rPr sz="2200" spc="-50" dirty="0">
                <a:latin typeface="Times New Roman"/>
                <a:cs typeface="Times New Roman"/>
              </a:rPr>
              <a:t>or</a:t>
            </a:r>
            <a:r>
              <a:rPr sz="2200" spc="70" dirty="0">
                <a:latin typeface="Times New Roman"/>
                <a:cs typeface="Times New Roman"/>
              </a:rPr>
              <a:t> </a:t>
            </a:r>
            <a:r>
              <a:rPr sz="2200" spc="-60" dirty="0">
                <a:latin typeface="Times New Roman"/>
                <a:cs typeface="Times New Roman"/>
              </a:rPr>
              <a:t>other</a:t>
            </a:r>
            <a:r>
              <a:rPr sz="2200" spc="60" dirty="0">
                <a:latin typeface="Times New Roman"/>
                <a:cs typeface="Times New Roman"/>
              </a:rPr>
              <a:t> </a:t>
            </a:r>
            <a:r>
              <a:rPr sz="2200" spc="-295" dirty="0">
                <a:latin typeface="Times New Roman"/>
                <a:cs typeface="Times New Roman"/>
              </a:rPr>
              <a:t>AWS</a:t>
            </a:r>
            <a:r>
              <a:rPr sz="2200" spc="75" dirty="0">
                <a:latin typeface="Times New Roman"/>
                <a:cs typeface="Times New Roman"/>
              </a:rPr>
              <a:t> </a:t>
            </a:r>
            <a:r>
              <a:rPr sz="2200" spc="-85" dirty="0">
                <a:latin typeface="Times New Roman"/>
                <a:cs typeface="Times New Roman"/>
              </a:rPr>
              <a:t>services,</a:t>
            </a:r>
            <a:r>
              <a:rPr sz="2200" spc="-25" dirty="0">
                <a:latin typeface="Times New Roman"/>
                <a:cs typeface="Times New Roman"/>
              </a:rPr>
              <a:t> </a:t>
            </a:r>
            <a:r>
              <a:rPr sz="2200" spc="-70" dirty="0">
                <a:latin typeface="Times New Roman"/>
                <a:cs typeface="Times New Roman"/>
              </a:rPr>
              <a:t>but</a:t>
            </a:r>
            <a:r>
              <a:rPr sz="2200" spc="55" dirty="0">
                <a:latin typeface="Times New Roman"/>
                <a:cs typeface="Times New Roman"/>
              </a:rPr>
              <a:t> </a:t>
            </a:r>
            <a:r>
              <a:rPr sz="2200" spc="-90" dirty="0">
                <a:latin typeface="Times New Roman"/>
                <a:cs typeface="Times New Roman"/>
              </a:rPr>
              <a:t>prevent</a:t>
            </a:r>
            <a:r>
              <a:rPr sz="2200" spc="60" dirty="0">
                <a:latin typeface="Times New Roman"/>
                <a:cs typeface="Times New Roman"/>
              </a:rPr>
              <a:t> </a:t>
            </a:r>
            <a:r>
              <a:rPr sz="2200" spc="-75" dirty="0">
                <a:latin typeface="Times New Roman"/>
                <a:cs typeface="Times New Roman"/>
              </a:rPr>
              <a:t>the</a:t>
            </a:r>
            <a:r>
              <a:rPr sz="2200" spc="-50" dirty="0">
                <a:latin typeface="Times New Roman"/>
                <a:cs typeface="Times New Roman"/>
              </a:rPr>
              <a:t> internet</a:t>
            </a:r>
            <a:r>
              <a:rPr sz="2200" spc="-45" dirty="0">
                <a:latin typeface="Times New Roman"/>
                <a:cs typeface="Times New Roman"/>
              </a:rPr>
              <a:t> </a:t>
            </a:r>
            <a:r>
              <a:rPr sz="2200" spc="-105" dirty="0">
                <a:latin typeface="Times New Roman"/>
                <a:cs typeface="Times New Roman"/>
              </a:rPr>
              <a:t>from</a:t>
            </a:r>
            <a:r>
              <a:rPr sz="2200" spc="-30" dirty="0">
                <a:latin typeface="Times New Roman"/>
                <a:cs typeface="Times New Roman"/>
              </a:rPr>
              <a:t> </a:t>
            </a:r>
            <a:r>
              <a:rPr sz="2200" spc="-105" dirty="0">
                <a:latin typeface="Times New Roman"/>
                <a:cs typeface="Times New Roman"/>
              </a:rPr>
              <a:t>initiating</a:t>
            </a:r>
            <a:r>
              <a:rPr sz="2200" spc="-55" dirty="0">
                <a:latin typeface="Times New Roman"/>
                <a:cs typeface="Times New Roman"/>
              </a:rPr>
              <a:t> </a:t>
            </a:r>
            <a:r>
              <a:rPr sz="2200" spc="-180" dirty="0">
                <a:latin typeface="Times New Roman"/>
                <a:cs typeface="Times New Roman"/>
              </a:rPr>
              <a:t>a</a:t>
            </a:r>
            <a:r>
              <a:rPr sz="2200" spc="-60" dirty="0">
                <a:latin typeface="Times New Roman"/>
                <a:cs typeface="Times New Roman"/>
              </a:rPr>
              <a:t> </a:t>
            </a:r>
            <a:r>
              <a:rPr sz="2200" spc="-100" dirty="0">
                <a:latin typeface="Times New Roman"/>
                <a:cs typeface="Times New Roman"/>
              </a:rPr>
              <a:t>connection</a:t>
            </a:r>
            <a:r>
              <a:rPr sz="2200" spc="-10" dirty="0">
                <a:latin typeface="Times New Roman"/>
                <a:cs typeface="Times New Roman"/>
              </a:rPr>
              <a:t> </a:t>
            </a:r>
            <a:r>
              <a:rPr sz="2200" spc="-95" dirty="0">
                <a:latin typeface="Times New Roman"/>
                <a:cs typeface="Times New Roman"/>
              </a:rPr>
              <a:t>with</a:t>
            </a:r>
            <a:r>
              <a:rPr sz="2200" spc="-60" dirty="0">
                <a:latin typeface="Times New Roman"/>
                <a:cs typeface="Times New Roman"/>
              </a:rPr>
              <a:t> </a:t>
            </a:r>
            <a:r>
              <a:rPr sz="2200" spc="-100" dirty="0">
                <a:latin typeface="Times New Roman"/>
                <a:cs typeface="Times New Roman"/>
              </a:rPr>
              <a:t>those</a:t>
            </a:r>
            <a:r>
              <a:rPr sz="2200" spc="-45" dirty="0">
                <a:latin typeface="Times New Roman"/>
                <a:cs typeface="Times New Roman"/>
              </a:rPr>
              <a:t> </a:t>
            </a:r>
            <a:r>
              <a:rPr sz="2200" spc="-100" dirty="0">
                <a:latin typeface="Times New Roman"/>
                <a:cs typeface="Times New Roman"/>
              </a:rPr>
              <a:t>instances.</a:t>
            </a:r>
            <a:endParaRPr sz="2200" dirty="0">
              <a:latin typeface="Times New Roman"/>
              <a:cs typeface="Times New Roman"/>
            </a:endParaRPr>
          </a:p>
          <a:p>
            <a:pPr algn="just">
              <a:lnSpc>
                <a:spcPct val="100000"/>
              </a:lnSpc>
              <a:spcBef>
                <a:spcPts val="1310"/>
              </a:spcBef>
            </a:pPr>
            <a:endParaRPr sz="2200" dirty="0">
              <a:latin typeface="Times New Roman"/>
              <a:cs typeface="Times New Roman"/>
            </a:endParaRPr>
          </a:p>
          <a:p>
            <a:pPr marL="136525" algn="just">
              <a:lnSpc>
                <a:spcPct val="100000"/>
              </a:lnSpc>
              <a:spcBef>
                <a:spcPts val="5"/>
              </a:spcBef>
            </a:pPr>
            <a:r>
              <a:rPr sz="2200" spc="-270" dirty="0">
                <a:latin typeface="Times New Roman"/>
                <a:cs typeface="Times New Roman"/>
              </a:rPr>
              <a:t>You</a:t>
            </a:r>
            <a:r>
              <a:rPr sz="2200" spc="-25" dirty="0">
                <a:latin typeface="Times New Roman"/>
                <a:cs typeface="Times New Roman"/>
              </a:rPr>
              <a:t> </a:t>
            </a:r>
            <a:r>
              <a:rPr sz="2200" spc="-105" dirty="0">
                <a:latin typeface="Times New Roman"/>
                <a:cs typeface="Times New Roman"/>
              </a:rPr>
              <a:t>are</a:t>
            </a:r>
            <a:r>
              <a:rPr sz="2200" spc="-30" dirty="0">
                <a:latin typeface="Times New Roman"/>
                <a:cs typeface="Times New Roman"/>
              </a:rPr>
              <a:t> </a:t>
            </a:r>
            <a:r>
              <a:rPr sz="2200" spc="-114" dirty="0">
                <a:latin typeface="Times New Roman"/>
                <a:cs typeface="Times New Roman"/>
              </a:rPr>
              <a:t>charged</a:t>
            </a:r>
            <a:r>
              <a:rPr sz="2200" spc="-10" dirty="0">
                <a:latin typeface="Times New Roman"/>
                <a:cs typeface="Times New Roman"/>
              </a:rPr>
              <a:t> </a:t>
            </a:r>
            <a:r>
              <a:rPr sz="2200" spc="-85" dirty="0">
                <a:latin typeface="Times New Roman"/>
                <a:cs typeface="Times New Roman"/>
              </a:rPr>
              <a:t>for</a:t>
            </a:r>
            <a:r>
              <a:rPr sz="2200" spc="-15" dirty="0">
                <a:latin typeface="Times New Roman"/>
                <a:cs typeface="Times New Roman"/>
              </a:rPr>
              <a:t> </a:t>
            </a:r>
            <a:r>
              <a:rPr sz="2200" spc="-110" dirty="0">
                <a:latin typeface="Times New Roman"/>
                <a:cs typeface="Times New Roman"/>
              </a:rPr>
              <a:t>creating</a:t>
            </a:r>
            <a:r>
              <a:rPr sz="2200" spc="-15" dirty="0">
                <a:latin typeface="Times New Roman"/>
                <a:cs typeface="Times New Roman"/>
              </a:rPr>
              <a:t> </a:t>
            </a:r>
            <a:r>
              <a:rPr sz="2200" spc="-135" dirty="0">
                <a:latin typeface="Times New Roman"/>
                <a:cs typeface="Times New Roman"/>
              </a:rPr>
              <a:t>and</a:t>
            </a:r>
            <a:r>
              <a:rPr sz="2200" spc="-25" dirty="0">
                <a:latin typeface="Times New Roman"/>
                <a:cs typeface="Times New Roman"/>
              </a:rPr>
              <a:t> </a:t>
            </a:r>
            <a:r>
              <a:rPr sz="2200" spc="-140" dirty="0">
                <a:latin typeface="Times New Roman"/>
                <a:cs typeface="Times New Roman"/>
              </a:rPr>
              <a:t>using</a:t>
            </a:r>
            <a:r>
              <a:rPr sz="2200" spc="-20" dirty="0">
                <a:latin typeface="Times New Roman"/>
                <a:cs typeface="Times New Roman"/>
              </a:rPr>
              <a:t> </a:t>
            </a:r>
            <a:r>
              <a:rPr sz="2200" spc="-185" dirty="0">
                <a:latin typeface="Times New Roman"/>
                <a:cs typeface="Times New Roman"/>
              </a:rPr>
              <a:t>a</a:t>
            </a:r>
            <a:r>
              <a:rPr sz="2200" spc="-35" dirty="0">
                <a:latin typeface="Times New Roman"/>
                <a:cs typeface="Times New Roman"/>
              </a:rPr>
              <a:t> </a:t>
            </a:r>
            <a:r>
              <a:rPr sz="2200" spc="-245" dirty="0">
                <a:latin typeface="Times New Roman"/>
                <a:cs typeface="Times New Roman"/>
              </a:rPr>
              <a:t>NAT</a:t>
            </a:r>
            <a:r>
              <a:rPr sz="2200" spc="-30" dirty="0">
                <a:latin typeface="Times New Roman"/>
                <a:cs typeface="Times New Roman"/>
              </a:rPr>
              <a:t> </a:t>
            </a:r>
            <a:r>
              <a:rPr sz="2200" spc="-165" dirty="0">
                <a:latin typeface="Times New Roman"/>
                <a:cs typeface="Times New Roman"/>
              </a:rPr>
              <a:t>gateway</a:t>
            </a:r>
            <a:r>
              <a:rPr sz="2200" spc="-30" dirty="0">
                <a:latin typeface="Times New Roman"/>
                <a:cs typeface="Times New Roman"/>
              </a:rPr>
              <a:t> </a:t>
            </a:r>
            <a:r>
              <a:rPr sz="2200" spc="-110" dirty="0">
                <a:latin typeface="Times New Roman"/>
                <a:cs typeface="Times New Roman"/>
              </a:rPr>
              <a:t>in</a:t>
            </a:r>
            <a:r>
              <a:rPr sz="2200" spc="-35" dirty="0">
                <a:latin typeface="Times New Roman"/>
                <a:cs typeface="Times New Roman"/>
              </a:rPr>
              <a:t> </a:t>
            </a:r>
            <a:r>
              <a:rPr sz="2200" spc="-100" dirty="0">
                <a:latin typeface="Times New Roman"/>
                <a:cs typeface="Times New Roman"/>
              </a:rPr>
              <a:t>your</a:t>
            </a:r>
            <a:r>
              <a:rPr sz="2200" dirty="0">
                <a:latin typeface="Times New Roman"/>
                <a:cs typeface="Times New Roman"/>
              </a:rPr>
              <a:t> </a:t>
            </a:r>
            <a:r>
              <a:rPr sz="2200" spc="-10" dirty="0">
                <a:latin typeface="Times New Roman"/>
                <a:cs typeface="Times New Roman"/>
              </a:rPr>
              <a:t>account.</a:t>
            </a:r>
            <a:endParaRPr sz="2200" dirty="0">
              <a:latin typeface="Times New Roman"/>
              <a:cs typeface="Times New Roman"/>
            </a:endParaRPr>
          </a:p>
          <a:p>
            <a:pPr marL="136525" algn="just">
              <a:lnSpc>
                <a:spcPct val="100000"/>
              </a:lnSpc>
              <a:spcBef>
                <a:spcPts val="5"/>
              </a:spcBef>
            </a:pPr>
            <a:r>
              <a:rPr sz="2200" spc="-250" dirty="0">
                <a:latin typeface="Times New Roman"/>
                <a:cs typeface="Times New Roman"/>
              </a:rPr>
              <a:t>NAT</a:t>
            </a:r>
            <a:r>
              <a:rPr sz="2200" spc="-25" dirty="0">
                <a:latin typeface="Times New Roman"/>
                <a:cs typeface="Times New Roman"/>
              </a:rPr>
              <a:t> </a:t>
            </a:r>
            <a:r>
              <a:rPr sz="2200" spc="-165" dirty="0">
                <a:latin typeface="Times New Roman"/>
                <a:cs typeface="Times New Roman"/>
              </a:rPr>
              <a:t>gateway</a:t>
            </a:r>
            <a:r>
              <a:rPr sz="2200" spc="-25" dirty="0">
                <a:latin typeface="Times New Roman"/>
                <a:cs typeface="Times New Roman"/>
              </a:rPr>
              <a:t> </a:t>
            </a:r>
            <a:r>
              <a:rPr sz="2200" spc="-140" dirty="0">
                <a:latin typeface="Times New Roman"/>
                <a:cs typeface="Times New Roman"/>
              </a:rPr>
              <a:t>uses</a:t>
            </a:r>
            <a:r>
              <a:rPr sz="2200" spc="-30" dirty="0">
                <a:latin typeface="Times New Roman"/>
                <a:cs typeface="Times New Roman"/>
              </a:rPr>
              <a:t> </a:t>
            </a:r>
            <a:r>
              <a:rPr sz="2200" spc="-114" dirty="0">
                <a:latin typeface="Times New Roman"/>
                <a:cs typeface="Times New Roman"/>
              </a:rPr>
              <a:t>elastic</a:t>
            </a:r>
            <a:r>
              <a:rPr sz="2200" spc="-35" dirty="0">
                <a:latin typeface="Times New Roman"/>
                <a:cs typeface="Times New Roman"/>
              </a:rPr>
              <a:t> </a:t>
            </a:r>
            <a:r>
              <a:rPr sz="2200" spc="-155" dirty="0">
                <a:latin typeface="Times New Roman"/>
                <a:cs typeface="Times New Roman"/>
              </a:rPr>
              <a:t>IP</a:t>
            </a:r>
            <a:r>
              <a:rPr sz="2200" spc="-30" dirty="0">
                <a:latin typeface="Times New Roman"/>
                <a:cs typeface="Times New Roman"/>
              </a:rPr>
              <a:t> </a:t>
            </a:r>
            <a:r>
              <a:rPr sz="2200" spc="-135" dirty="0">
                <a:latin typeface="Times New Roman"/>
                <a:cs typeface="Times New Roman"/>
              </a:rPr>
              <a:t>and</a:t>
            </a:r>
            <a:r>
              <a:rPr sz="2200" spc="-25" dirty="0">
                <a:latin typeface="Times New Roman"/>
                <a:cs typeface="Times New Roman"/>
              </a:rPr>
              <a:t> </a:t>
            </a:r>
            <a:r>
              <a:rPr sz="2200" spc="-40" dirty="0">
                <a:latin typeface="Times New Roman"/>
                <a:cs typeface="Times New Roman"/>
              </a:rPr>
              <a:t>not</a:t>
            </a:r>
            <a:r>
              <a:rPr sz="2200" spc="-15" dirty="0">
                <a:latin typeface="Times New Roman"/>
                <a:cs typeface="Times New Roman"/>
              </a:rPr>
              <a:t> </a:t>
            </a:r>
            <a:r>
              <a:rPr sz="2200" spc="-125" dirty="0">
                <a:latin typeface="Times New Roman"/>
                <a:cs typeface="Times New Roman"/>
              </a:rPr>
              <a:t>public</a:t>
            </a:r>
            <a:r>
              <a:rPr sz="2200" spc="-20" dirty="0">
                <a:latin typeface="Times New Roman"/>
                <a:cs typeface="Times New Roman"/>
              </a:rPr>
              <a:t> </a:t>
            </a:r>
            <a:r>
              <a:rPr sz="2200" spc="-25" dirty="0">
                <a:latin typeface="Times New Roman"/>
                <a:cs typeface="Times New Roman"/>
              </a:rPr>
              <a:t>IP.</a:t>
            </a:r>
            <a:endParaRPr sz="2200" dirty="0">
              <a:latin typeface="Times New Roman"/>
              <a:cs typeface="Times New Roman"/>
            </a:endParaRPr>
          </a:p>
          <a:p>
            <a:pPr algn="just">
              <a:lnSpc>
                <a:spcPct val="100000"/>
              </a:lnSpc>
              <a:spcBef>
                <a:spcPts val="1310"/>
              </a:spcBef>
            </a:pPr>
            <a:endParaRPr sz="2200" dirty="0">
              <a:latin typeface="Times New Roman"/>
              <a:cs typeface="Times New Roman"/>
            </a:endParaRPr>
          </a:p>
          <a:p>
            <a:pPr marL="136525" marR="42545" algn="just">
              <a:lnSpc>
                <a:spcPct val="100000"/>
              </a:lnSpc>
            </a:pPr>
            <a:r>
              <a:rPr sz="2200" spc="-95" dirty="0">
                <a:latin typeface="Times New Roman"/>
                <a:cs typeface="Times New Roman"/>
              </a:rPr>
              <a:t>Generally</a:t>
            </a:r>
            <a:r>
              <a:rPr lang="en-US" sz="2200" spc="-95" dirty="0">
                <a:latin typeface="Times New Roman"/>
                <a:cs typeface="Times New Roman"/>
              </a:rPr>
              <a:t>,</a:t>
            </a:r>
            <a:r>
              <a:rPr sz="2200" spc="-45" dirty="0">
                <a:latin typeface="Times New Roman"/>
                <a:cs typeface="Times New Roman"/>
              </a:rPr>
              <a:t> </a:t>
            </a:r>
            <a:r>
              <a:rPr sz="2200" spc="-40" dirty="0">
                <a:latin typeface="Times New Roman"/>
                <a:cs typeface="Times New Roman"/>
              </a:rPr>
              <a:t>web</a:t>
            </a:r>
            <a:r>
              <a:rPr sz="2200" spc="-95" dirty="0">
                <a:latin typeface="Times New Roman"/>
                <a:cs typeface="Times New Roman"/>
              </a:rPr>
              <a:t> </a:t>
            </a:r>
            <a:r>
              <a:rPr sz="2200" spc="-50" dirty="0">
                <a:latin typeface="Times New Roman"/>
                <a:cs typeface="Times New Roman"/>
              </a:rPr>
              <a:t>servers</a:t>
            </a:r>
            <a:r>
              <a:rPr sz="2200" spc="-40" dirty="0">
                <a:latin typeface="Times New Roman"/>
                <a:cs typeface="Times New Roman"/>
              </a:rPr>
              <a:t> </a:t>
            </a:r>
            <a:r>
              <a:rPr sz="2200" dirty="0">
                <a:latin typeface="Times New Roman"/>
                <a:cs typeface="Times New Roman"/>
              </a:rPr>
              <a:t>are</a:t>
            </a:r>
            <a:r>
              <a:rPr sz="2200" spc="-45" dirty="0">
                <a:latin typeface="Times New Roman"/>
                <a:cs typeface="Times New Roman"/>
              </a:rPr>
              <a:t> </a:t>
            </a:r>
            <a:r>
              <a:rPr sz="2200" spc="-25" dirty="0">
                <a:latin typeface="Times New Roman"/>
                <a:cs typeface="Times New Roman"/>
              </a:rPr>
              <a:t>stored</a:t>
            </a:r>
            <a:r>
              <a:rPr sz="2200" spc="-45" dirty="0">
                <a:latin typeface="Times New Roman"/>
                <a:cs typeface="Times New Roman"/>
              </a:rPr>
              <a:t> </a:t>
            </a:r>
            <a:r>
              <a:rPr sz="2200" dirty="0">
                <a:latin typeface="Times New Roman"/>
                <a:cs typeface="Times New Roman"/>
              </a:rPr>
              <a:t>in</a:t>
            </a:r>
            <a:r>
              <a:rPr sz="2200" spc="-45" dirty="0">
                <a:latin typeface="Times New Roman"/>
                <a:cs typeface="Times New Roman"/>
              </a:rPr>
              <a:t> </a:t>
            </a:r>
            <a:r>
              <a:rPr sz="2200" dirty="0">
                <a:latin typeface="Times New Roman"/>
                <a:cs typeface="Times New Roman"/>
              </a:rPr>
              <a:t>a</a:t>
            </a:r>
            <a:r>
              <a:rPr sz="2200" spc="-45" dirty="0">
                <a:latin typeface="Times New Roman"/>
                <a:cs typeface="Times New Roman"/>
              </a:rPr>
              <a:t> </a:t>
            </a:r>
            <a:r>
              <a:rPr sz="2200" spc="-75" dirty="0">
                <a:latin typeface="Times New Roman"/>
                <a:cs typeface="Times New Roman"/>
              </a:rPr>
              <a:t>public</a:t>
            </a:r>
            <a:r>
              <a:rPr sz="2200" spc="-50" dirty="0">
                <a:latin typeface="Times New Roman"/>
                <a:cs typeface="Times New Roman"/>
              </a:rPr>
              <a:t> </a:t>
            </a:r>
            <a:r>
              <a:rPr sz="2200" spc="-55" dirty="0">
                <a:latin typeface="Times New Roman"/>
                <a:cs typeface="Times New Roman"/>
              </a:rPr>
              <a:t>subnet</a:t>
            </a:r>
            <a:r>
              <a:rPr sz="2200" spc="-40" dirty="0">
                <a:latin typeface="Times New Roman"/>
                <a:cs typeface="Times New Roman"/>
              </a:rPr>
              <a:t> </a:t>
            </a:r>
            <a:r>
              <a:rPr sz="2200" dirty="0">
                <a:latin typeface="Times New Roman"/>
                <a:cs typeface="Times New Roman"/>
              </a:rPr>
              <a:t>so</a:t>
            </a:r>
            <a:r>
              <a:rPr sz="2200" spc="-45" dirty="0">
                <a:latin typeface="Times New Roman"/>
                <a:cs typeface="Times New Roman"/>
              </a:rPr>
              <a:t> </a:t>
            </a:r>
            <a:r>
              <a:rPr sz="2200" dirty="0">
                <a:latin typeface="Times New Roman"/>
                <a:cs typeface="Times New Roman"/>
              </a:rPr>
              <a:t>user</a:t>
            </a:r>
            <a:r>
              <a:rPr sz="2200" spc="-45" dirty="0">
                <a:latin typeface="Times New Roman"/>
                <a:cs typeface="Times New Roman"/>
              </a:rPr>
              <a:t> can </a:t>
            </a:r>
            <a:r>
              <a:rPr sz="2200" spc="-110" dirty="0">
                <a:latin typeface="Times New Roman"/>
                <a:cs typeface="Times New Roman"/>
              </a:rPr>
              <a:t>access</a:t>
            </a:r>
            <a:r>
              <a:rPr sz="2200" spc="-30" dirty="0">
                <a:latin typeface="Times New Roman"/>
                <a:cs typeface="Times New Roman"/>
              </a:rPr>
              <a:t> </a:t>
            </a:r>
            <a:r>
              <a:rPr sz="2200" spc="-100" dirty="0">
                <a:latin typeface="Times New Roman"/>
                <a:cs typeface="Times New Roman"/>
              </a:rPr>
              <a:t>my</a:t>
            </a:r>
            <a:r>
              <a:rPr sz="2200" spc="-35" dirty="0">
                <a:latin typeface="Times New Roman"/>
                <a:cs typeface="Times New Roman"/>
              </a:rPr>
              <a:t> </a:t>
            </a:r>
            <a:r>
              <a:rPr sz="2200" spc="-25" dirty="0">
                <a:latin typeface="Times New Roman"/>
                <a:cs typeface="Times New Roman"/>
              </a:rPr>
              <a:t>web </a:t>
            </a:r>
            <a:r>
              <a:rPr sz="2200" spc="-10" dirty="0">
                <a:latin typeface="Times New Roman"/>
                <a:cs typeface="Times New Roman"/>
              </a:rPr>
              <a:t>site.</a:t>
            </a:r>
            <a:endParaRPr lang="en-US" sz="2200" spc="-10" dirty="0">
              <a:latin typeface="Times New Roman"/>
              <a:cs typeface="Times New Roman"/>
            </a:endParaRPr>
          </a:p>
          <a:p>
            <a:pPr marL="136525" marR="42545" algn="just">
              <a:lnSpc>
                <a:spcPct val="100000"/>
              </a:lnSpc>
            </a:pPr>
            <a:endParaRPr sz="2200" dirty="0">
              <a:latin typeface="Times New Roman"/>
              <a:cs typeface="Times New Roman"/>
            </a:endParaRPr>
          </a:p>
          <a:p>
            <a:pPr marL="136525" algn="just">
              <a:lnSpc>
                <a:spcPct val="100000"/>
              </a:lnSpc>
              <a:spcBef>
                <a:spcPts val="600"/>
              </a:spcBef>
            </a:pPr>
            <a:r>
              <a:rPr sz="2200" spc="-140" dirty="0">
                <a:latin typeface="Times New Roman"/>
                <a:cs typeface="Times New Roman"/>
              </a:rPr>
              <a:t>Database</a:t>
            </a:r>
            <a:r>
              <a:rPr sz="2200" spc="-45" dirty="0">
                <a:latin typeface="Times New Roman"/>
                <a:cs typeface="Times New Roman"/>
              </a:rPr>
              <a:t> </a:t>
            </a:r>
            <a:r>
              <a:rPr sz="2200" spc="-90" dirty="0">
                <a:latin typeface="Times New Roman"/>
                <a:cs typeface="Times New Roman"/>
              </a:rPr>
              <a:t>servers</a:t>
            </a:r>
            <a:r>
              <a:rPr sz="2200" spc="5" dirty="0">
                <a:latin typeface="Times New Roman"/>
                <a:cs typeface="Times New Roman"/>
              </a:rPr>
              <a:t> </a:t>
            </a:r>
            <a:r>
              <a:rPr sz="2200" spc="-100" dirty="0">
                <a:latin typeface="Times New Roman"/>
                <a:cs typeface="Times New Roman"/>
              </a:rPr>
              <a:t>are</a:t>
            </a:r>
            <a:r>
              <a:rPr sz="2200" spc="-30" dirty="0">
                <a:latin typeface="Times New Roman"/>
                <a:cs typeface="Times New Roman"/>
              </a:rPr>
              <a:t> </a:t>
            </a:r>
            <a:r>
              <a:rPr sz="2200" spc="-75" dirty="0">
                <a:latin typeface="Times New Roman"/>
                <a:cs typeface="Times New Roman"/>
              </a:rPr>
              <a:t>stored</a:t>
            </a:r>
            <a:r>
              <a:rPr sz="2200" dirty="0">
                <a:latin typeface="Times New Roman"/>
                <a:cs typeface="Times New Roman"/>
              </a:rPr>
              <a:t> </a:t>
            </a:r>
            <a:r>
              <a:rPr sz="2200" spc="-110" dirty="0">
                <a:latin typeface="Times New Roman"/>
                <a:cs typeface="Times New Roman"/>
              </a:rPr>
              <a:t>in</a:t>
            </a:r>
            <a:r>
              <a:rPr sz="2200" spc="-35" dirty="0">
                <a:latin typeface="Times New Roman"/>
                <a:cs typeface="Times New Roman"/>
              </a:rPr>
              <a:t> </a:t>
            </a:r>
            <a:r>
              <a:rPr sz="2200" spc="-100" dirty="0">
                <a:latin typeface="Times New Roman"/>
                <a:cs typeface="Times New Roman"/>
              </a:rPr>
              <a:t>private</a:t>
            </a:r>
            <a:r>
              <a:rPr sz="2200" spc="-35" dirty="0">
                <a:latin typeface="Times New Roman"/>
                <a:cs typeface="Times New Roman"/>
              </a:rPr>
              <a:t> </a:t>
            </a:r>
            <a:r>
              <a:rPr sz="2200" spc="-75" dirty="0">
                <a:latin typeface="Times New Roman"/>
                <a:cs typeface="Times New Roman"/>
              </a:rPr>
              <a:t>subnet,</a:t>
            </a:r>
            <a:r>
              <a:rPr sz="2200" spc="-114" dirty="0">
                <a:latin typeface="Times New Roman"/>
                <a:cs typeface="Times New Roman"/>
              </a:rPr>
              <a:t> </a:t>
            </a:r>
            <a:r>
              <a:rPr sz="2200" spc="-140" dirty="0">
                <a:latin typeface="Times New Roman"/>
                <a:cs typeface="Times New Roman"/>
              </a:rPr>
              <a:t>so</a:t>
            </a:r>
            <a:r>
              <a:rPr sz="2200" spc="-10" dirty="0">
                <a:latin typeface="Times New Roman"/>
                <a:cs typeface="Times New Roman"/>
              </a:rPr>
              <a:t> </a:t>
            </a:r>
            <a:r>
              <a:rPr sz="2200" spc="-100" dirty="0">
                <a:latin typeface="Times New Roman"/>
                <a:cs typeface="Times New Roman"/>
              </a:rPr>
              <a:t>no</a:t>
            </a:r>
            <a:r>
              <a:rPr sz="2200" spc="-20" dirty="0">
                <a:latin typeface="Times New Roman"/>
                <a:cs typeface="Times New Roman"/>
              </a:rPr>
              <a:t> </a:t>
            </a:r>
            <a:r>
              <a:rPr sz="2200" spc="-105" dirty="0">
                <a:latin typeface="Times New Roman"/>
                <a:cs typeface="Times New Roman"/>
              </a:rPr>
              <a:t>one</a:t>
            </a:r>
            <a:r>
              <a:rPr sz="2200" spc="-25" dirty="0">
                <a:latin typeface="Times New Roman"/>
                <a:cs typeface="Times New Roman"/>
              </a:rPr>
              <a:t> </a:t>
            </a:r>
            <a:r>
              <a:rPr sz="2200" spc="-140" dirty="0">
                <a:latin typeface="Times New Roman"/>
                <a:cs typeface="Times New Roman"/>
              </a:rPr>
              <a:t>can</a:t>
            </a:r>
            <a:r>
              <a:rPr sz="2200" spc="-15" dirty="0">
                <a:latin typeface="Times New Roman"/>
                <a:cs typeface="Times New Roman"/>
              </a:rPr>
              <a:t> </a:t>
            </a:r>
            <a:r>
              <a:rPr sz="2200" spc="-155" dirty="0">
                <a:latin typeface="Times New Roman"/>
                <a:cs typeface="Times New Roman"/>
              </a:rPr>
              <a:t>access</a:t>
            </a:r>
            <a:r>
              <a:rPr sz="2200" spc="-10" dirty="0">
                <a:latin typeface="Times New Roman"/>
                <a:cs typeface="Times New Roman"/>
              </a:rPr>
              <a:t> </a:t>
            </a:r>
            <a:r>
              <a:rPr sz="2200" spc="-220" dirty="0">
                <a:latin typeface="Times New Roman"/>
                <a:cs typeface="Times New Roman"/>
              </a:rPr>
              <a:t>my</a:t>
            </a:r>
            <a:r>
              <a:rPr sz="2200" spc="-40" dirty="0">
                <a:latin typeface="Times New Roman"/>
                <a:cs typeface="Times New Roman"/>
              </a:rPr>
              <a:t> </a:t>
            </a:r>
            <a:r>
              <a:rPr sz="2200" spc="-10" dirty="0">
                <a:latin typeface="Times New Roman"/>
                <a:cs typeface="Times New Roman"/>
              </a:rPr>
              <a:t>database.</a:t>
            </a:r>
            <a:endParaRPr sz="2200" dirty="0">
              <a:latin typeface="Times New Roman"/>
              <a:cs typeface="Times New Roman"/>
            </a:endParaRPr>
          </a:p>
          <a:p>
            <a:pPr algn="just">
              <a:lnSpc>
                <a:spcPct val="100000"/>
              </a:lnSpc>
              <a:spcBef>
                <a:spcPts val="1310"/>
              </a:spcBef>
            </a:pPr>
            <a:endParaRPr lang="en-US" sz="2200" dirty="0">
              <a:latin typeface="Times New Roman"/>
              <a:cs typeface="Times New Roman"/>
            </a:endParaRPr>
          </a:p>
          <a:p>
            <a:pPr marL="136525" algn="just">
              <a:lnSpc>
                <a:spcPct val="100000"/>
              </a:lnSpc>
              <a:spcBef>
                <a:spcPts val="5"/>
              </a:spcBef>
            </a:pPr>
            <a:r>
              <a:rPr sz="2200" spc="-260" dirty="0">
                <a:latin typeface="Times New Roman"/>
                <a:cs typeface="Times New Roman"/>
              </a:rPr>
              <a:t>To</a:t>
            </a:r>
            <a:r>
              <a:rPr sz="2200" spc="50" dirty="0">
                <a:latin typeface="Times New Roman"/>
                <a:cs typeface="Times New Roman"/>
              </a:rPr>
              <a:t> </a:t>
            </a:r>
            <a:r>
              <a:rPr sz="2200" spc="-75" dirty="0">
                <a:latin typeface="Times New Roman"/>
                <a:cs typeface="Times New Roman"/>
              </a:rPr>
              <a:t>create</a:t>
            </a:r>
            <a:r>
              <a:rPr sz="2200" spc="-65" dirty="0">
                <a:latin typeface="Times New Roman"/>
                <a:cs typeface="Times New Roman"/>
              </a:rPr>
              <a:t> </a:t>
            </a:r>
            <a:r>
              <a:rPr sz="2200" dirty="0">
                <a:latin typeface="Times New Roman"/>
                <a:cs typeface="Times New Roman"/>
              </a:rPr>
              <a:t>a</a:t>
            </a:r>
            <a:r>
              <a:rPr sz="2200" spc="-135" dirty="0">
                <a:latin typeface="Times New Roman"/>
                <a:cs typeface="Times New Roman"/>
              </a:rPr>
              <a:t> </a:t>
            </a:r>
            <a:r>
              <a:rPr sz="2200" spc="-80" dirty="0">
                <a:latin typeface="Times New Roman"/>
                <a:cs typeface="Times New Roman"/>
              </a:rPr>
              <a:t>subnet</a:t>
            </a:r>
            <a:r>
              <a:rPr sz="2200" spc="-60" dirty="0">
                <a:latin typeface="Times New Roman"/>
                <a:cs typeface="Times New Roman"/>
              </a:rPr>
              <a:t> </a:t>
            </a:r>
            <a:r>
              <a:rPr sz="2200" spc="-160" dirty="0">
                <a:latin typeface="Times New Roman"/>
                <a:cs typeface="Times New Roman"/>
              </a:rPr>
              <a:t>gateway,</a:t>
            </a:r>
            <a:r>
              <a:rPr sz="2200" spc="-50" dirty="0">
                <a:latin typeface="Times New Roman"/>
                <a:cs typeface="Times New Roman"/>
              </a:rPr>
              <a:t> </a:t>
            </a:r>
            <a:r>
              <a:rPr sz="2200" spc="-114" dirty="0">
                <a:latin typeface="Times New Roman"/>
                <a:cs typeface="Times New Roman"/>
              </a:rPr>
              <a:t>you</a:t>
            </a:r>
            <a:r>
              <a:rPr sz="2200" spc="-20" dirty="0">
                <a:latin typeface="Times New Roman"/>
                <a:cs typeface="Times New Roman"/>
              </a:rPr>
              <a:t> </a:t>
            </a:r>
            <a:r>
              <a:rPr sz="2200" spc="-70" dirty="0">
                <a:latin typeface="Times New Roman"/>
                <a:cs typeface="Times New Roman"/>
              </a:rPr>
              <a:t>must</a:t>
            </a:r>
            <a:r>
              <a:rPr sz="2200" spc="-60" dirty="0">
                <a:latin typeface="Times New Roman"/>
                <a:cs typeface="Times New Roman"/>
              </a:rPr>
              <a:t> </a:t>
            </a:r>
            <a:r>
              <a:rPr sz="2200" spc="-135" dirty="0">
                <a:latin typeface="Times New Roman"/>
                <a:cs typeface="Times New Roman"/>
              </a:rPr>
              <a:t>specify</a:t>
            </a:r>
            <a:r>
              <a:rPr sz="2200" spc="-5" dirty="0">
                <a:latin typeface="Times New Roman"/>
                <a:cs typeface="Times New Roman"/>
              </a:rPr>
              <a:t> </a:t>
            </a:r>
            <a:r>
              <a:rPr sz="2200" spc="-35" dirty="0">
                <a:latin typeface="Times New Roman"/>
                <a:cs typeface="Times New Roman"/>
              </a:rPr>
              <a:t>the</a:t>
            </a:r>
            <a:r>
              <a:rPr sz="2200" spc="-45" dirty="0">
                <a:latin typeface="Times New Roman"/>
                <a:cs typeface="Times New Roman"/>
              </a:rPr>
              <a:t> </a:t>
            </a:r>
            <a:r>
              <a:rPr sz="2200" spc="-100" dirty="0">
                <a:latin typeface="Times New Roman"/>
                <a:cs typeface="Times New Roman"/>
              </a:rPr>
              <a:t>public</a:t>
            </a:r>
            <a:r>
              <a:rPr sz="2200" spc="-30" dirty="0">
                <a:latin typeface="Times New Roman"/>
                <a:cs typeface="Times New Roman"/>
              </a:rPr>
              <a:t> </a:t>
            </a:r>
            <a:r>
              <a:rPr sz="2200" spc="-80" dirty="0">
                <a:latin typeface="Times New Roman"/>
                <a:cs typeface="Times New Roman"/>
              </a:rPr>
              <a:t>subnet</a:t>
            </a:r>
            <a:r>
              <a:rPr sz="2200" spc="-45" dirty="0">
                <a:latin typeface="Times New Roman"/>
                <a:cs typeface="Times New Roman"/>
              </a:rPr>
              <a:t> </a:t>
            </a:r>
            <a:r>
              <a:rPr sz="2200" spc="-20" dirty="0">
                <a:latin typeface="Times New Roman"/>
                <a:cs typeface="Times New Roman"/>
              </a:rPr>
              <a:t>in</a:t>
            </a:r>
            <a:r>
              <a:rPr sz="2200" spc="-30" dirty="0">
                <a:latin typeface="Times New Roman"/>
                <a:cs typeface="Times New Roman"/>
              </a:rPr>
              <a:t> </a:t>
            </a:r>
            <a:r>
              <a:rPr sz="2200" spc="-110" dirty="0">
                <a:latin typeface="Times New Roman"/>
                <a:cs typeface="Times New Roman"/>
              </a:rPr>
              <a:t>which</a:t>
            </a:r>
            <a:r>
              <a:rPr sz="2200" spc="-25" dirty="0">
                <a:latin typeface="Times New Roman"/>
                <a:cs typeface="Times New Roman"/>
              </a:rPr>
              <a:t> </a:t>
            </a:r>
            <a:r>
              <a:rPr sz="2200" spc="-20" dirty="0">
                <a:latin typeface="Times New Roman"/>
                <a:cs typeface="Times New Roman"/>
              </a:rPr>
              <a:t>the</a:t>
            </a:r>
            <a:r>
              <a:rPr sz="2200" spc="-35" dirty="0">
                <a:latin typeface="Times New Roman"/>
                <a:cs typeface="Times New Roman"/>
              </a:rPr>
              <a:t> </a:t>
            </a:r>
            <a:r>
              <a:rPr sz="2200" spc="-25" dirty="0">
                <a:latin typeface="Times New Roman"/>
                <a:cs typeface="Times New Roman"/>
              </a:rPr>
              <a:t>NAT</a:t>
            </a:r>
            <a:endParaRPr sz="2200" dirty="0">
              <a:latin typeface="Times New Roman"/>
              <a:cs typeface="Times New Roman"/>
            </a:endParaRPr>
          </a:p>
          <a:p>
            <a:pPr marL="50800" algn="just">
              <a:lnSpc>
                <a:spcPct val="100000"/>
              </a:lnSpc>
            </a:pPr>
            <a:r>
              <a:rPr sz="2100" spc="-367" baseline="-9920" dirty="0">
                <a:solidFill>
                  <a:srgbClr val="FFFFFF"/>
                </a:solidFill>
                <a:latin typeface="Franklin Gothic Medium"/>
                <a:cs typeface="Franklin Gothic Medium"/>
              </a:rPr>
              <a:t>2</a:t>
            </a:r>
            <a:r>
              <a:rPr sz="2200" spc="-1015" dirty="0">
                <a:latin typeface="Times New Roman"/>
                <a:cs typeface="Times New Roman"/>
              </a:rPr>
              <a:t>g</a:t>
            </a:r>
            <a:r>
              <a:rPr sz="2100" spc="-232" baseline="-9920" dirty="0">
                <a:solidFill>
                  <a:srgbClr val="FFFFFF"/>
                </a:solidFill>
                <a:latin typeface="Franklin Gothic Medium"/>
                <a:cs typeface="Franklin Gothic Medium"/>
              </a:rPr>
              <a:t>5</a:t>
            </a:r>
            <a:r>
              <a:rPr sz="2200" spc="-130" dirty="0">
                <a:latin typeface="Times New Roman"/>
                <a:cs typeface="Times New Roman"/>
              </a:rPr>
              <a:t>a</a:t>
            </a:r>
            <a:r>
              <a:rPr sz="2200" spc="-90" dirty="0">
                <a:latin typeface="Times New Roman"/>
                <a:cs typeface="Times New Roman"/>
              </a:rPr>
              <a:t>t</a:t>
            </a:r>
            <a:r>
              <a:rPr sz="2200" spc="-140" dirty="0">
                <a:latin typeface="Times New Roman"/>
                <a:cs typeface="Times New Roman"/>
              </a:rPr>
              <a:t>e</a:t>
            </a:r>
            <a:r>
              <a:rPr sz="2200" spc="-120" dirty="0">
                <a:latin typeface="Times New Roman"/>
                <a:cs typeface="Times New Roman"/>
              </a:rPr>
              <a:t>w</a:t>
            </a:r>
            <a:r>
              <a:rPr sz="2200" spc="-185" dirty="0">
                <a:latin typeface="Times New Roman"/>
                <a:cs typeface="Times New Roman"/>
              </a:rPr>
              <a:t>a</a:t>
            </a:r>
            <a:r>
              <a:rPr sz="2200" spc="-90" dirty="0">
                <a:latin typeface="Times New Roman"/>
                <a:cs typeface="Times New Roman"/>
              </a:rPr>
              <a:t>y</a:t>
            </a:r>
            <a:r>
              <a:rPr sz="2200" spc="-5" dirty="0">
                <a:latin typeface="Times New Roman"/>
                <a:cs typeface="Times New Roman"/>
              </a:rPr>
              <a:t> </a:t>
            </a:r>
            <a:r>
              <a:rPr sz="2200" spc="-125" dirty="0">
                <a:latin typeface="Times New Roman"/>
                <a:cs typeface="Times New Roman"/>
              </a:rPr>
              <a:t>should</a:t>
            </a:r>
            <a:r>
              <a:rPr sz="2200" spc="40" dirty="0">
                <a:latin typeface="Times New Roman"/>
                <a:cs typeface="Times New Roman"/>
              </a:rPr>
              <a:t> </a:t>
            </a:r>
            <a:r>
              <a:rPr sz="2200" spc="-10" dirty="0">
                <a:latin typeface="Times New Roman"/>
                <a:cs typeface="Times New Roman"/>
              </a:rPr>
              <a:t>reside.</a:t>
            </a:r>
            <a:endParaRPr sz="2200" dirty="0">
              <a:latin typeface="Times New Roman"/>
              <a:cs typeface="Times New Roman"/>
            </a:endParaRPr>
          </a:p>
        </p:txBody>
      </p:sp>
    </p:spTree>
    <p:extLst>
      <p:ext uri="{BB962C8B-B14F-4D97-AF65-F5344CB8AC3E}">
        <p14:creationId xmlns:p14="http://schemas.microsoft.com/office/powerpoint/2010/main" val="28389438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3600" spc="-135" dirty="0"/>
              <a:t>NAT</a:t>
            </a:r>
            <a:r>
              <a:rPr sz="3600" spc="-85" dirty="0"/>
              <a:t> </a:t>
            </a:r>
            <a:r>
              <a:rPr sz="3600" spc="-80" dirty="0"/>
              <a:t>Gateway</a:t>
            </a:r>
            <a:endParaRPr sz="3600"/>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307340" y="1422654"/>
            <a:ext cx="8301355" cy="4505960"/>
          </a:xfrm>
          <a:prstGeom prst="rect">
            <a:avLst/>
          </a:prstGeom>
        </p:spPr>
        <p:txBody>
          <a:bodyPr vert="horz" wrap="square" lIns="0" tIns="12065" rIns="0" bIns="0" rtlCol="0">
            <a:spAutoFit/>
          </a:bodyPr>
          <a:lstStyle/>
          <a:p>
            <a:pPr marL="12700" marR="8255" algn="just">
              <a:lnSpc>
                <a:spcPct val="100000"/>
              </a:lnSpc>
              <a:spcBef>
                <a:spcPts val="95"/>
              </a:spcBef>
            </a:pPr>
            <a:r>
              <a:rPr sz="2200" spc="-270" dirty="0">
                <a:latin typeface="Times New Roman"/>
                <a:cs typeface="Times New Roman"/>
              </a:rPr>
              <a:t>You</a:t>
            </a:r>
            <a:r>
              <a:rPr sz="2200" spc="130" dirty="0">
                <a:latin typeface="Times New Roman"/>
                <a:cs typeface="Times New Roman"/>
              </a:rPr>
              <a:t> </a:t>
            </a:r>
            <a:r>
              <a:rPr sz="2200" spc="-50" dirty="0">
                <a:latin typeface="Times New Roman"/>
                <a:cs typeface="Times New Roman"/>
              </a:rPr>
              <a:t>must</a:t>
            </a:r>
            <a:r>
              <a:rPr sz="2200" spc="-85" dirty="0">
                <a:latin typeface="Times New Roman"/>
                <a:cs typeface="Times New Roman"/>
              </a:rPr>
              <a:t> </a:t>
            </a:r>
            <a:r>
              <a:rPr sz="2200" spc="-95" dirty="0">
                <a:latin typeface="Times New Roman"/>
                <a:cs typeface="Times New Roman"/>
              </a:rPr>
              <a:t>also</a:t>
            </a:r>
            <a:r>
              <a:rPr sz="2200" spc="-45" dirty="0">
                <a:latin typeface="Times New Roman"/>
                <a:cs typeface="Times New Roman"/>
              </a:rPr>
              <a:t> </a:t>
            </a:r>
            <a:r>
              <a:rPr sz="2200" spc="-125" dirty="0">
                <a:latin typeface="Times New Roman"/>
                <a:cs typeface="Times New Roman"/>
              </a:rPr>
              <a:t>specify</a:t>
            </a:r>
            <a:r>
              <a:rPr sz="2200" spc="-10" dirty="0">
                <a:latin typeface="Times New Roman"/>
                <a:cs typeface="Times New Roman"/>
              </a:rPr>
              <a:t> </a:t>
            </a:r>
            <a:r>
              <a:rPr sz="2200" dirty="0">
                <a:latin typeface="Times New Roman"/>
                <a:cs typeface="Times New Roman"/>
              </a:rPr>
              <a:t>an</a:t>
            </a:r>
            <a:r>
              <a:rPr sz="2200" spc="-80" dirty="0">
                <a:latin typeface="Times New Roman"/>
                <a:cs typeface="Times New Roman"/>
              </a:rPr>
              <a:t> </a:t>
            </a:r>
            <a:r>
              <a:rPr sz="2200" spc="-114" dirty="0">
                <a:latin typeface="Times New Roman"/>
                <a:cs typeface="Times New Roman"/>
              </a:rPr>
              <a:t>Elastic</a:t>
            </a:r>
            <a:r>
              <a:rPr sz="2200" spc="-15" dirty="0">
                <a:latin typeface="Times New Roman"/>
                <a:cs typeface="Times New Roman"/>
              </a:rPr>
              <a:t> </a:t>
            </a:r>
            <a:r>
              <a:rPr sz="2200" spc="-20" dirty="0">
                <a:latin typeface="Times New Roman"/>
                <a:cs typeface="Times New Roman"/>
              </a:rPr>
              <a:t>IP</a:t>
            </a:r>
            <a:r>
              <a:rPr sz="2200" spc="10" dirty="0">
                <a:latin typeface="Times New Roman"/>
                <a:cs typeface="Times New Roman"/>
              </a:rPr>
              <a:t> </a:t>
            </a:r>
            <a:r>
              <a:rPr sz="2200" spc="-95" dirty="0">
                <a:latin typeface="Times New Roman"/>
                <a:cs typeface="Times New Roman"/>
              </a:rPr>
              <a:t>address</a:t>
            </a:r>
            <a:r>
              <a:rPr sz="2200" dirty="0">
                <a:latin typeface="Times New Roman"/>
                <a:cs typeface="Times New Roman"/>
              </a:rPr>
              <a:t> to</a:t>
            </a:r>
            <a:r>
              <a:rPr sz="2200" spc="-5" dirty="0">
                <a:latin typeface="Times New Roman"/>
                <a:cs typeface="Times New Roman"/>
              </a:rPr>
              <a:t> </a:t>
            </a:r>
            <a:r>
              <a:rPr sz="2200" spc="-114" dirty="0">
                <a:latin typeface="Times New Roman"/>
                <a:cs typeface="Times New Roman"/>
              </a:rPr>
              <a:t>associate</a:t>
            </a:r>
            <a:r>
              <a:rPr sz="2200" spc="-10" dirty="0">
                <a:latin typeface="Times New Roman"/>
                <a:cs typeface="Times New Roman"/>
              </a:rPr>
              <a:t> </a:t>
            </a:r>
            <a:r>
              <a:rPr sz="2200" spc="-45" dirty="0">
                <a:latin typeface="Times New Roman"/>
                <a:cs typeface="Times New Roman"/>
              </a:rPr>
              <a:t>with</a:t>
            </a:r>
            <a:r>
              <a:rPr sz="2200" spc="-10" dirty="0">
                <a:latin typeface="Times New Roman"/>
                <a:cs typeface="Times New Roman"/>
              </a:rPr>
              <a:t> </a:t>
            </a:r>
            <a:r>
              <a:rPr sz="2200" spc="-225" dirty="0">
                <a:latin typeface="Times New Roman"/>
                <a:cs typeface="Times New Roman"/>
              </a:rPr>
              <a:t>NAT</a:t>
            </a:r>
            <a:r>
              <a:rPr sz="2200" spc="90" dirty="0">
                <a:latin typeface="Times New Roman"/>
                <a:cs typeface="Times New Roman"/>
              </a:rPr>
              <a:t> </a:t>
            </a:r>
            <a:r>
              <a:rPr sz="2200" spc="-145" dirty="0">
                <a:latin typeface="Times New Roman"/>
                <a:cs typeface="Times New Roman"/>
              </a:rPr>
              <a:t>gateway</a:t>
            </a:r>
            <a:r>
              <a:rPr sz="2200" spc="5" dirty="0">
                <a:latin typeface="Times New Roman"/>
                <a:cs typeface="Times New Roman"/>
              </a:rPr>
              <a:t> </a:t>
            </a:r>
            <a:r>
              <a:rPr sz="2200" spc="-25" dirty="0">
                <a:latin typeface="Times New Roman"/>
                <a:cs typeface="Times New Roman"/>
              </a:rPr>
              <a:t>when </a:t>
            </a:r>
            <a:r>
              <a:rPr sz="2200" spc="-150" dirty="0">
                <a:latin typeface="Times New Roman"/>
                <a:cs typeface="Times New Roman"/>
              </a:rPr>
              <a:t>you</a:t>
            </a:r>
            <a:r>
              <a:rPr sz="2200" spc="-10" dirty="0">
                <a:latin typeface="Times New Roman"/>
                <a:cs typeface="Times New Roman"/>
              </a:rPr>
              <a:t> </a:t>
            </a:r>
            <a:r>
              <a:rPr sz="2200" spc="-90" dirty="0">
                <a:latin typeface="Times New Roman"/>
                <a:cs typeface="Times New Roman"/>
              </a:rPr>
              <a:t>create</a:t>
            </a:r>
            <a:r>
              <a:rPr sz="2200" spc="-20" dirty="0">
                <a:latin typeface="Times New Roman"/>
                <a:cs typeface="Times New Roman"/>
              </a:rPr>
              <a:t> </a:t>
            </a:r>
            <a:r>
              <a:rPr sz="2200" spc="-25" dirty="0">
                <a:latin typeface="Times New Roman"/>
                <a:cs typeface="Times New Roman"/>
              </a:rPr>
              <a:t>it</a:t>
            </a:r>
            <a:endParaRPr sz="2200" dirty="0">
              <a:latin typeface="Times New Roman"/>
              <a:cs typeface="Times New Roman"/>
            </a:endParaRPr>
          </a:p>
          <a:p>
            <a:pPr>
              <a:lnSpc>
                <a:spcPct val="100000"/>
              </a:lnSpc>
              <a:spcBef>
                <a:spcPts val="1310"/>
              </a:spcBef>
            </a:pPr>
            <a:endParaRPr sz="2200" dirty="0">
              <a:latin typeface="Times New Roman"/>
              <a:cs typeface="Times New Roman"/>
            </a:endParaRPr>
          </a:p>
          <a:p>
            <a:pPr marL="12700" algn="just">
              <a:lnSpc>
                <a:spcPct val="100000"/>
              </a:lnSpc>
            </a:pPr>
            <a:r>
              <a:rPr sz="2200" spc="-114" dirty="0">
                <a:latin typeface="Times New Roman"/>
                <a:cs typeface="Times New Roman"/>
              </a:rPr>
              <a:t>No</a:t>
            </a:r>
            <a:r>
              <a:rPr sz="2200" spc="-40" dirty="0">
                <a:latin typeface="Times New Roman"/>
                <a:cs typeface="Times New Roman"/>
              </a:rPr>
              <a:t> </a:t>
            </a:r>
            <a:r>
              <a:rPr sz="2200" spc="-100" dirty="0">
                <a:latin typeface="Times New Roman"/>
                <a:cs typeface="Times New Roman"/>
              </a:rPr>
              <a:t>need</a:t>
            </a:r>
            <a:r>
              <a:rPr sz="2200" spc="-40" dirty="0">
                <a:latin typeface="Times New Roman"/>
                <a:cs typeface="Times New Roman"/>
              </a:rPr>
              <a:t> </a:t>
            </a:r>
            <a:r>
              <a:rPr sz="2200" dirty="0">
                <a:latin typeface="Times New Roman"/>
                <a:cs typeface="Times New Roman"/>
              </a:rPr>
              <a:t>to</a:t>
            </a:r>
            <a:r>
              <a:rPr sz="2200" spc="-45" dirty="0">
                <a:latin typeface="Times New Roman"/>
                <a:cs typeface="Times New Roman"/>
              </a:rPr>
              <a:t> </a:t>
            </a:r>
            <a:r>
              <a:rPr sz="2200" spc="-160" dirty="0">
                <a:latin typeface="Times New Roman"/>
                <a:cs typeface="Times New Roman"/>
              </a:rPr>
              <a:t>assign</a:t>
            </a:r>
            <a:r>
              <a:rPr sz="2200" spc="-40" dirty="0">
                <a:latin typeface="Times New Roman"/>
                <a:cs typeface="Times New Roman"/>
              </a:rPr>
              <a:t> </a:t>
            </a:r>
            <a:r>
              <a:rPr sz="2200" spc="-120" dirty="0">
                <a:latin typeface="Times New Roman"/>
                <a:cs typeface="Times New Roman"/>
              </a:rPr>
              <a:t>public</a:t>
            </a:r>
            <a:r>
              <a:rPr sz="2200" spc="-25" dirty="0">
                <a:latin typeface="Times New Roman"/>
                <a:cs typeface="Times New Roman"/>
              </a:rPr>
              <a:t> </a:t>
            </a:r>
            <a:r>
              <a:rPr sz="2200" spc="-155" dirty="0">
                <a:latin typeface="Times New Roman"/>
                <a:cs typeface="Times New Roman"/>
              </a:rPr>
              <a:t>IP</a:t>
            </a:r>
            <a:r>
              <a:rPr sz="2200" spc="-45" dirty="0">
                <a:latin typeface="Times New Roman"/>
                <a:cs typeface="Times New Roman"/>
              </a:rPr>
              <a:t> </a:t>
            </a:r>
            <a:r>
              <a:rPr sz="2200" spc="-125" dirty="0">
                <a:latin typeface="Times New Roman"/>
                <a:cs typeface="Times New Roman"/>
              </a:rPr>
              <a:t>address</a:t>
            </a:r>
            <a:r>
              <a:rPr sz="2200" spc="-35" dirty="0">
                <a:latin typeface="Times New Roman"/>
                <a:cs typeface="Times New Roman"/>
              </a:rPr>
              <a:t> </a:t>
            </a:r>
            <a:r>
              <a:rPr sz="2200" dirty="0">
                <a:latin typeface="Times New Roman"/>
                <a:cs typeface="Times New Roman"/>
              </a:rPr>
              <a:t>to</a:t>
            </a:r>
            <a:r>
              <a:rPr sz="2200" spc="-35" dirty="0">
                <a:latin typeface="Times New Roman"/>
                <a:cs typeface="Times New Roman"/>
              </a:rPr>
              <a:t> </a:t>
            </a:r>
            <a:r>
              <a:rPr sz="2200" spc="-110" dirty="0">
                <a:latin typeface="Times New Roman"/>
                <a:cs typeface="Times New Roman"/>
              </a:rPr>
              <a:t>your</a:t>
            </a:r>
            <a:r>
              <a:rPr sz="2200" spc="-15" dirty="0">
                <a:latin typeface="Times New Roman"/>
                <a:cs typeface="Times New Roman"/>
              </a:rPr>
              <a:t> </a:t>
            </a:r>
            <a:r>
              <a:rPr sz="2200" spc="-100" dirty="0">
                <a:latin typeface="Times New Roman"/>
                <a:cs typeface="Times New Roman"/>
              </a:rPr>
              <a:t>private</a:t>
            </a:r>
            <a:r>
              <a:rPr sz="2200" spc="-50" dirty="0">
                <a:latin typeface="Times New Roman"/>
                <a:cs typeface="Times New Roman"/>
              </a:rPr>
              <a:t> </a:t>
            </a:r>
            <a:r>
              <a:rPr sz="2200" spc="-10" dirty="0">
                <a:latin typeface="Times New Roman"/>
                <a:cs typeface="Times New Roman"/>
              </a:rPr>
              <a:t>instance</a:t>
            </a:r>
            <a:endParaRPr sz="2200" dirty="0">
              <a:latin typeface="Times New Roman"/>
              <a:cs typeface="Times New Roman"/>
            </a:endParaRPr>
          </a:p>
          <a:p>
            <a:pPr>
              <a:lnSpc>
                <a:spcPct val="100000"/>
              </a:lnSpc>
              <a:spcBef>
                <a:spcPts val="1310"/>
              </a:spcBef>
            </a:pPr>
            <a:endParaRPr sz="2200" dirty="0">
              <a:latin typeface="Times New Roman"/>
              <a:cs typeface="Times New Roman"/>
            </a:endParaRPr>
          </a:p>
          <a:p>
            <a:pPr marL="12700" marR="5080" algn="just">
              <a:lnSpc>
                <a:spcPct val="100000"/>
              </a:lnSpc>
            </a:pPr>
            <a:r>
              <a:rPr sz="2200" spc="-105" dirty="0">
                <a:latin typeface="Times New Roman"/>
                <a:cs typeface="Times New Roman"/>
              </a:rPr>
              <a:t>After</a:t>
            </a:r>
            <a:r>
              <a:rPr sz="2200" spc="-25" dirty="0">
                <a:latin typeface="Times New Roman"/>
                <a:cs typeface="Times New Roman"/>
              </a:rPr>
              <a:t> </a:t>
            </a:r>
            <a:r>
              <a:rPr sz="2200" spc="-140" dirty="0">
                <a:latin typeface="Times New Roman"/>
                <a:cs typeface="Times New Roman"/>
              </a:rPr>
              <a:t>you</a:t>
            </a:r>
            <a:r>
              <a:rPr sz="2200" spc="-5" dirty="0">
                <a:latin typeface="Times New Roman"/>
                <a:cs typeface="Times New Roman"/>
              </a:rPr>
              <a:t> </a:t>
            </a:r>
            <a:r>
              <a:rPr sz="2200" spc="-90" dirty="0">
                <a:latin typeface="Times New Roman"/>
                <a:cs typeface="Times New Roman"/>
              </a:rPr>
              <a:t>created</a:t>
            </a:r>
            <a:r>
              <a:rPr sz="2200" spc="-20" dirty="0">
                <a:latin typeface="Times New Roman"/>
                <a:cs typeface="Times New Roman"/>
              </a:rPr>
              <a:t> </a:t>
            </a:r>
            <a:r>
              <a:rPr sz="2200" spc="-180" dirty="0">
                <a:latin typeface="Times New Roman"/>
                <a:cs typeface="Times New Roman"/>
              </a:rPr>
              <a:t>a</a:t>
            </a:r>
            <a:r>
              <a:rPr sz="2200" spc="-25" dirty="0">
                <a:latin typeface="Times New Roman"/>
                <a:cs typeface="Times New Roman"/>
              </a:rPr>
              <a:t> </a:t>
            </a:r>
            <a:r>
              <a:rPr sz="2200" spc="-240" dirty="0">
                <a:latin typeface="Times New Roman"/>
                <a:cs typeface="Times New Roman"/>
              </a:rPr>
              <a:t>NAT</a:t>
            </a:r>
            <a:r>
              <a:rPr sz="2200" spc="-25" dirty="0">
                <a:latin typeface="Times New Roman"/>
                <a:cs typeface="Times New Roman"/>
              </a:rPr>
              <a:t> </a:t>
            </a:r>
            <a:r>
              <a:rPr sz="2200" spc="-155" dirty="0">
                <a:latin typeface="Times New Roman"/>
                <a:cs typeface="Times New Roman"/>
              </a:rPr>
              <a:t>gateway,</a:t>
            </a:r>
            <a:r>
              <a:rPr sz="2200" spc="-105" dirty="0">
                <a:latin typeface="Times New Roman"/>
                <a:cs typeface="Times New Roman"/>
              </a:rPr>
              <a:t> </a:t>
            </a:r>
            <a:r>
              <a:rPr sz="2200" spc="-145" dirty="0">
                <a:latin typeface="Times New Roman"/>
                <a:cs typeface="Times New Roman"/>
              </a:rPr>
              <a:t>you</a:t>
            </a:r>
            <a:r>
              <a:rPr sz="2200" spc="-20" dirty="0">
                <a:latin typeface="Times New Roman"/>
                <a:cs typeface="Times New Roman"/>
              </a:rPr>
              <a:t> </a:t>
            </a:r>
            <a:r>
              <a:rPr sz="2200" spc="-105" dirty="0">
                <a:latin typeface="Times New Roman"/>
                <a:cs typeface="Times New Roman"/>
              </a:rPr>
              <a:t>must</a:t>
            </a:r>
            <a:r>
              <a:rPr sz="2200" spc="-15" dirty="0">
                <a:latin typeface="Times New Roman"/>
                <a:cs typeface="Times New Roman"/>
              </a:rPr>
              <a:t> </a:t>
            </a:r>
            <a:r>
              <a:rPr sz="2200" spc="-95" dirty="0">
                <a:latin typeface="Times New Roman"/>
                <a:cs typeface="Times New Roman"/>
              </a:rPr>
              <a:t>update</a:t>
            </a:r>
            <a:r>
              <a:rPr sz="2200" spc="-30" dirty="0">
                <a:latin typeface="Times New Roman"/>
                <a:cs typeface="Times New Roman"/>
              </a:rPr>
              <a:t> </a:t>
            </a:r>
            <a:r>
              <a:rPr sz="2200" spc="-70" dirty="0">
                <a:latin typeface="Times New Roman"/>
                <a:cs typeface="Times New Roman"/>
              </a:rPr>
              <a:t>the</a:t>
            </a:r>
            <a:r>
              <a:rPr sz="2200" spc="-15" dirty="0">
                <a:latin typeface="Times New Roman"/>
                <a:cs typeface="Times New Roman"/>
              </a:rPr>
              <a:t> </a:t>
            </a:r>
            <a:r>
              <a:rPr sz="2200" spc="-55" dirty="0">
                <a:latin typeface="Times New Roman"/>
                <a:cs typeface="Times New Roman"/>
              </a:rPr>
              <a:t>route</a:t>
            </a:r>
            <a:r>
              <a:rPr sz="2200" spc="-30" dirty="0">
                <a:latin typeface="Times New Roman"/>
                <a:cs typeface="Times New Roman"/>
              </a:rPr>
              <a:t> </a:t>
            </a:r>
            <a:r>
              <a:rPr sz="2200" spc="-100" dirty="0">
                <a:latin typeface="Times New Roman"/>
                <a:cs typeface="Times New Roman"/>
              </a:rPr>
              <a:t>table</a:t>
            </a:r>
            <a:r>
              <a:rPr sz="2200" spc="-30" dirty="0">
                <a:latin typeface="Times New Roman"/>
                <a:cs typeface="Times New Roman"/>
              </a:rPr>
              <a:t> </a:t>
            </a:r>
            <a:r>
              <a:rPr sz="2200" spc="-125" dirty="0">
                <a:latin typeface="Times New Roman"/>
                <a:cs typeface="Times New Roman"/>
              </a:rPr>
              <a:t>associated</a:t>
            </a:r>
            <a:r>
              <a:rPr sz="2200" spc="-40" dirty="0">
                <a:latin typeface="Times New Roman"/>
                <a:cs typeface="Times New Roman"/>
              </a:rPr>
              <a:t> </a:t>
            </a:r>
            <a:r>
              <a:rPr sz="2200" spc="-90" dirty="0">
                <a:latin typeface="Times New Roman"/>
                <a:cs typeface="Times New Roman"/>
              </a:rPr>
              <a:t>with</a:t>
            </a:r>
            <a:r>
              <a:rPr sz="2200" spc="-50" dirty="0">
                <a:latin typeface="Times New Roman"/>
                <a:cs typeface="Times New Roman"/>
              </a:rPr>
              <a:t> </a:t>
            </a:r>
            <a:r>
              <a:rPr sz="2200" spc="-100" dirty="0">
                <a:latin typeface="Times New Roman"/>
                <a:cs typeface="Times New Roman"/>
              </a:rPr>
              <a:t>one</a:t>
            </a:r>
            <a:r>
              <a:rPr sz="2200" spc="200" dirty="0">
                <a:latin typeface="Times New Roman"/>
                <a:cs typeface="Times New Roman"/>
              </a:rPr>
              <a:t> </a:t>
            </a:r>
            <a:r>
              <a:rPr sz="2200" spc="-50" dirty="0">
                <a:latin typeface="Times New Roman"/>
                <a:cs typeface="Times New Roman"/>
              </a:rPr>
              <a:t>or</a:t>
            </a:r>
            <a:r>
              <a:rPr sz="2200" spc="220" dirty="0">
                <a:latin typeface="Times New Roman"/>
                <a:cs typeface="Times New Roman"/>
              </a:rPr>
              <a:t> </a:t>
            </a:r>
            <a:r>
              <a:rPr sz="2200" spc="-85" dirty="0">
                <a:latin typeface="Times New Roman"/>
                <a:cs typeface="Times New Roman"/>
              </a:rPr>
              <a:t>more</a:t>
            </a:r>
            <a:r>
              <a:rPr sz="2200" spc="200" dirty="0">
                <a:latin typeface="Times New Roman"/>
                <a:cs typeface="Times New Roman"/>
              </a:rPr>
              <a:t> </a:t>
            </a:r>
            <a:r>
              <a:rPr sz="2200" spc="-135" dirty="0">
                <a:latin typeface="Times New Roman"/>
                <a:cs typeface="Times New Roman"/>
              </a:rPr>
              <a:t>of</a:t>
            </a:r>
            <a:r>
              <a:rPr sz="2200" spc="195" dirty="0">
                <a:latin typeface="Times New Roman"/>
                <a:cs typeface="Times New Roman"/>
              </a:rPr>
              <a:t> </a:t>
            </a:r>
            <a:r>
              <a:rPr sz="2200" spc="-105" dirty="0">
                <a:latin typeface="Times New Roman"/>
                <a:cs typeface="Times New Roman"/>
              </a:rPr>
              <a:t>your</a:t>
            </a:r>
            <a:r>
              <a:rPr sz="2200" spc="220" dirty="0">
                <a:latin typeface="Times New Roman"/>
                <a:cs typeface="Times New Roman"/>
              </a:rPr>
              <a:t> </a:t>
            </a:r>
            <a:r>
              <a:rPr sz="2200" spc="-95" dirty="0">
                <a:latin typeface="Times New Roman"/>
                <a:cs typeface="Times New Roman"/>
              </a:rPr>
              <a:t>private</a:t>
            </a:r>
            <a:r>
              <a:rPr sz="2200" spc="215" dirty="0">
                <a:latin typeface="Times New Roman"/>
                <a:cs typeface="Times New Roman"/>
              </a:rPr>
              <a:t> </a:t>
            </a:r>
            <a:r>
              <a:rPr sz="2200" spc="-105" dirty="0">
                <a:latin typeface="Times New Roman"/>
                <a:cs typeface="Times New Roman"/>
              </a:rPr>
              <a:t>subnets</a:t>
            </a:r>
            <a:r>
              <a:rPr sz="2200" spc="204" dirty="0">
                <a:latin typeface="Times New Roman"/>
                <a:cs typeface="Times New Roman"/>
              </a:rPr>
              <a:t> </a:t>
            </a:r>
            <a:r>
              <a:rPr sz="2200" spc="-40" dirty="0">
                <a:latin typeface="Times New Roman"/>
                <a:cs typeface="Times New Roman"/>
              </a:rPr>
              <a:t>to</a:t>
            </a:r>
            <a:r>
              <a:rPr sz="2200" spc="204" dirty="0">
                <a:latin typeface="Times New Roman"/>
                <a:cs typeface="Times New Roman"/>
              </a:rPr>
              <a:t> </a:t>
            </a:r>
            <a:r>
              <a:rPr sz="2200" spc="-70" dirty="0">
                <a:latin typeface="Times New Roman"/>
                <a:cs typeface="Times New Roman"/>
              </a:rPr>
              <a:t>pint</a:t>
            </a:r>
            <a:r>
              <a:rPr sz="2200" spc="204" dirty="0">
                <a:latin typeface="Times New Roman"/>
                <a:cs typeface="Times New Roman"/>
              </a:rPr>
              <a:t> </a:t>
            </a:r>
            <a:r>
              <a:rPr sz="2200" spc="-50" dirty="0">
                <a:latin typeface="Times New Roman"/>
                <a:cs typeface="Times New Roman"/>
              </a:rPr>
              <a:t>Internet</a:t>
            </a:r>
            <a:r>
              <a:rPr sz="2200" spc="195" dirty="0">
                <a:latin typeface="Times New Roman"/>
                <a:cs typeface="Times New Roman"/>
              </a:rPr>
              <a:t> </a:t>
            </a:r>
            <a:r>
              <a:rPr sz="2200" spc="-100" dirty="0">
                <a:latin typeface="Times New Roman"/>
                <a:cs typeface="Times New Roman"/>
              </a:rPr>
              <a:t>bound</a:t>
            </a:r>
            <a:r>
              <a:rPr sz="2200" spc="200" dirty="0">
                <a:latin typeface="Times New Roman"/>
                <a:cs typeface="Times New Roman"/>
              </a:rPr>
              <a:t> </a:t>
            </a:r>
            <a:r>
              <a:rPr sz="2200" spc="-105" dirty="0">
                <a:latin typeface="Times New Roman"/>
                <a:cs typeface="Times New Roman"/>
              </a:rPr>
              <a:t>traffic</a:t>
            </a:r>
            <a:r>
              <a:rPr sz="2200" spc="210" dirty="0">
                <a:latin typeface="Times New Roman"/>
                <a:cs typeface="Times New Roman"/>
              </a:rPr>
              <a:t> </a:t>
            </a:r>
            <a:r>
              <a:rPr sz="2200" spc="-40" dirty="0">
                <a:latin typeface="Times New Roman"/>
                <a:cs typeface="Times New Roman"/>
              </a:rPr>
              <a:t>to</a:t>
            </a:r>
            <a:r>
              <a:rPr sz="2200" spc="204" dirty="0">
                <a:latin typeface="Times New Roman"/>
                <a:cs typeface="Times New Roman"/>
              </a:rPr>
              <a:t> </a:t>
            </a:r>
            <a:r>
              <a:rPr sz="2200" spc="-70" dirty="0">
                <a:latin typeface="Times New Roman"/>
                <a:cs typeface="Times New Roman"/>
              </a:rPr>
              <a:t>the</a:t>
            </a:r>
            <a:r>
              <a:rPr sz="2200" spc="190" dirty="0">
                <a:latin typeface="Times New Roman"/>
                <a:cs typeface="Times New Roman"/>
              </a:rPr>
              <a:t> </a:t>
            </a:r>
            <a:r>
              <a:rPr sz="2200" spc="-240" dirty="0">
                <a:latin typeface="Times New Roman"/>
                <a:cs typeface="Times New Roman"/>
              </a:rPr>
              <a:t>NAT</a:t>
            </a:r>
            <a:r>
              <a:rPr sz="2200" spc="-50" dirty="0">
                <a:latin typeface="Times New Roman"/>
                <a:cs typeface="Times New Roman"/>
              </a:rPr>
              <a:t> </a:t>
            </a:r>
            <a:r>
              <a:rPr sz="2200" spc="-160" dirty="0">
                <a:latin typeface="Times New Roman"/>
                <a:cs typeface="Times New Roman"/>
              </a:rPr>
              <a:t>gateway.</a:t>
            </a:r>
            <a:r>
              <a:rPr sz="2200" spc="80" dirty="0">
                <a:latin typeface="Times New Roman"/>
                <a:cs typeface="Times New Roman"/>
              </a:rPr>
              <a:t> </a:t>
            </a:r>
            <a:r>
              <a:rPr sz="2200" spc="-140" dirty="0">
                <a:latin typeface="Times New Roman"/>
                <a:cs typeface="Times New Roman"/>
              </a:rPr>
              <a:t>This</a:t>
            </a:r>
            <a:r>
              <a:rPr sz="2200" spc="170" dirty="0">
                <a:latin typeface="Times New Roman"/>
                <a:cs typeface="Times New Roman"/>
              </a:rPr>
              <a:t> </a:t>
            </a:r>
            <a:r>
              <a:rPr sz="2200" spc="-130" dirty="0">
                <a:latin typeface="Times New Roman"/>
                <a:cs typeface="Times New Roman"/>
              </a:rPr>
              <a:t>enables</a:t>
            </a:r>
            <a:r>
              <a:rPr sz="2200" spc="160" dirty="0">
                <a:latin typeface="Times New Roman"/>
                <a:cs typeface="Times New Roman"/>
              </a:rPr>
              <a:t> </a:t>
            </a:r>
            <a:r>
              <a:rPr sz="2200" spc="-114" dirty="0">
                <a:latin typeface="Times New Roman"/>
                <a:cs typeface="Times New Roman"/>
              </a:rPr>
              <a:t>instances</a:t>
            </a:r>
            <a:r>
              <a:rPr sz="2200" spc="175" dirty="0">
                <a:latin typeface="Times New Roman"/>
                <a:cs typeface="Times New Roman"/>
              </a:rPr>
              <a:t> </a:t>
            </a:r>
            <a:r>
              <a:rPr sz="2200" spc="-105" dirty="0">
                <a:latin typeface="Times New Roman"/>
                <a:cs typeface="Times New Roman"/>
              </a:rPr>
              <a:t>in</a:t>
            </a:r>
            <a:r>
              <a:rPr sz="2200" spc="180" dirty="0">
                <a:latin typeface="Times New Roman"/>
                <a:cs typeface="Times New Roman"/>
              </a:rPr>
              <a:t> </a:t>
            </a:r>
            <a:r>
              <a:rPr sz="2200" spc="-100" dirty="0">
                <a:latin typeface="Times New Roman"/>
                <a:cs typeface="Times New Roman"/>
              </a:rPr>
              <a:t>your</a:t>
            </a:r>
            <a:r>
              <a:rPr sz="2200" spc="180" dirty="0">
                <a:latin typeface="Times New Roman"/>
                <a:cs typeface="Times New Roman"/>
              </a:rPr>
              <a:t> </a:t>
            </a:r>
            <a:r>
              <a:rPr sz="2200" spc="-95" dirty="0">
                <a:latin typeface="Times New Roman"/>
                <a:cs typeface="Times New Roman"/>
              </a:rPr>
              <a:t>private</a:t>
            </a:r>
            <a:r>
              <a:rPr sz="2200" spc="160" dirty="0">
                <a:latin typeface="Times New Roman"/>
                <a:cs typeface="Times New Roman"/>
              </a:rPr>
              <a:t> </a:t>
            </a:r>
            <a:r>
              <a:rPr sz="2200" spc="-95" dirty="0">
                <a:latin typeface="Times New Roman"/>
                <a:cs typeface="Times New Roman"/>
              </a:rPr>
              <a:t>subnet</a:t>
            </a:r>
            <a:r>
              <a:rPr sz="2200" spc="175" dirty="0">
                <a:latin typeface="Times New Roman"/>
                <a:cs typeface="Times New Roman"/>
              </a:rPr>
              <a:t> </a:t>
            </a:r>
            <a:r>
              <a:rPr sz="2200" spc="-35" dirty="0">
                <a:latin typeface="Times New Roman"/>
                <a:cs typeface="Times New Roman"/>
              </a:rPr>
              <a:t>to</a:t>
            </a:r>
            <a:r>
              <a:rPr sz="2200" spc="195" dirty="0">
                <a:latin typeface="Times New Roman"/>
                <a:cs typeface="Times New Roman"/>
              </a:rPr>
              <a:t> </a:t>
            </a:r>
            <a:r>
              <a:rPr sz="2200" spc="-114" dirty="0">
                <a:latin typeface="Times New Roman"/>
                <a:cs typeface="Times New Roman"/>
              </a:rPr>
              <a:t>communicate</a:t>
            </a:r>
            <a:r>
              <a:rPr sz="2200" spc="170" dirty="0">
                <a:latin typeface="Times New Roman"/>
                <a:cs typeface="Times New Roman"/>
              </a:rPr>
              <a:t> </a:t>
            </a:r>
            <a:r>
              <a:rPr sz="2200" spc="-90" dirty="0">
                <a:latin typeface="Times New Roman"/>
                <a:cs typeface="Times New Roman"/>
              </a:rPr>
              <a:t>with</a:t>
            </a:r>
            <a:r>
              <a:rPr sz="2200" spc="160" dirty="0">
                <a:latin typeface="Times New Roman"/>
                <a:cs typeface="Times New Roman"/>
              </a:rPr>
              <a:t> </a:t>
            </a:r>
            <a:r>
              <a:rPr sz="2200" spc="-75" dirty="0">
                <a:latin typeface="Times New Roman"/>
                <a:cs typeface="Times New Roman"/>
              </a:rPr>
              <a:t>the</a:t>
            </a:r>
            <a:r>
              <a:rPr sz="2200" spc="-50" dirty="0">
                <a:latin typeface="Times New Roman"/>
                <a:cs typeface="Times New Roman"/>
              </a:rPr>
              <a:t> </a:t>
            </a:r>
            <a:r>
              <a:rPr sz="2200" spc="-40" dirty="0">
                <a:latin typeface="Times New Roman"/>
                <a:cs typeface="Times New Roman"/>
              </a:rPr>
              <a:t>Internet.</a:t>
            </a:r>
            <a:endParaRPr sz="2200" dirty="0">
              <a:latin typeface="Times New Roman"/>
              <a:cs typeface="Times New Roman"/>
            </a:endParaRPr>
          </a:p>
          <a:p>
            <a:pPr>
              <a:lnSpc>
                <a:spcPct val="100000"/>
              </a:lnSpc>
              <a:spcBef>
                <a:spcPts val="1315"/>
              </a:spcBef>
            </a:pPr>
            <a:endParaRPr sz="2200" dirty="0">
              <a:latin typeface="Times New Roman"/>
              <a:cs typeface="Times New Roman"/>
            </a:endParaRPr>
          </a:p>
          <a:p>
            <a:pPr marL="12700" marR="6985" algn="just">
              <a:lnSpc>
                <a:spcPct val="100000"/>
              </a:lnSpc>
            </a:pPr>
            <a:r>
              <a:rPr sz="2200" spc="-90" dirty="0">
                <a:latin typeface="Times New Roman"/>
                <a:cs typeface="Times New Roman"/>
              </a:rPr>
              <a:t>Deleting</a:t>
            </a:r>
            <a:r>
              <a:rPr sz="2200" spc="-50" dirty="0">
                <a:latin typeface="Times New Roman"/>
                <a:cs typeface="Times New Roman"/>
              </a:rPr>
              <a:t> </a:t>
            </a:r>
            <a:r>
              <a:rPr sz="2200" dirty="0">
                <a:latin typeface="Times New Roman"/>
                <a:cs typeface="Times New Roman"/>
              </a:rPr>
              <a:t>a</a:t>
            </a:r>
            <a:r>
              <a:rPr sz="2200" spc="-135" dirty="0">
                <a:latin typeface="Times New Roman"/>
                <a:cs typeface="Times New Roman"/>
              </a:rPr>
              <a:t> </a:t>
            </a:r>
            <a:r>
              <a:rPr sz="2200" spc="-235" dirty="0">
                <a:latin typeface="Times New Roman"/>
                <a:cs typeface="Times New Roman"/>
              </a:rPr>
              <a:t>NAT</a:t>
            </a:r>
            <a:r>
              <a:rPr sz="2200" spc="95" dirty="0">
                <a:latin typeface="Times New Roman"/>
                <a:cs typeface="Times New Roman"/>
              </a:rPr>
              <a:t> </a:t>
            </a:r>
            <a:r>
              <a:rPr sz="2200" spc="-160" dirty="0">
                <a:latin typeface="Times New Roman"/>
                <a:cs typeface="Times New Roman"/>
              </a:rPr>
              <a:t>gateway,</a:t>
            </a:r>
            <a:r>
              <a:rPr sz="2200" spc="25" dirty="0">
                <a:latin typeface="Times New Roman"/>
                <a:cs typeface="Times New Roman"/>
              </a:rPr>
              <a:t> </a:t>
            </a:r>
            <a:r>
              <a:rPr sz="2200" spc="-120" dirty="0">
                <a:latin typeface="Times New Roman"/>
                <a:cs typeface="Times New Roman"/>
              </a:rPr>
              <a:t>disassociates</a:t>
            </a:r>
            <a:r>
              <a:rPr sz="2200" spc="-20" dirty="0">
                <a:latin typeface="Times New Roman"/>
                <a:cs typeface="Times New Roman"/>
              </a:rPr>
              <a:t> </a:t>
            </a:r>
            <a:r>
              <a:rPr sz="2200" dirty="0">
                <a:latin typeface="Times New Roman"/>
                <a:cs typeface="Times New Roman"/>
              </a:rPr>
              <a:t>its</a:t>
            </a:r>
            <a:r>
              <a:rPr sz="2200" spc="-114" dirty="0">
                <a:latin typeface="Times New Roman"/>
                <a:cs typeface="Times New Roman"/>
              </a:rPr>
              <a:t> Elastic</a:t>
            </a:r>
            <a:r>
              <a:rPr sz="2200" spc="-10" dirty="0">
                <a:latin typeface="Times New Roman"/>
                <a:cs typeface="Times New Roman"/>
              </a:rPr>
              <a:t> </a:t>
            </a:r>
            <a:r>
              <a:rPr sz="2200" spc="-45" dirty="0">
                <a:latin typeface="Times New Roman"/>
                <a:cs typeface="Times New Roman"/>
              </a:rPr>
              <a:t>IP</a:t>
            </a:r>
            <a:r>
              <a:rPr sz="2200" spc="-15" dirty="0">
                <a:latin typeface="Times New Roman"/>
                <a:cs typeface="Times New Roman"/>
              </a:rPr>
              <a:t> </a:t>
            </a:r>
            <a:r>
              <a:rPr sz="2200" spc="-85" dirty="0">
                <a:latin typeface="Times New Roman"/>
                <a:cs typeface="Times New Roman"/>
              </a:rPr>
              <a:t>address,</a:t>
            </a:r>
            <a:r>
              <a:rPr sz="2200" spc="-50" dirty="0">
                <a:latin typeface="Times New Roman"/>
                <a:cs typeface="Times New Roman"/>
              </a:rPr>
              <a:t> </a:t>
            </a:r>
            <a:r>
              <a:rPr sz="2200" dirty="0">
                <a:latin typeface="Times New Roman"/>
                <a:cs typeface="Times New Roman"/>
              </a:rPr>
              <a:t>but</a:t>
            </a:r>
            <a:r>
              <a:rPr sz="2200" spc="-5" dirty="0">
                <a:latin typeface="Times New Roman"/>
                <a:cs typeface="Times New Roman"/>
              </a:rPr>
              <a:t> </a:t>
            </a:r>
            <a:r>
              <a:rPr sz="2200" spc="-60" dirty="0">
                <a:latin typeface="Times New Roman"/>
                <a:cs typeface="Times New Roman"/>
              </a:rPr>
              <a:t>does</a:t>
            </a:r>
            <a:r>
              <a:rPr sz="2200" spc="5" dirty="0">
                <a:latin typeface="Times New Roman"/>
                <a:cs typeface="Times New Roman"/>
              </a:rPr>
              <a:t> </a:t>
            </a:r>
            <a:r>
              <a:rPr sz="2200" dirty="0">
                <a:latin typeface="Times New Roman"/>
                <a:cs typeface="Times New Roman"/>
              </a:rPr>
              <a:t>not</a:t>
            </a:r>
            <a:r>
              <a:rPr sz="2200" spc="-5" dirty="0">
                <a:latin typeface="Times New Roman"/>
                <a:cs typeface="Times New Roman"/>
              </a:rPr>
              <a:t> </a:t>
            </a:r>
            <a:r>
              <a:rPr sz="2200" spc="-55" dirty="0">
                <a:latin typeface="Times New Roman"/>
                <a:cs typeface="Times New Roman"/>
              </a:rPr>
              <a:t>release </a:t>
            </a:r>
            <a:r>
              <a:rPr sz="2200" spc="-75" dirty="0">
                <a:latin typeface="Times New Roman"/>
                <a:cs typeface="Times New Roman"/>
              </a:rPr>
              <a:t>the</a:t>
            </a:r>
            <a:r>
              <a:rPr sz="2200" spc="-35" dirty="0">
                <a:latin typeface="Times New Roman"/>
                <a:cs typeface="Times New Roman"/>
              </a:rPr>
              <a:t> </a:t>
            </a:r>
            <a:r>
              <a:rPr sz="2200" spc="-125" dirty="0">
                <a:latin typeface="Times New Roman"/>
                <a:cs typeface="Times New Roman"/>
              </a:rPr>
              <a:t>address</a:t>
            </a:r>
            <a:r>
              <a:rPr sz="2200" spc="-15" dirty="0">
                <a:latin typeface="Times New Roman"/>
                <a:cs typeface="Times New Roman"/>
              </a:rPr>
              <a:t> </a:t>
            </a:r>
            <a:r>
              <a:rPr sz="2200" spc="-120" dirty="0">
                <a:latin typeface="Times New Roman"/>
                <a:cs typeface="Times New Roman"/>
              </a:rPr>
              <a:t>from</a:t>
            </a:r>
            <a:r>
              <a:rPr sz="2200" spc="-10" dirty="0">
                <a:latin typeface="Times New Roman"/>
                <a:cs typeface="Times New Roman"/>
              </a:rPr>
              <a:t> </a:t>
            </a:r>
            <a:r>
              <a:rPr sz="2200" spc="-100" dirty="0">
                <a:latin typeface="Times New Roman"/>
                <a:cs typeface="Times New Roman"/>
              </a:rPr>
              <a:t>your</a:t>
            </a:r>
            <a:r>
              <a:rPr sz="2200" dirty="0">
                <a:latin typeface="Times New Roman"/>
                <a:cs typeface="Times New Roman"/>
              </a:rPr>
              <a:t> </a:t>
            </a:r>
            <a:r>
              <a:rPr sz="2200" spc="-10" dirty="0">
                <a:latin typeface="Times New Roman"/>
                <a:cs typeface="Times New Roman"/>
              </a:rPr>
              <a:t>account.</a:t>
            </a:r>
            <a:endParaRPr sz="2200" dirty="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56</a:t>
            </a:fld>
            <a:endParaRPr spc="-25" dirty="0"/>
          </a:p>
        </p:txBody>
      </p:sp>
    </p:spTree>
    <p:extLst>
      <p:ext uri="{BB962C8B-B14F-4D97-AF65-F5344CB8AC3E}">
        <p14:creationId xmlns:p14="http://schemas.microsoft.com/office/powerpoint/2010/main" val="23558471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0C493-6661-0D45-CDD0-DBF9A8A76DF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242FD94E-4BAF-FCB0-1568-3E06B156DB1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458057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5742" rIns="0" bIns="0" rtlCol="0">
            <a:spAutoFit/>
          </a:bodyPr>
          <a:lstStyle/>
          <a:p>
            <a:pPr marL="12700">
              <a:lnSpc>
                <a:spcPct val="100000"/>
              </a:lnSpc>
              <a:spcBef>
                <a:spcPts val="100"/>
              </a:spcBef>
            </a:pPr>
            <a:r>
              <a:rPr sz="3200" spc="-204" dirty="0"/>
              <a:t>AWS</a:t>
            </a:r>
            <a:r>
              <a:rPr sz="3200" dirty="0"/>
              <a:t> </a:t>
            </a:r>
            <a:r>
              <a:rPr sz="3200" spc="-30" dirty="0"/>
              <a:t>Identity</a:t>
            </a:r>
            <a:r>
              <a:rPr sz="3200" spc="-170" dirty="0"/>
              <a:t> </a:t>
            </a:r>
            <a:r>
              <a:rPr sz="3200" dirty="0"/>
              <a:t>and</a:t>
            </a:r>
            <a:r>
              <a:rPr sz="3200" spc="-90" dirty="0"/>
              <a:t> </a:t>
            </a:r>
            <a:r>
              <a:rPr sz="3200" spc="-10" dirty="0"/>
              <a:t>Access</a:t>
            </a:r>
            <a:r>
              <a:rPr sz="3200" spc="-75" dirty="0"/>
              <a:t> </a:t>
            </a:r>
            <a:r>
              <a:rPr sz="3200" spc="-35" dirty="0"/>
              <a:t>Management</a:t>
            </a:r>
            <a:r>
              <a:rPr sz="3200" spc="-110" dirty="0"/>
              <a:t> </a:t>
            </a:r>
            <a:r>
              <a:rPr sz="3200" spc="-10" dirty="0"/>
              <a:t>(IAM)</a:t>
            </a:r>
            <a:endParaRPr sz="3200"/>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96976" y="942289"/>
            <a:ext cx="8301355" cy="5391150"/>
          </a:xfrm>
          <a:prstGeom prst="rect">
            <a:avLst/>
          </a:prstGeom>
        </p:spPr>
        <p:txBody>
          <a:bodyPr vert="horz" wrap="square" lIns="0" tIns="12065" rIns="0" bIns="0" rtlCol="0">
            <a:spAutoFit/>
          </a:bodyPr>
          <a:lstStyle/>
          <a:p>
            <a:pPr marL="12700" marR="5080" indent="-7620" algn="just">
              <a:lnSpc>
                <a:spcPct val="100000"/>
              </a:lnSpc>
              <a:spcBef>
                <a:spcPts val="95"/>
              </a:spcBef>
              <a:buSzPct val="95454"/>
              <a:buChar char="•"/>
              <a:tabLst>
                <a:tab pos="111125" algn="l"/>
              </a:tabLst>
            </a:pPr>
            <a:r>
              <a:rPr sz="2200" spc="-295" dirty="0">
                <a:latin typeface="Times New Roman"/>
                <a:cs typeface="Times New Roman"/>
              </a:rPr>
              <a:t>	AWS</a:t>
            </a:r>
            <a:r>
              <a:rPr sz="2200" spc="300" dirty="0">
                <a:latin typeface="Times New Roman"/>
                <a:cs typeface="Times New Roman"/>
              </a:rPr>
              <a:t> </a:t>
            </a:r>
            <a:r>
              <a:rPr sz="2200" b="1" dirty="0">
                <a:latin typeface="Times New Roman"/>
                <a:cs typeface="Times New Roman"/>
              </a:rPr>
              <a:t>Identity</a:t>
            </a:r>
            <a:r>
              <a:rPr sz="2200" b="1" spc="300" dirty="0">
                <a:latin typeface="Times New Roman"/>
                <a:cs typeface="Times New Roman"/>
              </a:rPr>
              <a:t> </a:t>
            </a:r>
            <a:r>
              <a:rPr sz="2200" b="1" dirty="0">
                <a:latin typeface="Times New Roman"/>
                <a:cs typeface="Times New Roman"/>
              </a:rPr>
              <a:t>and</a:t>
            </a:r>
            <a:r>
              <a:rPr sz="2200" b="1" spc="305" dirty="0">
                <a:latin typeface="Times New Roman"/>
                <a:cs typeface="Times New Roman"/>
              </a:rPr>
              <a:t> </a:t>
            </a:r>
            <a:r>
              <a:rPr sz="2200" b="1" dirty="0">
                <a:latin typeface="Times New Roman"/>
                <a:cs typeface="Times New Roman"/>
              </a:rPr>
              <a:t>Access</a:t>
            </a:r>
            <a:r>
              <a:rPr sz="2200" b="1" spc="310" dirty="0">
                <a:latin typeface="Times New Roman"/>
                <a:cs typeface="Times New Roman"/>
              </a:rPr>
              <a:t> </a:t>
            </a:r>
            <a:r>
              <a:rPr sz="2200" b="1" dirty="0">
                <a:latin typeface="Times New Roman"/>
                <a:cs typeface="Times New Roman"/>
              </a:rPr>
              <a:t>Management</a:t>
            </a:r>
            <a:r>
              <a:rPr sz="2200" b="1" spc="310" dirty="0">
                <a:latin typeface="Times New Roman"/>
                <a:cs typeface="Times New Roman"/>
              </a:rPr>
              <a:t> </a:t>
            </a:r>
            <a:r>
              <a:rPr sz="2200" b="1" dirty="0">
                <a:latin typeface="Times New Roman"/>
                <a:cs typeface="Times New Roman"/>
              </a:rPr>
              <a:t>(IAM)</a:t>
            </a:r>
            <a:r>
              <a:rPr sz="2200" b="1" spc="305" dirty="0">
                <a:latin typeface="Times New Roman"/>
                <a:cs typeface="Times New Roman"/>
              </a:rPr>
              <a:t> </a:t>
            </a:r>
            <a:r>
              <a:rPr sz="2200" dirty="0">
                <a:latin typeface="Times New Roman"/>
                <a:cs typeface="Times New Roman"/>
              </a:rPr>
              <a:t>is</a:t>
            </a:r>
            <a:r>
              <a:rPr sz="2200" spc="305" dirty="0">
                <a:latin typeface="Times New Roman"/>
                <a:cs typeface="Times New Roman"/>
              </a:rPr>
              <a:t> </a:t>
            </a:r>
            <a:r>
              <a:rPr sz="2200" dirty="0">
                <a:latin typeface="Times New Roman"/>
                <a:cs typeface="Times New Roman"/>
              </a:rPr>
              <a:t>a</a:t>
            </a:r>
            <a:r>
              <a:rPr sz="2200" spc="305" dirty="0">
                <a:latin typeface="Times New Roman"/>
                <a:cs typeface="Times New Roman"/>
              </a:rPr>
              <a:t> </a:t>
            </a:r>
            <a:r>
              <a:rPr sz="2200" spc="-20" dirty="0">
                <a:latin typeface="Times New Roman"/>
                <a:cs typeface="Times New Roman"/>
              </a:rPr>
              <a:t>service</a:t>
            </a:r>
            <a:r>
              <a:rPr sz="2200" spc="300" dirty="0">
                <a:latin typeface="Times New Roman"/>
                <a:cs typeface="Times New Roman"/>
              </a:rPr>
              <a:t> </a:t>
            </a:r>
            <a:r>
              <a:rPr sz="2200" dirty="0">
                <a:latin typeface="Times New Roman"/>
                <a:cs typeface="Times New Roman"/>
              </a:rPr>
              <a:t>that</a:t>
            </a:r>
            <a:r>
              <a:rPr sz="2200" spc="310" dirty="0">
                <a:latin typeface="Times New Roman"/>
                <a:cs typeface="Times New Roman"/>
              </a:rPr>
              <a:t> </a:t>
            </a:r>
            <a:r>
              <a:rPr sz="2200" spc="-55" dirty="0">
                <a:latin typeface="Times New Roman"/>
                <a:cs typeface="Times New Roman"/>
              </a:rPr>
              <a:t>helps </a:t>
            </a:r>
            <a:r>
              <a:rPr sz="2200" spc="-70" dirty="0">
                <a:latin typeface="Times New Roman"/>
                <a:cs typeface="Times New Roman"/>
              </a:rPr>
              <a:t>securely </a:t>
            </a:r>
            <a:r>
              <a:rPr sz="2200" spc="-10" dirty="0">
                <a:latin typeface="Times New Roman"/>
                <a:cs typeface="Times New Roman"/>
              </a:rPr>
              <a:t>control</a:t>
            </a:r>
            <a:r>
              <a:rPr sz="2200" spc="-5" dirty="0">
                <a:latin typeface="Times New Roman"/>
                <a:cs typeface="Times New Roman"/>
              </a:rPr>
              <a:t> </a:t>
            </a:r>
            <a:r>
              <a:rPr sz="2200" spc="-90" dirty="0">
                <a:latin typeface="Times New Roman"/>
                <a:cs typeface="Times New Roman"/>
              </a:rPr>
              <a:t>access</a:t>
            </a:r>
            <a:r>
              <a:rPr sz="2200" spc="25" dirty="0">
                <a:latin typeface="Times New Roman"/>
                <a:cs typeface="Times New Roman"/>
              </a:rPr>
              <a:t> </a:t>
            </a:r>
            <a:r>
              <a:rPr sz="2200" dirty="0">
                <a:latin typeface="Times New Roman"/>
                <a:cs typeface="Times New Roman"/>
              </a:rPr>
              <a:t>to</a:t>
            </a:r>
            <a:r>
              <a:rPr sz="2200" spc="25" dirty="0">
                <a:latin typeface="Times New Roman"/>
                <a:cs typeface="Times New Roman"/>
              </a:rPr>
              <a:t> </a:t>
            </a:r>
            <a:r>
              <a:rPr sz="2200" spc="-290" dirty="0">
                <a:latin typeface="Times New Roman"/>
                <a:cs typeface="Times New Roman"/>
              </a:rPr>
              <a:t>AWS</a:t>
            </a:r>
            <a:r>
              <a:rPr sz="2200" spc="150" dirty="0">
                <a:latin typeface="Times New Roman"/>
                <a:cs typeface="Times New Roman"/>
              </a:rPr>
              <a:t> </a:t>
            </a:r>
            <a:r>
              <a:rPr sz="2200" spc="-55" dirty="0">
                <a:latin typeface="Times New Roman"/>
                <a:cs typeface="Times New Roman"/>
              </a:rPr>
              <a:t>resources.</a:t>
            </a:r>
            <a:r>
              <a:rPr sz="2200" spc="-35" dirty="0">
                <a:latin typeface="Times New Roman"/>
                <a:cs typeface="Times New Roman"/>
              </a:rPr>
              <a:t> </a:t>
            </a:r>
            <a:r>
              <a:rPr sz="2200" dirty="0">
                <a:latin typeface="Times New Roman"/>
                <a:cs typeface="Times New Roman"/>
              </a:rPr>
              <a:t>It</a:t>
            </a:r>
            <a:r>
              <a:rPr sz="2200" spc="20" dirty="0">
                <a:latin typeface="Times New Roman"/>
                <a:cs typeface="Times New Roman"/>
              </a:rPr>
              <a:t> </a:t>
            </a:r>
            <a:r>
              <a:rPr sz="2200" spc="-80" dirty="0">
                <a:latin typeface="Times New Roman"/>
                <a:cs typeface="Times New Roman"/>
              </a:rPr>
              <a:t>allows</a:t>
            </a:r>
            <a:r>
              <a:rPr sz="2200" spc="20" dirty="0">
                <a:latin typeface="Times New Roman"/>
                <a:cs typeface="Times New Roman"/>
              </a:rPr>
              <a:t> </a:t>
            </a:r>
            <a:r>
              <a:rPr sz="2200" dirty="0">
                <a:latin typeface="Times New Roman"/>
                <a:cs typeface="Times New Roman"/>
              </a:rPr>
              <a:t>you</a:t>
            </a:r>
            <a:r>
              <a:rPr sz="2200" spc="35" dirty="0">
                <a:latin typeface="Times New Roman"/>
                <a:cs typeface="Times New Roman"/>
              </a:rPr>
              <a:t> </a:t>
            </a:r>
            <a:r>
              <a:rPr sz="2200" dirty="0">
                <a:latin typeface="Times New Roman"/>
                <a:cs typeface="Times New Roman"/>
              </a:rPr>
              <a:t>to</a:t>
            </a:r>
            <a:r>
              <a:rPr sz="2200" spc="30" dirty="0">
                <a:latin typeface="Times New Roman"/>
                <a:cs typeface="Times New Roman"/>
              </a:rPr>
              <a:t> </a:t>
            </a:r>
            <a:r>
              <a:rPr sz="2200" spc="-20" dirty="0">
                <a:latin typeface="Times New Roman"/>
                <a:cs typeface="Times New Roman"/>
              </a:rPr>
              <a:t>create</a:t>
            </a:r>
            <a:r>
              <a:rPr sz="2200" spc="20" dirty="0">
                <a:latin typeface="Times New Roman"/>
                <a:cs typeface="Times New Roman"/>
              </a:rPr>
              <a:t> </a:t>
            </a:r>
            <a:r>
              <a:rPr sz="2200" dirty="0">
                <a:latin typeface="Times New Roman"/>
                <a:cs typeface="Times New Roman"/>
              </a:rPr>
              <a:t>and</a:t>
            </a:r>
            <a:r>
              <a:rPr sz="2200" spc="30" dirty="0">
                <a:latin typeface="Times New Roman"/>
                <a:cs typeface="Times New Roman"/>
              </a:rPr>
              <a:t> </a:t>
            </a:r>
            <a:r>
              <a:rPr sz="2200" spc="-90" dirty="0">
                <a:latin typeface="Times New Roman"/>
                <a:cs typeface="Times New Roman"/>
              </a:rPr>
              <a:t>manage </a:t>
            </a:r>
            <a:r>
              <a:rPr sz="2200" b="1" spc="-20" dirty="0">
                <a:latin typeface="Times New Roman"/>
                <a:cs typeface="Times New Roman"/>
              </a:rPr>
              <a:t>users,</a:t>
            </a:r>
            <a:r>
              <a:rPr sz="2200" b="1" spc="-135" dirty="0">
                <a:latin typeface="Times New Roman"/>
                <a:cs typeface="Times New Roman"/>
              </a:rPr>
              <a:t> </a:t>
            </a:r>
            <a:r>
              <a:rPr sz="2200" b="1" dirty="0">
                <a:latin typeface="Times New Roman"/>
                <a:cs typeface="Times New Roman"/>
              </a:rPr>
              <a:t>groups,</a:t>
            </a:r>
            <a:r>
              <a:rPr sz="2200" b="1" spc="-125" dirty="0">
                <a:latin typeface="Times New Roman"/>
                <a:cs typeface="Times New Roman"/>
              </a:rPr>
              <a:t> </a:t>
            </a:r>
            <a:r>
              <a:rPr sz="2200" b="1" dirty="0">
                <a:latin typeface="Times New Roman"/>
                <a:cs typeface="Times New Roman"/>
              </a:rPr>
              <a:t>roles,</a:t>
            </a:r>
            <a:r>
              <a:rPr sz="2200" b="1" spc="-130" dirty="0">
                <a:latin typeface="Times New Roman"/>
                <a:cs typeface="Times New Roman"/>
              </a:rPr>
              <a:t> </a:t>
            </a:r>
            <a:r>
              <a:rPr sz="2200" b="1" dirty="0">
                <a:latin typeface="Times New Roman"/>
                <a:cs typeface="Times New Roman"/>
              </a:rPr>
              <a:t>and</a:t>
            </a:r>
            <a:r>
              <a:rPr sz="2200" b="1" spc="-40" dirty="0">
                <a:latin typeface="Times New Roman"/>
                <a:cs typeface="Times New Roman"/>
              </a:rPr>
              <a:t> </a:t>
            </a:r>
            <a:r>
              <a:rPr sz="2200" b="1" dirty="0">
                <a:latin typeface="Times New Roman"/>
                <a:cs typeface="Times New Roman"/>
              </a:rPr>
              <a:t>permissions</a:t>
            </a:r>
            <a:r>
              <a:rPr sz="2200" b="1" spc="-40" dirty="0">
                <a:latin typeface="Times New Roman"/>
                <a:cs typeface="Times New Roman"/>
              </a:rPr>
              <a:t> </a:t>
            </a:r>
            <a:r>
              <a:rPr sz="2200" dirty="0">
                <a:latin typeface="Times New Roman"/>
                <a:cs typeface="Times New Roman"/>
              </a:rPr>
              <a:t>to</a:t>
            </a:r>
            <a:r>
              <a:rPr sz="2200" spc="-40" dirty="0">
                <a:latin typeface="Times New Roman"/>
                <a:cs typeface="Times New Roman"/>
              </a:rPr>
              <a:t> </a:t>
            </a:r>
            <a:r>
              <a:rPr sz="2200" spc="-95" dirty="0">
                <a:latin typeface="Times New Roman"/>
                <a:cs typeface="Times New Roman"/>
              </a:rPr>
              <a:t>enforce</a:t>
            </a:r>
            <a:r>
              <a:rPr sz="2200" spc="-20" dirty="0">
                <a:latin typeface="Times New Roman"/>
                <a:cs typeface="Times New Roman"/>
              </a:rPr>
              <a:t> </a:t>
            </a:r>
            <a:r>
              <a:rPr sz="2200" spc="-105" dirty="0">
                <a:latin typeface="Times New Roman"/>
                <a:cs typeface="Times New Roman"/>
              </a:rPr>
              <a:t>least</a:t>
            </a:r>
            <a:r>
              <a:rPr sz="2200" spc="-55" dirty="0">
                <a:latin typeface="Times New Roman"/>
                <a:cs typeface="Times New Roman"/>
              </a:rPr>
              <a:t> </a:t>
            </a:r>
            <a:r>
              <a:rPr sz="2200" spc="-114" dirty="0">
                <a:latin typeface="Times New Roman"/>
                <a:cs typeface="Times New Roman"/>
              </a:rPr>
              <a:t>privilege</a:t>
            </a:r>
            <a:r>
              <a:rPr sz="2200" spc="-55" dirty="0">
                <a:latin typeface="Times New Roman"/>
                <a:cs typeface="Times New Roman"/>
              </a:rPr>
              <a:t> </a:t>
            </a:r>
            <a:r>
              <a:rPr sz="2200" spc="-10" dirty="0">
                <a:latin typeface="Times New Roman"/>
                <a:cs typeface="Times New Roman"/>
              </a:rPr>
              <a:t>access.</a:t>
            </a:r>
            <a:endParaRPr sz="2200">
              <a:latin typeface="Times New Roman"/>
              <a:cs typeface="Times New Roman"/>
            </a:endParaRPr>
          </a:p>
          <a:p>
            <a:pPr>
              <a:lnSpc>
                <a:spcPct val="100000"/>
              </a:lnSpc>
              <a:spcBef>
                <a:spcPts val="114"/>
              </a:spcBef>
            </a:pPr>
            <a:endParaRPr sz="2200">
              <a:latin typeface="Times New Roman"/>
              <a:cs typeface="Times New Roman"/>
            </a:endParaRPr>
          </a:p>
          <a:p>
            <a:pPr marL="12700">
              <a:lnSpc>
                <a:spcPct val="100000"/>
              </a:lnSpc>
            </a:pPr>
            <a:r>
              <a:rPr sz="2200" b="1" spc="-95" dirty="0">
                <a:latin typeface="Times New Roman"/>
                <a:cs typeface="Times New Roman"/>
              </a:rPr>
              <a:t>Key</a:t>
            </a:r>
            <a:r>
              <a:rPr sz="2200" b="1" spc="-45" dirty="0">
                <a:latin typeface="Times New Roman"/>
                <a:cs typeface="Times New Roman"/>
              </a:rPr>
              <a:t> </a:t>
            </a:r>
            <a:r>
              <a:rPr sz="2200" b="1" spc="-10" dirty="0">
                <a:latin typeface="Times New Roman"/>
                <a:cs typeface="Times New Roman"/>
              </a:rPr>
              <a:t>Components</a:t>
            </a:r>
            <a:r>
              <a:rPr sz="2200" b="1" spc="-55" dirty="0">
                <a:latin typeface="Times New Roman"/>
                <a:cs typeface="Times New Roman"/>
              </a:rPr>
              <a:t> </a:t>
            </a:r>
            <a:r>
              <a:rPr sz="2200" b="1" dirty="0">
                <a:latin typeface="Times New Roman"/>
                <a:cs typeface="Times New Roman"/>
              </a:rPr>
              <a:t>of</a:t>
            </a:r>
            <a:r>
              <a:rPr sz="2200" b="1" spc="-60" dirty="0">
                <a:latin typeface="Times New Roman"/>
                <a:cs typeface="Times New Roman"/>
              </a:rPr>
              <a:t> </a:t>
            </a:r>
            <a:r>
              <a:rPr sz="2200" b="1" spc="-25" dirty="0">
                <a:latin typeface="Times New Roman"/>
                <a:cs typeface="Times New Roman"/>
              </a:rPr>
              <a:t>IAM</a:t>
            </a:r>
            <a:endParaRPr sz="2200">
              <a:latin typeface="Times New Roman"/>
              <a:cs typeface="Times New Roman"/>
            </a:endParaRPr>
          </a:p>
          <a:p>
            <a:pPr>
              <a:lnSpc>
                <a:spcPct val="100000"/>
              </a:lnSpc>
              <a:spcBef>
                <a:spcPts val="110"/>
              </a:spcBef>
            </a:pPr>
            <a:endParaRPr sz="2200">
              <a:latin typeface="Times New Roman"/>
              <a:cs typeface="Times New Roman"/>
            </a:endParaRPr>
          </a:p>
          <a:p>
            <a:pPr marL="12700" algn="just">
              <a:lnSpc>
                <a:spcPct val="100000"/>
              </a:lnSpc>
            </a:pPr>
            <a:r>
              <a:rPr sz="2200" b="1" spc="-45" dirty="0">
                <a:latin typeface="Times New Roman"/>
                <a:cs typeface="Times New Roman"/>
              </a:rPr>
              <a:t>1.</a:t>
            </a:r>
            <a:r>
              <a:rPr sz="2200" b="1" spc="-114" dirty="0">
                <a:latin typeface="Times New Roman"/>
                <a:cs typeface="Times New Roman"/>
              </a:rPr>
              <a:t> </a:t>
            </a:r>
            <a:r>
              <a:rPr sz="2200" b="1" spc="-95" dirty="0">
                <a:latin typeface="Times New Roman"/>
                <a:cs typeface="Times New Roman"/>
              </a:rPr>
              <a:t>IAM</a:t>
            </a:r>
            <a:r>
              <a:rPr sz="2200" b="1" spc="-55" dirty="0">
                <a:latin typeface="Times New Roman"/>
                <a:cs typeface="Times New Roman"/>
              </a:rPr>
              <a:t> </a:t>
            </a:r>
            <a:r>
              <a:rPr sz="2200" b="1" spc="-20" dirty="0">
                <a:latin typeface="Times New Roman"/>
                <a:cs typeface="Times New Roman"/>
              </a:rPr>
              <a:t>Users</a:t>
            </a:r>
            <a:endParaRPr sz="2200">
              <a:latin typeface="Times New Roman"/>
              <a:cs typeface="Times New Roman"/>
            </a:endParaRPr>
          </a:p>
          <a:p>
            <a:pPr marL="12700" marR="5080" indent="-7620" algn="just">
              <a:lnSpc>
                <a:spcPct val="100000"/>
              </a:lnSpc>
              <a:buSzPct val="95454"/>
              <a:buChar char="•"/>
              <a:tabLst>
                <a:tab pos="111125" algn="l"/>
              </a:tabLst>
            </a:pPr>
            <a:r>
              <a:rPr sz="2200" spc="-290" dirty="0">
                <a:latin typeface="Times New Roman"/>
                <a:cs typeface="Times New Roman"/>
              </a:rPr>
              <a:t>	A</a:t>
            </a:r>
            <a:r>
              <a:rPr sz="2200" spc="25" dirty="0">
                <a:latin typeface="Times New Roman"/>
                <a:cs typeface="Times New Roman"/>
              </a:rPr>
              <a:t> </a:t>
            </a:r>
            <a:r>
              <a:rPr sz="2200" b="1" spc="-25" dirty="0">
                <a:latin typeface="Times New Roman"/>
                <a:cs typeface="Times New Roman"/>
              </a:rPr>
              <a:t>user</a:t>
            </a:r>
            <a:r>
              <a:rPr sz="2200" b="1" spc="50" dirty="0">
                <a:latin typeface="Times New Roman"/>
                <a:cs typeface="Times New Roman"/>
              </a:rPr>
              <a:t> </a:t>
            </a:r>
            <a:r>
              <a:rPr sz="2200" spc="-80" dirty="0">
                <a:latin typeface="Times New Roman"/>
                <a:cs typeface="Times New Roman"/>
              </a:rPr>
              <a:t>represents</a:t>
            </a:r>
            <a:r>
              <a:rPr sz="2200" spc="25" dirty="0">
                <a:latin typeface="Times New Roman"/>
                <a:cs typeface="Times New Roman"/>
              </a:rPr>
              <a:t> </a:t>
            </a:r>
            <a:r>
              <a:rPr sz="2200" spc="-135" dirty="0">
                <a:latin typeface="Times New Roman"/>
                <a:cs typeface="Times New Roman"/>
              </a:rPr>
              <a:t>an</a:t>
            </a:r>
            <a:r>
              <a:rPr sz="2200" spc="35" dirty="0">
                <a:latin typeface="Times New Roman"/>
                <a:cs typeface="Times New Roman"/>
              </a:rPr>
              <a:t> </a:t>
            </a:r>
            <a:r>
              <a:rPr sz="2200" b="1" dirty="0">
                <a:latin typeface="Times New Roman"/>
                <a:cs typeface="Times New Roman"/>
              </a:rPr>
              <a:t>individual</a:t>
            </a:r>
            <a:r>
              <a:rPr sz="2200" b="1" spc="40" dirty="0">
                <a:latin typeface="Times New Roman"/>
                <a:cs typeface="Times New Roman"/>
              </a:rPr>
              <a:t> </a:t>
            </a:r>
            <a:r>
              <a:rPr sz="2200" b="1" spc="5" dirty="0">
                <a:latin typeface="Times New Roman"/>
                <a:cs typeface="Times New Roman"/>
              </a:rPr>
              <a:t>person</a:t>
            </a:r>
            <a:r>
              <a:rPr sz="2200" b="1" spc="35" dirty="0">
                <a:latin typeface="Times New Roman"/>
                <a:cs typeface="Times New Roman"/>
              </a:rPr>
              <a:t> </a:t>
            </a:r>
            <a:r>
              <a:rPr sz="2200" b="1" spc="-5" dirty="0">
                <a:latin typeface="Times New Roman"/>
                <a:cs typeface="Times New Roman"/>
              </a:rPr>
              <a:t>o</a:t>
            </a:r>
            <a:r>
              <a:rPr sz="2200" b="1" dirty="0">
                <a:latin typeface="Times New Roman"/>
                <a:cs typeface="Times New Roman"/>
              </a:rPr>
              <a:t>r</a:t>
            </a:r>
            <a:r>
              <a:rPr sz="2200" b="1" spc="20" dirty="0">
                <a:latin typeface="Times New Roman"/>
                <a:cs typeface="Times New Roman"/>
              </a:rPr>
              <a:t> </a:t>
            </a:r>
            <a:r>
              <a:rPr sz="2200" b="1" dirty="0">
                <a:latin typeface="Times New Roman"/>
                <a:cs typeface="Times New Roman"/>
              </a:rPr>
              <a:t>application</a:t>
            </a:r>
            <a:r>
              <a:rPr sz="2200" b="1" spc="10" dirty="0">
                <a:latin typeface="Times New Roman"/>
                <a:cs typeface="Times New Roman"/>
              </a:rPr>
              <a:t> </a:t>
            </a:r>
            <a:r>
              <a:rPr sz="2200" spc="-80" dirty="0">
                <a:latin typeface="Times New Roman"/>
                <a:cs typeface="Times New Roman"/>
              </a:rPr>
              <a:t>that</a:t>
            </a:r>
            <a:r>
              <a:rPr sz="2200" spc="30" dirty="0">
                <a:latin typeface="Times New Roman"/>
                <a:cs typeface="Times New Roman"/>
              </a:rPr>
              <a:t> </a:t>
            </a:r>
            <a:r>
              <a:rPr sz="2200" spc="-110" dirty="0">
                <a:latin typeface="Times New Roman"/>
                <a:cs typeface="Times New Roman"/>
              </a:rPr>
              <a:t>needs</a:t>
            </a:r>
            <a:r>
              <a:rPr sz="2200" spc="25" dirty="0">
                <a:latin typeface="Times New Roman"/>
                <a:cs typeface="Times New Roman"/>
              </a:rPr>
              <a:t> </a:t>
            </a:r>
            <a:r>
              <a:rPr sz="2200" spc="-145" dirty="0">
                <a:latin typeface="Times New Roman"/>
                <a:cs typeface="Times New Roman"/>
              </a:rPr>
              <a:t>access</a:t>
            </a:r>
            <a:r>
              <a:rPr sz="2200" spc="30" dirty="0">
                <a:latin typeface="Times New Roman"/>
                <a:cs typeface="Times New Roman"/>
              </a:rPr>
              <a:t> </a:t>
            </a:r>
            <a:r>
              <a:rPr sz="2200" spc="-30" dirty="0">
                <a:latin typeface="Times New Roman"/>
                <a:cs typeface="Times New Roman"/>
              </a:rPr>
              <a:t>to</a:t>
            </a:r>
            <a:r>
              <a:rPr sz="2200" spc="-20" dirty="0">
                <a:latin typeface="Times New Roman"/>
                <a:cs typeface="Times New Roman"/>
              </a:rPr>
              <a:t> </a:t>
            </a:r>
            <a:r>
              <a:rPr sz="2200" spc="-200" dirty="0">
                <a:latin typeface="Times New Roman"/>
                <a:cs typeface="Times New Roman"/>
              </a:rPr>
              <a:t>AWS.</a:t>
            </a:r>
            <a:endParaRPr sz="2200">
              <a:latin typeface="Times New Roman"/>
              <a:cs typeface="Times New Roman"/>
            </a:endParaRPr>
          </a:p>
          <a:p>
            <a:pPr marL="111125" indent="-106045">
              <a:lnSpc>
                <a:spcPct val="100000"/>
              </a:lnSpc>
              <a:buSzPct val="95454"/>
              <a:buChar char="•"/>
              <a:tabLst>
                <a:tab pos="111125" algn="l"/>
              </a:tabLst>
            </a:pPr>
            <a:r>
              <a:rPr sz="2200" spc="-175" dirty="0">
                <a:latin typeface="Times New Roman"/>
                <a:cs typeface="Times New Roman"/>
              </a:rPr>
              <a:t>Each</a:t>
            </a:r>
            <a:r>
              <a:rPr sz="2200" spc="-10" dirty="0">
                <a:latin typeface="Times New Roman"/>
                <a:cs typeface="Times New Roman"/>
              </a:rPr>
              <a:t> </a:t>
            </a:r>
            <a:r>
              <a:rPr sz="2200" spc="-85" dirty="0">
                <a:latin typeface="Times New Roman"/>
                <a:cs typeface="Times New Roman"/>
              </a:rPr>
              <a:t>user</a:t>
            </a:r>
            <a:r>
              <a:rPr sz="2200" dirty="0">
                <a:latin typeface="Times New Roman"/>
                <a:cs typeface="Times New Roman"/>
              </a:rPr>
              <a:t> </a:t>
            </a:r>
            <a:r>
              <a:rPr sz="2200" spc="-175" dirty="0">
                <a:latin typeface="Times New Roman"/>
                <a:cs typeface="Times New Roman"/>
              </a:rPr>
              <a:t>has</a:t>
            </a:r>
            <a:r>
              <a:rPr sz="2200" spc="-30" dirty="0">
                <a:latin typeface="Times New Roman"/>
                <a:cs typeface="Times New Roman"/>
              </a:rPr>
              <a:t> </a:t>
            </a:r>
            <a:r>
              <a:rPr sz="2200" b="1" dirty="0">
                <a:latin typeface="Times New Roman"/>
                <a:cs typeface="Times New Roman"/>
              </a:rPr>
              <a:t>credentials</a:t>
            </a:r>
            <a:r>
              <a:rPr sz="2200" b="1" spc="20" dirty="0">
                <a:latin typeface="Times New Roman"/>
                <a:cs typeface="Times New Roman"/>
              </a:rPr>
              <a:t> </a:t>
            </a:r>
            <a:r>
              <a:rPr sz="2200" spc="-75" dirty="0">
                <a:latin typeface="Times New Roman"/>
                <a:cs typeface="Times New Roman"/>
              </a:rPr>
              <a:t>(username/password,</a:t>
            </a:r>
            <a:r>
              <a:rPr sz="2200" spc="-95" dirty="0">
                <a:latin typeface="Times New Roman"/>
                <a:cs typeface="Times New Roman"/>
              </a:rPr>
              <a:t> </a:t>
            </a:r>
            <a:r>
              <a:rPr sz="2200" spc="-155" dirty="0">
                <a:latin typeface="Times New Roman"/>
                <a:cs typeface="Times New Roman"/>
              </a:rPr>
              <a:t>access</a:t>
            </a:r>
            <a:r>
              <a:rPr sz="2200" spc="-5" dirty="0">
                <a:latin typeface="Times New Roman"/>
                <a:cs typeface="Times New Roman"/>
              </a:rPr>
              <a:t> </a:t>
            </a:r>
            <a:r>
              <a:rPr sz="2200" spc="-10" dirty="0">
                <a:latin typeface="Times New Roman"/>
                <a:cs typeface="Times New Roman"/>
              </a:rPr>
              <a:t>keys).</a:t>
            </a:r>
            <a:endParaRPr sz="2200">
              <a:latin typeface="Times New Roman"/>
              <a:cs typeface="Times New Roman"/>
            </a:endParaRPr>
          </a:p>
          <a:p>
            <a:pPr marL="111125" indent="-106045">
              <a:lnSpc>
                <a:spcPct val="100000"/>
              </a:lnSpc>
              <a:spcBef>
                <a:spcPts val="5"/>
              </a:spcBef>
              <a:buSzPct val="95454"/>
              <a:buChar char="•"/>
              <a:tabLst>
                <a:tab pos="111125" algn="l"/>
              </a:tabLst>
            </a:pPr>
            <a:r>
              <a:rPr sz="2200" spc="-105" dirty="0">
                <a:latin typeface="Times New Roman"/>
                <a:cs typeface="Times New Roman"/>
              </a:rPr>
              <a:t>Users</a:t>
            </a:r>
            <a:r>
              <a:rPr sz="2200" spc="-50" dirty="0">
                <a:latin typeface="Times New Roman"/>
                <a:cs typeface="Times New Roman"/>
              </a:rPr>
              <a:t> </a:t>
            </a:r>
            <a:r>
              <a:rPr sz="2200" spc="-150" dirty="0">
                <a:latin typeface="Times New Roman"/>
                <a:cs typeface="Times New Roman"/>
              </a:rPr>
              <a:t>can</a:t>
            </a:r>
            <a:r>
              <a:rPr sz="2200" spc="-35" dirty="0">
                <a:latin typeface="Times New Roman"/>
                <a:cs typeface="Times New Roman"/>
              </a:rPr>
              <a:t> </a:t>
            </a:r>
            <a:r>
              <a:rPr sz="2200" spc="-110" dirty="0">
                <a:latin typeface="Times New Roman"/>
                <a:cs typeface="Times New Roman"/>
              </a:rPr>
              <a:t>be</a:t>
            </a:r>
            <a:r>
              <a:rPr sz="2200" spc="-50" dirty="0">
                <a:latin typeface="Times New Roman"/>
                <a:cs typeface="Times New Roman"/>
              </a:rPr>
              <a:t> </a:t>
            </a:r>
            <a:r>
              <a:rPr sz="2200" spc="-150" dirty="0">
                <a:latin typeface="Times New Roman"/>
                <a:cs typeface="Times New Roman"/>
              </a:rPr>
              <a:t>assigned</a:t>
            </a:r>
            <a:r>
              <a:rPr sz="2200" spc="-50" dirty="0">
                <a:latin typeface="Times New Roman"/>
                <a:cs typeface="Times New Roman"/>
              </a:rPr>
              <a:t> </a:t>
            </a:r>
            <a:r>
              <a:rPr sz="2200" b="1" dirty="0">
                <a:latin typeface="Times New Roman"/>
                <a:cs typeface="Times New Roman"/>
              </a:rPr>
              <a:t>permissions</a:t>
            </a:r>
            <a:r>
              <a:rPr sz="2200" b="1" spc="-55" dirty="0">
                <a:latin typeface="Times New Roman"/>
                <a:cs typeface="Times New Roman"/>
              </a:rPr>
              <a:t> </a:t>
            </a:r>
            <a:r>
              <a:rPr sz="2200" b="1" dirty="0">
                <a:latin typeface="Times New Roman"/>
                <a:cs typeface="Times New Roman"/>
              </a:rPr>
              <a:t>via</a:t>
            </a:r>
            <a:r>
              <a:rPr sz="2200" b="1" spc="-45" dirty="0">
                <a:latin typeface="Times New Roman"/>
                <a:cs typeface="Times New Roman"/>
              </a:rPr>
              <a:t> </a:t>
            </a:r>
            <a:r>
              <a:rPr sz="2200" b="1" spc="-10" dirty="0">
                <a:latin typeface="Times New Roman"/>
                <a:cs typeface="Times New Roman"/>
              </a:rPr>
              <a:t>policies</a:t>
            </a:r>
            <a:r>
              <a:rPr sz="2200" spc="-10" dirty="0">
                <a:latin typeface="Times New Roman"/>
                <a:cs typeface="Times New Roman"/>
              </a:rPr>
              <a:t>.</a:t>
            </a:r>
            <a:endParaRPr sz="2200">
              <a:latin typeface="Times New Roman"/>
              <a:cs typeface="Times New Roman"/>
            </a:endParaRPr>
          </a:p>
          <a:p>
            <a:pPr>
              <a:lnSpc>
                <a:spcPct val="100000"/>
              </a:lnSpc>
              <a:spcBef>
                <a:spcPts val="110"/>
              </a:spcBef>
            </a:pPr>
            <a:endParaRPr sz="2200">
              <a:latin typeface="Times New Roman"/>
              <a:cs typeface="Times New Roman"/>
            </a:endParaRPr>
          </a:p>
          <a:p>
            <a:pPr marL="266700" indent="-254000">
              <a:lnSpc>
                <a:spcPct val="100000"/>
              </a:lnSpc>
              <a:buAutoNum type="arabicPeriod" startAt="2"/>
              <a:tabLst>
                <a:tab pos="266700" algn="l"/>
              </a:tabLst>
            </a:pPr>
            <a:r>
              <a:rPr sz="2200" b="1" spc="-95" dirty="0">
                <a:latin typeface="Times New Roman"/>
                <a:cs typeface="Times New Roman"/>
              </a:rPr>
              <a:t>IAM</a:t>
            </a:r>
            <a:r>
              <a:rPr sz="2200" b="1" spc="-55" dirty="0">
                <a:latin typeface="Times New Roman"/>
                <a:cs typeface="Times New Roman"/>
              </a:rPr>
              <a:t> </a:t>
            </a:r>
            <a:r>
              <a:rPr sz="2200" b="1" spc="-10" dirty="0">
                <a:latin typeface="Times New Roman"/>
                <a:cs typeface="Times New Roman"/>
              </a:rPr>
              <a:t>Groups</a:t>
            </a:r>
            <a:endParaRPr sz="2200">
              <a:latin typeface="Times New Roman"/>
              <a:cs typeface="Times New Roman"/>
            </a:endParaRPr>
          </a:p>
          <a:p>
            <a:pPr marL="111125" lvl="1" indent="-106045">
              <a:lnSpc>
                <a:spcPct val="100000"/>
              </a:lnSpc>
              <a:buSzPct val="95454"/>
              <a:buChar char="•"/>
              <a:tabLst>
                <a:tab pos="111125" algn="l"/>
              </a:tabLst>
            </a:pPr>
            <a:r>
              <a:rPr sz="2200" spc="-290" dirty="0">
                <a:latin typeface="Times New Roman"/>
                <a:cs typeface="Times New Roman"/>
              </a:rPr>
              <a:t>A</a:t>
            </a:r>
            <a:r>
              <a:rPr sz="2200" spc="-25" dirty="0">
                <a:latin typeface="Times New Roman"/>
                <a:cs typeface="Times New Roman"/>
              </a:rPr>
              <a:t> </a:t>
            </a:r>
            <a:r>
              <a:rPr sz="2200" b="1" dirty="0">
                <a:latin typeface="Times New Roman"/>
                <a:cs typeface="Times New Roman"/>
              </a:rPr>
              <a:t>group</a:t>
            </a:r>
            <a:r>
              <a:rPr sz="2200" b="1" spc="-30" dirty="0">
                <a:latin typeface="Times New Roman"/>
                <a:cs typeface="Times New Roman"/>
              </a:rPr>
              <a:t> </a:t>
            </a:r>
            <a:r>
              <a:rPr sz="2200" spc="-145" dirty="0">
                <a:latin typeface="Times New Roman"/>
                <a:cs typeface="Times New Roman"/>
              </a:rPr>
              <a:t>is</a:t>
            </a:r>
            <a:r>
              <a:rPr sz="2200" spc="-30" dirty="0">
                <a:latin typeface="Times New Roman"/>
                <a:cs typeface="Times New Roman"/>
              </a:rPr>
              <a:t> </a:t>
            </a:r>
            <a:r>
              <a:rPr sz="2200" spc="-185" dirty="0">
                <a:latin typeface="Times New Roman"/>
                <a:cs typeface="Times New Roman"/>
              </a:rPr>
              <a:t>a</a:t>
            </a:r>
            <a:r>
              <a:rPr sz="2200" spc="-40" dirty="0">
                <a:latin typeface="Times New Roman"/>
                <a:cs typeface="Times New Roman"/>
              </a:rPr>
              <a:t> </a:t>
            </a:r>
            <a:r>
              <a:rPr sz="2200" spc="-90" dirty="0">
                <a:latin typeface="Times New Roman"/>
                <a:cs typeface="Times New Roman"/>
              </a:rPr>
              <a:t>collection</a:t>
            </a:r>
            <a:r>
              <a:rPr sz="2200" spc="-5" dirty="0">
                <a:latin typeface="Times New Roman"/>
                <a:cs typeface="Times New Roman"/>
              </a:rPr>
              <a:t> </a:t>
            </a:r>
            <a:r>
              <a:rPr sz="2200" spc="-145" dirty="0">
                <a:latin typeface="Times New Roman"/>
                <a:cs typeface="Times New Roman"/>
              </a:rPr>
              <a:t>of</a:t>
            </a:r>
            <a:r>
              <a:rPr sz="2200" spc="-20" dirty="0">
                <a:latin typeface="Times New Roman"/>
                <a:cs typeface="Times New Roman"/>
              </a:rPr>
              <a:t> </a:t>
            </a:r>
            <a:r>
              <a:rPr sz="2200" spc="-254" dirty="0">
                <a:latin typeface="Times New Roman"/>
                <a:cs typeface="Times New Roman"/>
              </a:rPr>
              <a:t>IAM</a:t>
            </a:r>
            <a:r>
              <a:rPr sz="2200" spc="-10" dirty="0">
                <a:latin typeface="Times New Roman"/>
                <a:cs typeface="Times New Roman"/>
              </a:rPr>
              <a:t> users.</a:t>
            </a:r>
            <a:endParaRPr sz="2200">
              <a:latin typeface="Times New Roman"/>
              <a:cs typeface="Times New Roman"/>
            </a:endParaRPr>
          </a:p>
          <a:p>
            <a:pPr marL="111125" lvl="1" indent="-106045">
              <a:lnSpc>
                <a:spcPct val="100000"/>
              </a:lnSpc>
              <a:buSzPct val="95454"/>
              <a:buChar char="•"/>
              <a:tabLst>
                <a:tab pos="111125" algn="l"/>
              </a:tabLst>
            </a:pPr>
            <a:r>
              <a:rPr sz="2200" spc="-135" dirty="0">
                <a:latin typeface="Times New Roman"/>
                <a:cs typeface="Times New Roman"/>
              </a:rPr>
              <a:t>Policies</a:t>
            </a:r>
            <a:r>
              <a:rPr sz="2200" spc="-50" dirty="0">
                <a:latin typeface="Times New Roman"/>
                <a:cs typeface="Times New Roman"/>
              </a:rPr>
              <a:t> </a:t>
            </a:r>
            <a:r>
              <a:rPr sz="2200" spc="-140" dirty="0">
                <a:latin typeface="Times New Roman"/>
                <a:cs typeface="Times New Roman"/>
              </a:rPr>
              <a:t>assigned</a:t>
            </a:r>
            <a:r>
              <a:rPr sz="2200" spc="-50" dirty="0">
                <a:latin typeface="Times New Roman"/>
                <a:cs typeface="Times New Roman"/>
              </a:rPr>
              <a:t> </a:t>
            </a:r>
            <a:r>
              <a:rPr sz="2200" dirty="0">
                <a:latin typeface="Times New Roman"/>
                <a:cs typeface="Times New Roman"/>
              </a:rPr>
              <a:t>to</a:t>
            </a:r>
            <a:r>
              <a:rPr sz="2200" spc="-110" dirty="0">
                <a:latin typeface="Times New Roman"/>
                <a:cs typeface="Times New Roman"/>
              </a:rPr>
              <a:t> </a:t>
            </a:r>
            <a:r>
              <a:rPr sz="2200" spc="-185" dirty="0">
                <a:latin typeface="Times New Roman"/>
                <a:cs typeface="Times New Roman"/>
              </a:rPr>
              <a:t>a</a:t>
            </a:r>
            <a:r>
              <a:rPr sz="2200" spc="-60" dirty="0">
                <a:latin typeface="Times New Roman"/>
                <a:cs typeface="Times New Roman"/>
              </a:rPr>
              <a:t> </a:t>
            </a:r>
            <a:r>
              <a:rPr sz="2200" spc="-90" dirty="0">
                <a:latin typeface="Times New Roman"/>
                <a:cs typeface="Times New Roman"/>
              </a:rPr>
              <a:t>group</a:t>
            </a:r>
            <a:r>
              <a:rPr sz="2200" spc="-35" dirty="0">
                <a:latin typeface="Times New Roman"/>
                <a:cs typeface="Times New Roman"/>
              </a:rPr>
              <a:t> </a:t>
            </a:r>
            <a:r>
              <a:rPr sz="2200" b="1" spc="-10" dirty="0">
                <a:latin typeface="Times New Roman"/>
                <a:cs typeface="Times New Roman"/>
              </a:rPr>
              <a:t>apply</a:t>
            </a:r>
            <a:r>
              <a:rPr sz="2200" b="1" spc="-65" dirty="0">
                <a:latin typeface="Times New Roman"/>
                <a:cs typeface="Times New Roman"/>
              </a:rPr>
              <a:t> </a:t>
            </a:r>
            <a:r>
              <a:rPr sz="2200" b="1" spc="50" dirty="0">
                <a:latin typeface="Times New Roman"/>
                <a:cs typeface="Times New Roman"/>
              </a:rPr>
              <a:t>to</a:t>
            </a:r>
            <a:r>
              <a:rPr sz="2200" b="1" spc="-55" dirty="0">
                <a:latin typeface="Times New Roman"/>
                <a:cs typeface="Times New Roman"/>
              </a:rPr>
              <a:t> </a:t>
            </a:r>
            <a:r>
              <a:rPr sz="2200" b="1" dirty="0">
                <a:latin typeface="Times New Roman"/>
                <a:cs typeface="Times New Roman"/>
              </a:rPr>
              <a:t>all</a:t>
            </a:r>
            <a:r>
              <a:rPr sz="2200" b="1" spc="-75" dirty="0">
                <a:latin typeface="Times New Roman"/>
                <a:cs typeface="Times New Roman"/>
              </a:rPr>
              <a:t> </a:t>
            </a:r>
            <a:r>
              <a:rPr sz="2200" b="1" spc="-10" dirty="0">
                <a:latin typeface="Times New Roman"/>
                <a:cs typeface="Times New Roman"/>
              </a:rPr>
              <a:t>members</a:t>
            </a:r>
            <a:r>
              <a:rPr sz="2200" spc="-10" dirty="0">
                <a:latin typeface="Times New Roman"/>
                <a:cs typeface="Times New Roman"/>
              </a:rPr>
              <a:t>.</a:t>
            </a:r>
            <a:endParaRPr sz="2200">
              <a:latin typeface="Times New Roman"/>
              <a:cs typeface="Times New Roman"/>
            </a:endParaRPr>
          </a:p>
          <a:p>
            <a:pPr marL="111125" lvl="1" indent="-106045">
              <a:lnSpc>
                <a:spcPct val="100000"/>
              </a:lnSpc>
              <a:buSzPct val="95454"/>
              <a:buChar char="•"/>
              <a:tabLst>
                <a:tab pos="111125" algn="l"/>
              </a:tabLst>
            </a:pPr>
            <a:r>
              <a:rPr sz="2200" spc="-140" dirty="0">
                <a:latin typeface="Times New Roman"/>
                <a:cs typeface="Times New Roman"/>
              </a:rPr>
              <a:t>Example</a:t>
            </a:r>
            <a:r>
              <a:rPr sz="2200" spc="25" dirty="0">
                <a:latin typeface="Times New Roman"/>
                <a:cs typeface="Times New Roman"/>
              </a:rPr>
              <a:t> </a:t>
            </a:r>
            <a:r>
              <a:rPr sz="2200" spc="-90" dirty="0">
                <a:latin typeface="Times New Roman"/>
                <a:cs typeface="Times New Roman"/>
              </a:rPr>
              <a:t>groups:</a:t>
            </a:r>
            <a:r>
              <a:rPr sz="2200" spc="-75" dirty="0">
                <a:latin typeface="Times New Roman"/>
                <a:cs typeface="Times New Roman"/>
              </a:rPr>
              <a:t> </a:t>
            </a:r>
            <a:r>
              <a:rPr sz="2200" spc="-100" dirty="0">
                <a:latin typeface="Times New Roman"/>
                <a:cs typeface="Times New Roman"/>
              </a:rPr>
              <a:t>Developers,</a:t>
            </a:r>
            <a:r>
              <a:rPr sz="2200" spc="-254" dirty="0">
                <a:latin typeface="Times New Roman"/>
                <a:cs typeface="Times New Roman"/>
              </a:rPr>
              <a:t> </a:t>
            </a:r>
            <a:r>
              <a:rPr sz="2200" spc="-120" dirty="0">
                <a:latin typeface="Times New Roman"/>
                <a:cs typeface="Times New Roman"/>
              </a:rPr>
              <a:t>Admins,</a:t>
            </a:r>
            <a:r>
              <a:rPr sz="2200" spc="-75" dirty="0">
                <a:latin typeface="Times New Roman"/>
                <a:cs typeface="Times New Roman"/>
              </a:rPr>
              <a:t> </a:t>
            </a:r>
            <a:r>
              <a:rPr sz="2200" spc="-30" dirty="0">
                <a:latin typeface="Times New Roman"/>
                <a:cs typeface="Times New Roman"/>
              </a:rPr>
              <a:t>ReadOnlyUsers.</a:t>
            </a:r>
            <a:endParaRPr sz="22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58</a:t>
            </a:fld>
            <a:endParaRPr spc="-2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5742" rIns="0" bIns="0" rtlCol="0">
            <a:spAutoFit/>
          </a:bodyPr>
          <a:lstStyle/>
          <a:p>
            <a:pPr marL="12700">
              <a:lnSpc>
                <a:spcPct val="100000"/>
              </a:lnSpc>
              <a:spcBef>
                <a:spcPts val="100"/>
              </a:spcBef>
            </a:pPr>
            <a:r>
              <a:rPr sz="3200" spc="-204" dirty="0"/>
              <a:t>AWS</a:t>
            </a:r>
            <a:r>
              <a:rPr sz="3200" dirty="0"/>
              <a:t> </a:t>
            </a:r>
            <a:r>
              <a:rPr sz="3200" spc="-30" dirty="0"/>
              <a:t>Identity</a:t>
            </a:r>
            <a:r>
              <a:rPr sz="3200" spc="-170" dirty="0"/>
              <a:t> </a:t>
            </a:r>
            <a:r>
              <a:rPr sz="3200" dirty="0"/>
              <a:t>and</a:t>
            </a:r>
            <a:r>
              <a:rPr sz="3200" spc="-90" dirty="0"/>
              <a:t> </a:t>
            </a:r>
            <a:r>
              <a:rPr sz="3200" spc="-10" dirty="0"/>
              <a:t>Access</a:t>
            </a:r>
            <a:r>
              <a:rPr sz="3200" spc="-75" dirty="0"/>
              <a:t> </a:t>
            </a:r>
            <a:r>
              <a:rPr sz="3200" spc="-35" dirty="0"/>
              <a:t>Management</a:t>
            </a:r>
            <a:r>
              <a:rPr sz="3200" spc="-110" dirty="0"/>
              <a:t> </a:t>
            </a:r>
            <a:r>
              <a:rPr sz="3200" spc="-10" dirty="0"/>
              <a:t>(IAM)</a:t>
            </a:r>
            <a:endParaRPr sz="3200"/>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96976" y="942289"/>
            <a:ext cx="8300720" cy="2372995"/>
          </a:xfrm>
          <a:prstGeom prst="rect">
            <a:avLst/>
          </a:prstGeom>
        </p:spPr>
        <p:txBody>
          <a:bodyPr vert="horz" wrap="square" lIns="0" tIns="12065" rIns="0" bIns="0" rtlCol="0">
            <a:spAutoFit/>
          </a:bodyPr>
          <a:lstStyle/>
          <a:p>
            <a:pPr marL="266065" indent="-253365">
              <a:lnSpc>
                <a:spcPct val="100000"/>
              </a:lnSpc>
              <a:spcBef>
                <a:spcPts val="95"/>
              </a:spcBef>
              <a:buAutoNum type="arabicPeriod" startAt="3"/>
              <a:tabLst>
                <a:tab pos="266065" algn="l"/>
              </a:tabLst>
            </a:pPr>
            <a:r>
              <a:rPr sz="2200" b="1" spc="-95" dirty="0">
                <a:latin typeface="Times New Roman"/>
                <a:cs typeface="Times New Roman"/>
              </a:rPr>
              <a:t>IAM</a:t>
            </a:r>
            <a:r>
              <a:rPr sz="2200" b="1" spc="-60" dirty="0">
                <a:latin typeface="Times New Roman"/>
                <a:cs typeface="Times New Roman"/>
              </a:rPr>
              <a:t> </a:t>
            </a:r>
            <a:r>
              <a:rPr sz="2200" b="1" spc="-10" dirty="0">
                <a:latin typeface="Times New Roman"/>
                <a:cs typeface="Times New Roman"/>
              </a:rPr>
              <a:t>Roles</a:t>
            </a:r>
            <a:endParaRPr sz="2200">
              <a:latin typeface="Times New Roman"/>
              <a:cs typeface="Times New Roman"/>
            </a:endParaRPr>
          </a:p>
          <a:p>
            <a:pPr marL="111125" lvl="1" indent="-106045">
              <a:lnSpc>
                <a:spcPct val="100000"/>
              </a:lnSpc>
              <a:spcBef>
                <a:spcPts val="5"/>
              </a:spcBef>
              <a:buSzPct val="95454"/>
              <a:buChar char="•"/>
              <a:tabLst>
                <a:tab pos="111125" algn="l"/>
              </a:tabLst>
            </a:pPr>
            <a:r>
              <a:rPr sz="2200" spc="-130" dirty="0">
                <a:latin typeface="Times New Roman"/>
                <a:cs typeface="Times New Roman"/>
              </a:rPr>
              <a:t>Roles</a:t>
            </a:r>
            <a:r>
              <a:rPr sz="2200" spc="-50" dirty="0">
                <a:latin typeface="Times New Roman"/>
                <a:cs typeface="Times New Roman"/>
              </a:rPr>
              <a:t> </a:t>
            </a:r>
            <a:r>
              <a:rPr sz="2200" b="1" spc="-10" dirty="0">
                <a:latin typeface="Times New Roman"/>
                <a:cs typeface="Times New Roman"/>
              </a:rPr>
              <a:t>grant</a:t>
            </a:r>
            <a:r>
              <a:rPr sz="2200" b="1" spc="-130" dirty="0">
                <a:latin typeface="Times New Roman"/>
                <a:cs typeface="Times New Roman"/>
              </a:rPr>
              <a:t> </a:t>
            </a:r>
            <a:r>
              <a:rPr sz="2200" b="1" spc="-10" dirty="0">
                <a:latin typeface="Times New Roman"/>
                <a:cs typeface="Times New Roman"/>
              </a:rPr>
              <a:t>temporary</a:t>
            </a:r>
            <a:r>
              <a:rPr sz="2200" b="1" spc="-80" dirty="0">
                <a:latin typeface="Times New Roman"/>
                <a:cs typeface="Times New Roman"/>
              </a:rPr>
              <a:t> </a:t>
            </a:r>
            <a:r>
              <a:rPr sz="2200" b="1" dirty="0">
                <a:latin typeface="Times New Roman"/>
                <a:cs typeface="Times New Roman"/>
              </a:rPr>
              <a:t>access</a:t>
            </a:r>
            <a:r>
              <a:rPr sz="2200" b="1" spc="-60" dirty="0">
                <a:latin typeface="Times New Roman"/>
                <a:cs typeface="Times New Roman"/>
              </a:rPr>
              <a:t> </a:t>
            </a:r>
            <a:r>
              <a:rPr sz="2200" spc="-45" dirty="0">
                <a:latin typeface="Times New Roman"/>
                <a:cs typeface="Times New Roman"/>
              </a:rPr>
              <a:t>to</a:t>
            </a:r>
            <a:r>
              <a:rPr sz="2200" spc="-215" dirty="0">
                <a:latin typeface="Times New Roman"/>
                <a:cs typeface="Times New Roman"/>
              </a:rPr>
              <a:t> </a:t>
            </a:r>
            <a:r>
              <a:rPr sz="2200" spc="-295" dirty="0">
                <a:latin typeface="Times New Roman"/>
                <a:cs typeface="Times New Roman"/>
              </a:rPr>
              <a:t>AWS</a:t>
            </a:r>
            <a:r>
              <a:rPr sz="2200" spc="-60" dirty="0">
                <a:latin typeface="Times New Roman"/>
                <a:cs typeface="Times New Roman"/>
              </a:rPr>
              <a:t> </a:t>
            </a:r>
            <a:r>
              <a:rPr sz="2200" spc="-10" dirty="0">
                <a:latin typeface="Times New Roman"/>
                <a:cs typeface="Times New Roman"/>
              </a:rPr>
              <a:t>resources.</a:t>
            </a:r>
            <a:endParaRPr sz="2200">
              <a:latin typeface="Times New Roman"/>
              <a:cs typeface="Times New Roman"/>
            </a:endParaRPr>
          </a:p>
          <a:p>
            <a:pPr marL="111125" lvl="1" indent="-106045">
              <a:lnSpc>
                <a:spcPct val="100000"/>
              </a:lnSpc>
              <a:buSzPct val="95454"/>
              <a:buChar char="•"/>
              <a:tabLst>
                <a:tab pos="111125" algn="l"/>
              </a:tabLst>
            </a:pPr>
            <a:r>
              <a:rPr sz="2200" spc="-130" dirty="0">
                <a:latin typeface="Times New Roman"/>
                <a:cs typeface="Times New Roman"/>
              </a:rPr>
              <a:t>Used</a:t>
            </a:r>
            <a:r>
              <a:rPr sz="2200" spc="-15" dirty="0">
                <a:latin typeface="Times New Roman"/>
                <a:cs typeface="Times New Roman"/>
              </a:rPr>
              <a:t> </a:t>
            </a:r>
            <a:r>
              <a:rPr sz="2200" spc="-20" dirty="0">
                <a:latin typeface="Times New Roman"/>
                <a:cs typeface="Times New Roman"/>
              </a:rPr>
              <a:t>for:</a:t>
            </a:r>
            <a:endParaRPr sz="2200">
              <a:latin typeface="Times New Roman"/>
              <a:cs typeface="Times New Roman"/>
            </a:endParaRPr>
          </a:p>
          <a:p>
            <a:pPr marL="568325" lvl="2" indent="-106045">
              <a:lnSpc>
                <a:spcPct val="100000"/>
              </a:lnSpc>
              <a:buSzPct val="95454"/>
              <a:buFont typeface="Times New Roman"/>
              <a:buChar char="•"/>
              <a:tabLst>
                <a:tab pos="568325" algn="l"/>
                <a:tab pos="2404110" algn="l"/>
                <a:tab pos="3274060" algn="l"/>
                <a:tab pos="3934460" algn="l"/>
                <a:tab pos="4305935" algn="l"/>
                <a:tab pos="4958080" algn="l"/>
                <a:tab pos="5807710" algn="l"/>
                <a:tab pos="6862445" algn="l"/>
                <a:tab pos="7775575" algn="l"/>
              </a:tabLst>
            </a:pPr>
            <a:r>
              <a:rPr sz="2200" b="1" spc="-65" dirty="0">
                <a:latin typeface="Times New Roman"/>
                <a:cs typeface="Times New Roman"/>
              </a:rPr>
              <a:t>Cross-</a:t>
            </a:r>
            <a:r>
              <a:rPr sz="2200" b="1" spc="-10" dirty="0">
                <a:latin typeface="Times New Roman"/>
                <a:cs typeface="Times New Roman"/>
              </a:rPr>
              <a:t>account</a:t>
            </a:r>
            <a:r>
              <a:rPr sz="2200" b="1" dirty="0">
                <a:latin typeface="Times New Roman"/>
                <a:cs typeface="Times New Roman"/>
              </a:rPr>
              <a:t>	</a:t>
            </a:r>
            <a:r>
              <a:rPr sz="2200" b="1" spc="-10" dirty="0">
                <a:latin typeface="Times New Roman"/>
                <a:cs typeface="Times New Roman"/>
              </a:rPr>
              <a:t>access</a:t>
            </a:r>
            <a:r>
              <a:rPr sz="2200" b="1" dirty="0">
                <a:latin typeface="Times New Roman"/>
                <a:cs typeface="Times New Roman"/>
              </a:rPr>
              <a:t>	</a:t>
            </a:r>
            <a:r>
              <a:rPr sz="2200" spc="-10" dirty="0">
                <a:latin typeface="Times New Roman"/>
                <a:cs typeface="Times New Roman"/>
              </a:rPr>
              <a:t>(e.g.,</a:t>
            </a:r>
            <a:r>
              <a:rPr sz="2200" dirty="0">
                <a:latin typeface="Times New Roman"/>
                <a:cs typeface="Times New Roman"/>
              </a:rPr>
              <a:t>	</a:t>
            </a:r>
            <a:r>
              <a:rPr sz="2200" spc="-25" dirty="0">
                <a:latin typeface="Times New Roman"/>
                <a:cs typeface="Times New Roman"/>
              </a:rPr>
              <a:t>an</a:t>
            </a:r>
            <a:r>
              <a:rPr sz="2200" dirty="0">
                <a:latin typeface="Times New Roman"/>
                <a:cs typeface="Times New Roman"/>
              </a:rPr>
              <a:t>	</a:t>
            </a:r>
            <a:r>
              <a:rPr sz="2200" spc="-320" dirty="0">
                <a:latin typeface="Times New Roman"/>
                <a:cs typeface="Times New Roman"/>
              </a:rPr>
              <a:t>AWS</a:t>
            </a:r>
            <a:r>
              <a:rPr sz="2200" dirty="0">
                <a:latin typeface="Times New Roman"/>
                <a:cs typeface="Times New Roman"/>
              </a:rPr>
              <a:t>	</a:t>
            </a:r>
            <a:r>
              <a:rPr sz="2200" spc="-10" dirty="0">
                <a:latin typeface="Times New Roman"/>
                <a:cs typeface="Times New Roman"/>
              </a:rPr>
              <a:t>service</a:t>
            </a:r>
            <a:r>
              <a:rPr sz="2200" dirty="0">
                <a:latin typeface="Times New Roman"/>
                <a:cs typeface="Times New Roman"/>
              </a:rPr>
              <a:t>	</a:t>
            </a:r>
            <a:r>
              <a:rPr sz="2200" spc="-25" dirty="0">
                <a:latin typeface="Times New Roman"/>
                <a:cs typeface="Times New Roman"/>
              </a:rPr>
              <a:t>accessing</a:t>
            </a:r>
            <a:r>
              <a:rPr sz="2200" dirty="0">
                <a:latin typeface="Times New Roman"/>
                <a:cs typeface="Times New Roman"/>
              </a:rPr>
              <a:t>	</a:t>
            </a:r>
            <a:r>
              <a:rPr sz="2200" spc="-10" dirty="0">
                <a:latin typeface="Times New Roman"/>
                <a:cs typeface="Times New Roman"/>
              </a:rPr>
              <a:t>another</a:t>
            </a:r>
            <a:r>
              <a:rPr sz="2200" dirty="0">
                <a:latin typeface="Times New Roman"/>
                <a:cs typeface="Times New Roman"/>
              </a:rPr>
              <a:t>	</a:t>
            </a:r>
            <a:r>
              <a:rPr sz="2200" spc="-320" dirty="0">
                <a:latin typeface="Times New Roman"/>
                <a:cs typeface="Times New Roman"/>
              </a:rPr>
              <a:t>AWS</a:t>
            </a:r>
            <a:endParaRPr sz="2200">
              <a:latin typeface="Times New Roman"/>
              <a:cs typeface="Times New Roman"/>
            </a:endParaRPr>
          </a:p>
          <a:p>
            <a:pPr marL="469900">
              <a:lnSpc>
                <a:spcPct val="100000"/>
              </a:lnSpc>
            </a:pPr>
            <a:r>
              <a:rPr sz="2200" spc="-10" dirty="0">
                <a:latin typeface="Times New Roman"/>
                <a:cs typeface="Times New Roman"/>
              </a:rPr>
              <a:t>service).</a:t>
            </a:r>
            <a:endParaRPr sz="2200">
              <a:latin typeface="Times New Roman"/>
              <a:cs typeface="Times New Roman"/>
            </a:endParaRPr>
          </a:p>
          <a:p>
            <a:pPr marL="568325" lvl="2" indent="-106045">
              <a:lnSpc>
                <a:spcPct val="100000"/>
              </a:lnSpc>
              <a:buSzPct val="95454"/>
              <a:buFont typeface="Times New Roman"/>
              <a:buChar char="•"/>
              <a:tabLst>
                <a:tab pos="568325" algn="l"/>
              </a:tabLst>
            </a:pPr>
            <a:r>
              <a:rPr sz="2200" b="1" spc="-235" dirty="0">
                <a:latin typeface="Times New Roman"/>
                <a:cs typeface="Times New Roman"/>
              </a:rPr>
              <a:t>EC2</a:t>
            </a:r>
            <a:r>
              <a:rPr sz="2200" b="1" spc="-35" dirty="0">
                <a:latin typeface="Times New Roman"/>
                <a:cs typeface="Times New Roman"/>
              </a:rPr>
              <a:t> </a:t>
            </a:r>
            <a:r>
              <a:rPr sz="2200" b="1" spc="-10" dirty="0">
                <a:latin typeface="Times New Roman"/>
                <a:cs typeface="Times New Roman"/>
              </a:rPr>
              <a:t>instances</a:t>
            </a:r>
            <a:r>
              <a:rPr sz="2200" b="1" spc="-5" dirty="0">
                <a:latin typeface="Times New Roman"/>
                <a:cs typeface="Times New Roman"/>
              </a:rPr>
              <a:t> </a:t>
            </a:r>
            <a:r>
              <a:rPr sz="2200" dirty="0">
                <a:latin typeface="Times New Roman"/>
                <a:cs typeface="Times New Roman"/>
              </a:rPr>
              <a:t>to</a:t>
            </a:r>
            <a:r>
              <a:rPr sz="2200" spc="-35" dirty="0">
                <a:latin typeface="Times New Roman"/>
                <a:cs typeface="Times New Roman"/>
              </a:rPr>
              <a:t> </a:t>
            </a:r>
            <a:r>
              <a:rPr sz="2200" spc="-155" dirty="0">
                <a:latin typeface="Times New Roman"/>
                <a:cs typeface="Times New Roman"/>
              </a:rPr>
              <a:t>access</a:t>
            </a:r>
            <a:r>
              <a:rPr sz="2200" spc="-30" dirty="0">
                <a:latin typeface="Times New Roman"/>
                <a:cs typeface="Times New Roman"/>
              </a:rPr>
              <a:t> </a:t>
            </a:r>
            <a:r>
              <a:rPr sz="2200" spc="-120" dirty="0">
                <a:latin typeface="Times New Roman"/>
                <a:cs typeface="Times New Roman"/>
              </a:rPr>
              <a:t>S3,</a:t>
            </a:r>
            <a:r>
              <a:rPr sz="2200" spc="-130" dirty="0">
                <a:latin typeface="Times New Roman"/>
                <a:cs typeface="Times New Roman"/>
              </a:rPr>
              <a:t> </a:t>
            </a:r>
            <a:r>
              <a:rPr sz="2200" spc="-145" dirty="0">
                <a:latin typeface="Times New Roman"/>
                <a:cs typeface="Times New Roman"/>
              </a:rPr>
              <a:t>DynamoDB,</a:t>
            </a:r>
            <a:r>
              <a:rPr sz="2200" spc="-125" dirty="0">
                <a:latin typeface="Times New Roman"/>
                <a:cs typeface="Times New Roman"/>
              </a:rPr>
              <a:t> </a:t>
            </a:r>
            <a:r>
              <a:rPr sz="2200" spc="-20" dirty="0">
                <a:latin typeface="Times New Roman"/>
                <a:cs typeface="Times New Roman"/>
              </a:rPr>
              <a:t>etc.</a:t>
            </a:r>
            <a:endParaRPr sz="2200">
              <a:latin typeface="Times New Roman"/>
              <a:cs typeface="Times New Roman"/>
            </a:endParaRPr>
          </a:p>
          <a:p>
            <a:pPr marL="568325" lvl="2" indent="-106045">
              <a:lnSpc>
                <a:spcPct val="100000"/>
              </a:lnSpc>
              <a:buSzPct val="95454"/>
              <a:buFont typeface="Times New Roman"/>
              <a:buChar char="•"/>
              <a:tabLst>
                <a:tab pos="568325" algn="l"/>
              </a:tabLst>
            </a:pPr>
            <a:r>
              <a:rPr sz="2200" b="1" spc="-250" dirty="0">
                <a:latin typeface="Times New Roman"/>
                <a:cs typeface="Times New Roman"/>
              </a:rPr>
              <a:t>AWS</a:t>
            </a:r>
            <a:r>
              <a:rPr sz="2200" b="1" spc="-50" dirty="0">
                <a:latin typeface="Times New Roman"/>
                <a:cs typeface="Times New Roman"/>
              </a:rPr>
              <a:t> </a:t>
            </a:r>
            <a:r>
              <a:rPr sz="2200" b="1" spc="-105" dirty="0">
                <a:latin typeface="Times New Roman"/>
                <a:cs typeface="Times New Roman"/>
              </a:rPr>
              <a:t>Lambda</a:t>
            </a:r>
            <a:r>
              <a:rPr sz="2200" b="1" spc="-35" dirty="0">
                <a:latin typeface="Times New Roman"/>
                <a:cs typeface="Times New Roman"/>
              </a:rPr>
              <a:t> </a:t>
            </a:r>
            <a:r>
              <a:rPr sz="2200" dirty="0">
                <a:latin typeface="Times New Roman"/>
                <a:cs typeface="Times New Roman"/>
              </a:rPr>
              <a:t>to</a:t>
            </a:r>
            <a:r>
              <a:rPr sz="2200" spc="-65" dirty="0">
                <a:latin typeface="Times New Roman"/>
                <a:cs typeface="Times New Roman"/>
              </a:rPr>
              <a:t> </a:t>
            </a:r>
            <a:r>
              <a:rPr sz="2200" spc="-70" dirty="0">
                <a:latin typeface="Times New Roman"/>
                <a:cs typeface="Times New Roman"/>
              </a:rPr>
              <a:t>interact</a:t>
            </a:r>
            <a:r>
              <a:rPr sz="2200" spc="-50" dirty="0">
                <a:latin typeface="Times New Roman"/>
                <a:cs typeface="Times New Roman"/>
              </a:rPr>
              <a:t> </a:t>
            </a:r>
            <a:r>
              <a:rPr sz="2200" spc="-95" dirty="0">
                <a:latin typeface="Times New Roman"/>
                <a:cs typeface="Times New Roman"/>
              </a:rPr>
              <a:t>with</a:t>
            </a:r>
            <a:r>
              <a:rPr sz="2200" spc="-65" dirty="0">
                <a:latin typeface="Times New Roman"/>
                <a:cs typeface="Times New Roman"/>
              </a:rPr>
              <a:t> </a:t>
            </a:r>
            <a:r>
              <a:rPr sz="2200" spc="-60" dirty="0">
                <a:latin typeface="Times New Roman"/>
                <a:cs typeface="Times New Roman"/>
              </a:rPr>
              <a:t>other</a:t>
            </a:r>
            <a:r>
              <a:rPr sz="2200" spc="-50" dirty="0">
                <a:latin typeface="Times New Roman"/>
                <a:cs typeface="Times New Roman"/>
              </a:rPr>
              <a:t> </a:t>
            </a:r>
            <a:r>
              <a:rPr sz="2200" spc="-10" dirty="0">
                <a:latin typeface="Times New Roman"/>
                <a:cs typeface="Times New Roman"/>
              </a:rPr>
              <a:t>services.</a:t>
            </a:r>
            <a:endParaRPr sz="220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59</a:t>
            </a:fld>
            <a:endParaRPr spc="-25" dirty="0"/>
          </a:p>
        </p:txBody>
      </p:sp>
      <p:sp>
        <p:nvSpPr>
          <p:cNvPr id="5" name="object 5"/>
          <p:cNvSpPr txBox="1"/>
          <p:nvPr/>
        </p:nvSpPr>
        <p:spPr>
          <a:xfrm>
            <a:off x="6572250" y="4966842"/>
            <a:ext cx="2037080" cy="360680"/>
          </a:xfrm>
          <a:prstGeom prst="rect">
            <a:avLst/>
          </a:prstGeom>
        </p:spPr>
        <p:txBody>
          <a:bodyPr vert="horz" wrap="square" lIns="0" tIns="12065" rIns="0" bIns="0" rtlCol="0">
            <a:spAutoFit/>
          </a:bodyPr>
          <a:lstStyle/>
          <a:p>
            <a:pPr marL="12700">
              <a:lnSpc>
                <a:spcPct val="100000"/>
              </a:lnSpc>
              <a:spcBef>
                <a:spcPts val="95"/>
              </a:spcBef>
              <a:tabLst>
                <a:tab pos="614045" algn="l"/>
                <a:tab pos="1492250" algn="l"/>
              </a:tabLst>
            </a:pPr>
            <a:r>
              <a:rPr sz="2200" spc="-25" dirty="0">
                <a:latin typeface="Times New Roman"/>
                <a:cs typeface="Times New Roman"/>
              </a:rPr>
              <a:t>by</a:t>
            </a:r>
            <a:r>
              <a:rPr sz="2200" dirty="0">
                <a:latin typeface="Times New Roman"/>
                <a:cs typeface="Times New Roman"/>
              </a:rPr>
              <a:t>	</a:t>
            </a:r>
            <a:r>
              <a:rPr sz="2200" spc="-320" dirty="0">
                <a:latin typeface="Times New Roman"/>
                <a:cs typeface="Times New Roman"/>
              </a:rPr>
              <a:t>AWS</a:t>
            </a:r>
            <a:r>
              <a:rPr sz="2200" dirty="0">
                <a:latin typeface="Times New Roman"/>
                <a:cs typeface="Times New Roman"/>
              </a:rPr>
              <a:t>	</a:t>
            </a:r>
            <a:r>
              <a:rPr sz="2200" spc="-45" dirty="0">
                <a:latin typeface="Times New Roman"/>
                <a:cs typeface="Times New Roman"/>
              </a:rPr>
              <a:t>(e.g.,</a:t>
            </a:r>
            <a:endParaRPr sz="2200">
              <a:latin typeface="Times New Roman"/>
              <a:cs typeface="Times New Roman"/>
            </a:endParaRPr>
          </a:p>
        </p:txBody>
      </p:sp>
      <p:sp>
        <p:nvSpPr>
          <p:cNvPr id="6" name="object 6"/>
          <p:cNvSpPr txBox="1"/>
          <p:nvPr/>
        </p:nvSpPr>
        <p:spPr>
          <a:xfrm>
            <a:off x="296976" y="3625341"/>
            <a:ext cx="5978525" cy="2372360"/>
          </a:xfrm>
          <a:prstGeom prst="rect">
            <a:avLst/>
          </a:prstGeom>
        </p:spPr>
        <p:txBody>
          <a:bodyPr vert="horz" wrap="square" lIns="0" tIns="12065" rIns="0" bIns="0" rtlCol="0">
            <a:spAutoFit/>
          </a:bodyPr>
          <a:lstStyle/>
          <a:p>
            <a:pPr marL="266700" indent="-254000">
              <a:lnSpc>
                <a:spcPct val="100000"/>
              </a:lnSpc>
              <a:spcBef>
                <a:spcPts val="95"/>
              </a:spcBef>
              <a:buAutoNum type="arabicPeriod" startAt="4"/>
              <a:tabLst>
                <a:tab pos="266700" algn="l"/>
              </a:tabLst>
            </a:pPr>
            <a:r>
              <a:rPr sz="2200" b="1" spc="-95" dirty="0">
                <a:latin typeface="Times New Roman"/>
                <a:cs typeface="Times New Roman"/>
              </a:rPr>
              <a:t>IAM</a:t>
            </a:r>
            <a:r>
              <a:rPr sz="2200" b="1" spc="-55" dirty="0">
                <a:latin typeface="Times New Roman"/>
                <a:cs typeface="Times New Roman"/>
              </a:rPr>
              <a:t> </a:t>
            </a:r>
            <a:r>
              <a:rPr sz="2200" b="1" spc="-10" dirty="0">
                <a:latin typeface="Times New Roman"/>
                <a:cs typeface="Times New Roman"/>
              </a:rPr>
              <a:t>Policies</a:t>
            </a:r>
            <a:endParaRPr sz="2200">
              <a:latin typeface="Times New Roman"/>
              <a:cs typeface="Times New Roman"/>
            </a:endParaRPr>
          </a:p>
          <a:p>
            <a:pPr marL="111125" lvl="1" indent="-106045">
              <a:lnSpc>
                <a:spcPct val="100000"/>
              </a:lnSpc>
              <a:buSzPct val="95454"/>
              <a:buChar char="•"/>
              <a:tabLst>
                <a:tab pos="111125" algn="l"/>
              </a:tabLst>
            </a:pPr>
            <a:r>
              <a:rPr sz="2200" spc="-140" dirty="0">
                <a:latin typeface="Times New Roman"/>
                <a:cs typeface="Times New Roman"/>
              </a:rPr>
              <a:t>JSON-</a:t>
            </a:r>
            <a:r>
              <a:rPr sz="2200" spc="-130" dirty="0">
                <a:latin typeface="Times New Roman"/>
                <a:cs typeface="Times New Roman"/>
              </a:rPr>
              <a:t>based</a:t>
            </a:r>
            <a:r>
              <a:rPr sz="2200" spc="-15" dirty="0">
                <a:latin typeface="Times New Roman"/>
                <a:cs typeface="Times New Roman"/>
              </a:rPr>
              <a:t> </a:t>
            </a:r>
            <a:r>
              <a:rPr sz="2200" b="1" dirty="0">
                <a:latin typeface="Times New Roman"/>
                <a:cs typeface="Times New Roman"/>
              </a:rPr>
              <a:t>documents</a:t>
            </a:r>
            <a:r>
              <a:rPr sz="2200" b="1" spc="-5" dirty="0">
                <a:latin typeface="Times New Roman"/>
                <a:cs typeface="Times New Roman"/>
              </a:rPr>
              <a:t> </a:t>
            </a:r>
            <a:r>
              <a:rPr sz="2200" b="1" dirty="0">
                <a:latin typeface="Times New Roman"/>
                <a:cs typeface="Times New Roman"/>
              </a:rPr>
              <a:t>that define</a:t>
            </a:r>
            <a:r>
              <a:rPr sz="2200" b="1" spc="-5" dirty="0">
                <a:latin typeface="Times New Roman"/>
                <a:cs typeface="Times New Roman"/>
              </a:rPr>
              <a:t> </a:t>
            </a:r>
            <a:r>
              <a:rPr sz="2200" b="1" spc="-10" dirty="0">
                <a:latin typeface="Times New Roman"/>
                <a:cs typeface="Times New Roman"/>
              </a:rPr>
              <a:t>permissions</a:t>
            </a:r>
            <a:r>
              <a:rPr sz="2200" spc="-10" dirty="0">
                <a:latin typeface="Times New Roman"/>
                <a:cs typeface="Times New Roman"/>
              </a:rPr>
              <a:t>.</a:t>
            </a:r>
            <a:endParaRPr sz="2200">
              <a:latin typeface="Times New Roman"/>
              <a:cs typeface="Times New Roman"/>
            </a:endParaRPr>
          </a:p>
          <a:p>
            <a:pPr marL="111125" lvl="1" indent="-106045">
              <a:lnSpc>
                <a:spcPct val="100000"/>
              </a:lnSpc>
              <a:spcBef>
                <a:spcPts val="5"/>
              </a:spcBef>
              <a:buSzPct val="95454"/>
              <a:buChar char="•"/>
              <a:tabLst>
                <a:tab pos="111125" algn="l"/>
              </a:tabLst>
            </a:pPr>
            <a:r>
              <a:rPr sz="2200" spc="-140" dirty="0">
                <a:latin typeface="Times New Roman"/>
                <a:cs typeface="Times New Roman"/>
              </a:rPr>
              <a:t>Can</a:t>
            </a:r>
            <a:r>
              <a:rPr sz="2200" spc="-35" dirty="0">
                <a:latin typeface="Times New Roman"/>
                <a:cs typeface="Times New Roman"/>
              </a:rPr>
              <a:t> </a:t>
            </a:r>
            <a:r>
              <a:rPr sz="2200" spc="-110" dirty="0">
                <a:latin typeface="Times New Roman"/>
                <a:cs typeface="Times New Roman"/>
              </a:rPr>
              <a:t>be</a:t>
            </a:r>
            <a:r>
              <a:rPr sz="2200" spc="-30" dirty="0">
                <a:latin typeface="Times New Roman"/>
                <a:cs typeface="Times New Roman"/>
              </a:rPr>
              <a:t> </a:t>
            </a:r>
            <a:r>
              <a:rPr sz="2200" b="1" dirty="0">
                <a:latin typeface="Times New Roman"/>
                <a:cs typeface="Times New Roman"/>
              </a:rPr>
              <a:t>attached</a:t>
            </a:r>
            <a:r>
              <a:rPr sz="2200" b="1" spc="20" dirty="0">
                <a:latin typeface="Times New Roman"/>
                <a:cs typeface="Times New Roman"/>
              </a:rPr>
              <a:t> </a:t>
            </a:r>
            <a:r>
              <a:rPr sz="2200" b="1" dirty="0">
                <a:latin typeface="Times New Roman"/>
                <a:cs typeface="Times New Roman"/>
              </a:rPr>
              <a:t>to</a:t>
            </a:r>
            <a:r>
              <a:rPr sz="2200" b="1" spc="-30" dirty="0">
                <a:latin typeface="Times New Roman"/>
                <a:cs typeface="Times New Roman"/>
              </a:rPr>
              <a:t> </a:t>
            </a:r>
            <a:r>
              <a:rPr sz="2200" b="1" spc="-20" dirty="0">
                <a:latin typeface="Times New Roman"/>
                <a:cs typeface="Times New Roman"/>
              </a:rPr>
              <a:t>users,</a:t>
            </a:r>
            <a:r>
              <a:rPr sz="2200" b="1" spc="-120" dirty="0">
                <a:latin typeface="Times New Roman"/>
                <a:cs typeface="Times New Roman"/>
              </a:rPr>
              <a:t> </a:t>
            </a:r>
            <a:r>
              <a:rPr sz="2200" b="1" dirty="0">
                <a:latin typeface="Times New Roman"/>
                <a:cs typeface="Times New Roman"/>
              </a:rPr>
              <a:t>groups,</a:t>
            </a:r>
            <a:r>
              <a:rPr sz="2200" b="1" spc="-110" dirty="0">
                <a:latin typeface="Times New Roman"/>
                <a:cs typeface="Times New Roman"/>
              </a:rPr>
              <a:t> </a:t>
            </a:r>
            <a:r>
              <a:rPr sz="2200" b="1" dirty="0">
                <a:latin typeface="Times New Roman"/>
                <a:cs typeface="Times New Roman"/>
              </a:rPr>
              <a:t>or</a:t>
            </a:r>
            <a:r>
              <a:rPr sz="2200" b="1" spc="-45" dirty="0">
                <a:latin typeface="Times New Roman"/>
                <a:cs typeface="Times New Roman"/>
              </a:rPr>
              <a:t> </a:t>
            </a:r>
            <a:r>
              <a:rPr sz="2200" b="1" spc="-10" dirty="0">
                <a:latin typeface="Times New Roman"/>
                <a:cs typeface="Times New Roman"/>
              </a:rPr>
              <a:t>roles</a:t>
            </a:r>
            <a:r>
              <a:rPr sz="2200" spc="-10" dirty="0">
                <a:latin typeface="Times New Roman"/>
                <a:cs typeface="Times New Roman"/>
              </a:rPr>
              <a:t>.</a:t>
            </a:r>
            <a:endParaRPr sz="2200">
              <a:latin typeface="Times New Roman"/>
              <a:cs typeface="Times New Roman"/>
            </a:endParaRPr>
          </a:p>
          <a:p>
            <a:pPr marL="111125" lvl="1" indent="-106045">
              <a:lnSpc>
                <a:spcPct val="100000"/>
              </a:lnSpc>
              <a:buSzPct val="95454"/>
              <a:buChar char="•"/>
              <a:tabLst>
                <a:tab pos="111125" algn="l"/>
              </a:tabLst>
            </a:pPr>
            <a:r>
              <a:rPr sz="2200" spc="-220" dirty="0">
                <a:latin typeface="Times New Roman"/>
                <a:cs typeface="Times New Roman"/>
              </a:rPr>
              <a:t>Two</a:t>
            </a:r>
            <a:r>
              <a:rPr sz="2200" spc="-40" dirty="0">
                <a:latin typeface="Times New Roman"/>
                <a:cs typeface="Times New Roman"/>
              </a:rPr>
              <a:t> </a:t>
            </a:r>
            <a:r>
              <a:rPr sz="2200" spc="-10" dirty="0">
                <a:latin typeface="Times New Roman"/>
                <a:cs typeface="Times New Roman"/>
              </a:rPr>
              <a:t>types:</a:t>
            </a:r>
            <a:endParaRPr sz="2200">
              <a:latin typeface="Times New Roman"/>
              <a:cs typeface="Times New Roman"/>
            </a:endParaRPr>
          </a:p>
          <a:p>
            <a:pPr marL="469900" marR="50800" lvl="2" indent="-12065">
              <a:lnSpc>
                <a:spcPct val="100000"/>
              </a:lnSpc>
              <a:buSzPct val="95454"/>
              <a:buAutoNum type="arabicPeriod"/>
              <a:tabLst>
                <a:tab pos="670560" algn="l"/>
                <a:tab pos="1583690" algn="l"/>
                <a:tab pos="3053080" algn="l"/>
                <a:tab pos="4318000" algn="l"/>
                <a:tab pos="4826000" algn="l"/>
              </a:tabLst>
            </a:pPr>
            <a:r>
              <a:rPr sz="2200" b="1" spc="-25" dirty="0">
                <a:latin typeface="Times New Roman"/>
                <a:cs typeface="Times New Roman"/>
              </a:rPr>
              <a:t>	AWS</a:t>
            </a:r>
            <a:r>
              <a:rPr sz="2200" b="1" dirty="0">
                <a:latin typeface="Times New Roman"/>
                <a:cs typeface="Times New Roman"/>
              </a:rPr>
              <a:t>	</a:t>
            </a:r>
            <a:r>
              <a:rPr sz="2200" b="1" spc="-10" dirty="0">
                <a:latin typeface="Times New Roman"/>
                <a:cs typeface="Times New Roman"/>
              </a:rPr>
              <a:t>Managed</a:t>
            </a:r>
            <a:r>
              <a:rPr sz="2200" b="1" dirty="0">
                <a:latin typeface="Times New Roman"/>
                <a:cs typeface="Times New Roman"/>
              </a:rPr>
              <a:t>	</a:t>
            </a:r>
            <a:r>
              <a:rPr sz="2200" b="1" spc="-10" dirty="0">
                <a:latin typeface="Times New Roman"/>
                <a:cs typeface="Times New Roman"/>
              </a:rPr>
              <a:t>Policies</a:t>
            </a:r>
            <a:r>
              <a:rPr sz="2200" b="1" dirty="0">
                <a:latin typeface="Times New Roman"/>
                <a:cs typeface="Times New Roman"/>
              </a:rPr>
              <a:t>	</a:t>
            </a:r>
            <a:r>
              <a:rPr sz="2200" spc="-50" dirty="0">
                <a:latin typeface="Times New Roman"/>
                <a:cs typeface="Times New Roman"/>
              </a:rPr>
              <a:t>–</a:t>
            </a:r>
            <a:r>
              <a:rPr sz="2200" dirty="0">
                <a:latin typeface="Times New Roman"/>
                <a:cs typeface="Times New Roman"/>
              </a:rPr>
              <a:t>	</a:t>
            </a:r>
            <a:r>
              <a:rPr sz="2200" spc="-105" dirty="0">
                <a:latin typeface="Times New Roman"/>
                <a:cs typeface="Times New Roman"/>
              </a:rPr>
              <a:t>Predefined </a:t>
            </a:r>
            <a:r>
              <a:rPr sz="2200" spc="-65" dirty="0">
                <a:latin typeface="Times New Roman"/>
                <a:cs typeface="Times New Roman"/>
              </a:rPr>
              <a:t>AdministratorAccess).</a:t>
            </a:r>
            <a:endParaRPr sz="2200">
              <a:latin typeface="Times New Roman"/>
              <a:cs typeface="Times New Roman"/>
            </a:endParaRPr>
          </a:p>
          <a:p>
            <a:pPr marL="669925" lvl="2" indent="-212725">
              <a:lnSpc>
                <a:spcPct val="100000"/>
              </a:lnSpc>
              <a:buSzPct val="95454"/>
              <a:buAutoNum type="arabicPeriod"/>
              <a:tabLst>
                <a:tab pos="669925" algn="l"/>
              </a:tabLst>
            </a:pPr>
            <a:r>
              <a:rPr sz="2200" b="1" spc="-30" dirty="0">
                <a:latin typeface="Times New Roman"/>
                <a:cs typeface="Times New Roman"/>
              </a:rPr>
              <a:t>Customer</a:t>
            </a:r>
            <a:r>
              <a:rPr sz="2200" b="1" spc="-100" dirty="0">
                <a:latin typeface="Times New Roman"/>
                <a:cs typeface="Times New Roman"/>
              </a:rPr>
              <a:t> </a:t>
            </a:r>
            <a:r>
              <a:rPr sz="2200" b="1" spc="-20" dirty="0">
                <a:latin typeface="Times New Roman"/>
                <a:cs typeface="Times New Roman"/>
              </a:rPr>
              <a:t>Managed</a:t>
            </a:r>
            <a:r>
              <a:rPr sz="2200" b="1" spc="-55" dirty="0">
                <a:latin typeface="Times New Roman"/>
                <a:cs typeface="Times New Roman"/>
              </a:rPr>
              <a:t> </a:t>
            </a:r>
            <a:r>
              <a:rPr sz="2200" b="1" dirty="0">
                <a:latin typeface="Times New Roman"/>
                <a:cs typeface="Times New Roman"/>
              </a:rPr>
              <a:t>Policies</a:t>
            </a:r>
            <a:r>
              <a:rPr sz="2200" b="1" spc="-50" dirty="0">
                <a:latin typeface="Times New Roman"/>
                <a:cs typeface="Times New Roman"/>
              </a:rPr>
              <a:t> </a:t>
            </a:r>
            <a:r>
              <a:rPr sz="2200" dirty="0">
                <a:latin typeface="Times New Roman"/>
                <a:cs typeface="Times New Roman"/>
              </a:rPr>
              <a:t>–</a:t>
            </a:r>
            <a:r>
              <a:rPr sz="2200" spc="-70" dirty="0">
                <a:latin typeface="Times New Roman"/>
                <a:cs typeface="Times New Roman"/>
              </a:rPr>
              <a:t> </a:t>
            </a:r>
            <a:r>
              <a:rPr sz="2200" spc="-95" dirty="0">
                <a:latin typeface="Times New Roman"/>
                <a:cs typeface="Times New Roman"/>
              </a:rPr>
              <a:t>Created</a:t>
            </a:r>
            <a:r>
              <a:rPr sz="2200" spc="-45" dirty="0">
                <a:latin typeface="Times New Roman"/>
                <a:cs typeface="Times New Roman"/>
              </a:rPr>
              <a:t> </a:t>
            </a:r>
            <a:r>
              <a:rPr sz="2200" spc="-185" dirty="0">
                <a:latin typeface="Times New Roman"/>
                <a:cs typeface="Times New Roman"/>
              </a:rPr>
              <a:t>by</a:t>
            </a:r>
            <a:r>
              <a:rPr sz="2200" spc="-55" dirty="0">
                <a:latin typeface="Times New Roman"/>
                <a:cs typeface="Times New Roman"/>
              </a:rPr>
              <a:t> </a:t>
            </a:r>
            <a:r>
              <a:rPr sz="2200" spc="-30" dirty="0">
                <a:latin typeface="Times New Roman"/>
                <a:cs typeface="Times New Roman"/>
              </a:rPr>
              <a:t>users.</a:t>
            </a:r>
            <a:endParaRPr sz="2200">
              <a:latin typeface="Times New Roman"/>
              <a:cs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5742" rIns="0" bIns="0" rtlCol="0">
            <a:spAutoFit/>
          </a:bodyPr>
          <a:lstStyle/>
          <a:p>
            <a:pPr marL="12700">
              <a:lnSpc>
                <a:spcPct val="100000"/>
              </a:lnSpc>
              <a:spcBef>
                <a:spcPts val="100"/>
              </a:spcBef>
            </a:pPr>
            <a:r>
              <a:rPr sz="3200" spc="-204" dirty="0"/>
              <a:t>AWS</a:t>
            </a:r>
            <a:r>
              <a:rPr sz="3200" dirty="0"/>
              <a:t> </a:t>
            </a:r>
            <a:r>
              <a:rPr sz="3200" spc="-30" dirty="0"/>
              <a:t>Identity</a:t>
            </a:r>
            <a:r>
              <a:rPr sz="3200" spc="-170" dirty="0"/>
              <a:t> </a:t>
            </a:r>
            <a:r>
              <a:rPr sz="3200" dirty="0"/>
              <a:t>and</a:t>
            </a:r>
            <a:r>
              <a:rPr sz="3200" spc="-90" dirty="0"/>
              <a:t> </a:t>
            </a:r>
            <a:r>
              <a:rPr sz="3200" spc="-10" dirty="0"/>
              <a:t>Access</a:t>
            </a:r>
            <a:r>
              <a:rPr sz="3200" spc="-75" dirty="0"/>
              <a:t> </a:t>
            </a:r>
            <a:r>
              <a:rPr sz="3200" spc="-35" dirty="0"/>
              <a:t>Management</a:t>
            </a:r>
            <a:r>
              <a:rPr sz="3200" spc="-110" dirty="0"/>
              <a:t> </a:t>
            </a:r>
            <a:r>
              <a:rPr sz="3200" spc="-10" dirty="0"/>
              <a:t>(IAM)</a:t>
            </a:r>
            <a:endParaRPr sz="3200"/>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96976" y="942289"/>
            <a:ext cx="7183120" cy="5055235"/>
          </a:xfrm>
          <a:prstGeom prst="rect">
            <a:avLst/>
          </a:prstGeom>
        </p:spPr>
        <p:txBody>
          <a:bodyPr vert="horz" wrap="square" lIns="0" tIns="12065" rIns="0" bIns="0" rtlCol="0">
            <a:spAutoFit/>
          </a:bodyPr>
          <a:lstStyle/>
          <a:p>
            <a:pPr marL="12700">
              <a:lnSpc>
                <a:spcPct val="100000"/>
              </a:lnSpc>
              <a:spcBef>
                <a:spcPts val="95"/>
              </a:spcBef>
            </a:pPr>
            <a:r>
              <a:rPr sz="2200" b="1" spc="-40" dirty="0">
                <a:latin typeface="Times New Roman"/>
                <a:cs typeface="Times New Roman"/>
              </a:rPr>
              <a:t>Example</a:t>
            </a:r>
            <a:r>
              <a:rPr sz="2200" b="1" spc="-30" dirty="0">
                <a:latin typeface="Times New Roman"/>
                <a:cs typeface="Times New Roman"/>
              </a:rPr>
              <a:t> </a:t>
            </a:r>
            <a:r>
              <a:rPr sz="2200" b="1" spc="-100" dirty="0">
                <a:latin typeface="Times New Roman"/>
                <a:cs typeface="Times New Roman"/>
              </a:rPr>
              <a:t>IAM</a:t>
            </a:r>
            <a:r>
              <a:rPr sz="2200" b="1" spc="-55" dirty="0">
                <a:latin typeface="Times New Roman"/>
                <a:cs typeface="Times New Roman"/>
              </a:rPr>
              <a:t> </a:t>
            </a:r>
            <a:r>
              <a:rPr sz="2200" b="1" dirty="0">
                <a:latin typeface="Times New Roman"/>
                <a:cs typeface="Times New Roman"/>
              </a:rPr>
              <a:t>Policy</a:t>
            </a:r>
            <a:r>
              <a:rPr sz="2200" b="1" spc="-30" dirty="0">
                <a:latin typeface="Times New Roman"/>
                <a:cs typeface="Times New Roman"/>
              </a:rPr>
              <a:t> </a:t>
            </a:r>
            <a:r>
              <a:rPr sz="2200" b="1" dirty="0">
                <a:latin typeface="Times New Roman"/>
                <a:cs typeface="Times New Roman"/>
              </a:rPr>
              <a:t>(Allow</a:t>
            </a:r>
            <a:r>
              <a:rPr sz="2200" b="1" spc="-55" dirty="0">
                <a:latin typeface="Times New Roman"/>
                <a:cs typeface="Times New Roman"/>
              </a:rPr>
              <a:t> </a:t>
            </a:r>
            <a:r>
              <a:rPr sz="2200" b="1" spc="-165" dirty="0">
                <a:latin typeface="Times New Roman"/>
                <a:cs typeface="Times New Roman"/>
              </a:rPr>
              <a:t>S3</a:t>
            </a:r>
            <a:r>
              <a:rPr sz="2200" b="1" spc="-125" dirty="0">
                <a:latin typeface="Times New Roman"/>
                <a:cs typeface="Times New Roman"/>
              </a:rPr>
              <a:t> </a:t>
            </a:r>
            <a:r>
              <a:rPr sz="2200" b="1" spc="-10" dirty="0">
                <a:latin typeface="Times New Roman"/>
                <a:cs typeface="Times New Roman"/>
              </a:rPr>
              <a:t>Access)</a:t>
            </a:r>
            <a:r>
              <a:rPr sz="2200" spc="-10" dirty="0">
                <a:latin typeface="Times New Roman"/>
                <a:cs typeface="Times New Roman"/>
              </a:rPr>
              <a:t>:</a:t>
            </a:r>
            <a:endParaRPr sz="2200">
              <a:latin typeface="Times New Roman"/>
              <a:cs typeface="Times New Roman"/>
            </a:endParaRPr>
          </a:p>
          <a:p>
            <a:pPr marL="12700">
              <a:lnSpc>
                <a:spcPct val="100000"/>
              </a:lnSpc>
              <a:spcBef>
                <a:spcPts val="5"/>
              </a:spcBef>
            </a:pPr>
            <a:r>
              <a:rPr sz="2200" spc="-50" dirty="0">
                <a:latin typeface="Times New Roman"/>
                <a:cs typeface="Times New Roman"/>
              </a:rPr>
              <a:t>{</a:t>
            </a:r>
            <a:endParaRPr sz="2200">
              <a:latin typeface="Times New Roman"/>
              <a:cs typeface="Times New Roman"/>
            </a:endParaRPr>
          </a:p>
          <a:p>
            <a:pPr marL="139065">
              <a:lnSpc>
                <a:spcPct val="100000"/>
              </a:lnSpc>
            </a:pPr>
            <a:r>
              <a:rPr sz="2200" spc="-110" dirty="0">
                <a:latin typeface="Times New Roman"/>
                <a:cs typeface="Times New Roman"/>
              </a:rPr>
              <a:t>"Version":</a:t>
            </a:r>
            <a:r>
              <a:rPr sz="2200" spc="-20" dirty="0">
                <a:latin typeface="Times New Roman"/>
                <a:cs typeface="Times New Roman"/>
              </a:rPr>
              <a:t> </a:t>
            </a:r>
            <a:r>
              <a:rPr sz="2200" spc="-85" dirty="0">
                <a:latin typeface="Times New Roman"/>
                <a:cs typeface="Times New Roman"/>
              </a:rPr>
              <a:t>"2012-</a:t>
            </a:r>
            <a:r>
              <a:rPr sz="2200" spc="-90" dirty="0">
                <a:latin typeface="Times New Roman"/>
                <a:cs typeface="Times New Roman"/>
              </a:rPr>
              <a:t>10-</a:t>
            </a:r>
            <a:r>
              <a:rPr sz="2200" spc="-20" dirty="0">
                <a:latin typeface="Times New Roman"/>
                <a:cs typeface="Times New Roman"/>
              </a:rPr>
              <a:t>17",</a:t>
            </a:r>
            <a:endParaRPr sz="2200">
              <a:latin typeface="Times New Roman"/>
              <a:cs typeface="Times New Roman"/>
            </a:endParaRPr>
          </a:p>
          <a:p>
            <a:pPr marL="139065">
              <a:lnSpc>
                <a:spcPct val="100000"/>
              </a:lnSpc>
            </a:pPr>
            <a:r>
              <a:rPr sz="2200" spc="-80" dirty="0">
                <a:latin typeface="Times New Roman"/>
                <a:cs typeface="Times New Roman"/>
              </a:rPr>
              <a:t>"Statement":</a:t>
            </a:r>
            <a:r>
              <a:rPr sz="2200" spc="-75" dirty="0">
                <a:latin typeface="Times New Roman"/>
                <a:cs typeface="Times New Roman"/>
              </a:rPr>
              <a:t> </a:t>
            </a:r>
            <a:r>
              <a:rPr sz="2200" spc="-50" dirty="0">
                <a:latin typeface="Times New Roman"/>
                <a:cs typeface="Times New Roman"/>
              </a:rPr>
              <a:t>[</a:t>
            </a:r>
            <a:endParaRPr sz="2200">
              <a:latin typeface="Times New Roman"/>
              <a:cs typeface="Times New Roman"/>
            </a:endParaRPr>
          </a:p>
          <a:p>
            <a:pPr marL="266700">
              <a:lnSpc>
                <a:spcPct val="100000"/>
              </a:lnSpc>
            </a:pPr>
            <a:r>
              <a:rPr sz="2200" spc="-50" dirty="0">
                <a:latin typeface="Times New Roman"/>
                <a:cs typeface="Times New Roman"/>
              </a:rPr>
              <a:t>{</a:t>
            </a:r>
            <a:endParaRPr sz="2200">
              <a:latin typeface="Times New Roman"/>
              <a:cs typeface="Times New Roman"/>
            </a:endParaRPr>
          </a:p>
          <a:p>
            <a:pPr marL="393700">
              <a:lnSpc>
                <a:spcPct val="100000"/>
              </a:lnSpc>
            </a:pPr>
            <a:r>
              <a:rPr sz="2200" spc="-95" dirty="0">
                <a:latin typeface="Times New Roman"/>
                <a:cs typeface="Times New Roman"/>
              </a:rPr>
              <a:t>"Effect":</a:t>
            </a:r>
            <a:r>
              <a:rPr sz="2200" spc="-55" dirty="0">
                <a:latin typeface="Times New Roman"/>
                <a:cs typeface="Times New Roman"/>
              </a:rPr>
              <a:t> </a:t>
            </a:r>
            <a:r>
              <a:rPr sz="2200" spc="-10" dirty="0">
                <a:latin typeface="Times New Roman"/>
                <a:cs typeface="Times New Roman"/>
              </a:rPr>
              <a:t>"Allow",</a:t>
            </a:r>
            <a:endParaRPr sz="2200">
              <a:latin typeface="Times New Roman"/>
              <a:cs typeface="Times New Roman"/>
            </a:endParaRPr>
          </a:p>
          <a:p>
            <a:pPr marL="393700">
              <a:lnSpc>
                <a:spcPct val="100000"/>
              </a:lnSpc>
            </a:pPr>
            <a:r>
              <a:rPr sz="2200" spc="-90" dirty="0">
                <a:latin typeface="Times New Roman"/>
                <a:cs typeface="Times New Roman"/>
              </a:rPr>
              <a:t>"Action":</a:t>
            </a:r>
            <a:r>
              <a:rPr sz="2200" spc="-55" dirty="0">
                <a:latin typeface="Times New Roman"/>
                <a:cs typeface="Times New Roman"/>
              </a:rPr>
              <a:t> </a:t>
            </a:r>
            <a:r>
              <a:rPr sz="2200" spc="-10" dirty="0">
                <a:latin typeface="Times New Roman"/>
                <a:cs typeface="Times New Roman"/>
              </a:rPr>
              <a:t>"s3:*",</a:t>
            </a:r>
            <a:endParaRPr sz="2200">
              <a:latin typeface="Times New Roman"/>
              <a:cs typeface="Times New Roman"/>
            </a:endParaRPr>
          </a:p>
          <a:p>
            <a:pPr marL="393700">
              <a:lnSpc>
                <a:spcPct val="100000"/>
              </a:lnSpc>
            </a:pPr>
            <a:r>
              <a:rPr sz="2200" spc="-80" dirty="0">
                <a:latin typeface="Times New Roman"/>
                <a:cs typeface="Times New Roman"/>
              </a:rPr>
              <a:t>"Resource":</a:t>
            </a:r>
            <a:r>
              <a:rPr sz="2200" spc="-75" dirty="0">
                <a:latin typeface="Times New Roman"/>
                <a:cs typeface="Times New Roman"/>
              </a:rPr>
              <a:t> </a:t>
            </a:r>
            <a:r>
              <a:rPr sz="2200" spc="-25" dirty="0">
                <a:latin typeface="Times New Roman"/>
                <a:cs typeface="Times New Roman"/>
              </a:rPr>
              <a:t>"*"</a:t>
            </a:r>
            <a:endParaRPr sz="2200">
              <a:latin typeface="Times New Roman"/>
              <a:cs typeface="Times New Roman"/>
            </a:endParaRPr>
          </a:p>
          <a:p>
            <a:pPr marL="266700">
              <a:lnSpc>
                <a:spcPct val="100000"/>
              </a:lnSpc>
            </a:pPr>
            <a:r>
              <a:rPr sz="2200" spc="-50" dirty="0">
                <a:latin typeface="Times New Roman"/>
                <a:cs typeface="Times New Roman"/>
              </a:rPr>
              <a:t>}</a:t>
            </a:r>
            <a:endParaRPr sz="2200">
              <a:latin typeface="Times New Roman"/>
              <a:cs typeface="Times New Roman"/>
            </a:endParaRPr>
          </a:p>
          <a:p>
            <a:pPr marL="139065">
              <a:lnSpc>
                <a:spcPct val="100000"/>
              </a:lnSpc>
            </a:pPr>
            <a:r>
              <a:rPr sz="2200" spc="-50" dirty="0">
                <a:latin typeface="Times New Roman"/>
                <a:cs typeface="Times New Roman"/>
              </a:rPr>
              <a:t>]</a:t>
            </a:r>
            <a:endParaRPr sz="2200">
              <a:latin typeface="Times New Roman"/>
              <a:cs typeface="Times New Roman"/>
            </a:endParaRPr>
          </a:p>
          <a:p>
            <a:pPr marL="12700">
              <a:lnSpc>
                <a:spcPct val="100000"/>
              </a:lnSpc>
              <a:spcBef>
                <a:spcPts val="5"/>
              </a:spcBef>
            </a:pPr>
            <a:r>
              <a:rPr sz="2200" spc="-50" dirty="0">
                <a:latin typeface="Times New Roman"/>
                <a:cs typeface="Times New Roman"/>
              </a:rPr>
              <a:t>}</a:t>
            </a:r>
            <a:endParaRPr sz="2200">
              <a:latin typeface="Times New Roman"/>
              <a:cs typeface="Times New Roman"/>
            </a:endParaRPr>
          </a:p>
          <a:p>
            <a:pPr>
              <a:lnSpc>
                <a:spcPct val="100000"/>
              </a:lnSpc>
              <a:spcBef>
                <a:spcPts val="110"/>
              </a:spcBef>
            </a:pPr>
            <a:endParaRPr sz="2200">
              <a:latin typeface="Times New Roman"/>
              <a:cs typeface="Times New Roman"/>
            </a:endParaRPr>
          </a:p>
          <a:p>
            <a:pPr marL="266700" indent="-254000">
              <a:lnSpc>
                <a:spcPct val="100000"/>
              </a:lnSpc>
              <a:buAutoNum type="arabicPeriod" startAt="5"/>
              <a:tabLst>
                <a:tab pos="266700" algn="l"/>
              </a:tabLst>
            </a:pPr>
            <a:r>
              <a:rPr sz="2200" b="1" spc="-95" dirty="0">
                <a:latin typeface="Times New Roman"/>
                <a:cs typeface="Times New Roman"/>
              </a:rPr>
              <a:t>IAM</a:t>
            </a:r>
            <a:r>
              <a:rPr sz="2200" b="1" spc="-55" dirty="0">
                <a:latin typeface="Times New Roman"/>
                <a:cs typeface="Times New Roman"/>
              </a:rPr>
              <a:t> </a:t>
            </a:r>
            <a:r>
              <a:rPr sz="2200" b="1" dirty="0">
                <a:latin typeface="Times New Roman"/>
                <a:cs typeface="Times New Roman"/>
              </a:rPr>
              <a:t>Identity</a:t>
            </a:r>
            <a:r>
              <a:rPr sz="2200" b="1" spc="-15" dirty="0">
                <a:latin typeface="Times New Roman"/>
                <a:cs typeface="Times New Roman"/>
              </a:rPr>
              <a:t> </a:t>
            </a:r>
            <a:r>
              <a:rPr sz="2200" b="1" spc="-25" dirty="0">
                <a:latin typeface="Times New Roman"/>
                <a:cs typeface="Times New Roman"/>
              </a:rPr>
              <a:t>Center</a:t>
            </a:r>
            <a:r>
              <a:rPr sz="2200" b="1" spc="-20" dirty="0">
                <a:latin typeface="Times New Roman"/>
                <a:cs typeface="Times New Roman"/>
              </a:rPr>
              <a:t> </a:t>
            </a:r>
            <a:r>
              <a:rPr sz="2200" b="1" spc="-175" dirty="0">
                <a:latin typeface="Times New Roman"/>
                <a:cs typeface="Times New Roman"/>
              </a:rPr>
              <a:t>(AWS</a:t>
            </a:r>
            <a:r>
              <a:rPr sz="2200" b="1" spc="-40" dirty="0">
                <a:latin typeface="Times New Roman"/>
                <a:cs typeface="Times New Roman"/>
              </a:rPr>
              <a:t> </a:t>
            </a:r>
            <a:r>
              <a:rPr sz="2200" b="1" spc="-20" dirty="0">
                <a:latin typeface="Times New Roman"/>
                <a:cs typeface="Times New Roman"/>
              </a:rPr>
              <a:t>SSO)</a:t>
            </a:r>
            <a:endParaRPr sz="2200">
              <a:latin typeface="Times New Roman"/>
              <a:cs typeface="Times New Roman"/>
            </a:endParaRPr>
          </a:p>
          <a:p>
            <a:pPr marL="111125" lvl="1" indent="-106045">
              <a:lnSpc>
                <a:spcPct val="100000"/>
              </a:lnSpc>
              <a:buSzPct val="95454"/>
              <a:buChar char="•"/>
              <a:tabLst>
                <a:tab pos="111125" algn="l"/>
              </a:tabLst>
            </a:pPr>
            <a:r>
              <a:rPr sz="2200" spc="-120" dirty="0">
                <a:latin typeface="Times New Roman"/>
                <a:cs typeface="Times New Roman"/>
              </a:rPr>
              <a:t>Helps</a:t>
            </a:r>
            <a:r>
              <a:rPr sz="2200" spc="-10" dirty="0">
                <a:latin typeface="Times New Roman"/>
                <a:cs typeface="Times New Roman"/>
              </a:rPr>
              <a:t> </a:t>
            </a:r>
            <a:r>
              <a:rPr sz="2200" spc="-150" dirty="0">
                <a:latin typeface="Times New Roman"/>
                <a:cs typeface="Times New Roman"/>
              </a:rPr>
              <a:t>manage</a:t>
            </a:r>
            <a:r>
              <a:rPr sz="2200" spc="-5" dirty="0">
                <a:latin typeface="Times New Roman"/>
                <a:cs typeface="Times New Roman"/>
              </a:rPr>
              <a:t> </a:t>
            </a:r>
            <a:r>
              <a:rPr sz="2200" b="1" dirty="0">
                <a:latin typeface="Times New Roman"/>
                <a:cs typeface="Times New Roman"/>
              </a:rPr>
              <a:t>single</a:t>
            </a:r>
            <a:r>
              <a:rPr sz="2200" b="1" spc="10" dirty="0">
                <a:latin typeface="Times New Roman"/>
                <a:cs typeface="Times New Roman"/>
              </a:rPr>
              <a:t> </a:t>
            </a:r>
            <a:r>
              <a:rPr sz="2200" b="1" dirty="0">
                <a:latin typeface="Times New Roman"/>
                <a:cs typeface="Times New Roman"/>
              </a:rPr>
              <a:t>sign-on </a:t>
            </a:r>
            <a:r>
              <a:rPr sz="2200" b="1" spc="-95" dirty="0">
                <a:latin typeface="Times New Roman"/>
                <a:cs typeface="Times New Roman"/>
              </a:rPr>
              <a:t>(SSO)</a:t>
            </a:r>
            <a:r>
              <a:rPr sz="2200" b="1" spc="5" dirty="0">
                <a:latin typeface="Times New Roman"/>
                <a:cs typeface="Times New Roman"/>
              </a:rPr>
              <a:t> </a:t>
            </a:r>
            <a:r>
              <a:rPr sz="2200" spc="-90" dirty="0">
                <a:latin typeface="Times New Roman"/>
                <a:cs typeface="Times New Roman"/>
              </a:rPr>
              <a:t>for</a:t>
            </a:r>
            <a:r>
              <a:rPr sz="2200" spc="5" dirty="0">
                <a:latin typeface="Times New Roman"/>
                <a:cs typeface="Times New Roman"/>
              </a:rPr>
              <a:t> </a:t>
            </a:r>
            <a:r>
              <a:rPr sz="2200" spc="-100" dirty="0">
                <a:latin typeface="Times New Roman"/>
                <a:cs typeface="Times New Roman"/>
              </a:rPr>
              <a:t>multiple</a:t>
            </a:r>
            <a:r>
              <a:rPr sz="2200" spc="-170" dirty="0">
                <a:latin typeface="Times New Roman"/>
                <a:cs typeface="Times New Roman"/>
              </a:rPr>
              <a:t> </a:t>
            </a:r>
            <a:r>
              <a:rPr sz="2200" spc="-295" dirty="0">
                <a:latin typeface="Times New Roman"/>
                <a:cs typeface="Times New Roman"/>
              </a:rPr>
              <a:t>AWS</a:t>
            </a:r>
            <a:r>
              <a:rPr sz="2200" spc="-10" dirty="0">
                <a:latin typeface="Times New Roman"/>
                <a:cs typeface="Times New Roman"/>
              </a:rPr>
              <a:t> accounts.</a:t>
            </a:r>
            <a:endParaRPr sz="2200">
              <a:latin typeface="Times New Roman"/>
              <a:cs typeface="Times New Roman"/>
            </a:endParaRPr>
          </a:p>
          <a:p>
            <a:pPr marL="111125" lvl="1" indent="-106045">
              <a:lnSpc>
                <a:spcPct val="100000"/>
              </a:lnSpc>
              <a:buSzPct val="95454"/>
              <a:buChar char="•"/>
              <a:tabLst>
                <a:tab pos="111125" algn="l"/>
              </a:tabLst>
            </a:pPr>
            <a:r>
              <a:rPr sz="2200" spc="-95" dirty="0">
                <a:latin typeface="Times New Roman"/>
                <a:cs typeface="Times New Roman"/>
              </a:rPr>
              <a:t>Integrates</a:t>
            </a:r>
            <a:r>
              <a:rPr sz="2200" dirty="0">
                <a:latin typeface="Times New Roman"/>
                <a:cs typeface="Times New Roman"/>
              </a:rPr>
              <a:t> </a:t>
            </a:r>
            <a:r>
              <a:rPr sz="2200" spc="-100" dirty="0">
                <a:latin typeface="Times New Roman"/>
                <a:cs typeface="Times New Roman"/>
              </a:rPr>
              <a:t>with</a:t>
            </a:r>
            <a:r>
              <a:rPr sz="2200" spc="-30" dirty="0">
                <a:latin typeface="Times New Roman"/>
                <a:cs typeface="Times New Roman"/>
              </a:rPr>
              <a:t> </a:t>
            </a:r>
            <a:r>
              <a:rPr sz="2200" b="1" dirty="0">
                <a:latin typeface="Times New Roman"/>
                <a:cs typeface="Times New Roman"/>
              </a:rPr>
              <a:t>Active</a:t>
            </a:r>
            <a:r>
              <a:rPr sz="2200" b="1" spc="5" dirty="0">
                <a:latin typeface="Times New Roman"/>
                <a:cs typeface="Times New Roman"/>
              </a:rPr>
              <a:t> </a:t>
            </a:r>
            <a:r>
              <a:rPr sz="2200" b="1" spc="-20" dirty="0">
                <a:latin typeface="Times New Roman"/>
                <a:cs typeface="Times New Roman"/>
              </a:rPr>
              <a:t>Directory,</a:t>
            </a:r>
            <a:r>
              <a:rPr sz="2200" b="1" spc="-85" dirty="0">
                <a:latin typeface="Times New Roman"/>
                <a:cs typeface="Times New Roman"/>
              </a:rPr>
              <a:t> </a:t>
            </a:r>
            <a:r>
              <a:rPr sz="2200" b="1" spc="-45" dirty="0">
                <a:latin typeface="Times New Roman"/>
                <a:cs typeface="Times New Roman"/>
              </a:rPr>
              <a:t>Okta,</a:t>
            </a:r>
            <a:r>
              <a:rPr sz="2200" b="1" spc="-85" dirty="0">
                <a:latin typeface="Times New Roman"/>
                <a:cs typeface="Times New Roman"/>
              </a:rPr>
              <a:t> </a:t>
            </a:r>
            <a:r>
              <a:rPr sz="2200" b="1" spc="-10" dirty="0">
                <a:latin typeface="Times New Roman"/>
                <a:cs typeface="Times New Roman"/>
              </a:rPr>
              <a:t>Google</a:t>
            </a:r>
            <a:r>
              <a:rPr sz="2200" b="1" spc="-295" dirty="0">
                <a:latin typeface="Times New Roman"/>
                <a:cs typeface="Times New Roman"/>
              </a:rPr>
              <a:t> </a:t>
            </a:r>
            <a:r>
              <a:rPr sz="2200" b="1" spc="-45" dirty="0">
                <a:latin typeface="Times New Roman"/>
                <a:cs typeface="Times New Roman"/>
              </a:rPr>
              <a:t>Workspace</a:t>
            </a:r>
            <a:r>
              <a:rPr sz="2200" spc="-45" dirty="0">
                <a:latin typeface="Times New Roman"/>
                <a:cs typeface="Times New Roman"/>
              </a:rPr>
              <a:t>,</a:t>
            </a:r>
            <a:r>
              <a:rPr sz="2200" spc="-110" dirty="0">
                <a:latin typeface="Times New Roman"/>
                <a:cs typeface="Times New Roman"/>
              </a:rPr>
              <a:t> </a:t>
            </a:r>
            <a:r>
              <a:rPr sz="2200" spc="-20" dirty="0">
                <a:latin typeface="Times New Roman"/>
                <a:cs typeface="Times New Roman"/>
              </a:rPr>
              <a:t>etc.</a:t>
            </a:r>
            <a:endParaRPr sz="22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60</a:t>
            </a:fld>
            <a:endParaRPr spc="-2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a:lnSpc>
                <a:spcPct val="100000"/>
              </a:lnSpc>
              <a:spcBef>
                <a:spcPts val="100"/>
              </a:spcBef>
            </a:pPr>
            <a:r>
              <a:rPr spc="-185" dirty="0"/>
              <a:t>AWS</a:t>
            </a:r>
            <a:r>
              <a:rPr spc="-35" dirty="0"/>
              <a:t> </a:t>
            </a:r>
            <a:r>
              <a:rPr spc="-20" dirty="0"/>
              <a:t>Certificate</a:t>
            </a:r>
            <a:r>
              <a:rPr spc="-165" dirty="0"/>
              <a:t> </a:t>
            </a:r>
            <a:r>
              <a:rPr spc="-10" dirty="0"/>
              <a:t>Manager</a:t>
            </a:r>
            <a:r>
              <a:rPr spc="-75" dirty="0"/>
              <a:t> </a:t>
            </a:r>
            <a:r>
              <a:rPr spc="-10" dirty="0"/>
              <a:t>(ACM)</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96976" y="942289"/>
            <a:ext cx="8312784" cy="5280025"/>
          </a:xfrm>
          <a:prstGeom prst="rect">
            <a:avLst/>
          </a:prstGeom>
        </p:spPr>
        <p:txBody>
          <a:bodyPr vert="horz" wrap="square" lIns="0" tIns="12065" rIns="0" bIns="0" rtlCol="0">
            <a:spAutoFit/>
          </a:bodyPr>
          <a:lstStyle/>
          <a:p>
            <a:pPr marL="12700" marR="5080" algn="just">
              <a:lnSpc>
                <a:spcPct val="100000"/>
              </a:lnSpc>
              <a:spcBef>
                <a:spcPts val="95"/>
              </a:spcBef>
            </a:pPr>
            <a:r>
              <a:rPr sz="2200" spc="-295" dirty="0">
                <a:latin typeface="Times New Roman"/>
                <a:cs typeface="Times New Roman"/>
              </a:rPr>
              <a:t>AWS</a:t>
            </a:r>
            <a:r>
              <a:rPr sz="2200" spc="155" dirty="0">
                <a:latin typeface="Times New Roman"/>
                <a:cs typeface="Times New Roman"/>
              </a:rPr>
              <a:t> </a:t>
            </a:r>
            <a:r>
              <a:rPr sz="2200" b="1" dirty="0">
                <a:latin typeface="Times New Roman"/>
                <a:cs typeface="Times New Roman"/>
              </a:rPr>
              <a:t>Certificate</a:t>
            </a:r>
            <a:r>
              <a:rPr sz="2200" b="1" spc="45" dirty="0">
                <a:latin typeface="Times New Roman"/>
                <a:cs typeface="Times New Roman"/>
              </a:rPr>
              <a:t> </a:t>
            </a:r>
            <a:r>
              <a:rPr sz="2200" b="1" dirty="0">
                <a:latin typeface="Times New Roman"/>
                <a:cs typeface="Times New Roman"/>
              </a:rPr>
              <a:t>Manager</a:t>
            </a:r>
            <a:r>
              <a:rPr sz="2200" b="1" spc="110" dirty="0">
                <a:latin typeface="Times New Roman"/>
                <a:cs typeface="Times New Roman"/>
              </a:rPr>
              <a:t> </a:t>
            </a:r>
            <a:r>
              <a:rPr sz="2200" b="1" dirty="0">
                <a:latin typeface="Times New Roman"/>
                <a:cs typeface="Times New Roman"/>
              </a:rPr>
              <a:t>(ACM)</a:t>
            </a:r>
            <a:r>
              <a:rPr sz="2200" b="1" spc="110" dirty="0">
                <a:latin typeface="Times New Roman"/>
                <a:cs typeface="Times New Roman"/>
              </a:rPr>
              <a:t> </a:t>
            </a:r>
            <a:r>
              <a:rPr sz="2200" dirty="0">
                <a:latin typeface="Times New Roman"/>
                <a:cs typeface="Times New Roman"/>
              </a:rPr>
              <a:t>is</a:t>
            </a:r>
            <a:r>
              <a:rPr sz="2200" spc="100" dirty="0">
                <a:latin typeface="Times New Roman"/>
                <a:cs typeface="Times New Roman"/>
              </a:rPr>
              <a:t> </a:t>
            </a:r>
            <a:r>
              <a:rPr sz="2200" dirty="0">
                <a:latin typeface="Times New Roman"/>
                <a:cs typeface="Times New Roman"/>
              </a:rPr>
              <a:t>a</a:t>
            </a:r>
            <a:r>
              <a:rPr sz="2200" spc="110" dirty="0">
                <a:latin typeface="Times New Roman"/>
                <a:cs typeface="Times New Roman"/>
              </a:rPr>
              <a:t> </a:t>
            </a:r>
            <a:r>
              <a:rPr sz="2200" spc="-30" dirty="0">
                <a:latin typeface="Times New Roman"/>
                <a:cs typeface="Times New Roman"/>
              </a:rPr>
              <a:t>service</a:t>
            </a:r>
            <a:r>
              <a:rPr sz="2200" spc="100" dirty="0">
                <a:latin typeface="Times New Roman"/>
                <a:cs typeface="Times New Roman"/>
              </a:rPr>
              <a:t> </a:t>
            </a:r>
            <a:r>
              <a:rPr sz="2200" dirty="0">
                <a:latin typeface="Times New Roman"/>
                <a:cs typeface="Times New Roman"/>
              </a:rPr>
              <a:t>that</a:t>
            </a:r>
            <a:r>
              <a:rPr sz="2200" spc="105" dirty="0">
                <a:latin typeface="Times New Roman"/>
                <a:cs typeface="Times New Roman"/>
              </a:rPr>
              <a:t> </a:t>
            </a:r>
            <a:r>
              <a:rPr sz="2200" spc="-10" dirty="0">
                <a:latin typeface="Times New Roman"/>
                <a:cs typeface="Times New Roman"/>
              </a:rPr>
              <a:t>helps</a:t>
            </a:r>
            <a:r>
              <a:rPr sz="2200" spc="100" dirty="0">
                <a:latin typeface="Times New Roman"/>
                <a:cs typeface="Times New Roman"/>
              </a:rPr>
              <a:t> </a:t>
            </a:r>
            <a:r>
              <a:rPr sz="2200" dirty="0">
                <a:latin typeface="Times New Roman"/>
                <a:cs typeface="Times New Roman"/>
              </a:rPr>
              <a:t>you</a:t>
            </a:r>
            <a:r>
              <a:rPr sz="2200" spc="114" dirty="0">
                <a:latin typeface="Times New Roman"/>
                <a:cs typeface="Times New Roman"/>
              </a:rPr>
              <a:t> </a:t>
            </a:r>
            <a:r>
              <a:rPr sz="2200" b="1" spc="-10" dirty="0">
                <a:latin typeface="Times New Roman"/>
                <a:cs typeface="Times New Roman"/>
              </a:rPr>
              <a:t>provision, </a:t>
            </a:r>
            <a:r>
              <a:rPr sz="2200" b="1" dirty="0">
                <a:latin typeface="Times New Roman"/>
                <a:cs typeface="Times New Roman"/>
              </a:rPr>
              <a:t>manage,</a:t>
            </a:r>
            <a:r>
              <a:rPr sz="2200" b="1" spc="75" dirty="0">
                <a:latin typeface="Times New Roman"/>
                <a:cs typeface="Times New Roman"/>
              </a:rPr>
              <a:t>  </a:t>
            </a:r>
            <a:r>
              <a:rPr sz="2200" b="1" dirty="0">
                <a:latin typeface="Times New Roman"/>
                <a:cs typeface="Times New Roman"/>
              </a:rPr>
              <a:t>and</a:t>
            </a:r>
            <a:r>
              <a:rPr sz="2200" b="1" spc="110" dirty="0">
                <a:latin typeface="Times New Roman"/>
                <a:cs typeface="Times New Roman"/>
              </a:rPr>
              <a:t>  </a:t>
            </a:r>
            <a:r>
              <a:rPr sz="2200" b="1" dirty="0">
                <a:latin typeface="Times New Roman"/>
                <a:cs typeface="Times New Roman"/>
              </a:rPr>
              <a:t>deploy</a:t>
            </a:r>
            <a:r>
              <a:rPr sz="2200" b="1" spc="110" dirty="0">
                <a:latin typeface="Times New Roman"/>
                <a:cs typeface="Times New Roman"/>
              </a:rPr>
              <a:t>  </a:t>
            </a:r>
            <a:r>
              <a:rPr sz="2200" b="1" dirty="0">
                <a:latin typeface="Times New Roman"/>
                <a:cs typeface="Times New Roman"/>
              </a:rPr>
              <a:t>SSL/TLS</a:t>
            </a:r>
            <a:r>
              <a:rPr sz="2200" b="1" spc="110" dirty="0">
                <a:latin typeface="Times New Roman"/>
                <a:cs typeface="Times New Roman"/>
              </a:rPr>
              <a:t>  </a:t>
            </a:r>
            <a:r>
              <a:rPr sz="2200" b="1" dirty="0">
                <a:latin typeface="Times New Roman"/>
                <a:cs typeface="Times New Roman"/>
              </a:rPr>
              <a:t>certificates</a:t>
            </a:r>
            <a:r>
              <a:rPr sz="2200" b="1" spc="114" dirty="0">
                <a:latin typeface="Times New Roman"/>
                <a:cs typeface="Times New Roman"/>
              </a:rPr>
              <a:t>  </a:t>
            </a:r>
            <a:r>
              <a:rPr sz="2200" dirty="0">
                <a:latin typeface="Times New Roman"/>
                <a:cs typeface="Times New Roman"/>
              </a:rPr>
              <a:t>for</a:t>
            </a:r>
            <a:r>
              <a:rPr sz="2200" spc="120" dirty="0">
                <a:latin typeface="Times New Roman"/>
                <a:cs typeface="Times New Roman"/>
              </a:rPr>
              <a:t>  </a:t>
            </a:r>
            <a:r>
              <a:rPr sz="2200" dirty="0">
                <a:latin typeface="Times New Roman"/>
                <a:cs typeface="Times New Roman"/>
              </a:rPr>
              <a:t>securing</a:t>
            </a:r>
            <a:r>
              <a:rPr sz="2200" spc="110" dirty="0">
                <a:latin typeface="Times New Roman"/>
                <a:cs typeface="Times New Roman"/>
              </a:rPr>
              <a:t>  </a:t>
            </a:r>
            <a:r>
              <a:rPr sz="2200" spc="-240" dirty="0">
                <a:latin typeface="Times New Roman"/>
                <a:cs typeface="Times New Roman"/>
              </a:rPr>
              <a:t>AWS-</a:t>
            </a:r>
            <a:r>
              <a:rPr sz="2200" spc="-65" dirty="0">
                <a:latin typeface="Times New Roman"/>
                <a:cs typeface="Times New Roman"/>
              </a:rPr>
              <a:t>based </a:t>
            </a:r>
            <a:r>
              <a:rPr sz="2200" spc="-125" dirty="0">
                <a:latin typeface="Times New Roman"/>
                <a:cs typeface="Times New Roman"/>
              </a:rPr>
              <a:t>applications</a:t>
            </a:r>
            <a:r>
              <a:rPr sz="2200" spc="25" dirty="0">
                <a:latin typeface="Times New Roman"/>
                <a:cs typeface="Times New Roman"/>
              </a:rPr>
              <a:t> </a:t>
            </a:r>
            <a:r>
              <a:rPr sz="2200" spc="-135" dirty="0">
                <a:latin typeface="Times New Roman"/>
                <a:cs typeface="Times New Roman"/>
              </a:rPr>
              <a:t>and</a:t>
            </a:r>
            <a:r>
              <a:rPr sz="2200" spc="15" dirty="0">
                <a:latin typeface="Times New Roman"/>
                <a:cs typeface="Times New Roman"/>
              </a:rPr>
              <a:t> </a:t>
            </a:r>
            <a:r>
              <a:rPr sz="2200" spc="-10" dirty="0">
                <a:latin typeface="Times New Roman"/>
                <a:cs typeface="Times New Roman"/>
              </a:rPr>
              <a:t>websites.</a:t>
            </a:r>
            <a:endParaRPr sz="2200">
              <a:latin typeface="Times New Roman"/>
              <a:cs typeface="Times New Roman"/>
            </a:endParaRPr>
          </a:p>
          <a:p>
            <a:pPr>
              <a:lnSpc>
                <a:spcPct val="100000"/>
              </a:lnSpc>
              <a:spcBef>
                <a:spcPts val="1315"/>
              </a:spcBef>
            </a:pPr>
            <a:endParaRPr sz="2200">
              <a:latin typeface="Times New Roman"/>
              <a:cs typeface="Times New Roman"/>
            </a:endParaRPr>
          </a:p>
          <a:p>
            <a:pPr marL="12700" algn="just">
              <a:lnSpc>
                <a:spcPct val="100000"/>
              </a:lnSpc>
            </a:pPr>
            <a:r>
              <a:rPr sz="2200" b="1" spc="-95" dirty="0">
                <a:latin typeface="Times New Roman"/>
                <a:cs typeface="Times New Roman"/>
              </a:rPr>
              <a:t>Key</a:t>
            </a:r>
            <a:r>
              <a:rPr sz="2200" b="1" spc="-35" dirty="0">
                <a:latin typeface="Times New Roman"/>
                <a:cs typeface="Times New Roman"/>
              </a:rPr>
              <a:t> </a:t>
            </a:r>
            <a:r>
              <a:rPr sz="2200" b="1" spc="-50" dirty="0">
                <a:latin typeface="Times New Roman"/>
                <a:cs typeface="Times New Roman"/>
              </a:rPr>
              <a:t>Features</a:t>
            </a:r>
            <a:r>
              <a:rPr sz="2200" b="1" spc="-30" dirty="0">
                <a:latin typeface="Times New Roman"/>
                <a:cs typeface="Times New Roman"/>
              </a:rPr>
              <a:t> </a:t>
            </a:r>
            <a:r>
              <a:rPr sz="2200" b="1" dirty="0">
                <a:latin typeface="Times New Roman"/>
                <a:cs typeface="Times New Roman"/>
              </a:rPr>
              <a:t>of</a:t>
            </a:r>
            <a:r>
              <a:rPr sz="2200" b="1" spc="-145" dirty="0">
                <a:latin typeface="Times New Roman"/>
                <a:cs typeface="Times New Roman"/>
              </a:rPr>
              <a:t> </a:t>
            </a:r>
            <a:r>
              <a:rPr sz="2200" b="1" spc="-25" dirty="0">
                <a:latin typeface="Times New Roman"/>
                <a:cs typeface="Times New Roman"/>
              </a:rPr>
              <a:t>ACM</a:t>
            </a:r>
            <a:endParaRPr sz="2200">
              <a:latin typeface="Times New Roman"/>
              <a:cs typeface="Times New Roman"/>
            </a:endParaRPr>
          </a:p>
          <a:p>
            <a:pPr marL="286385" indent="-273685">
              <a:lnSpc>
                <a:spcPct val="100000"/>
              </a:lnSpc>
              <a:spcBef>
                <a:spcPts val="600"/>
              </a:spcBef>
              <a:buClr>
                <a:srgbClr val="D24717"/>
              </a:buClr>
              <a:buSzPct val="84090"/>
              <a:buAutoNum type="arabicPeriod"/>
              <a:tabLst>
                <a:tab pos="286385" algn="l"/>
              </a:tabLst>
            </a:pPr>
            <a:r>
              <a:rPr sz="2200" b="1" spc="-75" dirty="0">
                <a:latin typeface="Times New Roman"/>
                <a:cs typeface="Times New Roman"/>
              </a:rPr>
              <a:t>Free</a:t>
            </a:r>
            <a:r>
              <a:rPr sz="2200" b="1" spc="-65" dirty="0">
                <a:latin typeface="Times New Roman"/>
                <a:cs typeface="Times New Roman"/>
              </a:rPr>
              <a:t> </a:t>
            </a:r>
            <a:r>
              <a:rPr sz="2200" b="1" spc="-10" dirty="0">
                <a:latin typeface="Times New Roman"/>
                <a:cs typeface="Times New Roman"/>
              </a:rPr>
              <a:t>Public</a:t>
            </a:r>
            <a:r>
              <a:rPr sz="2200" b="1" spc="-114" dirty="0">
                <a:latin typeface="Times New Roman"/>
                <a:cs typeface="Times New Roman"/>
              </a:rPr>
              <a:t> </a:t>
            </a:r>
            <a:r>
              <a:rPr sz="2200" b="1" spc="-10" dirty="0">
                <a:latin typeface="Times New Roman"/>
                <a:cs typeface="Times New Roman"/>
              </a:rPr>
              <a:t>Certificates</a:t>
            </a:r>
            <a:endParaRPr sz="2200">
              <a:latin typeface="Times New Roman"/>
              <a:cs typeface="Times New Roman"/>
            </a:endParaRPr>
          </a:p>
          <a:p>
            <a:pPr marL="754380" marR="19050" lvl="1" indent="-285115">
              <a:lnSpc>
                <a:spcPct val="100000"/>
              </a:lnSpc>
              <a:spcBef>
                <a:spcPts val="409"/>
              </a:spcBef>
              <a:buClr>
                <a:srgbClr val="9B2C1F"/>
              </a:buClr>
              <a:buSzPct val="84090"/>
              <a:buAutoNum type="arabicPeriod"/>
              <a:tabLst>
                <a:tab pos="756285" algn="l"/>
              </a:tabLst>
            </a:pPr>
            <a:r>
              <a:rPr sz="2200" spc="-260" dirty="0">
                <a:latin typeface="Times New Roman"/>
                <a:cs typeface="Times New Roman"/>
              </a:rPr>
              <a:t>ACM</a:t>
            </a:r>
            <a:r>
              <a:rPr sz="2200" spc="10" dirty="0">
                <a:latin typeface="Times New Roman"/>
                <a:cs typeface="Times New Roman"/>
              </a:rPr>
              <a:t> </a:t>
            </a:r>
            <a:r>
              <a:rPr sz="2200" spc="-110" dirty="0">
                <a:latin typeface="Times New Roman"/>
                <a:cs typeface="Times New Roman"/>
              </a:rPr>
              <a:t>provides</a:t>
            </a:r>
            <a:r>
              <a:rPr sz="2200" spc="-20" dirty="0">
                <a:latin typeface="Times New Roman"/>
                <a:cs typeface="Times New Roman"/>
              </a:rPr>
              <a:t> </a:t>
            </a:r>
            <a:r>
              <a:rPr sz="2200" b="1" dirty="0">
                <a:latin typeface="Times New Roman"/>
                <a:cs typeface="Times New Roman"/>
              </a:rPr>
              <a:t>free</a:t>
            </a:r>
            <a:r>
              <a:rPr sz="2200" b="1" spc="10" dirty="0">
                <a:latin typeface="Times New Roman"/>
                <a:cs typeface="Times New Roman"/>
              </a:rPr>
              <a:t> </a:t>
            </a:r>
            <a:r>
              <a:rPr sz="2200" b="1" spc="-150" dirty="0">
                <a:latin typeface="Times New Roman"/>
                <a:cs typeface="Times New Roman"/>
              </a:rPr>
              <a:t>SSL/TLS</a:t>
            </a:r>
            <a:r>
              <a:rPr sz="2200" b="1" spc="15" dirty="0">
                <a:latin typeface="Times New Roman"/>
                <a:cs typeface="Times New Roman"/>
              </a:rPr>
              <a:t> </a:t>
            </a:r>
            <a:r>
              <a:rPr sz="2200" b="1" dirty="0">
                <a:latin typeface="Times New Roman"/>
                <a:cs typeface="Times New Roman"/>
              </a:rPr>
              <a:t>certificates</a:t>
            </a:r>
            <a:r>
              <a:rPr sz="2200" b="1" spc="15" dirty="0">
                <a:latin typeface="Times New Roman"/>
                <a:cs typeface="Times New Roman"/>
              </a:rPr>
              <a:t> </a:t>
            </a:r>
            <a:r>
              <a:rPr sz="2200" spc="-50" dirty="0">
                <a:latin typeface="Times New Roman"/>
                <a:cs typeface="Times New Roman"/>
              </a:rPr>
              <a:t>for</a:t>
            </a:r>
            <a:r>
              <a:rPr sz="2200" spc="5" dirty="0">
                <a:latin typeface="Times New Roman"/>
                <a:cs typeface="Times New Roman"/>
              </a:rPr>
              <a:t> </a:t>
            </a:r>
            <a:r>
              <a:rPr sz="2200" spc="-295" dirty="0">
                <a:latin typeface="Times New Roman"/>
                <a:cs typeface="Times New Roman"/>
              </a:rPr>
              <a:t>AWS</a:t>
            </a:r>
            <a:r>
              <a:rPr sz="2200" spc="25" dirty="0">
                <a:latin typeface="Times New Roman"/>
                <a:cs typeface="Times New Roman"/>
              </a:rPr>
              <a:t> </a:t>
            </a:r>
            <a:r>
              <a:rPr sz="2200" spc="-105" dirty="0">
                <a:latin typeface="Times New Roman"/>
                <a:cs typeface="Times New Roman"/>
              </a:rPr>
              <a:t>services</a:t>
            </a:r>
            <a:r>
              <a:rPr sz="2200" dirty="0">
                <a:latin typeface="Times New Roman"/>
                <a:cs typeface="Times New Roman"/>
              </a:rPr>
              <a:t> </a:t>
            </a:r>
            <a:r>
              <a:rPr sz="2200" spc="-114" dirty="0">
                <a:latin typeface="Times New Roman"/>
                <a:cs typeface="Times New Roman"/>
              </a:rPr>
              <a:t>like</a:t>
            </a:r>
            <a:r>
              <a:rPr sz="2200" spc="10" dirty="0">
                <a:latin typeface="Times New Roman"/>
                <a:cs typeface="Times New Roman"/>
              </a:rPr>
              <a:t> </a:t>
            </a:r>
            <a:r>
              <a:rPr sz="2200" b="1" spc="-20" dirty="0">
                <a:latin typeface="Times New Roman"/>
                <a:cs typeface="Times New Roman"/>
              </a:rPr>
              <a:t>Elastic 	</a:t>
            </a:r>
            <a:r>
              <a:rPr sz="2200" b="1" spc="-80" dirty="0">
                <a:latin typeface="Times New Roman"/>
                <a:cs typeface="Times New Roman"/>
              </a:rPr>
              <a:t>Load</a:t>
            </a:r>
            <a:r>
              <a:rPr sz="2200" b="1" spc="-20" dirty="0">
                <a:latin typeface="Times New Roman"/>
                <a:cs typeface="Times New Roman"/>
              </a:rPr>
              <a:t> </a:t>
            </a:r>
            <a:r>
              <a:rPr sz="2200" b="1" spc="-30" dirty="0">
                <a:latin typeface="Times New Roman"/>
                <a:cs typeface="Times New Roman"/>
              </a:rPr>
              <a:t>Balancer</a:t>
            </a:r>
            <a:r>
              <a:rPr sz="2200" b="1" spc="-20" dirty="0">
                <a:latin typeface="Times New Roman"/>
                <a:cs typeface="Times New Roman"/>
              </a:rPr>
              <a:t> </a:t>
            </a:r>
            <a:r>
              <a:rPr sz="2200" b="1" spc="-125" dirty="0">
                <a:latin typeface="Times New Roman"/>
                <a:cs typeface="Times New Roman"/>
              </a:rPr>
              <a:t>(ELB),</a:t>
            </a:r>
            <a:r>
              <a:rPr sz="2200" b="1" spc="-110" dirty="0">
                <a:latin typeface="Times New Roman"/>
                <a:cs typeface="Times New Roman"/>
              </a:rPr>
              <a:t> </a:t>
            </a:r>
            <a:r>
              <a:rPr sz="2200" b="1" spc="-40" dirty="0">
                <a:latin typeface="Times New Roman"/>
                <a:cs typeface="Times New Roman"/>
              </a:rPr>
              <a:t>CloudFront,</a:t>
            </a:r>
            <a:r>
              <a:rPr sz="2200" b="1" spc="-135" dirty="0">
                <a:latin typeface="Times New Roman"/>
                <a:cs typeface="Times New Roman"/>
              </a:rPr>
              <a:t> </a:t>
            </a:r>
            <a:r>
              <a:rPr sz="2200" b="1" spc="-25" dirty="0">
                <a:latin typeface="Times New Roman"/>
                <a:cs typeface="Times New Roman"/>
              </a:rPr>
              <a:t>and</a:t>
            </a:r>
            <a:r>
              <a:rPr sz="2200" b="1" spc="-110" dirty="0">
                <a:latin typeface="Times New Roman"/>
                <a:cs typeface="Times New Roman"/>
              </a:rPr>
              <a:t> </a:t>
            </a:r>
            <a:r>
              <a:rPr sz="2200" b="1" spc="-125" dirty="0">
                <a:latin typeface="Times New Roman"/>
                <a:cs typeface="Times New Roman"/>
              </a:rPr>
              <a:t>API</a:t>
            </a:r>
            <a:r>
              <a:rPr sz="2200" b="1" spc="-40" dirty="0">
                <a:latin typeface="Times New Roman"/>
                <a:cs typeface="Times New Roman"/>
              </a:rPr>
              <a:t> </a:t>
            </a:r>
            <a:r>
              <a:rPr sz="2200" b="1" spc="-10" dirty="0">
                <a:latin typeface="Times New Roman"/>
                <a:cs typeface="Times New Roman"/>
              </a:rPr>
              <a:t>Gateway</a:t>
            </a:r>
            <a:r>
              <a:rPr sz="2200" spc="-10" dirty="0">
                <a:latin typeface="Times New Roman"/>
                <a:cs typeface="Times New Roman"/>
              </a:rPr>
              <a:t>.</a:t>
            </a:r>
            <a:endParaRPr sz="2200">
              <a:latin typeface="Times New Roman"/>
              <a:cs typeface="Times New Roman"/>
            </a:endParaRPr>
          </a:p>
          <a:p>
            <a:pPr marL="755650" lvl="1" indent="-285750">
              <a:lnSpc>
                <a:spcPct val="100000"/>
              </a:lnSpc>
              <a:spcBef>
                <a:spcPts val="395"/>
              </a:spcBef>
              <a:buClr>
                <a:srgbClr val="9B2C1F"/>
              </a:buClr>
              <a:buSzPct val="84090"/>
              <a:buAutoNum type="arabicPeriod"/>
              <a:tabLst>
                <a:tab pos="755650" algn="l"/>
              </a:tabLst>
            </a:pPr>
            <a:r>
              <a:rPr sz="2200" spc="-125" dirty="0">
                <a:latin typeface="Times New Roman"/>
                <a:cs typeface="Times New Roman"/>
              </a:rPr>
              <a:t>These</a:t>
            </a:r>
            <a:r>
              <a:rPr sz="2200" spc="25" dirty="0">
                <a:latin typeface="Times New Roman"/>
                <a:cs typeface="Times New Roman"/>
              </a:rPr>
              <a:t> </a:t>
            </a:r>
            <a:r>
              <a:rPr sz="2200" spc="-100" dirty="0">
                <a:latin typeface="Times New Roman"/>
                <a:cs typeface="Times New Roman"/>
              </a:rPr>
              <a:t>certificates</a:t>
            </a:r>
            <a:r>
              <a:rPr sz="2200" spc="65" dirty="0">
                <a:latin typeface="Times New Roman"/>
                <a:cs typeface="Times New Roman"/>
              </a:rPr>
              <a:t> </a:t>
            </a:r>
            <a:r>
              <a:rPr sz="2200" b="1" dirty="0">
                <a:latin typeface="Times New Roman"/>
                <a:cs typeface="Times New Roman"/>
              </a:rPr>
              <a:t>auto-renew</a:t>
            </a:r>
            <a:r>
              <a:rPr sz="2200" dirty="0">
                <a:latin typeface="Times New Roman"/>
                <a:cs typeface="Times New Roman"/>
              </a:rPr>
              <a:t>,</a:t>
            </a:r>
            <a:r>
              <a:rPr sz="2200" spc="-35" dirty="0">
                <a:latin typeface="Times New Roman"/>
                <a:cs typeface="Times New Roman"/>
              </a:rPr>
              <a:t> </a:t>
            </a:r>
            <a:r>
              <a:rPr sz="2200" spc="-120" dirty="0">
                <a:latin typeface="Times New Roman"/>
                <a:cs typeface="Times New Roman"/>
              </a:rPr>
              <a:t>eliminating</a:t>
            </a:r>
            <a:r>
              <a:rPr sz="2200" spc="45" dirty="0">
                <a:latin typeface="Times New Roman"/>
                <a:cs typeface="Times New Roman"/>
              </a:rPr>
              <a:t> </a:t>
            </a:r>
            <a:r>
              <a:rPr sz="2200" spc="-145" dirty="0">
                <a:latin typeface="Times New Roman"/>
                <a:cs typeface="Times New Roman"/>
              </a:rPr>
              <a:t>manual</a:t>
            </a:r>
            <a:r>
              <a:rPr sz="2200" spc="40" dirty="0">
                <a:latin typeface="Times New Roman"/>
                <a:cs typeface="Times New Roman"/>
              </a:rPr>
              <a:t> </a:t>
            </a:r>
            <a:r>
              <a:rPr sz="2200" spc="-114" dirty="0">
                <a:latin typeface="Times New Roman"/>
                <a:cs typeface="Times New Roman"/>
              </a:rPr>
              <a:t>renewal</a:t>
            </a:r>
            <a:r>
              <a:rPr sz="2200" spc="60" dirty="0">
                <a:latin typeface="Times New Roman"/>
                <a:cs typeface="Times New Roman"/>
              </a:rPr>
              <a:t> </a:t>
            </a:r>
            <a:r>
              <a:rPr sz="2200" spc="-10" dirty="0">
                <a:latin typeface="Times New Roman"/>
                <a:cs typeface="Times New Roman"/>
              </a:rPr>
              <a:t>tasks.</a:t>
            </a:r>
            <a:endParaRPr sz="2200">
              <a:latin typeface="Times New Roman"/>
              <a:cs typeface="Times New Roman"/>
            </a:endParaRPr>
          </a:p>
          <a:p>
            <a:pPr lvl="1">
              <a:lnSpc>
                <a:spcPct val="100000"/>
              </a:lnSpc>
              <a:spcBef>
                <a:spcPts val="1110"/>
              </a:spcBef>
              <a:buClr>
                <a:srgbClr val="9B2C1F"/>
              </a:buClr>
              <a:buFont typeface="Times New Roman"/>
              <a:buAutoNum type="arabicPeriod"/>
            </a:pPr>
            <a:endParaRPr sz="2200">
              <a:latin typeface="Times New Roman"/>
              <a:cs typeface="Times New Roman"/>
            </a:endParaRPr>
          </a:p>
          <a:p>
            <a:pPr marL="286385" indent="-273685">
              <a:lnSpc>
                <a:spcPct val="100000"/>
              </a:lnSpc>
              <a:buClr>
                <a:srgbClr val="D24717"/>
              </a:buClr>
              <a:buSzPct val="84090"/>
              <a:buAutoNum type="arabicPeriod"/>
              <a:tabLst>
                <a:tab pos="286385" algn="l"/>
              </a:tabLst>
            </a:pPr>
            <a:r>
              <a:rPr sz="2200" b="1" spc="-40" dirty="0">
                <a:latin typeface="Times New Roman"/>
                <a:cs typeface="Times New Roman"/>
              </a:rPr>
              <a:t>Private</a:t>
            </a:r>
            <a:r>
              <a:rPr sz="2200" b="1" spc="-85" dirty="0">
                <a:latin typeface="Times New Roman"/>
                <a:cs typeface="Times New Roman"/>
              </a:rPr>
              <a:t> </a:t>
            </a:r>
            <a:r>
              <a:rPr sz="2200" b="1" spc="-25" dirty="0">
                <a:latin typeface="Times New Roman"/>
                <a:cs typeface="Times New Roman"/>
              </a:rPr>
              <a:t>Certificate</a:t>
            </a:r>
            <a:r>
              <a:rPr sz="2200" b="1" spc="-110" dirty="0">
                <a:latin typeface="Times New Roman"/>
                <a:cs typeface="Times New Roman"/>
              </a:rPr>
              <a:t> </a:t>
            </a:r>
            <a:r>
              <a:rPr sz="2200" b="1" dirty="0">
                <a:latin typeface="Times New Roman"/>
                <a:cs typeface="Times New Roman"/>
              </a:rPr>
              <a:t>Authority</a:t>
            </a:r>
            <a:r>
              <a:rPr sz="2200" b="1" spc="-85" dirty="0">
                <a:latin typeface="Times New Roman"/>
                <a:cs typeface="Times New Roman"/>
              </a:rPr>
              <a:t> </a:t>
            </a:r>
            <a:r>
              <a:rPr sz="2200" b="1" spc="-20" dirty="0">
                <a:latin typeface="Times New Roman"/>
                <a:cs typeface="Times New Roman"/>
              </a:rPr>
              <a:t>(CA)</a:t>
            </a:r>
            <a:endParaRPr sz="2200">
              <a:latin typeface="Times New Roman"/>
              <a:cs typeface="Times New Roman"/>
            </a:endParaRPr>
          </a:p>
          <a:p>
            <a:pPr marL="755015" lvl="1" indent="-285115">
              <a:lnSpc>
                <a:spcPct val="100000"/>
              </a:lnSpc>
              <a:spcBef>
                <a:spcPts val="405"/>
              </a:spcBef>
              <a:buClr>
                <a:srgbClr val="9B2C1F"/>
              </a:buClr>
              <a:buSzPct val="84090"/>
              <a:buAutoNum type="arabicPeriod"/>
              <a:tabLst>
                <a:tab pos="755015" algn="l"/>
                <a:tab pos="1468120" algn="l"/>
                <a:tab pos="1977389" algn="l"/>
                <a:tab pos="2630805" algn="l"/>
                <a:tab pos="3649345" algn="l"/>
                <a:tab pos="5141595" algn="l"/>
                <a:tab pos="5610860" algn="l"/>
                <a:tab pos="6570980" algn="l"/>
                <a:tab pos="7927975" algn="l"/>
              </a:tabLst>
            </a:pPr>
            <a:r>
              <a:rPr sz="2200" spc="-285" dirty="0">
                <a:latin typeface="Times New Roman"/>
                <a:cs typeface="Times New Roman"/>
              </a:rPr>
              <a:t>ACM</a:t>
            </a:r>
            <a:r>
              <a:rPr sz="2200" dirty="0">
                <a:latin typeface="Times New Roman"/>
                <a:cs typeface="Times New Roman"/>
              </a:rPr>
              <a:t>	</a:t>
            </a:r>
            <a:r>
              <a:rPr sz="2200" spc="-25" dirty="0">
                <a:latin typeface="Times New Roman"/>
                <a:cs typeface="Times New Roman"/>
              </a:rPr>
              <a:t>can</a:t>
            </a:r>
            <a:r>
              <a:rPr sz="2200" dirty="0">
                <a:latin typeface="Times New Roman"/>
                <a:cs typeface="Times New Roman"/>
              </a:rPr>
              <a:t>	</a:t>
            </a:r>
            <a:r>
              <a:rPr sz="2200" spc="-20" dirty="0">
                <a:latin typeface="Times New Roman"/>
                <a:cs typeface="Times New Roman"/>
              </a:rPr>
              <a:t>issue</a:t>
            </a:r>
            <a:r>
              <a:rPr sz="2200" dirty="0">
                <a:latin typeface="Times New Roman"/>
                <a:cs typeface="Times New Roman"/>
              </a:rPr>
              <a:t>	</a:t>
            </a:r>
            <a:r>
              <a:rPr sz="2200" b="1" spc="-10" dirty="0">
                <a:latin typeface="Times New Roman"/>
                <a:cs typeface="Times New Roman"/>
              </a:rPr>
              <a:t>private</a:t>
            </a:r>
            <a:r>
              <a:rPr sz="2200" b="1" dirty="0">
                <a:latin typeface="Times New Roman"/>
                <a:cs typeface="Times New Roman"/>
              </a:rPr>
              <a:t>	</a:t>
            </a:r>
            <a:r>
              <a:rPr sz="2200" b="1" spc="-10" dirty="0">
                <a:latin typeface="Times New Roman"/>
                <a:cs typeface="Times New Roman"/>
              </a:rPr>
              <a:t>certificates</a:t>
            </a:r>
            <a:r>
              <a:rPr sz="2200" b="1" dirty="0">
                <a:latin typeface="Times New Roman"/>
                <a:cs typeface="Times New Roman"/>
              </a:rPr>
              <a:t>	</a:t>
            </a:r>
            <a:r>
              <a:rPr sz="2200" spc="-25" dirty="0">
                <a:latin typeface="Times New Roman"/>
                <a:cs typeface="Times New Roman"/>
              </a:rPr>
              <a:t>for</a:t>
            </a:r>
            <a:r>
              <a:rPr sz="2200" dirty="0">
                <a:latin typeface="Times New Roman"/>
                <a:cs typeface="Times New Roman"/>
              </a:rPr>
              <a:t>	</a:t>
            </a:r>
            <a:r>
              <a:rPr sz="2200" spc="-10" dirty="0">
                <a:latin typeface="Times New Roman"/>
                <a:cs typeface="Times New Roman"/>
              </a:rPr>
              <a:t>internal</a:t>
            </a:r>
            <a:r>
              <a:rPr sz="2200" dirty="0">
                <a:latin typeface="Times New Roman"/>
                <a:cs typeface="Times New Roman"/>
              </a:rPr>
              <a:t>	</a:t>
            </a:r>
            <a:r>
              <a:rPr sz="2200" spc="-10" dirty="0">
                <a:latin typeface="Times New Roman"/>
                <a:cs typeface="Times New Roman"/>
              </a:rPr>
              <a:t>applications</a:t>
            </a:r>
            <a:r>
              <a:rPr sz="2200" dirty="0">
                <a:latin typeface="Times New Roman"/>
                <a:cs typeface="Times New Roman"/>
              </a:rPr>
              <a:t>	</a:t>
            </a:r>
            <a:r>
              <a:rPr sz="2200" spc="-75" dirty="0">
                <a:latin typeface="Times New Roman"/>
                <a:cs typeface="Times New Roman"/>
              </a:rPr>
              <a:t>and</a:t>
            </a:r>
            <a:endParaRPr sz="2200">
              <a:latin typeface="Times New Roman"/>
              <a:cs typeface="Times New Roman"/>
            </a:endParaRPr>
          </a:p>
          <a:p>
            <a:pPr marL="756285">
              <a:lnSpc>
                <a:spcPct val="100000"/>
              </a:lnSpc>
            </a:pPr>
            <a:r>
              <a:rPr sz="2200" spc="-10" dirty="0">
                <a:latin typeface="Times New Roman"/>
                <a:cs typeface="Times New Roman"/>
              </a:rPr>
              <a:t>services.</a:t>
            </a:r>
            <a:endParaRPr sz="2200">
              <a:latin typeface="Times New Roman"/>
              <a:cs typeface="Times New Roman"/>
            </a:endParaRPr>
          </a:p>
          <a:p>
            <a:pPr marL="755015" lvl="1" indent="-285115">
              <a:lnSpc>
                <a:spcPct val="100000"/>
              </a:lnSpc>
              <a:spcBef>
                <a:spcPts val="400"/>
              </a:spcBef>
              <a:buClr>
                <a:srgbClr val="9B2C1F"/>
              </a:buClr>
              <a:buSzPct val="84090"/>
              <a:buAutoNum type="arabicPeriod" startAt="2"/>
              <a:tabLst>
                <a:tab pos="755015" algn="l"/>
              </a:tabLst>
            </a:pPr>
            <a:r>
              <a:rPr sz="2200" spc="-130" dirty="0">
                <a:latin typeface="Times New Roman"/>
                <a:cs typeface="Times New Roman"/>
              </a:rPr>
              <a:t>Used</a:t>
            </a:r>
            <a:r>
              <a:rPr sz="2200" spc="-10" dirty="0">
                <a:latin typeface="Times New Roman"/>
                <a:cs typeface="Times New Roman"/>
              </a:rPr>
              <a:t> </a:t>
            </a:r>
            <a:r>
              <a:rPr sz="2200" spc="-85" dirty="0">
                <a:latin typeface="Times New Roman"/>
                <a:cs typeface="Times New Roman"/>
              </a:rPr>
              <a:t>for</a:t>
            </a:r>
            <a:r>
              <a:rPr sz="2200" spc="5" dirty="0">
                <a:latin typeface="Times New Roman"/>
                <a:cs typeface="Times New Roman"/>
              </a:rPr>
              <a:t> </a:t>
            </a:r>
            <a:r>
              <a:rPr sz="2200" spc="-114" dirty="0">
                <a:latin typeface="Times New Roman"/>
                <a:cs typeface="Times New Roman"/>
              </a:rPr>
              <a:t>securing</a:t>
            </a:r>
            <a:r>
              <a:rPr sz="2200" spc="5" dirty="0">
                <a:latin typeface="Times New Roman"/>
                <a:cs typeface="Times New Roman"/>
              </a:rPr>
              <a:t> </a:t>
            </a:r>
            <a:r>
              <a:rPr sz="2200" spc="-100" dirty="0">
                <a:latin typeface="Times New Roman"/>
                <a:cs typeface="Times New Roman"/>
              </a:rPr>
              <a:t>private</a:t>
            </a:r>
            <a:r>
              <a:rPr sz="2200" spc="-10" dirty="0">
                <a:latin typeface="Times New Roman"/>
                <a:cs typeface="Times New Roman"/>
              </a:rPr>
              <a:t> </a:t>
            </a:r>
            <a:r>
              <a:rPr sz="2200" spc="-85" dirty="0">
                <a:latin typeface="Times New Roman"/>
                <a:cs typeface="Times New Roman"/>
              </a:rPr>
              <a:t>networks,</a:t>
            </a:r>
            <a:r>
              <a:rPr sz="2200" spc="-95" dirty="0">
                <a:latin typeface="Times New Roman"/>
                <a:cs typeface="Times New Roman"/>
              </a:rPr>
              <a:t> </a:t>
            </a:r>
            <a:r>
              <a:rPr sz="2200" spc="-140" dirty="0">
                <a:latin typeface="Times New Roman"/>
                <a:cs typeface="Times New Roman"/>
              </a:rPr>
              <a:t>IoT</a:t>
            </a:r>
            <a:r>
              <a:rPr sz="2200" spc="-5" dirty="0">
                <a:latin typeface="Times New Roman"/>
                <a:cs typeface="Times New Roman"/>
              </a:rPr>
              <a:t> </a:t>
            </a:r>
            <a:r>
              <a:rPr sz="2200" spc="-110" dirty="0">
                <a:latin typeface="Times New Roman"/>
                <a:cs typeface="Times New Roman"/>
              </a:rPr>
              <a:t>devices,</a:t>
            </a:r>
            <a:r>
              <a:rPr sz="2200" spc="-105" dirty="0">
                <a:latin typeface="Times New Roman"/>
                <a:cs typeface="Times New Roman"/>
              </a:rPr>
              <a:t> </a:t>
            </a:r>
            <a:r>
              <a:rPr sz="2200" spc="-135" dirty="0">
                <a:latin typeface="Times New Roman"/>
                <a:cs typeface="Times New Roman"/>
              </a:rPr>
              <a:t>and</a:t>
            </a:r>
            <a:r>
              <a:rPr sz="2200" spc="-5" dirty="0">
                <a:latin typeface="Times New Roman"/>
                <a:cs typeface="Times New Roman"/>
              </a:rPr>
              <a:t> </a:t>
            </a:r>
            <a:r>
              <a:rPr sz="2200" spc="-80" dirty="0">
                <a:latin typeface="Times New Roman"/>
                <a:cs typeface="Times New Roman"/>
              </a:rPr>
              <a:t>internal</a:t>
            </a:r>
            <a:r>
              <a:rPr sz="2200" spc="-165" dirty="0">
                <a:latin typeface="Times New Roman"/>
                <a:cs typeface="Times New Roman"/>
              </a:rPr>
              <a:t> </a:t>
            </a:r>
            <a:r>
              <a:rPr sz="2200" spc="-10" dirty="0">
                <a:latin typeface="Times New Roman"/>
                <a:cs typeface="Times New Roman"/>
              </a:rPr>
              <a:t>APIs.</a:t>
            </a:r>
            <a:endParaRPr sz="22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61</a:t>
            </a:fld>
            <a:endParaRPr spc="-25"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a:lnSpc>
                <a:spcPct val="100000"/>
              </a:lnSpc>
              <a:spcBef>
                <a:spcPts val="100"/>
              </a:spcBef>
            </a:pPr>
            <a:r>
              <a:rPr spc="-185" dirty="0"/>
              <a:t>AWS</a:t>
            </a:r>
            <a:r>
              <a:rPr spc="-35" dirty="0"/>
              <a:t> </a:t>
            </a:r>
            <a:r>
              <a:rPr spc="-20" dirty="0"/>
              <a:t>Certificate</a:t>
            </a:r>
            <a:r>
              <a:rPr spc="-165" dirty="0"/>
              <a:t> </a:t>
            </a:r>
            <a:r>
              <a:rPr spc="-10" dirty="0"/>
              <a:t>Manager</a:t>
            </a:r>
            <a:r>
              <a:rPr spc="-75" dirty="0"/>
              <a:t> </a:t>
            </a:r>
            <a:r>
              <a:rPr spc="-10" dirty="0"/>
              <a:t>(ACM)</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4" name="object 4"/>
          <p:cNvSpPr txBox="1"/>
          <p:nvPr/>
        </p:nvSpPr>
        <p:spPr>
          <a:xfrm>
            <a:off x="296976" y="889612"/>
            <a:ext cx="8310880" cy="4996815"/>
          </a:xfrm>
          <a:prstGeom prst="rect">
            <a:avLst/>
          </a:prstGeom>
        </p:spPr>
        <p:txBody>
          <a:bodyPr vert="horz" wrap="square" lIns="0" tIns="64769" rIns="0" bIns="0" rtlCol="0">
            <a:spAutoFit/>
          </a:bodyPr>
          <a:lstStyle/>
          <a:p>
            <a:pPr marL="254000" indent="-241300">
              <a:lnSpc>
                <a:spcPct val="100000"/>
              </a:lnSpc>
              <a:spcBef>
                <a:spcPts val="509"/>
              </a:spcBef>
              <a:buAutoNum type="arabicPeriod" startAt="3"/>
              <a:tabLst>
                <a:tab pos="254000" algn="l"/>
              </a:tabLst>
            </a:pPr>
            <a:r>
              <a:rPr sz="2200" b="1" spc="-10" dirty="0">
                <a:latin typeface="Times New Roman"/>
                <a:cs typeface="Times New Roman"/>
              </a:rPr>
              <a:t>Automatic</a:t>
            </a:r>
            <a:r>
              <a:rPr sz="2200" b="1" spc="-80" dirty="0">
                <a:latin typeface="Times New Roman"/>
                <a:cs typeface="Times New Roman"/>
              </a:rPr>
              <a:t> </a:t>
            </a:r>
            <a:r>
              <a:rPr sz="2200" b="1" spc="-10" dirty="0">
                <a:latin typeface="Times New Roman"/>
                <a:cs typeface="Times New Roman"/>
              </a:rPr>
              <a:t>Renewal</a:t>
            </a:r>
            <a:r>
              <a:rPr sz="2200" b="1" spc="-80" dirty="0">
                <a:latin typeface="Times New Roman"/>
                <a:cs typeface="Times New Roman"/>
              </a:rPr>
              <a:t> </a:t>
            </a:r>
            <a:r>
              <a:rPr sz="2200" b="1" dirty="0">
                <a:latin typeface="Times New Roman"/>
                <a:cs typeface="Times New Roman"/>
              </a:rPr>
              <a:t>and</a:t>
            </a:r>
            <a:r>
              <a:rPr sz="2200" b="1" spc="-95" dirty="0">
                <a:latin typeface="Times New Roman"/>
                <a:cs typeface="Times New Roman"/>
              </a:rPr>
              <a:t> </a:t>
            </a:r>
            <a:r>
              <a:rPr sz="2200" b="1" spc="-10" dirty="0">
                <a:latin typeface="Times New Roman"/>
                <a:cs typeface="Times New Roman"/>
              </a:rPr>
              <a:t>Deployment</a:t>
            </a:r>
            <a:endParaRPr sz="2200">
              <a:latin typeface="Times New Roman"/>
              <a:cs typeface="Times New Roman"/>
            </a:endParaRPr>
          </a:p>
          <a:p>
            <a:pPr marL="755015" lvl="1" indent="-285115">
              <a:lnSpc>
                <a:spcPct val="100000"/>
              </a:lnSpc>
              <a:spcBef>
                <a:spcPts val="409"/>
              </a:spcBef>
              <a:buClr>
                <a:srgbClr val="9B2C1F"/>
              </a:buClr>
              <a:buSzPct val="84090"/>
              <a:buAutoNum type="arabicPeriod"/>
              <a:tabLst>
                <a:tab pos="755015" algn="l"/>
              </a:tabLst>
            </a:pPr>
            <a:r>
              <a:rPr sz="2200" spc="-260" dirty="0">
                <a:latin typeface="Times New Roman"/>
                <a:cs typeface="Times New Roman"/>
              </a:rPr>
              <a:t>ACM</a:t>
            </a:r>
            <a:r>
              <a:rPr sz="2200" spc="-20" dirty="0">
                <a:latin typeface="Times New Roman"/>
                <a:cs typeface="Times New Roman"/>
              </a:rPr>
              <a:t> </a:t>
            </a:r>
            <a:r>
              <a:rPr sz="2200" spc="-120" dirty="0">
                <a:latin typeface="Times New Roman"/>
                <a:cs typeface="Times New Roman"/>
              </a:rPr>
              <a:t>automatically</a:t>
            </a:r>
            <a:r>
              <a:rPr sz="2200" spc="5" dirty="0">
                <a:latin typeface="Times New Roman"/>
                <a:cs typeface="Times New Roman"/>
              </a:rPr>
              <a:t> </a:t>
            </a:r>
            <a:r>
              <a:rPr sz="2200" spc="-110" dirty="0">
                <a:latin typeface="Times New Roman"/>
                <a:cs typeface="Times New Roman"/>
              </a:rPr>
              <a:t>renews</a:t>
            </a:r>
            <a:r>
              <a:rPr sz="2200" spc="-5" dirty="0">
                <a:latin typeface="Times New Roman"/>
                <a:cs typeface="Times New Roman"/>
              </a:rPr>
              <a:t> </a:t>
            </a:r>
            <a:r>
              <a:rPr sz="2200" spc="-100" dirty="0">
                <a:latin typeface="Times New Roman"/>
                <a:cs typeface="Times New Roman"/>
              </a:rPr>
              <a:t>certificates</a:t>
            </a:r>
            <a:r>
              <a:rPr sz="2200" spc="10" dirty="0">
                <a:latin typeface="Times New Roman"/>
                <a:cs typeface="Times New Roman"/>
              </a:rPr>
              <a:t> </a:t>
            </a:r>
            <a:r>
              <a:rPr sz="2200" spc="-105" dirty="0">
                <a:latin typeface="Times New Roman"/>
                <a:cs typeface="Times New Roman"/>
              </a:rPr>
              <a:t>before</a:t>
            </a:r>
            <a:r>
              <a:rPr sz="2200" dirty="0">
                <a:latin typeface="Times New Roman"/>
                <a:cs typeface="Times New Roman"/>
              </a:rPr>
              <a:t> </a:t>
            </a:r>
            <a:r>
              <a:rPr sz="2200" spc="-10" dirty="0">
                <a:latin typeface="Times New Roman"/>
                <a:cs typeface="Times New Roman"/>
              </a:rPr>
              <a:t>expiration.</a:t>
            </a:r>
            <a:endParaRPr sz="2200">
              <a:latin typeface="Times New Roman"/>
              <a:cs typeface="Times New Roman"/>
            </a:endParaRPr>
          </a:p>
          <a:p>
            <a:pPr marL="754380" marR="5080" lvl="1" indent="-285115">
              <a:lnSpc>
                <a:spcPct val="100000"/>
              </a:lnSpc>
              <a:spcBef>
                <a:spcPts val="400"/>
              </a:spcBef>
              <a:buClr>
                <a:srgbClr val="9B2C1F"/>
              </a:buClr>
              <a:buSzPct val="84090"/>
              <a:buAutoNum type="arabicPeriod"/>
              <a:tabLst>
                <a:tab pos="756285" algn="l"/>
                <a:tab pos="2044064" algn="l"/>
                <a:tab pos="3071495" algn="l"/>
                <a:tab pos="3967479" algn="l"/>
                <a:tab pos="4549775" algn="l"/>
                <a:tab pos="5190490" algn="l"/>
                <a:tab pos="6115685" algn="l"/>
              </a:tabLst>
            </a:pPr>
            <a:r>
              <a:rPr sz="2200" spc="-10" dirty="0">
                <a:latin typeface="Times New Roman"/>
                <a:cs typeface="Times New Roman"/>
              </a:rPr>
              <a:t>Certificates</a:t>
            </a:r>
            <a:r>
              <a:rPr sz="2200" dirty="0">
                <a:latin typeface="Times New Roman"/>
                <a:cs typeface="Times New Roman"/>
              </a:rPr>
              <a:t>	</a:t>
            </a:r>
            <a:r>
              <a:rPr sz="2200" spc="-10" dirty="0">
                <a:latin typeface="Times New Roman"/>
                <a:cs typeface="Times New Roman"/>
              </a:rPr>
              <a:t>integrate</a:t>
            </a:r>
            <a:r>
              <a:rPr sz="2200" dirty="0">
                <a:latin typeface="Times New Roman"/>
                <a:cs typeface="Times New Roman"/>
              </a:rPr>
              <a:t>	</a:t>
            </a:r>
            <a:r>
              <a:rPr sz="2200" spc="-10" dirty="0">
                <a:latin typeface="Times New Roman"/>
                <a:cs typeface="Times New Roman"/>
              </a:rPr>
              <a:t>directly</a:t>
            </a:r>
            <a:r>
              <a:rPr sz="2200" dirty="0">
                <a:latin typeface="Times New Roman"/>
                <a:cs typeface="Times New Roman"/>
              </a:rPr>
              <a:t>	</a:t>
            </a:r>
            <a:r>
              <a:rPr sz="2200" spc="-20" dirty="0">
                <a:latin typeface="Times New Roman"/>
                <a:cs typeface="Times New Roman"/>
              </a:rPr>
              <a:t>with</a:t>
            </a:r>
            <a:r>
              <a:rPr sz="2200" dirty="0">
                <a:latin typeface="Times New Roman"/>
                <a:cs typeface="Times New Roman"/>
              </a:rPr>
              <a:t>	</a:t>
            </a:r>
            <a:r>
              <a:rPr sz="2200" spc="-320" dirty="0">
                <a:latin typeface="Times New Roman"/>
                <a:cs typeface="Times New Roman"/>
              </a:rPr>
              <a:t>AWS</a:t>
            </a:r>
            <a:r>
              <a:rPr sz="2200" dirty="0">
                <a:latin typeface="Times New Roman"/>
                <a:cs typeface="Times New Roman"/>
              </a:rPr>
              <a:t>	</a:t>
            </a:r>
            <a:r>
              <a:rPr sz="2200" spc="-10" dirty="0">
                <a:latin typeface="Times New Roman"/>
                <a:cs typeface="Times New Roman"/>
              </a:rPr>
              <a:t>services</a:t>
            </a:r>
            <a:r>
              <a:rPr sz="2200" dirty="0">
                <a:latin typeface="Times New Roman"/>
                <a:cs typeface="Times New Roman"/>
              </a:rPr>
              <a:t>	</a:t>
            </a:r>
            <a:r>
              <a:rPr sz="2200" spc="-110" dirty="0">
                <a:latin typeface="Times New Roman"/>
                <a:cs typeface="Times New Roman"/>
              </a:rPr>
              <a:t>(</a:t>
            </a:r>
            <a:r>
              <a:rPr sz="2200" b="1" spc="-110" dirty="0">
                <a:latin typeface="Times New Roman"/>
                <a:cs typeface="Times New Roman"/>
              </a:rPr>
              <a:t>ELB,</a:t>
            </a:r>
            <a:r>
              <a:rPr sz="2200" b="1" spc="95" dirty="0">
                <a:latin typeface="Times New Roman"/>
                <a:cs typeface="Times New Roman"/>
              </a:rPr>
              <a:t> </a:t>
            </a:r>
            <a:r>
              <a:rPr sz="2200" b="1" spc="-35" dirty="0">
                <a:latin typeface="Times New Roman"/>
                <a:cs typeface="Times New Roman"/>
              </a:rPr>
              <a:t>CloudFront, 	</a:t>
            </a:r>
            <a:r>
              <a:rPr sz="2200" b="1" spc="-125" dirty="0">
                <a:latin typeface="Times New Roman"/>
                <a:cs typeface="Times New Roman"/>
              </a:rPr>
              <a:t>API</a:t>
            </a:r>
            <a:r>
              <a:rPr sz="2200" b="1" spc="-30" dirty="0">
                <a:latin typeface="Times New Roman"/>
                <a:cs typeface="Times New Roman"/>
              </a:rPr>
              <a:t> </a:t>
            </a:r>
            <a:r>
              <a:rPr sz="2200" b="1" spc="-85" dirty="0">
                <a:latin typeface="Times New Roman"/>
                <a:cs typeface="Times New Roman"/>
              </a:rPr>
              <a:t>Gateway,</a:t>
            </a:r>
            <a:r>
              <a:rPr sz="2200" b="1" spc="-75" dirty="0">
                <a:latin typeface="Times New Roman"/>
                <a:cs typeface="Times New Roman"/>
              </a:rPr>
              <a:t> </a:t>
            </a:r>
            <a:r>
              <a:rPr sz="2200" b="1" spc="-10" dirty="0">
                <a:latin typeface="Times New Roman"/>
                <a:cs typeface="Times New Roman"/>
              </a:rPr>
              <a:t>etc.</a:t>
            </a:r>
            <a:r>
              <a:rPr sz="2200" spc="-10" dirty="0">
                <a:latin typeface="Times New Roman"/>
                <a:cs typeface="Times New Roman"/>
              </a:rPr>
              <a:t>).</a:t>
            </a:r>
            <a:endParaRPr sz="2200">
              <a:latin typeface="Times New Roman"/>
              <a:cs typeface="Times New Roman"/>
            </a:endParaRPr>
          </a:p>
          <a:p>
            <a:pPr lvl="1">
              <a:lnSpc>
                <a:spcPct val="100000"/>
              </a:lnSpc>
              <a:spcBef>
                <a:spcPts val="1105"/>
              </a:spcBef>
              <a:buClr>
                <a:srgbClr val="9B2C1F"/>
              </a:buClr>
              <a:buFont typeface="Times New Roman"/>
              <a:buAutoNum type="arabicPeriod"/>
            </a:pPr>
            <a:endParaRPr sz="2200">
              <a:latin typeface="Times New Roman"/>
              <a:cs typeface="Times New Roman"/>
            </a:endParaRPr>
          </a:p>
          <a:p>
            <a:pPr marL="266700" indent="-254000">
              <a:lnSpc>
                <a:spcPct val="100000"/>
              </a:lnSpc>
              <a:buAutoNum type="arabicPeriod" startAt="3"/>
              <a:tabLst>
                <a:tab pos="266700" algn="l"/>
              </a:tabLst>
            </a:pPr>
            <a:r>
              <a:rPr sz="2200" b="1" spc="-20" dirty="0">
                <a:latin typeface="Times New Roman"/>
                <a:cs typeface="Times New Roman"/>
              </a:rPr>
              <a:t>Managed</a:t>
            </a:r>
            <a:r>
              <a:rPr sz="2200" b="1" spc="-65" dirty="0">
                <a:latin typeface="Times New Roman"/>
                <a:cs typeface="Times New Roman"/>
              </a:rPr>
              <a:t> </a:t>
            </a:r>
            <a:r>
              <a:rPr sz="2200" b="1" spc="-20" dirty="0">
                <a:latin typeface="Times New Roman"/>
                <a:cs typeface="Times New Roman"/>
              </a:rPr>
              <a:t>Certificate</a:t>
            </a:r>
            <a:r>
              <a:rPr sz="2200" b="1" spc="-40" dirty="0">
                <a:latin typeface="Times New Roman"/>
                <a:cs typeface="Times New Roman"/>
              </a:rPr>
              <a:t> </a:t>
            </a:r>
            <a:r>
              <a:rPr sz="2200" b="1" spc="-10" dirty="0">
                <a:latin typeface="Times New Roman"/>
                <a:cs typeface="Times New Roman"/>
              </a:rPr>
              <a:t>Lifecycle</a:t>
            </a:r>
            <a:endParaRPr sz="2200">
              <a:latin typeface="Times New Roman"/>
              <a:cs typeface="Times New Roman"/>
            </a:endParaRPr>
          </a:p>
          <a:p>
            <a:pPr marL="755015" lvl="1" indent="-285115">
              <a:lnSpc>
                <a:spcPct val="100000"/>
              </a:lnSpc>
              <a:spcBef>
                <a:spcPts val="409"/>
              </a:spcBef>
              <a:buClr>
                <a:srgbClr val="9B2C1F"/>
              </a:buClr>
              <a:buSzPct val="84090"/>
              <a:buAutoNum type="arabicPeriod"/>
              <a:tabLst>
                <a:tab pos="755015" algn="l"/>
              </a:tabLst>
            </a:pPr>
            <a:r>
              <a:rPr sz="2200" spc="-260" dirty="0">
                <a:latin typeface="Times New Roman"/>
                <a:cs typeface="Times New Roman"/>
              </a:rPr>
              <a:t>ACM</a:t>
            </a:r>
            <a:r>
              <a:rPr sz="2200" spc="-50" dirty="0">
                <a:latin typeface="Times New Roman"/>
                <a:cs typeface="Times New Roman"/>
              </a:rPr>
              <a:t> </a:t>
            </a:r>
            <a:r>
              <a:rPr sz="2200" spc="-130" dirty="0">
                <a:latin typeface="Times New Roman"/>
                <a:cs typeface="Times New Roman"/>
              </a:rPr>
              <a:t>handles</a:t>
            </a:r>
            <a:r>
              <a:rPr sz="2200" spc="-50" dirty="0">
                <a:latin typeface="Times New Roman"/>
                <a:cs typeface="Times New Roman"/>
              </a:rPr>
              <a:t> </a:t>
            </a:r>
            <a:r>
              <a:rPr sz="2200" b="1" dirty="0">
                <a:latin typeface="Times New Roman"/>
                <a:cs typeface="Times New Roman"/>
              </a:rPr>
              <a:t>certificate</a:t>
            </a:r>
            <a:r>
              <a:rPr sz="2200" b="1" spc="10" dirty="0">
                <a:latin typeface="Times New Roman"/>
                <a:cs typeface="Times New Roman"/>
              </a:rPr>
              <a:t> </a:t>
            </a:r>
            <a:r>
              <a:rPr sz="2200" b="1" spc="-10" dirty="0">
                <a:latin typeface="Times New Roman"/>
                <a:cs typeface="Times New Roman"/>
              </a:rPr>
              <a:t>issuance,</a:t>
            </a:r>
            <a:r>
              <a:rPr sz="2200" b="1" spc="-130" dirty="0">
                <a:latin typeface="Times New Roman"/>
                <a:cs typeface="Times New Roman"/>
              </a:rPr>
              <a:t> </a:t>
            </a:r>
            <a:r>
              <a:rPr sz="2200" b="1" dirty="0">
                <a:latin typeface="Times New Roman"/>
                <a:cs typeface="Times New Roman"/>
              </a:rPr>
              <a:t>renewal,</a:t>
            </a:r>
            <a:r>
              <a:rPr sz="2200" b="1" spc="-105" dirty="0">
                <a:latin typeface="Times New Roman"/>
                <a:cs typeface="Times New Roman"/>
              </a:rPr>
              <a:t> </a:t>
            </a:r>
            <a:r>
              <a:rPr sz="2200" b="1" dirty="0">
                <a:latin typeface="Times New Roman"/>
                <a:cs typeface="Times New Roman"/>
              </a:rPr>
              <a:t>and</a:t>
            </a:r>
            <a:r>
              <a:rPr sz="2200" b="1" spc="-45" dirty="0">
                <a:latin typeface="Times New Roman"/>
                <a:cs typeface="Times New Roman"/>
              </a:rPr>
              <a:t> </a:t>
            </a:r>
            <a:r>
              <a:rPr sz="2200" b="1" spc="-10" dirty="0">
                <a:latin typeface="Times New Roman"/>
                <a:cs typeface="Times New Roman"/>
              </a:rPr>
              <a:t>revocation</a:t>
            </a:r>
            <a:r>
              <a:rPr sz="2200" spc="-10" dirty="0">
                <a:latin typeface="Times New Roman"/>
                <a:cs typeface="Times New Roman"/>
              </a:rPr>
              <a:t>.</a:t>
            </a:r>
            <a:endParaRPr sz="2200">
              <a:latin typeface="Times New Roman"/>
              <a:cs typeface="Times New Roman"/>
            </a:endParaRPr>
          </a:p>
          <a:p>
            <a:pPr marL="755015" lvl="1" indent="-285115">
              <a:lnSpc>
                <a:spcPct val="100000"/>
              </a:lnSpc>
              <a:spcBef>
                <a:spcPts val="395"/>
              </a:spcBef>
              <a:buClr>
                <a:srgbClr val="9B2C1F"/>
              </a:buClr>
              <a:buSzPct val="84090"/>
              <a:buAutoNum type="arabicPeriod"/>
              <a:tabLst>
                <a:tab pos="755015" algn="l"/>
              </a:tabLst>
            </a:pPr>
            <a:r>
              <a:rPr sz="2200" spc="-270" dirty="0">
                <a:latin typeface="Times New Roman"/>
                <a:cs typeface="Times New Roman"/>
              </a:rPr>
              <a:t>You</a:t>
            </a:r>
            <a:r>
              <a:rPr sz="2200" spc="-45" dirty="0">
                <a:latin typeface="Times New Roman"/>
                <a:cs typeface="Times New Roman"/>
              </a:rPr>
              <a:t> </a:t>
            </a:r>
            <a:r>
              <a:rPr sz="2200" spc="-100" dirty="0">
                <a:latin typeface="Times New Roman"/>
                <a:cs typeface="Times New Roman"/>
              </a:rPr>
              <a:t>don’t</a:t>
            </a:r>
            <a:r>
              <a:rPr sz="2200" spc="-40" dirty="0">
                <a:latin typeface="Times New Roman"/>
                <a:cs typeface="Times New Roman"/>
              </a:rPr>
              <a:t> </a:t>
            </a:r>
            <a:r>
              <a:rPr sz="2200" spc="-95" dirty="0">
                <a:latin typeface="Times New Roman"/>
                <a:cs typeface="Times New Roman"/>
              </a:rPr>
              <a:t>need</a:t>
            </a:r>
            <a:r>
              <a:rPr sz="2200" spc="-45" dirty="0">
                <a:latin typeface="Times New Roman"/>
                <a:cs typeface="Times New Roman"/>
              </a:rPr>
              <a:t> </a:t>
            </a:r>
            <a:r>
              <a:rPr sz="2200" dirty="0">
                <a:latin typeface="Times New Roman"/>
                <a:cs typeface="Times New Roman"/>
              </a:rPr>
              <a:t>to</a:t>
            </a:r>
            <a:r>
              <a:rPr sz="2200" spc="-75" dirty="0">
                <a:latin typeface="Times New Roman"/>
                <a:cs typeface="Times New Roman"/>
              </a:rPr>
              <a:t> </a:t>
            </a:r>
            <a:r>
              <a:rPr sz="2200" spc="-150" dirty="0">
                <a:latin typeface="Times New Roman"/>
                <a:cs typeface="Times New Roman"/>
              </a:rPr>
              <a:t>manually</a:t>
            </a:r>
            <a:r>
              <a:rPr sz="2200" spc="-45" dirty="0">
                <a:latin typeface="Times New Roman"/>
                <a:cs typeface="Times New Roman"/>
              </a:rPr>
              <a:t> </a:t>
            </a:r>
            <a:r>
              <a:rPr sz="2200" spc="-114" dirty="0">
                <a:latin typeface="Times New Roman"/>
                <a:cs typeface="Times New Roman"/>
              </a:rPr>
              <a:t>upload</a:t>
            </a:r>
            <a:r>
              <a:rPr sz="2200" spc="-40" dirty="0">
                <a:latin typeface="Times New Roman"/>
                <a:cs typeface="Times New Roman"/>
              </a:rPr>
              <a:t> </a:t>
            </a:r>
            <a:r>
              <a:rPr sz="2200" dirty="0">
                <a:latin typeface="Times New Roman"/>
                <a:cs typeface="Times New Roman"/>
              </a:rPr>
              <a:t>or</a:t>
            </a:r>
            <a:r>
              <a:rPr sz="2200" spc="-40" dirty="0">
                <a:latin typeface="Times New Roman"/>
                <a:cs typeface="Times New Roman"/>
              </a:rPr>
              <a:t> </a:t>
            </a:r>
            <a:r>
              <a:rPr sz="2200" spc="-60" dirty="0">
                <a:latin typeface="Times New Roman"/>
                <a:cs typeface="Times New Roman"/>
              </a:rPr>
              <a:t>rotate</a:t>
            </a:r>
            <a:r>
              <a:rPr sz="2200" spc="-45" dirty="0">
                <a:latin typeface="Times New Roman"/>
                <a:cs typeface="Times New Roman"/>
              </a:rPr>
              <a:t> </a:t>
            </a:r>
            <a:r>
              <a:rPr sz="2200" spc="-10" dirty="0">
                <a:latin typeface="Times New Roman"/>
                <a:cs typeface="Times New Roman"/>
              </a:rPr>
              <a:t>certificates.</a:t>
            </a:r>
            <a:endParaRPr sz="2200">
              <a:latin typeface="Times New Roman"/>
              <a:cs typeface="Times New Roman"/>
            </a:endParaRPr>
          </a:p>
          <a:p>
            <a:pPr lvl="1">
              <a:lnSpc>
                <a:spcPct val="100000"/>
              </a:lnSpc>
              <a:spcBef>
                <a:spcPts val="1110"/>
              </a:spcBef>
              <a:buClr>
                <a:srgbClr val="9B2C1F"/>
              </a:buClr>
              <a:buFont typeface="Times New Roman"/>
              <a:buAutoNum type="arabicPeriod"/>
            </a:pPr>
            <a:endParaRPr sz="2200">
              <a:latin typeface="Times New Roman"/>
              <a:cs typeface="Times New Roman"/>
            </a:endParaRPr>
          </a:p>
          <a:p>
            <a:pPr marL="266700" indent="-254000">
              <a:lnSpc>
                <a:spcPct val="100000"/>
              </a:lnSpc>
              <a:buAutoNum type="arabicPeriod" startAt="3"/>
              <a:tabLst>
                <a:tab pos="266700" algn="l"/>
              </a:tabLst>
            </a:pPr>
            <a:r>
              <a:rPr sz="2200" b="1" spc="-45" dirty="0">
                <a:latin typeface="Times New Roman"/>
                <a:cs typeface="Times New Roman"/>
              </a:rPr>
              <a:t>Custom</a:t>
            </a:r>
            <a:r>
              <a:rPr sz="2200" b="1" spc="-90" dirty="0">
                <a:latin typeface="Times New Roman"/>
                <a:cs typeface="Times New Roman"/>
              </a:rPr>
              <a:t> </a:t>
            </a:r>
            <a:r>
              <a:rPr sz="2200" b="1" spc="-20" dirty="0">
                <a:latin typeface="Times New Roman"/>
                <a:cs typeface="Times New Roman"/>
              </a:rPr>
              <a:t>Certificate</a:t>
            </a:r>
            <a:r>
              <a:rPr sz="2200" b="1" spc="-35" dirty="0">
                <a:latin typeface="Times New Roman"/>
                <a:cs typeface="Times New Roman"/>
              </a:rPr>
              <a:t> </a:t>
            </a:r>
            <a:r>
              <a:rPr sz="2200" b="1" spc="-10" dirty="0">
                <a:latin typeface="Times New Roman"/>
                <a:cs typeface="Times New Roman"/>
              </a:rPr>
              <a:t>Upload</a:t>
            </a:r>
            <a:endParaRPr sz="2200">
              <a:latin typeface="Times New Roman"/>
              <a:cs typeface="Times New Roman"/>
            </a:endParaRPr>
          </a:p>
          <a:p>
            <a:pPr marL="755015" lvl="1" indent="-285115">
              <a:lnSpc>
                <a:spcPct val="100000"/>
              </a:lnSpc>
              <a:spcBef>
                <a:spcPts val="405"/>
              </a:spcBef>
              <a:buClr>
                <a:srgbClr val="9B2C1F"/>
              </a:buClr>
              <a:buSzPct val="84090"/>
              <a:buAutoNum type="arabicPeriod"/>
              <a:tabLst>
                <a:tab pos="755015" algn="l"/>
              </a:tabLst>
            </a:pPr>
            <a:r>
              <a:rPr sz="2200" spc="-270" dirty="0">
                <a:latin typeface="Times New Roman"/>
                <a:cs typeface="Times New Roman"/>
              </a:rPr>
              <a:t>You</a:t>
            </a:r>
            <a:r>
              <a:rPr sz="2200" spc="-15" dirty="0">
                <a:latin typeface="Times New Roman"/>
                <a:cs typeface="Times New Roman"/>
              </a:rPr>
              <a:t> </a:t>
            </a:r>
            <a:r>
              <a:rPr sz="2200" spc="-150" dirty="0">
                <a:latin typeface="Times New Roman"/>
                <a:cs typeface="Times New Roman"/>
              </a:rPr>
              <a:t>can</a:t>
            </a:r>
            <a:r>
              <a:rPr sz="2200" spc="-20" dirty="0">
                <a:latin typeface="Times New Roman"/>
                <a:cs typeface="Times New Roman"/>
              </a:rPr>
              <a:t> </a:t>
            </a:r>
            <a:r>
              <a:rPr sz="2200" b="1" dirty="0">
                <a:latin typeface="Times New Roman"/>
                <a:cs typeface="Times New Roman"/>
              </a:rPr>
              <a:t>import</a:t>
            </a:r>
            <a:r>
              <a:rPr sz="2200" b="1" spc="-5" dirty="0">
                <a:latin typeface="Times New Roman"/>
                <a:cs typeface="Times New Roman"/>
              </a:rPr>
              <a:t> </a:t>
            </a:r>
            <a:r>
              <a:rPr sz="2200" b="1" dirty="0">
                <a:latin typeface="Times New Roman"/>
                <a:cs typeface="Times New Roman"/>
              </a:rPr>
              <a:t>third-party</a:t>
            </a:r>
            <a:r>
              <a:rPr sz="2200" b="1" spc="-20" dirty="0">
                <a:latin typeface="Times New Roman"/>
                <a:cs typeface="Times New Roman"/>
              </a:rPr>
              <a:t> </a:t>
            </a:r>
            <a:r>
              <a:rPr sz="2200" b="1" spc="-160" dirty="0">
                <a:latin typeface="Times New Roman"/>
                <a:cs typeface="Times New Roman"/>
              </a:rPr>
              <a:t>SSL/TLS</a:t>
            </a:r>
            <a:r>
              <a:rPr sz="2200" b="1" dirty="0">
                <a:latin typeface="Times New Roman"/>
                <a:cs typeface="Times New Roman"/>
              </a:rPr>
              <a:t> certificates</a:t>
            </a:r>
            <a:r>
              <a:rPr sz="2200" b="1" spc="-10" dirty="0">
                <a:latin typeface="Times New Roman"/>
                <a:cs typeface="Times New Roman"/>
              </a:rPr>
              <a:t> </a:t>
            </a:r>
            <a:r>
              <a:rPr sz="2200" spc="-100" dirty="0">
                <a:latin typeface="Times New Roman"/>
                <a:cs typeface="Times New Roman"/>
              </a:rPr>
              <a:t>from</a:t>
            </a:r>
            <a:r>
              <a:rPr sz="2200" spc="-20" dirty="0">
                <a:latin typeface="Times New Roman"/>
                <a:cs typeface="Times New Roman"/>
              </a:rPr>
              <a:t> </a:t>
            </a:r>
            <a:r>
              <a:rPr sz="2200" spc="-105" dirty="0">
                <a:latin typeface="Times New Roman"/>
                <a:cs typeface="Times New Roman"/>
              </a:rPr>
              <a:t>providers</a:t>
            </a:r>
            <a:r>
              <a:rPr sz="2200" spc="-40" dirty="0">
                <a:latin typeface="Times New Roman"/>
                <a:cs typeface="Times New Roman"/>
              </a:rPr>
              <a:t> </a:t>
            </a:r>
            <a:r>
              <a:rPr sz="2200" spc="-20" dirty="0">
                <a:latin typeface="Times New Roman"/>
                <a:cs typeface="Times New Roman"/>
              </a:rPr>
              <a:t>like</a:t>
            </a:r>
            <a:endParaRPr sz="2200">
              <a:latin typeface="Times New Roman"/>
              <a:cs typeface="Times New Roman"/>
            </a:endParaRPr>
          </a:p>
          <a:p>
            <a:pPr marL="756285">
              <a:lnSpc>
                <a:spcPct val="100000"/>
              </a:lnSpc>
            </a:pPr>
            <a:r>
              <a:rPr sz="2200" b="1" spc="-65" dirty="0">
                <a:latin typeface="Times New Roman"/>
                <a:cs typeface="Times New Roman"/>
              </a:rPr>
              <a:t>GoDaddy,</a:t>
            </a:r>
            <a:r>
              <a:rPr sz="2200" b="1" spc="-114" dirty="0">
                <a:latin typeface="Times New Roman"/>
                <a:cs typeface="Times New Roman"/>
              </a:rPr>
              <a:t> </a:t>
            </a:r>
            <a:r>
              <a:rPr sz="2200" b="1" spc="-10" dirty="0">
                <a:latin typeface="Times New Roman"/>
                <a:cs typeface="Times New Roman"/>
              </a:rPr>
              <a:t>DigiCert,</a:t>
            </a:r>
            <a:r>
              <a:rPr sz="2200" b="1" spc="-105" dirty="0">
                <a:latin typeface="Times New Roman"/>
                <a:cs typeface="Times New Roman"/>
              </a:rPr>
              <a:t> </a:t>
            </a:r>
            <a:r>
              <a:rPr sz="2200" b="1" dirty="0">
                <a:latin typeface="Times New Roman"/>
                <a:cs typeface="Times New Roman"/>
              </a:rPr>
              <a:t>and</a:t>
            </a:r>
            <a:r>
              <a:rPr sz="2200" b="1" spc="-30" dirty="0">
                <a:latin typeface="Times New Roman"/>
                <a:cs typeface="Times New Roman"/>
              </a:rPr>
              <a:t> </a:t>
            </a:r>
            <a:r>
              <a:rPr sz="2200" b="1" spc="-145" dirty="0">
                <a:latin typeface="Times New Roman"/>
                <a:cs typeface="Times New Roman"/>
              </a:rPr>
              <a:t>Let’s</a:t>
            </a:r>
            <a:r>
              <a:rPr sz="2200" b="1" spc="-15" dirty="0">
                <a:latin typeface="Times New Roman"/>
                <a:cs typeface="Times New Roman"/>
              </a:rPr>
              <a:t> </a:t>
            </a:r>
            <a:r>
              <a:rPr sz="2200" b="1" spc="-10" dirty="0">
                <a:latin typeface="Times New Roman"/>
                <a:cs typeface="Times New Roman"/>
              </a:rPr>
              <a:t>Encrypt</a:t>
            </a:r>
            <a:r>
              <a:rPr sz="2200" spc="-10" dirty="0">
                <a:latin typeface="Times New Roman"/>
                <a:cs typeface="Times New Roman"/>
              </a:rPr>
              <a:t>.</a:t>
            </a:r>
            <a:endParaRPr sz="2200">
              <a:latin typeface="Times New Roman"/>
              <a:cs typeface="Times New Roman"/>
            </a:endParaRPr>
          </a:p>
          <a:p>
            <a:pPr marL="755650" lvl="1" indent="-285750">
              <a:lnSpc>
                <a:spcPct val="100000"/>
              </a:lnSpc>
              <a:spcBef>
                <a:spcPts val="400"/>
              </a:spcBef>
              <a:buClr>
                <a:srgbClr val="9B2C1F"/>
              </a:buClr>
              <a:buSzPct val="84090"/>
              <a:buAutoNum type="arabicPeriod" startAt="2"/>
              <a:tabLst>
                <a:tab pos="755650" algn="l"/>
              </a:tabLst>
            </a:pPr>
            <a:r>
              <a:rPr sz="2200" spc="-114" dirty="0">
                <a:latin typeface="Times New Roman"/>
                <a:cs typeface="Times New Roman"/>
              </a:rPr>
              <a:t>Uploaded</a:t>
            </a:r>
            <a:r>
              <a:rPr sz="2200" spc="-40" dirty="0">
                <a:latin typeface="Times New Roman"/>
                <a:cs typeface="Times New Roman"/>
              </a:rPr>
              <a:t> </a:t>
            </a:r>
            <a:r>
              <a:rPr sz="2200" spc="-100" dirty="0">
                <a:latin typeface="Times New Roman"/>
                <a:cs typeface="Times New Roman"/>
              </a:rPr>
              <a:t>certificates</a:t>
            </a:r>
            <a:r>
              <a:rPr sz="2200" dirty="0">
                <a:latin typeface="Times New Roman"/>
                <a:cs typeface="Times New Roman"/>
              </a:rPr>
              <a:t> </a:t>
            </a:r>
            <a:r>
              <a:rPr sz="2200" b="1" spc="-25" dirty="0">
                <a:latin typeface="Times New Roman"/>
                <a:cs typeface="Times New Roman"/>
              </a:rPr>
              <a:t>must </a:t>
            </a:r>
            <a:r>
              <a:rPr sz="2200" b="1" dirty="0">
                <a:latin typeface="Times New Roman"/>
                <a:cs typeface="Times New Roman"/>
              </a:rPr>
              <a:t>be</a:t>
            </a:r>
            <a:r>
              <a:rPr sz="2200" b="1" spc="-15" dirty="0">
                <a:latin typeface="Times New Roman"/>
                <a:cs typeface="Times New Roman"/>
              </a:rPr>
              <a:t> </a:t>
            </a:r>
            <a:r>
              <a:rPr sz="2200" b="1" spc="-35" dirty="0">
                <a:latin typeface="Times New Roman"/>
                <a:cs typeface="Times New Roman"/>
              </a:rPr>
              <a:t>manually</a:t>
            </a:r>
            <a:r>
              <a:rPr sz="2200" b="1" spc="-5" dirty="0">
                <a:latin typeface="Times New Roman"/>
                <a:cs typeface="Times New Roman"/>
              </a:rPr>
              <a:t> </a:t>
            </a:r>
            <a:r>
              <a:rPr sz="2200" b="1" spc="-10" dirty="0">
                <a:latin typeface="Times New Roman"/>
                <a:cs typeface="Times New Roman"/>
              </a:rPr>
              <a:t>renewed</a:t>
            </a:r>
            <a:r>
              <a:rPr sz="2200" spc="-10" dirty="0">
                <a:latin typeface="Times New Roman"/>
                <a:cs typeface="Times New Roman"/>
              </a:rPr>
              <a:t>.</a:t>
            </a:r>
            <a:endParaRPr sz="22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62</a:t>
            </a:fld>
            <a:endParaRPr spc="-25"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3915" y="24460"/>
            <a:ext cx="5817235" cy="468630"/>
          </a:xfrm>
          <a:prstGeom prst="rect">
            <a:avLst/>
          </a:prstGeom>
        </p:spPr>
        <p:txBody>
          <a:bodyPr vert="horz" wrap="square" lIns="0" tIns="13335" rIns="0" bIns="0" rtlCol="0">
            <a:spAutoFit/>
          </a:bodyPr>
          <a:lstStyle/>
          <a:p>
            <a:pPr marL="12700">
              <a:lnSpc>
                <a:spcPct val="100000"/>
              </a:lnSpc>
              <a:spcBef>
                <a:spcPts val="105"/>
              </a:spcBef>
            </a:pPr>
            <a:r>
              <a:rPr spc="-190" dirty="0"/>
              <a:t>AWS</a:t>
            </a:r>
            <a:r>
              <a:rPr spc="-20" dirty="0"/>
              <a:t> Key</a:t>
            </a:r>
            <a:r>
              <a:rPr spc="-120" dirty="0"/>
              <a:t> </a:t>
            </a:r>
            <a:r>
              <a:rPr spc="-40" dirty="0"/>
              <a:t>Management</a:t>
            </a:r>
            <a:r>
              <a:rPr spc="-65" dirty="0"/>
              <a:t> </a:t>
            </a:r>
            <a:r>
              <a:rPr dirty="0"/>
              <a:t>Service</a:t>
            </a:r>
            <a:r>
              <a:rPr spc="-90" dirty="0"/>
              <a:t> </a:t>
            </a:r>
            <a:r>
              <a:rPr spc="-10" dirty="0"/>
              <a:t>(KMS)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pic>
        <p:nvPicPr>
          <p:cNvPr id="4" name="object 4"/>
          <p:cNvPicPr/>
          <p:nvPr/>
        </p:nvPicPr>
        <p:blipFill>
          <a:blip r:embed="rId2" cstate="print"/>
          <a:stretch>
            <a:fillRect/>
          </a:stretch>
        </p:blipFill>
        <p:spPr>
          <a:xfrm>
            <a:off x="361422" y="3318194"/>
            <a:ext cx="279189" cy="284571"/>
          </a:xfrm>
          <a:prstGeom prst="rect">
            <a:avLst/>
          </a:prstGeom>
        </p:spPr>
      </p:pic>
      <p:sp>
        <p:nvSpPr>
          <p:cNvPr id="5" name="object 5"/>
          <p:cNvSpPr txBox="1"/>
          <p:nvPr/>
        </p:nvSpPr>
        <p:spPr>
          <a:xfrm>
            <a:off x="296976" y="942289"/>
            <a:ext cx="8298815" cy="3089275"/>
          </a:xfrm>
          <a:prstGeom prst="rect">
            <a:avLst/>
          </a:prstGeom>
        </p:spPr>
        <p:txBody>
          <a:bodyPr vert="horz" wrap="square" lIns="0" tIns="12065" rIns="0" bIns="0" rtlCol="0">
            <a:spAutoFit/>
          </a:bodyPr>
          <a:lstStyle/>
          <a:p>
            <a:pPr marL="12700" marR="5080" algn="just">
              <a:lnSpc>
                <a:spcPct val="100000"/>
              </a:lnSpc>
              <a:spcBef>
                <a:spcPts val="95"/>
              </a:spcBef>
            </a:pPr>
            <a:r>
              <a:rPr sz="2200" spc="-295" dirty="0">
                <a:latin typeface="Times New Roman"/>
                <a:cs typeface="Times New Roman"/>
              </a:rPr>
              <a:t>AWS</a:t>
            </a:r>
            <a:r>
              <a:rPr sz="2200" spc="-5" dirty="0">
                <a:latin typeface="Times New Roman"/>
                <a:cs typeface="Times New Roman"/>
              </a:rPr>
              <a:t> </a:t>
            </a:r>
            <a:r>
              <a:rPr sz="2200" b="1" spc="-95" dirty="0">
                <a:latin typeface="Times New Roman"/>
                <a:cs typeface="Times New Roman"/>
              </a:rPr>
              <a:t>Key</a:t>
            </a:r>
            <a:r>
              <a:rPr sz="2200" b="1" spc="20" dirty="0">
                <a:latin typeface="Times New Roman"/>
                <a:cs typeface="Times New Roman"/>
              </a:rPr>
              <a:t> </a:t>
            </a:r>
            <a:r>
              <a:rPr sz="2200" b="1" spc="-30" dirty="0">
                <a:latin typeface="Times New Roman"/>
                <a:cs typeface="Times New Roman"/>
              </a:rPr>
              <a:t>Management</a:t>
            </a:r>
            <a:r>
              <a:rPr sz="2200" b="1" spc="20" dirty="0">
                <a:latin typeface="Times New Roman"/>
                <a:cs typeface="Times New Roman"/>
              </a:rPr>
              <a:t> </a:t>
            </a:r>
            <a:r>
              <a:rPr sz="2200" b="1" spc="-20" dirty="0">
                <a:latin typeface="Times New Roman"/>
                <a:cs typeface="Times New Roman"/>
              </a:rPr>
              <a:t>Service</a:t>
            </a:r>
            <a:r>
              <a:rPr sz="2200" b="1" spc="10" dirty="0">
                <a:latin typeface="Times New Roman"/>
                <a:cs typeface="Times New Roman"/>
              </a:rPr>
              <a:t> </a:t>
            </a:r>
            <a:r>
              <a:rPr sz="2200" b="1" spc="-95" dirty="0">
                <a:latin typeface="Times New Roman"/>
                <a:cs typeface="Times New Roman"/>
              </a:rPr>
              <a:t>(KMS)</a:t>
            </a:r>
            <a:r>
              <a:rPr sz="2200" b="1" spc="15" dirty="0">
                <a:latin typeface="Times New Roman"/>
                <a:cs typeface="Times New Roman"/>
              </a:rPr>
              <a:t> </a:t>
            </a:r>
            <a:r>
              <a:rPr sz="2200" spc="-140" dirty="0">
                <a:latin typeface="Times New Roman"/>
                <a:cs typeface="Times New Roman"/>
              </a:rPr>
              <a:t>is</a:t>
            </a:r>
            <a:r>
              <a:rPr sz="2200" spc="-5" dirty="0">
                <a:latin typeface="Times New Roman"/>
                <a:cs typeface="Times New Roman"/>
              </a:rPr>
              <a:t> </a:t>
            </a:r>
            <a:r>
              <a:rPr sz="2200" spc="-180" dirty="0">
                <a:latin typeface="Times New Roman"/>
                <a:cs typeface="Times New Roman"/>
              </a:rPr>
              <a:t>a</a:t>
            </a:r>
            <a:r>
              <a:rPr sz="2200" spc="15" dirty="0">
                <a:latin typeface="Times New Roman"/>
                <a:cs typeface="Times New Roman"/>
              </a:rPr>
              <a:t> </a:t>
            </a:r>
            <a:r>
              <a:rPr sz="2200" b="1" spc="-25" dirty="0">
                <a:latin typeface="Times New Roman"/>
                <a:cs typeface="Times New Roman"/>
              </a:rPr>
              <a:t>managed</a:t>
            </a:r>
            <a:r>
              <a:rPr sz="2200" b="1" spc="25" dirty="0">
                <a:latin typeface="Times New Roman"/>
                <a:cs typeface="Times New Roman"/>
              </a:rPr>
              <a:t> encryption</a:t>
            </a:r>
            <a:r>
              <a:rPr sz="2200" b="1" spc="5" dirty="0">
                <a:latin typeface="Times New Roman"/>
                <a:cs typeface="Times New Roman"/>
              </a:rPr>
              <a:t> service</a:t>
            </a:r>
            <a:r>
              <a:rPr sz="2200" b="1" spc="10" dirty="0">
                <a:latin typeface="Times New Roman"/>
                <a:cs typeface="Times New Roman"/>
              </a:rPr>
              <a:t> </a:t>
            </a:r>
            <a:r>
              <a:rPr sz="2200" spc="-80" dirty="0">
                <a:latin typeface="Times New Roman"/>
                <a:cs typeface="Times New Roman"/>
              </a:rPr>
              <a:t>that</a:t>
            </a:r>
            <a:r>
              <a:rPr sz="2200" spc="140" dirty="0">
                <a:latin typeface="Times New Roman"/>
                <a:cs typeface="Times New Roman"/>
              </a:rPr>
              <a:t> </a:t>
            </a:r>
            <a:r>
              <a:rPr sz="2200" spc="-135" dirty="0">
                <a:latin typeface="Times New Roman"/>
                <a:cs typeface="Times New Roman"/>
              </a:rPr>
              <a:t>allows</a:t>
            </a:r>
            <a:r>
              <a:rPr sz="2200" spc="150" dirty="0">
                <a:latin typeface="Times New Roman"/>
                <a:cs typeface="Times New Roman"/>
              </a:rPr>
              <a:t> </a:t>
            </a:r>
            <a:r>
              <a:rPr sz="2200" spc="-145" dirty="0">
                <a:latin typeface="Times New Roman"/>
                <a:cs typeface="Times New Roman"/>
              </a:rPr>
              <a:t>you</a:t>
            </a:r>
            <a:r>
              <a:rPr sz="2200" spc="160" dirty="0">
                <a:latin typeface="Times New Roman"/>
                <a:cs typeface="Times New Roman"/>
              </a:rPr>
              <a:t> </a:t>
            </a:r>
            <a:r>
              <a:rPr sz="2200" spc="-40" dirty="0">
                <a:latin typeface="Times New Roman"/>
                <a:cs typeface="Times New Roman"/>
              </a:rPr>
              <a:t>to</a:t>
            </a:r>
            <a:r>
              <a:rPr sz="2200" spc="170" dirty="0">
                <a:latin typeface="Times New Roman"/>
                <a:cs typeface="Times New Roman"/>
              </a:rPr>
              <a:t> </a:t>
            </a:r>
            <a:r>
              <a:rPr sz="2200" b="1" spc="-10" dirty="0">
                <a:latin typeface="Times New Roman"/>
                <a:cs typeface="Times New Roman"/>
              </a:rPr>
              <a:t>create,</a:t>
            </a:r>
            <a:r>
              <a:rPr sz="2200" b="1" spc="70" dirty="0">
                <a:latin typeface="Times New Roman"/>
                <a:cs typeface="Times New Roman"/>
              </a:rPr>
              <a:t> </a:t>
            </a:r>
            <a:r>
              <a:rPr sz="2200" b="1" spc="-25" dirty="0">
                <a:latin typeface="Times New Roman"/>
                <a:cs typeface="Times New Roman"/>
              </a:rPr>
              <a:t>manage,</a:t>
            </a:r>
            <a:r>
              <a:rPr sz="2200" b="1" spc="70" dirty="0">
                <a:latin typeface="Times New Roman"/>
                <a:cs typeface="Times New Roman"/>
              </a:rPr>
              <a:t> </a:t>
            </a:r>
            <a:r>
              <a:rPr sz="2200" b="1" spc="-25" dirty="0">
                <a:latin typeface="Times New Roman"/>
                <a:cs typeface="Times New Roman"/>
              </a:rPr>
              <a:t>and</a:t>
            </a:r>
            <a:r>
              <a:rPr sz="2200" b="1" spc="170" dirty="0">
                <a:latin typeface="Times New Roman"/>
                <a:cs typeface="Times New Roman"/>
              </a:rPr>
              <a:t> </a:t>
            </a:r>
            <a:r>
              <a:rPr sz="2200" b="1" spc="25" dirty="0">
                <a:latin typeface="Times New Roman"/>
                <a:cs typeface="Times New Roman"/>
              </a:rPr>
              <a:t>control</a:t>
            </a:r>
            <a:r>
              <a:rPr sz="2200" b="1" spc="155" dirty="0">
                <a:latin typeface="Times New Roman"/>
                <a:cs typeface="Times New Roman"/>
              </a:rPr>
              <a:t> </a:t>
            </a:r>
            <a:r>
              <a:rPr sz="2200" b="1" spc="5" dirty="0">
                <a:latin typeface="Times New Roman"/>
                <a:cs typeface="Times New Roman"/>
              </a:rPr>
              <a:t>cryptographic</a:t>
            </a:r>
            <a:r>
              <a:rPr sz="2200" b="1" spc="165" dirty="0">
                <a:latin typeface="Times New Roman"/>
                <a:cs typeface="Times New Roman"/>
              </a:rPr>
              <a:t> </a:t>
            </a:r>
            <a:r>
              <a:rPr sz="2200" b="1" spc="-20" dirty="0">
                <a:latin typeface="Times New Roman"/>
                <a:cs typeface="Times New Roman"/>
              </a:rPr>
              <a:t>keys</a:t>
            </a:r>
            <a:r>
              <a:rPr sz="2200" b="1" spc="155" dirty="0">
                <a:latin typeface="Times New Roman"/>
                <a:cs typeface="Times New Roman"/>
              </a:rPr>
              <a:t> </a:t>
            </a:r>
            <a:r>
              <a:rPr sz="2200" spc="-114" dirty="0">
                <a:latin typeface="Times New Roman"/>
                <a:cs typeface="Times New Roman"/>
              </a:rPr>
              <a:t>used</a:t>
            </a:r>
            <a:r>
              <a:rPr sz="2200" spc="-65" dirty="0">
                <a:latin typeface="Times New Roman"/>
                <a:cs typeface="Times New Roman"/>
              </a:rPr>
              <a:t> </a:t>
            </a:r>
            <a:r>
              <a:rPr sz="2200" spc="-40" dirty="0">
                <a:latin typeface="Times New Roman"/>
                <a:cs typeface="Times New Roman"/>
              </a:rPr>
              <a:t>to</a:t>
            </a:r>
            <a:r>
              <a:rPr sz="2200" spc="-45" dirty="0">
                <a:latin typeface="Times New Roman"/>
                <a:cs typeface="Times New Roman"/>
              </a:rPr>
              <a:t> </a:t>
            </a:r>
            <a:r>
              <a:rPr sz="2200" spc="-85" dirty="0">
                <a:latin typeface="Times New Roman"/>
                <a:cs typeface="Times New Roman"/>
              </a:rPr>
              <a:t>encrypt</a:t>
            </a:r>
            <a:r>
              <a:rPr sz="2200" spc="-25" dirty="0">
                <a:latin typeface="Times New Roman"/>
                <a:cs typeface="Times New Roman"/>
              </a:rPr>
              <a:t> </a:t>
            </a:r>
            <a:r>
              <a:rPr sz="2200" spc="-130" dirty="0">
                <a:latin typeface="Times New Roman"/>
                <a:cs typeface="Times New Roman"/>
              </a:rPr>
              <a:t>and</a:t>
            </a:r>
            <a:r>
              <a:rPr sz="2200" spc="-45" dirty="0">
                <a:latin typeface="Times New Roman"/>
                <a:cs typeface="Times New Roman"/>
              </a:rPr>
              <a:t> </a:t>
            </a:r>
            <a:r>
              <a:rPr sz="2200" spc="-85" dirty="0">
                <a:latin typeface="Times New Roman"/>
                <a:cs typeface="Times New Roman"/>
              </a:rPr>
              <a:t>decrypt</a:t>
            </a:r>
            <a:r>
              <a:rPr sz="2200" spc="-30" dirty="0">
                <a:latin typeface="Times New Roman"/>
                <a:cs typeface="Times New Roman"/>
              </a:rPr>
              <a:t> </a:t>
            </a:r>
            <a:r>
              <a:rPr sz="2200" spc="-120" dirty="0">
                <a:latin typeface="Times New Roman"/>
                <a:cs typeface="Times New Roman"/>
              </a:rPr>
              <a:t>data</a:t>
            </a:r>
            <a:r>
              <a:rPr sz="2200" spc="-60" dirty="0">
                <a:latin typeface="Times New Roman"/>
                <a:cs typeface="Times New Roman"/>
              </a:rPr>
              <a:t> </a:t>
            </a:r>
            <a:r>
              <a:rPr sz="2200" spc="-130" dirty="0">
                <a:latin typeface="Times New Roman"/>
                <a:cs typeface="Times New Roman"/>
              </a:rPr>
              <a:t>across</a:t>
            </a:r>
            <a:r>
              <a:rPr sz="2200" spc="-200" dirty="0">
                <a:latin typeface="Times New Roman"/>
                <a:cs typeface="Times New Roman"/>
              </a:rPr>
              <a:t> </a:t>
            </a:r>
            <a:r>
              <a:rPr sz="2200" spc="-295" dirty="0">
                <a:latin typeface="Times New Roman"/>
                <a:cs typeface="Times New Roman"/>
              </a:rPr>
              <a:t>AWS</a:t>
            </a:r>
            <a:r>
              <a:rPr sz="2200" spc="-50" dirty="0">
                <a:latin typeface="Times New Roman"/>
                <a:cs typeface="Times New Roman"/>
              </a:rPr>
              <a:t> </a:t>
            </a:r>
            <a:r>
              <a:rPr sz="2200" spc="-110" dirty="0">
                <a:latin typeface="Times New Roman"/>
                <a:cs typeface="Times New Roman"/>
              </a:rPr>
              <a:t>services</a:t>
            </a:r>
            <a:r>
              <a:rPr sz="2200" spc="-30" dirty="0">
                <a:latin typeface="Times New Roman"/>
                <a:cs typeface="Times New Roman"/>
              </a:rPr>
              <a:t> </a:t>
            </a:r>
            <a:r>
              <a:rPr sz="2200" spc="-130" dirty="0">
                <a:latin typeface="Times New Roman"/>
                <a:cs typeface="Times New Roman"/>
              </a:rPr>
              <a:t>and</a:t>
            </a:r>
            <a:r>
              <a:rPr sz="2200" spc="-50" dirty="0">
                <a:latin typeface="Times New Roman"/>
                <a:cs typeface="Times New Roman"/>
              </a:rPr>
              <a:t> </a:t>
            </a:r>
            <a:r>
              <a:rPr sz="2200" spc="-105" dirty="0">
                <a:latin typeface="Times New Roman"/>
                <a:cs typeface="Times New Roman"/>
              </a:rPr>
              <a:t>applications.</a:t>
            </a:r>
            <a:endParaRPr sz="2200">
              <a:latin typeface="Times New Roman"/>
              <a:cs typeface="Times New Roman"/>
            </a:endParaRPr>
          </a:p>
          <a:p>
            <a:pPr>
              <a:lnSpc>
                <a:spcPct val="100000"/>
              </a:lnSpc>
              <a:spcBef>
                <a:spcPts val="1315"/>
              </a:spcBef>
            </a:pPr>
            <a:endParaRPr sz="2200">
              <a:latin typeface="Times New Roman"/>
              <a:cs typeface="Times New Roman"/>
            </a:endParaRPr>
          </a:p>
          <a:p>
            <a:pPr marL="12700" algn="just">
              <a:lnSpc>
                <a:spcPct val="100000"/>
              </a:lnSpc>
            </a:pPr>
            <a:r>
              <a:rPr sz="2200" b="1" spc="-95" dirty="0">
                <a:latin typeface="Times New Roman"/>
                <a:cs typeface="Times New Roman"/>
              </a:rPr>
              <a:t>Key</a:t>
            </a:r>
            <a:r>
              <a:rPr sz="2200" b="1" spc="-35" dirty="0">
                <a:latin typeface="Times New Roman"/>
                <a:cs typeface="Times New Roman"/>
              </a:rPr>
              <a:t> </a:t>
            </a:r>
            <a:r>
              <a:rPr sz="2200" b="1" spc="-50" dirty="0">
                <a:latin typeface="Times New Roman"/>
                <a:cs typeface="Times New Roman"/>
              </a:rPr>
              <a:t>Features</a:t>
            </a:r>
            <a:r>
              <a:rPr sz="2200" b="1" spc="-25" dirty="0">
                <a:latin typeface="Times New Roman"/>
                <a:cs typeface="Times New Roman"/>
              </a:rPr>
              <a:t> </a:t>
            </a:r>
            <a:r>
              <a:rPr sz="2200" b="1" dirty="0">
                <a:latin typeface="Times New Roman"/>
                <a:cs typeface="Times New Roman"/>
              </a:rPr>
              <a:t>of</a:t>
            </a:r>
            <a:r>
              <a:rPr sz="2200" b="1" spc="-145" dirty="0">
                <a:latin typeface="Times New Roman"/>
                <a:cs typeface="Times New Roman"/>
              </a:rPr>
              <a:t> </a:t>
            </a:r>
            <a:r>
              <a:rPr sz="2200" b="1" spc="-250" dirty="0">
                <a:latin typeface="Times New Roman"/>
                <a:cs typeface="Times New Roman"/>
              </a:rPr>
              <a:t>AWS</a:t>
            </a:r>
            <a:r>
              <a:rPr sz="2200" b="1" spc="-35" dirty="0">
                <a:latin typeface="Times New Roman"/>
                <a:cs typeface="Times New Roman"/>
              </a:rPr>
              <a:t> </a:t>
            </a:r>
            <a:r>
              <a:rPr sz="2200" b="1" spc="-25" dirty="0">
                <a:latin typeface="Times New Roman"/>
                <a:cs typeface="Times New Roman"/>
              </a:rPr>
              <a:t>KMS</a:t>
            </a:r>
            <a:endParaRPr sz="2200">
              <a:latin typeface="Times New Roman"/>
              <a:cs typeface="Times New Roman"/>
            </a:endParaRPr>
          </a:p>
          <a:p>
            <a:pPr>
              <a:lnSpc>
                <a:spcPct val="100000"/>
              </a:lnSpc>
              <a:spcBef>
                <a:spcPts val="1380"/>
              </a:spcBef>
            </a:pPr>
            <a:endParaRPr sz="2200">
              <a:latin typeface="Times New Roman"/>
              <a:cs typeface="Times New Roman"/>
            </a:endParaRPr>
          </a:p>
          <a:p>
            <a:pPr marL="452755">
              <a:lnSpc>
                <a:spcPct val="100000"/>
              </a:lnSpc>
              <a:spcBef>
                <a:spcPts val="5"/>
              </a:spcBef>
            </a:pPr>
            <a:r>
              <a:rPr sz="2200" b="1" spc="-20" dirty="0">
                <a:latin typeface="Times New Roman"/>
                <a:cs typeface="Times New Roman"/>
              </a:rPr>
              <a:t>Centralized</a:t>
            </a:r>
            <a:r>
              <a:rPr sz="2200" b="1" spc="-25" dirty="0">
                <a:latin typeface="Times New Roman"/>
                <a:cs typeface="Times New Roman"/>
              </a:rPr>
              <a:t> </a:t>
            </a:r>
            <a:r>
              <a:rPr sz="2200" b="1" spc="-105" dirty="0">
                <a:latin typeface="Times New Roman"/>
                <a:cs typeface="Times New Roman"/>
              </a:rPr>
              <a:t>Key</a:t>
            </a:r>
            <a:r>
              <a:rPr sz="2200" b="1" spc="-40" dirty="0">
                <a:latin typeface="Times New Roman"/>
                <a:cs typeface="Times New Roman"/>
              </a:rPr>
              <a:t> </a:t>
            </a:r>
            <a:r>
              <a:rPr sz="2200" b="1" spc="-10" dirty="0">
                <a:latin typeface="Times New Roman"/>
                <a:cs typeface="Times New Roman"/>
              </a:rPr>
              <a:t>Management</a:t>
            </a:r>
            <a:endParaRPr sz="2200">
              <a:latin typeface="Times New Roman"/>
              <a:cs typeface="Times New Roman"/>
            </a:endParaRPr>
          </a:p>
          <a:p>
            <a:pPr marL="286385" indent="-273685">
              <a:lnSpc>
                <a:spcPct val="100000"/>
              </a:lnSpc>
              <a:spcBef>
                <a:spcPts val="525"/>
              </a:spcBef>
              <a:buClr>
                <a:srgbClr val="D24717"/>
              </a:buClr>
              <a:buSzPct val="84090"/>
              <a:buFont typeface="Arial MT"/>
              <a:buChar char="•"/>
              <a:tabLst>
                <a:tab pos="286385" algn="l"/>
              </a:tabLst>
            </a:pPr>
            <a:r>
              <a:rPr sz="2200" spc="-175" dirty="0">
                <a:latin typeface="Times New Roman"/>
                <a:cs typeface="Times New Roman"/>
              </a:rPr>
              <a:t>Manage</a:t>
            </a:r>
            <a:r>
              <a:rPr sz="2200" spc="-40" dirty="0">
                <a:latin typeface="Times New Roman"/>
                <a:cs typeface="Times New Roman"/>
              </a:rPr>
              <a:t> </a:t>
            </a:r>
            <a:r>
              <a:rPr sz="2200" spc="-130" dirty="0">
                <a:latin typeface="Times New Roman"/>
                <a:cs typeface="Times New Roman"/>
              </a:rPr>
              <a:t>all</a:t>
            </a:r>
            <a:r>
              <a:rPr sz="2200" spc="-40" dirty="0">
                <a:latin typeface="Times New Roman"/>
                <a:cs typeface="Times New Roman"/>
              </a:rPr>
              <a:t> </a:t>
            </a:r>
            <a:r>
              <a:rPr sz="2200" spc="-105" dirty="0">
                <a:latin typeface="Times New Roman"/>
                <a:cs typeface="Times New Roman"/>
              </a:rPr>
              <a:t>your</a:t>
            </a:r>
            <a:r>
              <a:rPr sz="2200" spc="-20" dirty="0">
                <a:latin typeface="Times New Roman"/>
                <a:cs typeface="Times New Roman"/>
              </a:rPr>
              <a:t> </a:t>
            </a:r>
            <a:r>
              <a:rPr sz="2200" spc="-85" dirty="0">
                <a:latin typeface="Times New Roman"/>
                <a:cs typeface="Times New Roman"/>
              </a:rPr>
              <a:t>encryption</a:t>
            </a:r>
            <a:r>
              <a:rPr sz="2200" dirty="0">
                <a:latin typeface="Times New Roman"/>
                <a:cs typeface="Times New Roman"/>
              </a:rPr>
              <a:t> </a:t>
            </a:r>
            <a:r>
              <a:rPr sz="2200" spc="-175" dirty="0">
                <a:latin typeface="Times New Roman"/>
                <a:cs typeface="Times New Roman"/>
              </a:rPr>
              <a:t>keys</a:t>
            </a:r>
            <a:r>
              <a:rPr sz="2200" spc="-35" dirty="0">
                <a:latin typeface="Times New Roman"/>
                <a:cs typeface="Times New Roman"/>
              </a:rPr>
              <a:t> </a:t>
            </a:r>
            <a:r>
              <a:rPr sz="2200" b="1" dirty="0">
                <a:latin typeface="Times New Roman"/>
                <a:cs typeface="Times New Roman"/>
              </a:rPr>
              <a:t>securely</a:t>
            </a:r>
            <a:r>
              <a:rPr sz="2200" b="1" spc="-15" dirty="0">
                <a:latin typeface="Times New Roman"/>
                <a:cs typeface="Times New Roman"/>
              </a:rPr>
              <a:t> </a:t>
            </a:r>
            <a:r>
              <a:rPr sz="2200" spc="-110" dirty="0">
                <a:latin typeface="Times New Roman"/>
                <a:cs typeface="Times New Roman"/>
              </a:rPr>
              <a:t>in</a:t>
            </a:r>
            <a:r>
              <a:rPr sz="2200" spc="-45" dirty="0">
                <a:latin typeface="Times New Roman"/>
                <a:cs typeface="Times New Roman"/>
              </a:rPr>
              <a:t> </a:t>
            </a:r>
            <a:r>
              <a:rPr sz="2200" spc="-95" dirty="0">
                <a:latin typeface="Times New Roman"/>
                <a:cs typeface="Times New Roman"/>
              </a:rPr>
              <a:t>one</a:t>
            </a:r>
            <a:r>
              <a:rPr sz="2200" spc="-30" dirty="0">
                <a:latin typeface="Times New Roman"/>
                <a:cs typeface="Times New Roman"/>
              </a:rPr>
              <a:t> </a:t>
            </a:r>
            <a:r>
              <a:rPr sz="2200" spc="-10" dirty="0">
                <a:latin typeface="Times New Roman"/>
                <a:cs typeface="Times New Roman"/>
              </a:rPr>
              <a:t>place.</a:t>
            </a:r>
            <a:endParaRPr sz="2200">
              <a:latin typeface="Times New Roman"/>
              <a:cs typeface="Times New Roman"/>
            </a:endParaRPr>
          </a:p>
        </p:txBody>
      </p:sp>
      <p:pic>
        <p:nvPicPr>
          <p:cNvPr id="6" name="object 6"/>
          <p:cNvPicPr/>
          <p:nvPr/>
        </p:nvPicPr>
        <p:blipFill>
          <a:blip r:embed="rId2" cstate="print"/>
          <a:stretch>
            <a:fillRect/>
          </a:stretch>
        </p:blipFill>
        <p:spPr>
          <a:xfrm>
            <a:off x="361422" y="4552634"/>
            <a:ext cx="279189" cy="284571"/>
          </a:xfrm>
          <a:prstGeom prst="rect">
            <a:avLst/>
          </a:prstGeom>
        </p:spPr>
      </p:pic>
      <p:sp>
        <p:nvSpPr>
          <p:cNvPr id="7" name="object 7"/>
          <p:cNvSpPr txBox="1"/>
          <p:nvPr/>
        </p:nvSpPr>
        <p:spPr>
          <a:xfrm>
            <a:off x="4837557" y="4905883"/>
            <a:ext cx="3769360" cy="360680"/>
          </a:xfrm>
          <a:prstGeom prst="rect">
            <a:avLst/>
          </a:prstGeom>
        </p:spPr>
        <p:txBody>
          <a:bodyPr vert="horz" wrap="square" lIns="0" tIns="12065" rIns="0" bIns="0" rtlCol="0">
            <a:spAutoFit/>
          </a:bodyPr>
          <a:lstStyle/>
          <a:p>
            <a:pPr marL="12700">
              <a:lnSpc>
                <a:spcPct val="100000"/>
              </a:lnSpc>
              <a:spcBef>
                <a:spcPts val="95"/>
              </a:spcBef>
              <a:tabLst>
                <a:tab pos="617855" algn="l"/>
                <a:tab pos="1179830" algn="l"/>
                <a:tab pos="1928495" algn="l"/>
                <a:tab pos="2747010" algn="l"/>
              </a:tabLst>
            </a:pPr>
            <a:r>
              <a:rPr sz="2200" spc="-20" dirty="0">
                <a:latin typeface="Times New Roman"/>
                <a:cs typeface="Times New Roman"/>
              </a:rPr>
              <a:t>like</a:t>
            </a:r>
            <a:r>
              <a:rPr sz="2200" dirty="0">
                <a:latin typeface="Times New Roman"/>
                <a:cs typeface="Times New Roman"/>
              </a:rPr>
              <a:t>	</a:t>
            </a:r>
            <a:r>
              <a:rPr sz="2200" b="1" spc="-25" dirty="0">
                <a:latin typeface="Times New Roman"/>
                <a:cs typeface="Times New Roman"/>
              </a:rPr>
              <a:t>S3,</a:t>
            </a:r>
            <a:r>
              <a:rPr sz="2200" b="1" dirty="0">
                <a:latin typeface="Times New Roman"/>
                <a:cs typeface="Times New Roman"/>
              </a:rPr>
              <a:t>	</a:t>
            </a:r>
            <a:r>
              <a:rPr sz="2200" b="1" spc="-20" dirty="0">
                <a:latin typeface="Times New Roman"/>
                <a:cs typeface="Times New Roman"/>
              </a:rPr>
              <a:t>EBS,</a:t>
            </a:r>
            <a:r>
              <a:rPr sz="2200" b="1" dirty="0">
                <a:latin typeface="Times New Roman"/>
                <a:cs typeface="Times New Roman"/>
              </a:rPr>
              <a:t>	</a:t>
            </a:r>
            <a:r>
              <a:rPr sz="2200" b="1" spc="-20" dirty="0">
                <a:latin typeface="Times New Roman"/>
                <a:cs typeface="Times New Roman"/>
              </a:rPr>
              <a:t>RDS,</a:t>
            </a:r>
            <a:r>
              <a:rPr sz="2200" b="1" dirty="0">
                <a:latin typeface="Times New Roman"/>
                <a:cs typeface="Times New Roman"/>
              </a:rPr>
              <a:t>	</a:t>
            </a:r>
            <a:r>
              <a:rPr sz="2200" b="1" spc="-80" dirty="0">
                <a:latin typeface="Times New Roman"/>
                <a:cs typeface="Times New Roman"/>
              </a:rPr>
              <a:t>Lambda,</a:t>
            </a:r>
            <a:endParaRPr sz="22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63</a:t>
            </a:fld>
            <a:endParaRPr spc="-25" dirty="0"/>
          </a:p>
        </p:txBody>
      </p:sp>
      <p:sp>
        <p:nvSpPr>
          <p:cNvPr id="8" name="object 8"/>
          <p:cNvSpPr txBox="1"/>
          <p:nvPr/>
        </p:nvSpPr>
        <p:spPr>
          <a:xfrm>
            <a:off x="296976" y="4435881"/>
            <a:ext cx="4394835" cy="1165860"/>
          </a:xfrm>
          <a:prstGeom prst="rect">
            <a:avLst/>
          </a:prstGeom>
        </p:spPr>
        <p:txBody>
          <a:bodyPr vert="horz" wrap="square" lIns="0" tIns="79375" rIns="0" bIns="0" rtlCol="0">
            <a:spAutoFit/>
          </a:bodyPr>
          <a:lstStyle/>
          <a:p>
            <a:pPr marL="452755">
              <a:lnSpc>
                <a:spcPct val="100000"/>
              </a:lnSpc>
              <a:spcBef>
                <a:spcPts val="625"/>
              </a:spcBef>
            </a:pPr>
            <a:r>
              <a:rPr sz="2200" b="1" dirty="0">
                <a:latin typeface="Times New Roman"/>
                <a:cs typeface="Times New Roman"/>
              </a:rPr>
              <a:t>Integration</a:t>
            </a:r>
            <a:r>
              <a:rPr sz="2200" b="1" spc="25" dirty="0">
                <a:latin typeface="Times New Roman"/>
                <a:cs typeface="Times New Roman"/>
              </a:rPr>
              <a:t> </a:t>
            </a:r>
            <a:r>
              <a:rPr sz="2200" b="1" dirty="0">
                <a:latin typeface="Times New Roman"/>
                <a:cs typeface="Times New Roman"/>
              </a:rPr>
              <a:t>with</a:t>
            </a:r>
            <a:r>
              <a:rPr sz="2200" b="1" spc="-100" dirty="0">
                <a:latin typeface="Times New Roman"/>
                <a:cs typeface="Times New Roman"/>
              </a:rPr>
              <a:t> </a:t>
            </a:r>
            <a:r>
              <a:rPr sz="2200" b="1" spc="-250" dirty="0">
                <a:latin typeface="Times New Roman"/>
                <a:cs typeface="Times New Roman"/>
              </a:rPr>
              <a:t>AWS</a:t>
            </a:r>
            <a:r>
              <a:rPr sz="2200" b="1" spc="10" dirty="0">
                <a:latin typeface="Times New Roman"/>
                <a:cs typeface="Times New Roman"/>
              </a:rPr>
              <a:t> </a:t>
            </a:r>
            <a:r>
              <a:rPr sz="2200" b="1" spc="-10" dirty="0">
                <a:latin typeface="Times New Roman"/>
                <a:cs typeface="Times New Roman"/>
              </a:rPr>
              <a:t>Services</a:t>
            </a:r>
            <a:endParaRPr sz="2200">
              <a:latin typeface="Times New Roman"/>
              <a:cs typeface="Times New Roman"/>
            </a:endParaRPr>
          </a:p>
          <a:p>
            <a:pPr marL="273685" marR="75565" indent="-273685" algn="r">
              <a:lnSpc>
                <a:spcPct val="100000"/>
              </a:lnSpc>
              <a:spcBef>
                <a:spcPts val="530"/>
              </a:spcBef>
              <a:buClr>
                <a:srgbClr val="D24717"/>
              </a:buClr>
              <a:buSzPct val="84090"/>
              <a:buFont typeface="Arial MT"/>
              <a:buChar char="•"/>
              <a:tabLst>
                <a:tab pos="273685" algn="l"/>
                <a:tab pos="1578610" algn="l"/>
                <a:tab pos="2805430" algn="l"/>
                <a:tab pos="3502660" algn="l"/>
              </a:tabLst>
            </a:pPr>
            <a:r>
              <a:rPr sz="2200" spc="-10" dirty="0">
                <a:latin typeface="Times New Roman"/>
                <a:cs typeface="Times New Roman"/>
              </a:rPr>
              <a:t>Seamlessly</a:t>
            </a:r>
            <a:r>
              <a:rPr sz="2200" dirty="0">
                <a:latin typeface="Times New Roman"/>
                <a:cs typeface="Times New Roman"/>
              </a:rPr>
              <a:t>	</a:t>
            </a:r>
            <a:r>
              <a:rPr sz="2200" spc="-10" dirty="0">
                <a:latin typeface="Times New Roman"/>
                <a:cs typeface="Times New Roman"/>
              </a:rPr>
              <a:t>integrates</a:t>
            </a:r>
            <a:r>
              <a:rPr sz="2200" dirty="0">
                <a:latin typeface="Times New Roman"/>
                <a:cs typeface="Times New Roman"/>
              </a:rPr>
              <a:t>	</a:t>
            </a:r>
            <a:r>
              <a:rPr sz="2200" spc="-20" dirty="0">
                <a:latin typeface="Times New Roman"/>
                <a:cs typeface="Times New Roman"/>
              </a:rPr>
              <a:t>with</a:t>
            </a:r>
            <a:r>
              <a:rPr sz="2200" dirty="0">
                <a:latin typeface="Times New Roman"/>
                <a:cs typeface="Times New Roman"/>
              </a:rPr>
              <a:t>	</a:t>
            </a:r>
            <a:r>
              <a:rPr sz="2200" spc="-100" dirty="0">
                <a:latin typeface="Times New Roman"/>
                <a:cs typeface="Times New Roman"/>
              </a:rPr>
              <a:t>services</a:t>
            </a:r>
            <a:endParaRPr sz="2200">
              <a:latin typeface="Times New Roman"/>
              <a:cs typeface="Times New Roman"/>
            </a:endParaRPr>
          </a:p>
          <a:p>
            <a:pPr marR="5080" algn="r">
              <a:lnSpc>
                <a:spcPct val="100000"/>
              </a:lnSpc>
            </a:pPr>
            <a:r>
              <a:rPr sz="2200" b="1" spc="-35" dirty="0">
                <a:latin typeface="Times New Roman"/>
                <a:cs typeface="Times New Roman"/>
              </a:rPr>
              <a:t>DynamoDB,</a:t>
            </a:r>
            <a:r>
              <a:rPr sz="2200" b="1" spc="-120" dirty="0">
                <a:latin typeface="Times New Roman"/>
                <a:cs typeface="Times New Roman"/>
              </a:rPr>
              <a:t> </a:t>
            </a:r>
            <a:r>
              <a:rPr sz="2200" b="1" spc="-65" dirty="0">
                <a:latin typeface="Times New Roman"/>
                <a:cs typeface="Times New Roman"/>
              </a:rPr>
              <a:t>CloudTrail,</a:t>
            </a:r>
            <a:r>
              <a:rPr sz="2200" b="1" spc="-110" dirty="0">
                <a:latin typeface="Times New Roman"/>
                <a:cs typeface="Times New Roman"/>
              </a:rPr>
              <a:t> </a:t>
            </a:r>
            <a:r>
              <a:rPr sz="2200" b="1" dirty="0">
                <a:latin typeface="Times New Roman"/>
                <a:cs typeface="Times New Roman"/>
              </a:rPr>
              <a:t>and</a:t>
            </a:r>
            <a:r>
              <a:rPr sz="2200" b="1" spc="-40" dirty="0">
                <a:latin typeface="Times New Roman"/>
                <a:cs typeface="Times New Roman"/>
              </a:rPr>
              <a:t> </a:t>
            </a:r>
            <a:r>
              <a:rPr sz="2200" b="1" spc="-10" dirty="0">
                <a:latin typeface="Times New Roman"/>
                <a:cs typeface="Times New Roman"/>
              </a:rPr>
              <a:t>more</a:t>
            </a:r>
            <a:r>
              <a:rPr sz="2200" spc="-10" dirty="0">
                <a:latin typeface="Times New Roman"/>
                <a:cs typeface="Times New Roman"/>
              </a:rPr>
              <a:t>.</a:t>
            </a:r>
            <a:endParaRPr sz="2200">
              <a:latin typeface="Times New Roman"/>
              <a:cs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3915" y="24460"/>
            <a:ext cx="5817235" cy="468630"/>
          </a:xfrm>
          <a:prstGeom prst="rect">
            <a:avLst/>
          </a:prstGeom>
        </p:spPr>
        <p:txBody>
          <a:bodyPr vert="horz" wrap="square" lIns="0" tIns="13335" rIns="0" bIns="0" rtlCol="0">
            <a:spAutoFit/>
          </a:bodyPr>
          <a:lstStyle/>
          <a:p>
            <a:pPr marL="12700">
              <a:lnSpc>
                <a:spcPct val="100000"/>
              </a:lnSpc>
              <a:spcBef>
                <a:spcPts val="105"/>
              </a:spcBef>
            </a:pPr>
            <a:r>
              <a:rPr spc="-190" dirty="0"/>
              <a:t>AWS</a:t>
            </a:r>
            <a:r>
              <a:rPr spc="-20" dirty="0"/>
              <a:t> Key</a:t>
            </a:r>
            <a:r>
              <a:rPr spc="-120" dirty="0"/>
              <a:t> </a:t>
            </a:r>
            <a:r>
              <a:rPr spc="-40" dirty="0"/>
              <a:t>Management</a:t>
            </a:r>
            <a:r>
              <a:rPr spc="-65" dirty="0"/>
              <a:t> </a:t>
            </a:r>
            <a:r>
              <a:rPr dirty="0"/>
              <a:t>Service</a:t>
            </a:r>
            <a:r>
              <a:rPr spc="-90" dirty="0"/>
              <a:t> </a:t>
            </a:r>
            <a:r>
              <a:rPr spc="-10" dirty="0"/>
              <a:t>(KMS)</a:t>
            </a:r>
          </a:p>
        </p:txBody>
      </p:sp>
      <p:sp>
        <p:nvSpPr>
          <p:cNvPr id="3" name="object 3"/>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pic>
        <p:nvPicPr>
          <p:cNvPr id="4" name="object 4"/>
          <p:cNvPicPr/>
          <p:nvPr/>
        </p:nvPicPr>
        <p:blipFill>
          <a:blip r:embed="rId2" cstate="print"/>
          <a:stretch>
            <a:fillRect/>
          </a:stretch>
        </p:blipFill>
        <p:spPr>
          <a:xfrm>
            <a:off x="361422" y="1001714"/>
            <a:ext cx="279189" cy="284571"/>
          </a:xfrm>
          <a:prstGeom prst="rect">
            <a:avLst/>
          </a:prstGeom>
        </p:spPr>
      </p:pic>
      <p:pic>
        <p:nvPicPr>
          <p:cNvPr id="5" name="object 5"/>
          <p:cNvPicPr/>
          <p:nvPr/>
        </p:nvPicPr>
        <p:blipFill>
          <a:blip r:embed="rId2" cstate="print"/>
          <a:stretch>
            <a:fillRect/>
          </a:stretch>
        </p:blipFill>
        <p:spPr>
          <a:xfrm>
            <a:off x="361422" y="2571434"/>
            <a:ext cx="279189" cy="284571"/>
          </a:xfrm>
          <a:prstGeom prst="rect">
            <a:avLst/>
          </a:prstGeom>
        </p:spPr>
      </p:pic>
      <p:pic>
        <p:nvPicPr>
          <p:cNvPr id="6" name="object 6"/>
          <p:cNvPicPr/>
          <p:nvPr/>
        </p:nvPicPr>
        <p:blipFill>
          <a:blip r:embed="rId2" cstate="print"/>
          <a:stretch>
            <a:fillRect/>
          </a:stretch>
        </p:blipFill>
        <p:spPr>
          <a:xfrm>
            <a:off x="361422" y="3805874"/>
            <a:ext cx="279189" cy="284571"/>
          </a:xfrm>
          <a:prstGeom prst="rect">
            <a:avLst/>
          </a:prstGeom>
        </p:spPr>
      </p:pic>
      <p:sp>
        <p:nvSpPr>
          <p:cNvPr id="7" name="object 7"/>
          <p:cNvSpPr txBox="1"/>
          <p:nvPr/>
        </p:nvSpPr>
        <p:spPr>
          <a:xfrm>
            <a:off x="296976" y="883500"/>
            <a:ext cx="8298815" cy="3971290"/>
          </a:xfrm>
          <a:prstGeom prst="rect">
            <a:avLst/>
          </a:prstGeom>
        </p:spPr>
        <p:txBody>
          <a:bodyPr vert="horz" wrap="square" lIns="0" tIns="80010" rIns="0" bIns="0" rtlCol="0">
            <a:spAutoFit/>
          </a:bodyPr>
          <a:lstStyle/>
          <a:p>
            <a:pPr marL="440690">
              <a:lnSpc>
                <a:spcPct val="100000"/>
              </a:lnSpc>
              <a:spcBef>
                <a:spcPts val="630"/>
              </a:spcBef>
            </a:pPr>
            <a:r>
              <a:rPr sz="2200" b="1" spc="-10" dirty="0">
                <a:latin typeface="Times New Roman"/>
                <a:cs typeface="Times New Roman"/>
              </a:rPr>
              <a:t>Automatic</a:t>
            </a:r>
            <a:r>
              <a:rPr sz="2200" b="1" spc="-50" dirty="0">
                <a:latin typeface="Times New Roman"/>
                <a:cs typeface="Times New Roman"/>
              </a:rPr>
              <a:t> </a:t>
            </a:r>
            <a:r>
              <a:rPr sz="2200" b="1" spc="-95" dirty="0">
                <a:latin typeface="Times New Roman"/>
                <a:cs typeface="Times New Roman"/>
              </a:rPr>
              <a:t>Key</a:t>
            </a:r>
            <a:r>
              <a:rPr sz="2200" b="1" spc="-40" dirty="0">
                <a:latin typeface="Times New Roman"/>
                <a:cs typeface="Times New Roman"/>
              </a:rPr>
              <a:t> </a:t>
            </a:r>
            <a:r>
              <a:rPr sz="2200" b="1" spc="-10" dirty="0">
                <a:latin typeface="Times New Roman"/>
                <a:cs typeface="Times New Roman"/>
              </a:rPr>
              <a:t>Rotation</a:t>
            </a:r>
            <a:endParaRPr sz="2200">
              <a:latin typeface="Times New Roman"/>
              <a:cs typeface="Times New Roman"/>
            </a:endParaRPr>
          </a:p>
          <a:p>
            <a:pPr marL="287020" marR="5080" indent="-274320">
              <a:lnSpc>
                <a:spcPct val="100000"/>
              </a:lnSpc>
              <a:spcBef>
                <a:spcPts val="530"/>
              </a:spcBef>
              <a:buClr>
                <a:srgbClr val="D24717"/>
              </a:buClr>
              <a:buSzPct val="84090"/>
              <a:buFont typeface="Arial MT"/>
              <a:buChar char="•"/>
              <a:tabLst>
                <a:tab pos="287020" algn="l"/>
                <a:tab pos="981710" algn="l"/>
                <a:tab pos="2783205" algn="l"/>
                <a:tab pos="3786504" algn="l"/>
                <a:tab pos="4490720" algn="l"/>
                <a:tab pos="4886960" algn="l"/>
                <a:tab pos="5903595" algn="l"/>
                <a:tab pos="6887845" algn="l"/>
                <a:tab pos="7988934" algn="l"/>
              </a:tabLst>
            </a:pPr>
            <a:r>
              <a:rPr sz="2200" spc="-320" dirty="0">
                <a:latin typeface="Times New Roman"/>
                <a:cs typeface="Times New Roman"/>
              </a:rPr>
              <a:t>AWS</a:t>
            </a:r>
            <a:r>
              <a:rPr sz="2200" dirty="0">
                <a:latin typeface="Times New Roman"/>
                <a:cs typeface="Times New Roman"/>
              </a:rPr>
              <a:t>	</a:t>
            </a:r>
            <a:r>
              <a:rPr sz="2200" b="1" spc="-10" dirty="0">
                <a:latin typeface="Times New Roman"/>
                <a:cs typeface="Times New Roman"/>
              </a:rPr>
              <a:t>automatically</a:t>
            </a:r>
            <a:r>
              <a:rPr sz="2200" b="1" dirty="0">
                <a:latin typeface="Times New Roman"/>
                <a:cs typeface="Times New Roman"/>
              </a:rPr>
              <a:t>	</a:t>
            </a:r>
            <a:r>
              <a:rPr sz="2200" b="1" spc="-10" dirty="0">
                <a:latin typeface="Times New Roman"/>
                <a:cs typeface="Times New Roman"/>
              </a:rPr>
              <a:t>rotates</a:t>
            </a:r>
            <a:r>
              <a:rPr sz="2200" b="1" dirty="0">
                <a:latin typeface="Times New Roman"/>
                <a:cs typeface="Times New Roman"/>
              </a:rPr>
              <a:t>	</a:t>
            </a:r>
            <a:r>
              <a:rPr sz="2200" b="1" spc="-20" dirty="0">
                <a:latin typeface="Times New Roman"/>
                <a:cs typeface="Times New Roman"/>
              </a:rPr>
              <a:t>keys</a:t>
            </a:r>
            <a:r>
              <a:rPr sz="2200" b="1" dirty="0">
                <a:latin typeface="Times New Roman"/>
                <a:cs typeface="Times New Roman"/>
              </a:rPr>
              <a:t>	</a:t>
            </a:r>
            <a:r>
              <a:rPr sz="2200" spc="-25" dirty="0">
                <a:latin typeface="Times New Roman"/>
                <a:cs typeface="Times New Roman"/>
              </a:rPr>
              <a:t>to</a:t>
            </a:r>
            <a:r>
              <a:rPr sz="2200" dirty="0">
                <a:latin typeface="Times New Roman"/>
                <a:cs typeface="Times New Roman"/>
              </a:rPr>
              <a:t>	</a:t>
            </a:r>
            <a:r>
              <a:rPr sz="2200" spc="-10" dirty="0">
                <a:latin typeface="Times New Roman"/>
                <a:cs typeface="Times New Roman"/>
              </a:rPr>
              <a:t>improve</a:t>
            </a:r>
            <a:r>
              <a:rPr sz="2200" dirty="0">
                <a:latin typeface="Times New Roman"/>
                <a:cs typeface="Times New Roman"/>
              </a:rPr>
              <a:t>	</a:t>
            </a:r>
            <a:r>
              <a:rPr sz="2200" spc="-10" dirty="0">
                <a:latin typeface="Times New Roman"/>
                <a:cs typeface="Times New Roman"/>
              </a:rPr>
              <a:t>security</a:t>
            </a:r>
            <a:r>
              <a:rPr sz="2200" dirty="0">
                <a:latin typeface="Times New Roman"/>
                <a:cs typeface="Times New Roman"/>
              </a:rPr>
              <a:t>	</a:t>
            </a:r>
            <a:r>
              <a:rPr sz="2200" spc="-10" dirty="0">
                <a:latin typeface="Times New Roman"/>
                <a:cs typeface="Times New Roman"/>
              </a:rPr>
              <a:t>(optional</a:t>
            </a:r>
            <a:r>
              <a:rPr sz="2200" dirty="0">
                <a:latin typeface="Times New Roman"/>
                <a:cs typeface="Times New Roman"/>
              </a:rPr>
              <a:t>	</a:t>
            </a:r>
            <a:r>
              <a:rPr sz="2200" spc="-100" dirty="0">
                <a:latin typeface="Times New Roman"/>
                <a:cs typeface="Times New Roman"/>
              </a:rPr>
              <a:t>for </a:t>
            </a:r>
            <a:r>
              <a:rPr sz="2200" spc="-95" dirty="0">
                <a:latin typeface="Times New Roman"/>
                <a:cs typeface="Times New Roman"/>
              </a:rPr>
              <a:t>customer-</a:t>
            </a:r>
            <a:r>
              <a:rPr sz="2200" spc="-145" dirty="0">
                <a:latin typeface="Times New Roman"/>
                <a:cs typeface="Times New Roman"/>
              </a:rPr>
              <a:t>managed</a:t>
            </a:r>
            <a:r>
              <a:rPr sz="2200" spc="110" dirty="0">
                <a:latin typeface="Times New Roman"/>
                <a:cs typeface="Times New Roman"/>
              </a:rPr>
              <a:t> </a:t>
            </a:r>
            <a:r>
              <a:rPr sz="2200" spc="-10" dirty="0">
                <a:latin typeface="Times New Roman"/>
                <a:cs typeface="Times New Roman"/>
              </a:rPr>
              <a:t>keys).</a:t>
            </a:r>
            <a:endParaRPr sz="2200">
              <a:latin typeface="Times New Roman"/>
              <a:cs typeface="Times New Roman"/>
            </a:endParaRPr>
          </a:p>
          <a:p>
            <a:pPr>
              <a:lnSpc>
                <a:spcPct val="100000"/>
              </a:lnSpc>
              <a:spcBef>
                <a:spcPts val="1385"/>
              </a:spcBef>
              <a:buClr>
                <a:srgbClr val="D24717"/>
              </a:buClr>
              <a:buFont typeface="Arial MT"/>
              <a:buChar char="•"/>
            </a:pPr>
            <a:endParaRPr sz="2200">
              <a:latin typeface="Times New Roman"/>
              <a:cs typeface="Times New Roman"/>
            </a:endParaRPr>
          </a:p>
          <a:p>
            <a:pPr marL="452755">
              <a:lnSpc>
                <a:spcPct val="100000"/>
              </a:lnSpc>
            </a:pPr>
            <a:r>
              <a:rPr sz="2200" b="1" spc="-10" dirty="0">
                <a:latin typeface="Times New Roman"/>
                <a:cs typeface="Times New Roman"/>
              </a:rPr>
              <a:t>Logging</a:t>
            </a:r>
            <a:r>
              <a:rPr sz="2200" b="1" spc="-110" dirty="0">
                <a:latin typeface="Times New Roman"/>
                <a:cs typeface="Times New Roman"/>
              </a:rPr>
              <a:t> </a:t>
            </a:r>
            <a:r>
              <a:rPr sz="2200" b="1" spc="-30" dirty="0">
                <a:latin typeface="Times New Roman"/>
                <a:cs typeface="Times New Roman"/>
              </a:rPr>
              <a:t>and</a:t>
            </a:r>
            <a:r>
              <a:rPr sz="2200" b="1" spc="-135" dirty="0">
                <a:latin typeface="Times New Roman"/>
                <a:cs typeface="Times New Roman"/>
              </a:rPr>
              <a:t> </a:t>
            </a:r>
            <a:r>
              <a:rPr sz="2200" b="1" spc="-10" dirty="0">
                <a:latin typeface="Times New Roman"/>
                <a:cs typeface="Times New Roman"/>
              </a:rPr>
              <a:t>Auditing</a:t>
            </a:r>
            <a:endParaRPr sz="2200">
              <a:latin typeface="Times New Roman"/>
              <a:cs typeface="Times New Roman"/>
            </a:endParaRPr>
          </a:p>
          <a:p>
            <a:pPr marL="286385" indent="-273685">
              <a:lnSpc>
                <a:spcPct val="100000"/>
              </a:lnSpc>
              <a:spcBef>
                <a:spcPts val="530"/>
              </a:spcBef>
              <a:buClr>
                <a:srgbClr val="D24717"/>
              </a:buClr>
              <a:buSzPct val="84090"/>
              <a:buFont typeface="Arial MT"/>
              <a:buChar char="•"/>
              <a:tabLst>
                <a:tab pos="286385" algn="l"/>
              </a:tabLst>
            </a:pPr>
            <a:r>
              <a:rPr sz="2200" b="1" spc="-250" dirty="0">
                <a:latin typeface="Times New Roman"/>
                <a:cs typeface="Times New Roman"/>
              </a:rPr>
              <a:t>AWS</a:t>
            </a:r>
            <a:r>
              <a:rPr sz="2200" b="1" spc="-20" dirty="0">
                <a:latin typeface="Times New Roman"/>
                <a:cs typeface="Times New Roman"/>
              </a:rPr>
              <a:t> </a:t>
            </a:r>
            <a:r>
              <a:rPr sz="2200" b="1" spc="-65" dirty="0">
                <a:latin typeface="Times New Roman"/>
                <a:cs typeface="Times New Roman"/>
              </a:rPr>
              <a:t>CloudTrail</a:t>
            </a:r>
            <a:r>
              <a:rPr sz="2200" b="1" spc="-20" dirty="0">
                <a:latin typeface="Times New Roman"/>
                <a:cs typeface="Times New Roman"/>
              </a:rPr>
              <a:t> </a:t>
            </a:r>
            <a:r>
              <a:rPr sz="2200" spc="-145" dirty="0">
                <a:latin typeface="Times New Roman"/>
                <a:cs typeface="Times New Roman"/>
              </a:rPr>
              <a:t>logs</a:t>
            </a:r>
            <a:r>
              <a:rPr sz="2200" spc="-20" dirty="0">
                <a:latin typeface="Times New Roman"/>
                <a:cs typeface="Times New Roman"/>
              </a:rPr>
              <a:t> </a:t>
            </a:r>
            <a:r>
              <a:rPr sz="2200" spc="-130" dirty="0">
                <a:latin typeface="Times New Roman"/>
                <a:cs typeface="Times New Roman"/>
              </a:rPr>
              <a:t>all</a:t>
            </a:r>
            <a:r>
              <a:rPr sz="2200" spc="-25" dirty="0">
                <a:latin typeface="Times New Roman"/>
                <a:cs typeface="Times New Roman"/>
              </a:rPr>
              <a:t> </a:t>
            </a:r>
            <a:r>
              <a:rPr sz="2200" spc="-175" dirty="0">
                <a:latin typeface="Times New Roman"/>
                <a:cs typeface="Times New Roman"/>
              </a:rPr>
              <a:t>key</a:t>
            </a:r>
            <a:r>
              <a:rPr sz="2200" spc="-25" dirty="0">
                <a:latin typeface="Times New Roman"/>
                <a:cs typeface="Times New Roman"/>
              </a:rPr>
              <a:t> </a:t>
            </a:r>
            <a:r>
              <a:rPr sz="2200" spc="-120" dirty="0">
                <a:latin typeface="Times New Roman"/>
                <a:cs typeface="Times New Roman"/>
              </a:rPr>
              <a:t>usage,</a:t>
            </a:r>
            <a:r>
              <a:rPr sz="2200" spc="-110" dirty="0">
                <a:latin typeface="Times New Roman"/>
                <a:cs typeface="Times New Roman"/>
              </a:rPr>
              <a:t> </a:t>
            </a:r>
            <a:r>
              <a:rPr sz="2200" spc="-120" dirty="0">
                <a:latin typeface="Times New Roman"/>
                <a:cs typeface="Times New Roman"/>
              </a:rPr>
              <a:t>helping</a:t>
            </a:r>
            <a:r>
              <a:rPr sz="2200" spc="-20" dirty="0">
                <a:latin typeface="Times New Roman"/>
                <a:cs typeface="Times New Roman"/>
              </a:rPr>
              <a:t> </a:t>
            </a:r>
            <a:r>
              <a:rPr sz="2200" spc="-90" dirty="0">
                <a:latin typeface="Times New Roman"/>
                <a:cs typeface="Times New Roman"/>
              </a:rPr>
              <a:t>with</a:t>
            </a:r>
            <a:r>
              <a:rPr sz="2200" spc="-20" dirty="0">
                <a:latin typeface="Times New Roman"/>
                <a:cs typeface="Times New Roman"/>
              </a:rPr>
              <a:t> </a:t>
            </a:r>
            <a:r>
              <a:rPr sz="2200" spc="-130" dirty="0">
                <a:latin typeface="Times New Roman"/>
                <a:cs typeface="Times New Roman"/>
              </a:rPr>
              <a:t>compliance</a:t>
            </a:r>
            <a:r>
              <a:rPr sz="2200" spc="10" dirty="0">
                <a:latin typeface="Times New Roman"/>
                <a:cs typeface="Times New Roman"/>
              </a:rPr>
              <a:t> </a:t>
            </a:r>
            <a:r>
              <a:rPr sz="2200" spc="-135" dirty="0">
                <a:latin typeface="Times New Roman"/>
                <a:cs typeface="Times New Roman"/>
              </a:rPr>
              <a:t>and</a:t>
            </a:r>
            <a:r>
              <a:rPr sz="2200" spc="-10" dirty="0">
                <a:latin typeface="Times New Roman"/>
                <a:cs typeface="Times New Roman"/>
              </a:rPr>
              <a:t> auditing.</a:t>
            </a:r>
            <a:endParaRPr sz="2200">
              <a:latin typeface="Times New Roman"/>
              <a:cs typeface="Times New Roman"/>
            </a:endParaRPr>
          </a:p>
          <a:p>
            <a:pPr>
              <a:lnSpc>
                <a:spcPct val="100000"/>
              </a:lnSpc>
              <a:spcBef>
                <a:spcPts val="1380"/>
              </a:spcBef>
              <a:buClr>
                <a:srgbClr val="D24717"/>
              </a:buClr>
              <a:buFont typeface="Arial MT"/>
              <a:buChar char="•"/>
            </a:pPr>
            <a:endParaRPr sz="2200">
              <a:latin typeface="Times New Roman"/>
              <a:cs typeface="Times New Roman"/>
            </a:endParaRPr>
          </a:p>
          <a:p>
            <a:pPr marL="452755">
              <a:lnSpc>
                <a:spcPct val="100000"/>
              </a:lnSpc>
            </a:pPr>
            <a:r>
              <a:rPr sz="2200" b="1" spc="-200" dirty="0">
                <a:latin typeface="Times New Roman"/>
                <a:cs typeface="Times New Roman"/>
              </a:rPr>
              <a:t>FIPS</a:t>
            </a:r>
            <a:r>
              <a:rPr sz="2200" b="1" spc="-50" dirty="0">
                <a:latin typeface="Times New Roman"/>
                <a:cs typeface="Times New Roman"/>
              </a:rPr>
              <a:t> </a:t>
            </a:r>
            <a:r>
              <a:rPr sz="2200" b="1" spc="-65" dirty="0">
                <a:latin typeface="Times New Roman"/>
                <a:cs typeface="Times New Roman"/>
              </a:rPr>
              <a:t>140-</a:t>
            </a:r>
            <a:r>
              <a:rPr sz="2200" b="1" dirty="0">
                <a:latin typeface="Times New Roman"/>
                <a:cs typeface="Times New Roman"/>
              </a:rPr>
              <a:t>2</a:t>
            </a:r>
            <a:r>
              <a:rPr sz="2200" b="1" spc="-80" dirty="0">
                <a:latin typeface="Times New Roman"/>
                <a:cs typeface="Times New Roman"/>
              </a:rPr>
              <a:t> </a:t>
            </a:r>
            <a:r>
              <a:rPr sz="2200" b="1" spc="-10" dirty="0">
                <a:latin typeface="Times New Roman"/>
                <a:cs typeface="Times New Roman"/>
              </a:rPr>
              <a:t>Compliance</a:t>
            </a:r>
            <a:endParaRPr sz="2200">
              <a:latin typeface="Times New Roman"/>
              <a:cs typeface="Times New Roman"/>
            </a:endParaRPr>
          </a:p>
          <a:p>
            <a:pPr marL="287020" marR="5080" indent="-274320">
              <a:lnSpc>
                <a:spcPct val="100000"/>
              </a:lnSpc>
              <a:spcBef>
                <a:spcPts val="530"/>
              </a:spcBef>
              <a:buClr>
                <a:srgbClr val="D24717"/>
              </a:buClr>
              <a:buSzPct val="84090"/>
              <a:buFont typeface="Arial MT"/>
              <a:buChar char="•"/>
              <a:tabLst>
                <a:tab pos="287020" algn="l"/>
              </a:tabLst>
            </a:pPr>
            <a:r>
              <a:rPr sz="2200" spc="-270" dirty="0">
                <a:latin typeface="Times New Roman"/>
                <a:cs typeface="Times New Roman"/>
              </a:rPr>
              <a:t>KMS</a:t>
            </a:r>
            <a:r>
              <a:rPr sz="2200" spc="130" dirty="0">
                <a:latin typeface="Times New Roman"/>
                <a:cs typeface="Times New Roman"/>
              </a:rPr>
              <a:t> </a:t>
            </a:r>
            <a:r>
              <a:rPr sz="2200" spc="-10" dirty="0">
                <a:latin typeface="Times New Roman"/>
                <a:cs typeface="Times New Roman"/>
              </a:rPr>
              <a:t>is</a:t>
            </a:r>
            <a:r>
              <a:rPr sz="2200" spc="20" dirty="0">
                <a:latin typeface="Times New Roman"/>
                <a:cs typeface="Times New Roman"/>
              </a:rPr>
              <a:t> </a:t>
            </a:r>
            <a:r>
              <a:rPr sz="2200" b="1" spc="-140" dirty="0">
                <a:latin typeface="Times New Roman"/>
                <a:cs typeface="Times New Roman"/>
              </a:rPr>
              <a:t>FIPS</a:t>
            </a:r>
            <a:r>
              <a:rPr sz="2200" b="1" spc="95" dirty="0">
                <a:latin typeface="Times New Roman"/>
                <a:cs typeface="Times New Roman"/>
              </a:rPr>
              <a:t> </a:t>
            </a:r>
            <a:r>
              <a:rPr sz="2200" b="1" spc="-65" dirty="0">
                <a:latin typeface="Times New Roman"/>
                <a:cs typeface="Times New Roman"/>
              </a:rPr>
              <a:t>140-</a:t>
            </a:r>
            <a:r>
              <a:rPr sz="2200" b="1" dirty="0">
                <a:latin typeface="Times New Roman"/>
                <a:cs typeface="Times New Roman"/>
              </a:rPr>
              <a:t>2</a:t>
            </a:r>
            <a:r>
              <a:rPr sz="2200" b="1" spc="90" dirty="0">
                <a:latin typeface="Times New Roman"/>
                <a:cs typeface="Times New Roman"/>
              </a:rPr>
              <a:t> </a:t>
            </a:r>
            <a:r>
              <a:rPr sz="2200" b="1" dirty="0">
                <a:latin typeface="Times New Roman"/>
                <a:cs typeface="Times New Roman"/>
              </a:rPr>
              <a:t>validated</a:t>
            </a:r>
            <a:r>
              <a:rPr sz="2200" dirty="0">
                <a:latin typeface="Times New Roman"/>
                <a:cs typeface="Times New Roman"/>
              </a:rPr>
              <a:t>,</a:t>
            </a:r>
            <a:r>
              <a:rPr sz="2200" spc="5" dirty="0">
                <a:latin typeface="Times New Roman"/>
                <a:cs typeface="Times New Roman"/>
              </a:rPr>
              <a:t> </a:t>
            </a:r>
            <a:r>
              <a:rPr sz="2200" spc="-110" dirty="0">
                <a:latin typeface="Times New Roman"/>
                <a:cs typeface="Times New Roman"/>
              </a:rPr>
              <a:t>making</a:t>
            </a:r>
            <a:r>
              <a:rPr sz="2200" spc="80" dirty="0">
                <a:latin typeface="Times New Roman"/>
                <a:cs typeface="Times New Roman"/>
              </a:rPr>
              <a:t> </a:t>
            </a:r>
            <a:r>
              <a:rPr sz="2200" dirty="0">
                <a:latin typeface="Times New Roman"/>
                <a:cs typeface="Times New Roman"/>
              </a:rPr>
              <a:t>it</a:t>
            </a:r>
            <a:r>
              <a:rPr sz="2200" spc="80" dirty="0">
                <a:latin typeface="Times New Roman"/>
                <a:cs typeface="Times New Roman"/>
              </a:rPr>
              <a:t> </a:t>
            </a:r>
            <a:r>
              <a:rPr sz="2200" spc="-80" dirty="0">
                <a:latin typeface="Times New Roman"/>
                <a:cs typeface="Times New Roman"/>
              </a:rPr>
              <a:t>compliant</a:t>
            </a:r>
            <a:r>
              <a:rPr sz="2200" spc="75" dirty="0">
                <a:latin typeface="Times New Roman"/>
                <a:cs typeface="Times New Roman"/>
              </a:rPr>
              <a:t> </a:t>
            </a:r>
            <a:r>
              <a:rPr sz="2200" dirty="0">
                <a:latin typeface="Times New Roman"/>
                <a:cs typeface="Times New Roman"/>
              </a:rPr>
              <a:t>for</a:t>
            </a:r>
            <a:r>
              <a:rPr sz="2200" spc="95" dirty="0">
                <a:latin typeface="Times New Roman"/>
                <a:cs typeface="Times New Roman"/>
              </a:rPr>
              <a:t> </a:t>
            </a:r>
            <a:r>
              <a:rPr sz="2200" b="1" dirty="0">
                <a:latin typeface="Times New Roman"/>
                <a:cs typeface="Times New Roman"/>
              </a:rPr>
              <a:t>government</a:t>
            </a:r>
            <a:r>
              <a:rPr sz="2200" b="1" spc="100" dirty="0">
                <a:latin typeface="Times New Roman"/>
                <a:cs typeface="Times New Roman"/>
              </a:rPr>
              <a:t> </a:t>
            </a:r>
            <a:r>
              <a:rPr sz="2200" b="1" spc="-25" dirty="0">
                <a:latin typeface="Times New Roman"/>
                <a:cs typeface="Times New Roman"/>
              </a:rPr>
              <a:t>and </a:t>
            </a:r>
            <a:r>
              <a:rPr sz="2200" b="1" dirty="0">
                <a:latin typeface="Times New Roman"/>
                <a:cs typeface="Times New Roman"/>
              </a:rPr>
              <a:t>enterprise</a:t>
            </a:r>
            <a:r>
              <a:rPr sz="2200" b="1" spc="15" dirty="0">
                <a:latin typeface="Times New Roman"/>
                <a:cs typeface="Times New Roman"/>
              </a:rPr>
              <a:t> </a:t>
            </a:r>
            <a:r>
              <a:rPr sz="2200" b="1" dirty="0">
                <a:latin typeface="Times New Roman"/>
                <a:cs typeface="Times New Roman"/>
              </a:rPr>
              <a:t>security</a:t>
            </a:r>
            <a:r>
              <a:rPr sz="2200" b="1" spc="5" dirty="0">
                <a:latin typeface="Times New Roman"/>
                <a:cs typeface="Times New Roman"/>
              </a:rPr>
              <a:t> </a:t>
            </a:r>
            <a:r>
              <a:rPr sz="2200" b="1" spc="-10" dirty="0">
                <a:latin typeface="Times New Roman"/>
                <a:cs typeface="Times New Roman"/>
              </a:rPr>
              <a:t>standards</a:t>
            </a:r>
            <a:r>
              <a:rPr sz="2200" spc="-10" dirty="0">
                <a:latin typeface="Times New Roman"/>
                <a:cs typeface="Times New Roman"/>
              </a:rPr>
              <a:t>.</a:t>
            </a:r>
            <a:endParaRPr sz="2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t>64</a:t>
            </a:fld>
            <a:endParaRPr spc="-25"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A9FAF-B267-398E-AAF0-8A6F4B0D9AB9}"/>
              </a:ext>
            </a:extLst>
          </p:cNvPr>
          <p:cNvSpPr>
            <a:spLocks noGrp="1"/>
          </p:cNvSpPr>
          <p:nvPr>
            <p:ph type="title"/>
          </p:nvPr>
        </p:nvSpPr>
        <p:spPr>
          <a:xfrm>
            <a:off x="307340" y="247599"/>
            <a:ext cx="8529319" cy="446276"/>
          </a:xfrm>
        </p:spPr>
        <p:txBody>
          <a:bodyPr/>
          <a:lstStyle/>
          <a:p>
            <a:r>
              <a:rPr lang="en-US" dirty="0"/>
              <a:t>API Gateway</a:t>
            </a:r>
          </a:p>
        </p:txBody>
      </p:sp>
      <p:sp>
        <p:nvSpPr>
          <p:cNvPr id="3" name="Text Placeholder 2">
            <a:extLst>
              <a:ext uri="{FF2B5EF4-FFF2-40B4-BE49-F238E27FC236}">
                <a16:creationId xmlns:a16="http://schemas.microsoft.com/office/drawing/2014/main" id="{DE99A117-9CA1-E53C-DCEA-CE56DAB83085}"/>
              </a:ext>
            </a:extLst>
          </p:cNvPr>
          <p:cNvSpPr>
            <a:spLocks noGrp="1"/>
          </p:cNvSpPr>
          <p:nvPr>
            <p:ph type="body" idx="1"/>
          </p:nvPr>
        </p:nvSpPr>
        <p:spPr>
          <a:xfrm>
            <a:off x="292100" y="1066800"/>
            <a:ext cx="8301355" cy="2585323"/>
          </a:xfrm>
        </p:spPr>
        <p:txBody>
          <a:bodyPr/>
          <a:lstStyle/>
          <a:p>
            <a:pPr algn="just"/>
            <a:r>
              <a:rPr lang="en-US" b="0" dirty="0"/>
              <a:t>AWS API Gateway is a fully managed service that acts as a "front door" for applications to access data, business logic, or functionality from backend services. It allows developers to create, publish, maintain, monitor, and secure APIs at any scale. Think of it as a central hub for all incoming API requests, routing them to the correct backend service and handling a variety of tasks along the way.</a:t>
            </a:r>
          </a:p>
        </p:txBody>
      </p:sp>
      <p:sp>
        <p:nvSpPr>
          <p:cNvPr id="5" name="TextBox 4">
            <a:extLst>
              <a:ext uri="{FF2B5EF4-FFF2-40B4-BE49-F238E27FC236}">
                <a16:creationId xmlns:a16="http://schemas.microsoft.com/office/drawing/2014/main" id="{41A44CC7-4098-0460-8309-46EE31420441}"/>
              </a:ext>
            </a:extLst>
          </p:cNvPr>
          <p:cNvSpPr txBox="1"/>
          <p:nvPr/>
        </p:nvSpPr>
        <p:spPr>
          <a:xfrm>
            <a:off x="307340" y="4343400"/>
            <a:ext cx="8379460" cy="1754326"/>
          </a:xfrm>
          <a:prstGeom prst="rect">
            <a:avLst/>
          </a:prstGeom>
          <a:noFill/>
        </p:spPr>
        <p:txBody>
          <a:bodyPr wrap="square">
            <a:spAutoFit/>
          </a:bodyPr>
          <a:lstStyle/>
          <a:p>
            <a:pPr algn="just"/>
            <a:r>
              <a:rPr lang="en-US" dirty="0"/>
              <a:t>When a client sends a request to your API, the AWS API Gateway intercepts it. It then handles a range of functions before forwarding the request to the appropriate backend service. These backend services can be anything from </a:t>
            </a:r>
            <a:r>
              <a:rPr lang="en-US" b="1" dirty="0"/>
              <a:t>AWS Lambda functions</a:t>
            </a:r>
            <a:r>
              <a:rPr lang="en-US" dirty="0"/>
              <a:t> and </a:t>
            </a:r>
            <a:r>
              <a:rPr lang="en-US" b="1" dirty="0"/>
              <a:t>Amazon EC2 instances</a:t>
            </a:r>
            <a:r>
              <a:rPr lang="en-US" dirty="0"/>
              <a:t> to other publicly accessible web services. After the backend service processes the request, the API Gateway receives the response and sends it back to the client.</a:t>
            </a:r>
          </a:p>
        </p:txBody>
      </p:sp>
    </p:spTree>
    <p:extLst>
      <p:ext uri="{BB962C8B-B14F-4D97-AF65-F5344CB8AC3E}">
        <p14:creationId xmlns:p14="http://schemas.microsoft.com/office/powerpoint/2010/main" val="2134456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9A8BC-E0D3-A297-AE7E-FA95BE92600C}"/>
              </a:ext>
            </a:extLst>
          </p:cNvPr>
          <p:cNvSpPr>
            <a:spLocks noGrp="1"/>
          </p:cNvSpPr>
          <p:nvPr>
            <p:ph type="title"/>
          </p:nvPr>
        </p:nvSpPr>
        <p:spPr>
          <a:xfrm>
            <a:off x="307340" y="247599"/>
            <a:ext cx="8529319" cy="938719"/>
          </a:xfrm>
        </p:spPr>
        <p:txBody>
          <a:bodyPr/>
          <a:lstStyle/>
          <a:p>
            <a:pPr algn="l" rtl="0"/>
            <a:r>
              <a:rPr lang="en-US" altLang="en-US" sz="3200" b="1" dirty="0">
                <a:latin typeface="Arial" panose="020B0604020202020204" pitchFamily="34" charset="0"/>
              </a:rPr>
              <a:t>Key Features and Benefits </a:t>
            </a:r>
            <a:br>
              <a:rPr lang="en-US" altLang="en-US" sz="3200" b="1" dirty="0">
                <a:latin typeface="Arial" panose="020B0604020202020204" pitchFamily="34" charset="0"/>
              </a:rPr>
            </a:br>
            <a:endParaRPr lang="en-US" dirty="0"/>
          </a:p>
        </p:txBody>
      </p:sp>
      <p:sp>
        <p:nvSpPr>
          <p:cNvPr id="7" name="Rectangle 4">
            <a:extLst>
              <a:ext uri="{FF2B5EF4-FFF2-40B4-BE49-F238E27FC236}">
                <a16:creationId xmlns:a16="http://schemas.microsoft.com/office/drawing/2014/main" id="{5B875FF5-3064-FE01-1E55-363A9396E4D4}"/>
              </a:ext>
            </a:extLst>
          </p:cNvPr>
          <p:cNvSpPr>
            <a:spLocks noGrp="1" noChangeArrowheads="1"/>
          </p:cNvSpPr>
          <p:nvPr>
            <p:ph type="body" idx="1"/>
          </p:nvPr>
        </p:nvSpPr>
        <p:spPr bwMode="auto">
          <a:xfrm>
            <a:off x="762000" y="1371600"/>
            <a:ext cx="8229600" cy="4693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300" b="1" i="0" u="none" strike="noStrike" cap="none" normalizeH="0" baseline="0" dirty="0">
                <a:ln>
                  <a:noFill/>
                </a:ln>
                <a:solidFill>
                  <a:schemeClr val="tx1"/>
                </a:solidFill>
                <a:effectLst/>
                <a:latin typeface="Arial" panose="020B0604020202020204" pitchFamily="34" charset="0"/>
              </a:rPr>
              <a:t>API Management and Efficiency</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3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Arial" panose="020B0604020202020204" pitchFamily="34" charset="0"/>
              </a:rPr>
              <a:t>API Types:</a:t>
            </a:r>
            <a:r>
              <a:rPr kumimoji="0" lang="en-US" altLang="en-US" sz="2300" b="0" i="0" u="none" strike="noStrike" cap="none" normalizeH="0" baseline="0" dirty="0">
                <a:ln>
                  <a:noFill/>
                </a:ln>
                <a:solidFill>
                  <a:schemeClr val="tx1"/>
                </a:solidFill>
                <a:effectLst/>
                <a:latin typeface="Arial" panose="020B0604020202020204" pitchFamily="34" charset="0"/>
              </a:rPr>
              <a:t> You can create different types of APIs, including </a:t>
            </a:r>
            <a:r>
              <a:rPr kumimoji="0" lang="en-US" altLang="en-US" sz="2300" b="1" i="0" u="none" strike="noStrike" cap="none" normalizeH="0" baseline="0" dirty="0">
                <a:ln>
                  <a:noFill/>
                </a:ln>
                <a:solidFill>
                  <a:schemeClr val="tx1"/>
                </a:solidFill>
                <a:effectLst/>
                <a:latin typeface="Arial" panose="020B0604020202020204" pitchFamily="34" charset="0"/>
              </a:rPr>
              <a:t>RESTful APIs</a:t>
            </a:r>
            <a:r>
              <a:rPr kumimoji="0" lang="en-US" altLang="en-US" sz="2300" b="0" i="0" u="none" strike="noStrike" cap="none" normalizeH="0" baseline="0" dirty="0">
                <a:ln>
                  <a:noFill/>
                </a:ln>
                <a:solidFill>
                  <a:schemeClr val="tx1"/>
                </a:solidFill>
                <a:effectLst/>
                <a:latin typeface="Arial" panose="020B0604020202020204" pitchFamily="34" charset="0"/>
              </a:rPr>
              <a:t> (for stateless communication) and </a:t>
            </a:r>
            <a:r>
              <a:rPr kumimoji="0" lang="en-US" altLang="en-US" sz="2300" b="1" i="0" u="none" strike="noStrike" cap="none" normalizeH="0" baseline="0" dirty="0">
                <a:ln>
                  <a:noFill/>
                </a:ln>
                <a:solidFill>
                  <a:schemeClr val="tx1"/>
                </a:solidFill>
                <a:effectLst/>
                <a:latin typeface="Arial" panose="020B0604020202020204" pitchFamily="34" charset="0"/>
              </a:rPr>
              <a:t>WebSocket APIs</a:t>
            </a:r>
            <a:r>
              <a:rPr kumimoji="0" lang="en-US" altLang="en-US" sz="2300" b="0" i="0" u="none" strike="noStrike" cap="none" normalizeH="0" baseline="0" dirty="0">
                <a:ln>
                  <a:noFill/>
                </a:ln>
                <a:solidFill>
                  <a:schemeClr val="tx1"/>
                </a:solidFill>
                <a:effectLst/>
                <a:latin typeface="Arial" panose="020B0604020202020204" pitchFamily="34" charset="0"/>
              </a:rPr>
              <a:t> (for real-time, two-way communication).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Arial" panose="020B0604020202020204" pitchFamily="34" charset="0"/>
              </a:rPr>
              <a:t>Version Control:</a:t>
            </a:r>
            <a:r>
              <a:rPr kumimoji="0" lang="en-US" altLang="en-US" sz="2300" b="0" i="0" u="none" strike="noStrike" cap="none" normalizeH="0" baseline="0" dirty="0">
                <a:ln>
                  <a:noFill/>
                </a:ln>
                <a:solidFill>
                  <a:schemeClr val="tx1"/>
                </a:solidFill>
                <a:effectLst/>
                <a:latin typeface="Arial" panose="020B0604020202020204" pitchFamily="34" charset="0"/>
              </a:rPr>
              <a:t> API Gateway lets you run multiple versions of the same API simultaneously. This is great for safely rolling out new features while older applications continue to use the previous version.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Arial" panose="020B0604020202020204" pitchFamily="34" charset="0"/>
              </a:rPr>
              <a:t>Traffic Management:</a:t>
            </a:r>
            <a:r>
              <a:rPr kumimoji="0" lang="en-US" altLang="en-US" sz="2300" b="0" i="0" u="none" strike="noStrike" cap="none" normalizeH="0" baseline="0" dirty="0">
                <a:ln>
                  <a:noFill/>
                </a:ln>
                <a:solidFill>
                  <a:schemeClr val="tx1"/>
                </a:solidFill>
                <a:effectLst/>
                <a:latin typeface="Arial" panose="020B0604020202020204" pitchFamily="34" charset="0"/>
              </a:rPr>
              <a:t> It helps you manage traffic by setting </a:t>
            </a:r>
            <a:r>
              <a:rPr kumimoji="0" lang="en-US" altLang="en-US" sz="2300" b="1" i="0" u="none" strike="noStrike" cap="none" normalizeH="0" baseline="0" dirty="0">
                <a:ln>
                  <a:noFill/>
                </a:ln>
                <a:solidFill>
                  <a:schemeClr val="tx1"/>
                </a:solidFill>
                <a:effectLst/>
                <a:latin typeface="Arial" panose="020B0604020202020204" pitchFamily="34" charset="0"/>
              </a:rPr>
              <a:t>throttling rules</a:t>
            </a:r>
            <a:r>
              <a:rPr kumimoji="0" lang="en-US" altLang="en-US" sz="2300" b="0" i="0" u="none" strike="noStrike" cap="none" normalizeH="0" baseline="0" dirty="0">
                <a:ln>
                  <a:noFill/>
                </a:ln>
                <a:solidFill>
                  <a:schemeClr val="tx1"/>
                </a:solidFill>
                <a:effectLst/>
                <a:latin typeface="Arial" panose="020B0604020202020204" pitchFamily="34" charset="0"/>
              </a:rPr>
              <a:t> to prevent abuse and ensure your backend services can handle the load.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127555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BA1D0-7919-42CA-0E47-519E355E41BB}"/>
              </a:ext>
            </a:extLst>
          </p:cNvPr>
          <p:cNvSpPr>
            <a:spLocks noGrp="1"/>
          </p:cNvSpPr>
          <p:nvPr>
            <p:ph type="title"/>
          </p:nvPr>
        </p:nvSpPr>
        <p:spPr/>
        <p:txBody>
          <a:bodyPr/>
          <a:lstStyle/>
          <a:p>
            <a:endParaRPr lang="en-US"/>
          </a:p>
        </p:txBody>
      </p:sp>
      <p:sp>
        <p:nvSpPr>
          <p:cNvPr id="4" name="Rectangle 1">
            <a:extLst>
              <a:ext uri="{FF2B5EF4-FFF2-40B4-BE49-F238E27FC236}">
                <a16:creationId xmlns:a16="http://schemas.microsoft.com/office/drawing/2014/main" id="{471BAD6F-5223-C02B-B04B-F22293660BBB}"/>
              </a:ext>
            </a:extLst>
          </p:cNvPr>
          <p:cNvSpPr>
            <a:spLocks noGrp="1" noChangeArrowheads="1"/>
          </p:cNvSpPr>
          <p:nvPr>
            <p:ph type="body" idx="1"/>
          </p:nvPr>
        </p:nvSpPr>
        <p:spPr bwMode="auto">
          <a:xfrm>
            <a:off x="760925" y="2017854"/>
            <a:ext cx="7622148" cy="363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3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Arial" panose="020B0604020202020204" pitchFamily="34" charset="0"/>
              </a:rPr>
              <a:t>Authentication and Authorization:</a:t>
            </a:r>
            <a:r>
              <a:rPr kumimoji="0" lang="en-US" altLang="en-US" sz="2300" b="0" i="0" u="none" strike="noStrike" cap="none" normalizeH="0" baseline="0" dirty="0">
                <a:ln>
                  <a:noFill/>
                </a:ln>
                <a:solidFill>
                  <a:schemeClr val="tx1"/>
                </a:solidFill>
                <a:effectLst/>
                <a:latin typeface="Arial" panose="020B0604020202020204" pitchFamily="34" charset="0"/>
              </a:rPr>
              <a:t> API Gateway provides flexible security controls. You can use </a:t>
            </a:r>
            <a:r>
              <a:rPr kumimoji="0" lang="en-US" altLang="en-US" sz="2300" b="1" i="0" u="none" strike="noStrike" cap="none" normalizeH="0" baseline="0" dirty="0">
                <a:ln>
                  <a:noFill/>
                </a:ln>
                <a:solidFill>
                  <a:schemeClr val="tx1"/>
                </a:solidFill>
                <a:effectLst/>
                <a:latin typeface="Arial" panose="020B0604020202020204" pitchFamily="34" charset="0"/>
              </a:rPr>
              <a:t>AWS Identity and Access Management (IAM)</a:t>
            </a:r>
            <a:r>
              <a:rPr kumimoji="0" lang="en-US" altLang="en-US" sz="2300" b="0" i="0" u="none" strike="noStrike" cap="none" normalizeH="0" baseline="0" dirty="0">
                <a:ln>
                  <a:noFill/>
                </a:ln>
                <a:solidFill>
                  <a:schemeClr val="tx1"/>
                </a:solidFill>
                <a:effectLst/>
                <a:latin typeface="Arial" panose="020B0604020202020204" pitchFamily="34" charset="0"/>
              </a:rPr>
              <a:t>, </a:t>
            </a:r>
            <a:r>
              <a:rPr kumimoji="0" lang="en-US" altLang="en-US" sz="2300" b="1" i="0" u="none" strike="noStrike" cap="none" normalizeH="0" baseline="0" dirty="0">
                <a:ln>
                  <a:noFill/>
                </a:ln>
                <a:solidFill>
                  <a:schemeClr val="tx1"/>
                </a:solidFill>
                <a:effectLst/>
                <a:latin typeface="Arial" panose="020B0604020202020204" pitchFamily="34" charset="0"/>
              </a:rPr>
              <a:t>Amazon Cognito user pools</a:t>
            </a:r>
            <a:r>
              <a:rPr kumimoji="0" lang="en-US" altLang="en-US" sz="2300" b="0" i="0" u="none" strike="noStrike" cap="none" normalizeH="0" baseline="0" dirty="0">
                <a:ln>
                  <a:noFill/>
                </a:ln>
                <a:solidFill>
                  <a:schemeClr val="tx1"/>
                </a:solidFill>
                <a:effectLst/>
                <a:latin typeface="Arial" panose="020B0604020202020204" pitchFamily="34" charset="0"/>
              </a:rPr>
              <a:t>, or </a:t>
            </a:r>
            <a:r>
              <a:rPr kumimoji="0" lang="en-US" altLang="en-US" sz="2300" b="1" i="0" u="none" strike="noStrike" cap="none" normalizeH="0" baseline="0" dirty="0">
                <a:ln>
                  <a:noFill/>
                </a:ln>
                <a:solidFill>
                  <a:schemeClr val="tx1"/>
                </a:solidFill>
                <a:effectLst/>
                <a:latin typeface="Arial" panose="020B0604020202020204" pitchFamily="34" charset="0"/>
              </a:rPr>
              <a:t>custom Lambda authorizers</a:t>
            </a:r>
            <a:r>
              <a:rPr kumimoji="0" lang="en-US" altLang="en-US" sz="2300" b="0" i="0" u="none" strike="noStrike" cap="none" normalizeH="0" baseline="0" dirty="0">
                <a:ln>
                  <a:noFill/>
                </a:ln>
                <a:solidFill>
                  <a:schemeClr val="tx1"/>
                </a:solidFill>
                <a:effectLst/>
                <a:latin typeface="Arial" panose="020B0604020202020204" pitchFamily="34" charset="0"/>
              </a:rPr>
              <a:t> to control who can access your APIs.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Arial" panose="020B0604020202020204" pitchFamily="34" charset="0"/>
              </a:rPr>
              <a:t>Protection:</a:t>
            </a:r>
            <a:r>
              <a:rPr kumimoji="0" lang="en-US" altLang="en-US" sz="2300" b="0" i="0" u="none" strike="noStrike" cap="none" normalizeH="0" baseline="0" dirty="0">
                <a:ln>
                  <a:noFill/>
                </a:ln>
                <a:solidFill>
                  <a:schemeClr val="tx1"/>
                </a:solidFill>
                <a:effectLst/>
                <a:latin typeface="Arial" panose="020B0604020202020204" pitchFamily="34" charset="0"/>
              </a:rPr>
              <a:t> It can integrate with </a:t>
            </a:r>
            <a:r>
              <a:rPr kumimoji="0" lang="en-US" altLang="en-US" sz="2300" b="1" i="0" u="none" strike="noStrike" cap="none" normalizeH="0" baseline="0" dirty="0">
                <a:ln>
                  <a:noFill/>
                </a:ln>
                <a:solidFill>
                  <a:schemeClr val="tx1"/>
                </a:solidFill>
                <a:effectLst/>
                <a:latin typeface="Arial" panose="020B0604020202020204" pitchFamily="34" charset="0"/>
              </a:rPr>
              <a:t>AWS WAF (Web Application Firewall)</a:t>
            </a:r>
            <a:r>
              <a:rPr kumimoji="0" lang="en-US" altLang="en-US" sz="2300" b="0" i="0" u="none" strike="noStrike" cap="none" normalizeH="0" baseline="0" dirty="0">
                <a:ln>
                  <a:noFill/>
                </a:ln>
                <a:solidFill>
                  <a:schemeClr val="tx1"/>
                </a:solidFill>
                <a:effectLst/>
                <a:latin typeface="Arial" panose="020B0604020202020204" pitchFamily="34" charset="0"/>
              </a:rPr>
              <a:t> to protect your APIs from common web exploit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3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40348D1A-348B-E6F9-E71F-6AF3B16C3D7D}"/>
              </a:ext>
            </a:extLst>
          </p:cNvPr>
          <p:cNvSpPr txBox="1"/>
          <p:nvPr/>
        </p:nvSpPr>
        <p:spPr>
          <a:xfrm>
            <a:off x="278765" y="1221353"/>
            <a:ext cx="16535400" cy="369332"/>
          </a:xfrm>
          <a:prstGeom prst="rect">
            <a:avLst/>
          </a:prstGeom>
          <a:noFill/>
        </p:spPr>
        <p:txBody>
          <a:bodyPr wrap="square">
            <a:spAutoFit/>
          </a:bodyPr>
          <a:lstStyle/>
          <a:p>
            <a:r>
              <a:rPr kumimoji="0" lang="en-US" altLang="en-US" sz="1800" b="1" i="0" u="none" strike="noStrike" cap="none" normalizeH="0" baseline="0" dirty="0">
                <a:ln>
                  <a:noFill/>
                </a:ln>
                <a:solidFill>
                  <a:schemeClr val="tx1"/>
                </a:solidFill>
                <a:effectLst/>
                <a:latin typeface="Arial" panose="020B0604020202020204" pitchFamily="34" charset="0"/>
              </a:rPr>
              <a:t>Security</a:t>
            </a:r>
            <a:endParaRPr lang="en-US" dirty="0"/>
          </a:p>
        </p:txBody>
      </p:sp>
    </p:spTree>
    <p:extLst>
      <p:ext uri="{BB962C8B-B14F-4D97-AF65-F5344CB8AC3E}">
        <p14:creationId xmlns:p14="http://schemas.microsoft.com/office/powerpoint/2010/main" val="481661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D7E97-1955-8F32-23BD-252D9B4C6902}"/>
              </a:ext>
            </a:extLst>
          </p:cNvPr>
          <p:cNvSpPr>
            <a:spLocks noGrp="1"/>
          </p:cNvSpPr>
          <p:nvPr>
            <p:ph type="title"/>
          </p:nvPr>
        </p:nvSpPr>
        <p:spPr/>
        <p:txBody>
          <a:bodyPr/>
          <a:lstStyle/>
          <a:p>
            <a:endParaRPr lang="en-US"/>
          </a:p>
        </p:txBody>
      </p:sp>
      <p:sp>
        <p:nvSpPr>
          <p:cNvPr id="5" name="Rectangle 2">
            <a:extLst>
              <a:ext uri="{FF2B5EF4-FFF2-40B4-BE49-F238E27FC236}">
                <a16:creationId xmlns:a16="http://schemas.microsoft.com/office/drawing/2014/main" id="{5ADCE2F2-EE44-925E-EBF5-A76B5CDF785E}"/>
              </a:ext>
            </a:extLst>
          </p:cNvPr>
          <p:cNvSpPr>
            <a:spLocks noChangeArrowheads="1"/>
          </p:cNvSpPr>
          <p:nvPr/>
        </p:nvSpPr>
        <p:spPr bwMode="auto">
          <a:xfrm>
            <a:off x="-14217104" y="5824056"/>
            <a:ext cx="76235" cy="24411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2000"/>
          </a:p>
        </p:txBody>
      </p:sp>
      <p:sp>
        <p:nvSpPr>
          <p:cNvPr id="7" name="Rectangle 4">
            <a:extLst>
              <a:ext uri="{FF2B5EF4-FFF2-40B4-BE49-F238E27FC236}">
                <a16:creationId xmlns:a16="http://schemas.microsoft.com/office/drawing/2014/main" id="{AE870E17-3138-9086-0546-1B62F2901C2D}"/>
              </a:ext>
            </a:extLst>
          </p:cNvPr>
          <p:cNvSpPr>
            <a:spLocks noChangeArrowheads="1"/>
          </p:cNvSpPr>
          <p:nvPr/>
        </p:nvSpPr>
        <p:spPr bwMode="auto">
          <a:xfrm>
            <a:off x="-14217104" y="6297131"/>
            <a:ext cx="76235" cy="24411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2000"/>
          </a:p>
        </p:txBody>
      </p:sp>
      <p:sp>
        <p:nvSpPr>
          <p:cNvPr id="8" name="Rectangle 5">
            <a:extLst>
              <a:ext uri="{FF2B5EF4-FFF2-40B4-BE49-F238E27FC236}">
                <a16:creationId xmlns:a16="http://schemas.microsoft.com/office/drawing/2014/main" id="{25B076A0-42CB-861C-AB29-435E0CE82F3C}"/>
              </a:ext>
            </a:extLst>
          </p:cNvPr>
          <p:cNvSpPr>
            <a:spLocks noChangeArrowheads="1"/>
          </p:cNvSpPr>
          <p:nvPr/>
        </p:nvSpPr>
        <p:spPr bwMode="auto">
          <a:xfrm>
            <a:off x="457201" y="527447"/>
            <a:ext cx="800100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Performance and Scalability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Automatic Scaling:</a:t>
            </a:r>
            <a:r>
              <a:rPr kumimoji="0" lang="en-US" altLang="en-US" sz="2000" b="0" i="0" u="none" strike="noStrike" cap="none" normalizeH="0" baseline="0" dirty="0">
                <a:ln>
                  <a:noFill/>
                </a:ln>
                <a:solidFill>
                  <a:schemeClr val="tx1"/>
                </a:solidFill>
                <a:effectLst/>
                <a:latin typeface="Arial" panose="020B0604020202020204" pitchFamily="34" charset="0"/>
              </a:rPr>
              <a:t> As a managed service, API Gateway automatically scales to handle any amount of traffic, so you don't have to worry about provisioning infrastructure for traffic spikes.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Caching:</a:t>
            </a:r>
            <a:r>
              <a:rPr kumimoji="0" lang="en-US" altLang="en-US" sz="2000" b="0" i="0" u="none" strike="noStrike" cap="none" normalizeH="0" baseline="0" dirty="0">
                <a:ln>
                  <a:noFill/>
                </a:ln>
                <a:solidFill>
                  <a:schemeClr val="tx1"/>
                </a:solidFill>
                <a:effectLst/>
                <a:latin typeface="Arial" panose="020B0604020202020204" pitchFamily="34" charset="0"/>
              </a:rPr>
              <a:t> You can enable </a:t>
            </a:r>
            <a:r>
              <a:rPr kumimoji="0" lang="en-US" altLang="en-US" sz="2000" b="1" i="0" u="none" strike="noStrike" cap="none" normalizeH="0" baseline="0" dirty="0">
                <a:ln>
                  <a:noFill/>
                </a:ln>
                <a:solidFill>
                  <a:schemeClr val="tx1"/>
                </a:solidFill>
                <a:effectLst/>
                <a:latin typeface="Arial" panose="020B0604020202020204" pitchFamily="34" charset="0"/>
              </a:rPr>
              <a:t>caching</a:t>
            </a:r>
            <a:r>
              <a:rPr kumimoji="0" lang="en-US" altLang="en-US" sz="2000" b="0" i="0" u="none" strike="noStrike" cap="none" normalizeH="0" baseline="0" dirty="0">
                <a:ln>
                  <a:noFill/>
                </a:ln>
                <a:solidFill>
                  <a:schemeClr val="tx1"/>
                </a:solidFill>
                <a:effectLst/>
                <a:latin typeface="Arial" panose="020B0604020202020204" pitchFamily="34" charset="0"/>
              </a:rPr>
              <a:t> to store responses from your backend, which reduces latency and the number of requests made to your services.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Low Latency:</a:t>
            </a:r>
            <a:r>
              <a:rPr kumimoji="0" lang="en-US" altLang="en-US" sz="2000" b="0" i="0" u="none" strike="noStrike" cap="none" normalizeH="0" baseline="0" dirty="0">
                <a:ln>
                  <a:noFill/>
                </a:ln>
                <a:solidFill>
                  <a:schemeClr val="tx1"/>
                </a:solidFill>
                <a:effectLst/>
                <a:latin typeface="Arial" panose="020B0604020202020204" pitchFamily="34" charset="0"/>
              </a:rPr>
              <a:t> It uses </a:t>
            </a:r>
            <a:r>
              <a:rPr kumimoji="0" lang="en-US" altLang="en-US" sz="2000" b="1" i="0" u="none" strike="noStrike" cap="none" normalizeH="0" baseline="0" dirty="0">
                <a:ln>
                  <a:noFill/>
                </a:ln>
                <a:solidFill>
                  <a:schemeClr val="tx1"/>
                </a:solidFill>
                <a:effectLst/>
                <a:latin typeface="Arial" panose="020B0604020202020204" pitchFamily="34" charset="0"/>
              </a:rPr>
              <a:t>Amazon CloudFront</a:t>
            </a:r>
            <a:r>
              <a:rPr kumimoji="0" lang="en-US" altLang="en-US" sz="2000" b="0" i="0" u="none" strike="noStrike" cap="none" normalizeH="0" baseline="0" dirty="0">
                <a:ln>
                  <a:noFill/>
                </a:ln>
                <a:solidFill>
                  <a:schemeClr val="tx1"/>
                </a:solidFill>
                <a:effectLst/>
                <a:latin typeface="Arial" panose="020B0604020202020204" pitchFamily="34" charset="0"/>
              </a:rPr>
              <a:t>'s global network of edge locations to deliver the lowest possible latency for your API requests and responses.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Monitoring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Integrated with CloudWatch:</a:t>
            </a:r>
            <a:r>
              <a:rPr kumimoji="0" lang="en-US" altLang="en-US" sz="2000" b="0" i="0" u="none" strike="noStrike" cap="none" normalizeH="0" baseline="0" dirty="0">
                <a:ln>
                  <a:noFill/>
                </a:ln>
                <a:solidFill>
                  <a:schemeClr val="tx1"/>
                </a:solidFill>
                <a:effectLst/>
                <a:latin typeface="Arial" panose="020B0604020202020204" pitchFamily="34" charset="0"/>
              </a:rPr>
              <a:t> API Gateway is integrated with </a:t>
            </a:r>
            <a:r>
              <a:rPr kumimoji="0" lang="en-US" altLang="en-US" sz="2000" b="1" i="0" u="none" strike="noStrike" cap="none" normalizeH="0" baseline="0" dirty="0">
                <a:ln>
                  <a:noFill/>
                </a:ln>
                <a:solidFill>
                  <a:schemeClr val="tx1"/>
                </a:solidFill>
                <a:effectLst/>
                <a:latin typeface="Arial" panose="020B0604020202020204" pitchFamily="34" charset="0"/>
              </a:rPr>
              <a:t>Amazon CloudWatch</a:t>
            </a:r>
            <a:r>
              <a:rPr kumimoji="0" lang="en-US" altLang="en-US" sz="2000" b="0" i="0" u="none" strike="noStrike" cap="none" normalizeH="0" baseline="0" dirty="0">
                <a:ln>
                  <a:noFill/>
                </a:ln>
                <a:solidFill>
                  <a:schemeClr val="tx1"/>
                </a:solidFill>
                <a:effectLst/>
                <a:latin typeface="Arial" panose="020B0604020202020204" pitchFamily="34" charset="0"/>
              </a:rPr>
              <a:t>, which gives you a dashboard to monitor performance metrics like API calls, latency, and error rates.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229547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B6A52-ED26-F800-9E36-5E7F57F6034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BCB54372-E43A-45E3-CA79-8F3BC1B86C9B}"/>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A1AB8B50-8BC4-5D1C-57F6-FAA89CF6CCDE}"/>
              </a:ext>
            </a:extLst>
          </p:cNvPr>
          <p:cNvPicPr>
            <a:picLocks noChangeAspect="1"/>
          </p:cNvPicPr>
          <p:nvPr/>
        </p:nvPicPr>
        <p:blipFill>
          <a:blip r:embed="rId2"/>
          <a:stretch>
            <a:fillRect/>
          </a:stretch>
        </p:blipFill>
        <p:spPr>
          <a:xfrm>
            <a:off x="0" y="910788"/>
            <a:ext cx="9144000" cy="5036424"/>
          </a:xfrm>
          <a:prstGeom prst="rect">
            <a:avLst/>
          </a:prstGeom>
        </p:spPr>
      </p:pic>
    </p:spTree>
    <p:extLst>
      <p:ext uri="{BB962C8B-B14F-4D97-AF65-F5344CB8AC3E}">
        <p14:creationId xmlns:p14="http://schemas.microsoft.com/office/powerpoint/2010/main" val="36595122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8E8C6-9A6A-685B-6CBD-1560C8C70CAC}"/>
              </a:ext>
            </a:extLst>
          </p:cNvPr>
          <p:cNvSpPr>
            <a:spLocks noGrp="1"/>
          </p:cNvSpPr>
          <p:nvPr>
            <p:ph type="title"/>
          </p:nvPr>
        </p:nvSpPr>
        <p:spPr>
          <a:xfrm>
            <a:off x="307340" y="247599"/>
            <a:ext cx="8529319" cy="446276"/>
          </a:xfrm>
        </p:spPr>
        <p:txBody>
          <a:bodyPr/>
          <a:lstStyle/>
          <a:p>
            <a:r>
              <a:rPr lang="en-US" dirty="0"/>
              <a:t>AWS API gateway</a:t>
            </a:r>
          </a:p>
        </p:txBody>
      </p:sp>
      <p:sp>
        <p:nvSpPr>
          <p:cNvPr id="12" name="Rectangle 7">
            <a:extLst>
              <a:ext uri="{FF2B5EF4-FFF2-40B4-BE49-F238E27FC236}">
                <a16:creationId xmlns:a16="http://schemas.microsoft.com/office/drawing/2014/main" id="{19C107D8-D3DB-257A-855D-B9434DC0594F}"/>
              </a:ext>
            </a:extLst>
          </p:cNvPr>
          <p:cNvSpPr>
            <a:spLocks noChangeArrowheads="1"/>
          </p:cNvSpPr>
          <p:nvPr/>
        </p:nvSpPr>
        <p:spPr bwMode="auto">
          <a:xfrm>
            <a:off x="228600" y="836909"/>
            <a:ext cx="99060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Arial" panose="020B0604020202020204" pitchFamily="34" charset="0"/>
              </a:rPr>
              <a:t>What is an API Gateway?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00" b="0" i="0" u="none" strike="noStrike" cap="none" normalizeH="0" baseline="0" dirty="0">
                <a:ln>
                  <a:noFill/>
                </a:ln>
                <a:solidFill>
                  <a:schemeClr val="tx1"/>
                </a:solidFill>
                <a:effectLst/>
                <a:latin typeface="Arial" panose="020B0604020202020204" pitchFamily="34" charset="0"/>
              </a:rPr>
              <a:t>An </a:t>
            </a:r>
            <a:r>
              <a:rPr kumimoji="0" lang="en-US" altLang="en-US" sz="2100" b="1" i="0" u="none" strike="noStrike" cap="none" normalizeH="0" baseline="0" dirty="0">
                <a:ln>
                  <a:noFill/>
                </a:ln>
                <a:solidFill>
                  <a:schemeClr val="tx1"/>
                </a:solidFill>
                <a:effectLst/>
                <a:latin typeface="Arial" panose="020B0604020202020204" pitchFamily="34" charset="0"/>
              </a:rPr>
              <a:t>API Gateway</a:t>
            </a:r>
            <a:r>
              <a:rPr kumimoji="0" lang="en-US" altLang="en-US" sz="2100" b="0" i="0" u="none" strike="noStrike" cap="none" normalizeH="0" baseline="0" dirty="0">
                <a:ln>
                  <a:noFill/>
                </a:ln>
                <a:solidFill>
                  <a:schemeClr val="tx1"/>
                </a:solidFill>
                <a:effectLst/>
                <a:latin typeface="Arial" panose="020B0604020202020204" pitchFamily="34" charset="0"/>
              </a:rPr>
              <a:t> is like a </a:t>
            </a:r>
            <a:r>
              <a:rPr kumimoji="0" lang="en-US" altLang="en-US" sz="2100" b="1" i="0" u="none" strike="noStrike" cap="none" normalizeH="0" baseline="0" dirty="0">
                <a:ln>
                  <a:noFill/>
                </a:ln>
                <a:solidFill>
                  <a:schemeClr val="tx1"/>
                </a:solidFill>
                <a:effectLst/>
                <a:latin typeface="Arial" panose="020B0604020202020204" pitchFamily="34" charset="0"/>
              </a:rPr>
              <a:t>front door</a:t>
            </a:r>
            <a:r>
              <a:rPr kumimoji="0" lang="en-US" altLang="en-US" sz="2100" b="0" i="0" u="none" strike="noStrike" cap="none" normalizeH="0" baseline="0" dirty="0">
                <a:ln>
                  <a:noFill/>
                </a:ln>
                <a:solidFill>
                  <a:schemeClr val="tx1"/>
                </a:solidFill>
                <a:effectLst/>
                <a:latin typeface="Arial" panose="020B0604020202020204" pitchFamily="34" charset="0"/>
              </a:rPr>
              <a:t> or </a:t>
            </a:r>
            <a:r>
              <a:rPr kumimoji="0" lang="en-US" altLang="en-US" sz="2100" b="1" i="0" u="none" strike="noStrike" cap="none" normalizeH="0" baseline="0" dirty="0">
                <a:ln>
                  <a:noFill/>
                </a:ln>
                <a:solidFill>
                  <a:schemeClr val="tx1"/>
                </a:solidFill>
                <a:effectLst/>
                <a:latin typeface="Arial" panose="020B0604020202020204" pitchFamily="34" charset="0"/>
              </a:rPr>
              <a:t>traffic controller</a:t>
            </a:r>
            <a:r>
              <a:rPr kumimoji="0" lang="en-US" altLang="en-US" sz="2100" b="0" i="0" u="none" strike="noStrike" cap="none" normalizeH="0" baseline="0" dirty="0">
                <a:ln>
                  <a:noFill/>
                </a:ln>
                <a:solidFill>
                  <a:schemeClr val="tx1"/>
                </a:solidFill>
                <a:effectLst/>
                <a:latin typeface="Arial" panose="020B0604020202020204" pitchFamily="34" charset="0"/>
              </a:rPr>
              <a:t> for all the requests coming into your application.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It receives client requests (like from a browser or mobile app)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Routes them to the correct </a:t>
            </a:r>
            <a:r>
              <a:rPr kumimoji="0" lang="en-US" altLang="en-US" sz="2100" b="1" i="0" u="none" strike="noStrike" cap="none" normalizeH="0" baseline="0" dirty="0">
                <a:ln>
                  <a:noFill/>
                </a:ln>
                <a:solidFill>
                  <a:schemeClr val="tx1"/>
                </a:solidFill>
                <a:effectLst/>
                <a:latin typeface="Arial" panose="020B0604020202020204" pitchFamily="34" charset="0"/>
              </a:rPr>
              <a:t>backend service</a:t>
            </a:r>
            <a:r>
              <a:rPr kumimoji="0" lang="en-US" altLang="en-US" sz="2100" b="0" i="0" u="none" strike="noStrike" cap="none" normalizeH="0" baseline="0" dirty="0">
                <a:ln>
                  <a:noFill/>
                </a:ln>
                <a:solidFill>
                  <a:schemeClr val="tx1"/>
                </a:solidFill>
                <a:effectLst/>
                <a:latin typeface="Arial" panose="020B0604020202020204" pitchFamily="34" charset="0"/>
              </a:rPr>
              <a:t> (like AWS Lambda, EC2, or any HTTP endpoint)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Handles things like </a:t>
            </a:r>
            <a:r>
              <a:rPr kumimoji="0" lang="en-US" altLang="en-US" sz="2100" b="1" i="0" u="none" strike="noStrike" cap="none" normalizeH="0" baseline="0" dirty="0">
                <a:ln>
                  <a:noFill/>
                </a:ln>
                <a:solidFill>
                  <a:schemeClr val="tx1"/>
                </a:solidFill>
                <a:effectLst/>
                <a:latin typeface="Arial" panose="020B0604020202020204" pitchFamily="34" charset="0"/>
              </a:rPr>
              <a:t>security</a:t>
            </a:r>
            <a:r>
              <a:rPr kumimoji="0" lang="en-US" altLang="en-US" sz="2100" b="0" i="0" u="none" strike="noStrike" cap="none" normalizeH="0" baseline="0" dirty="0">
                <a:ln>
                  <a:noFill/>
                </a:ln>
                <a:solidFill>
                  <a:schemeClr val="tx1"/>
                </a:solidFill>
                <a:effectLst/>
                <a:latin typeface="Arial" panose="020B0604020202020204" pitchFamily="34" charset="0"/>
              </a:rPr>
              <a:t>, </a:t>
            </a:r>
            <a:r>
              <a:rPr kumimoji="0" lang="en-US" altLang="en-US" sz="2100" b="1" i="0" u="none" strike="noStrike" cap="none" normalizeH="0" baseline="0" dirty="0">
                <a:ln>
                  <a:noFill/>
                </a:ln>
                <a:solidFill>
                  <a:schemeClr val="tx1"/>
                </a:solidFill>
                <a:effectLst/>
                <a:latin typeface="Arial" panose="020B0604020202020204" pitchFamily="34" charset="0"/>
              </a:rPr>
              <a:t>rate limiting</a:t>
            </a:r>
            <a:r>
              <a:rPr kumimoji="0" lang="en-US" altLang="en-US" sz="2100" b="0" i="0" u="none" strike="noStrike" cap="none" normalizeH="0" baseline="0" dirty="0">
                <a:ln>
                  <a:noFill/>
                </a:ln>
                <a:solidFill>
                  <a:schemeClr val="tx1"/>
                </a:solidFill>
                <a:effectLst/>
                <a:latin typeface="Arial" panose="020B0604020202020204" pitchFamily="34" charset="0"/>
              </a:rPr>
              <a:t>, </a:t>
            </a:r>
            <a:r>
              <a:rPr kumimoji="0" lang="en-US" altLang="en-US" sz="2100" b="1" i="0" u="none" strike="noStrike" cap="none" normalizeH="0" baseline="0" dirty="0">
                <a:ln>
                  <a:noFill/>
                </a:ln>
                <a:solidFill>
                  <a:schemeClr val="tx1"/>
                </a:solidFill>
                <a:effectLst/>
                <a:latin typeface="Arial" panose="020B0604020202020204" pitchFamily="34" charset="0"/>
              </a:rPr>
              <a:t>logging</a:t>
            </a:r>
            <a:r>
              <a:rPr kumimoji="0" lang="en-US" altLang="en-US" sz="2100" b="0" i="0" u="none" strike="noStrike" cap="none" normalizeH="0" baseline="0" dirty="0">
                <a:ln>
                  <a:noFill/>
                </a:ln>
                <a:solidFill>
                  <a:schemeClr val="tx1"/>
                </a:solidFill>
                <a:effectLst/>
                <a:latin typeface="Arial" panose="020B0604020202020204" pitchFamily="34" charset="0"/>
              </a:rPr>
              <a:t>, and </a:t>
            </a:r>
            <a:r>
              <a:rPr kumimoji="0" lang="en-US" altLang="en-US" sz="2100" b="1" i="0" u="none" strike="noStrike" cap="none" normalizeH="0" baseline="0" dirty="0">
                <a:ln>
                  <a:noFill/>
                </a:ln>
                <a:solidFill>
                  <a:schemeClr val="tx1"/>
                </a:solidFill>
                <a:effectLst/>
                <a:latin typeface="Arial" panose="020B0604020202020204" pitchFamily="34" charset="0"/>
              </a:rPr>
              <a:t>transformation</a:t>
            </a: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315486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9">
            <a:extLst>
              <a:ext uri="{FF2B5EF4-FFF2-40B4-BE49-F238E27FC236}">
                <a16:creationId xmlns:a16="http://schemas.microsoft.com/office/drawing/2014/main" id="{7300D8BA-58E3-9B2D-19DE-C2085998E498}"/>
              </a:ext>
            </a:extLst>
          </p:cNvPr>
          <p:cNvSpPr>
            <a:spLocks noChangeArrowheads="1"/>
          </p:cNvSpPr>
          <p:nvPr/>
        </p:nvSpPr>
        <p:spPr bwMode="auto">
          <a:xfrm>
            <a:off x="228600" y="228600"/>
            <a:ext cx="9906000" cy="674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 How API Gateway Works: Step-by-Step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 Step 1: Client Sends Request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A mobile app or browser makes a request to your API.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Example: </a:t>
            </a:r>
            <a:r>
              <a:rPr kumimoji="0" lang="en-US" altLang="en-US" b="0" i="0" u="none" strike="noStrike" cap="none" normalizeH="0" baseline="0" dirty="0">
                <a:ln>
                  <a:noFill/>
                </a:ln>
                <a:solidFill>
                  <a:schemeClr val="tx1"/>
                </a:solidFill>
                <a:effectLst/>
                <a:latin typeface="Arial Unicode MS"/>
              </a:rPr>
              <a:t>GET https://myapi.example.com/users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 Step 2: API Gateway Receives the Request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It’s the first component to </a:t>
            </a:r>
            <a:r>
              <a:rPr kumimoji="0" lang="en-US" altLang="en-US" b="1" i="0" u="none" strike="noStrike" cap="none" normalizeH="0" baseline="0" dirty="0">
                <a:ln>
                  <a:noFill/>
                </a:ln>
                <a:solidFill>
                  <a:schemeClr val="tx1"/>
                </a:solidFill>
                <a:effectLst/>
                <a:latin typeface="Arial" panose="020B0604020202020204" pitchFamily="34" charset="0"/>
              </a:rPr>
              <a:t>receive and process</a:t>
            </a:r>
            <a:r>
              <a:rPr kumimoji="0" lang="en-US" altLang="en-US" b="0" i="0" u="none" strike="noStrike" cap="none" normalizeH="0" baseline="0" dirty="0">
                <a:ln>
                  <a:noFill/>
                </a:ln>
                <a:solidFill>
                  <a:schemeClr val="tx1"/>
                </a:solidFill>
                <a:effectLst/>
                <a:latin typeface="Arial" panose="020B0604020202020204" pitchFamily="34" charset="0"/>
              </a:rPr>
              <a:t> the HTTP request.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It checks if the request is </a:t>
            </a:r>
            <a:r>
              <a:rPr kumimoji="0" lang="en-US" altLang="en-US" b="1" i="0" u="none" strike="noStrike" cap="none" normalizeH="0" baseline="0" dirty="0">
                <a:ln>
                  <a:noFill/>
                </a:ln>
                <a:solidFill>
                  <a:schemeClr val="tx1"/>
                </a:solidFill>
                <a:effectLst/>
                <a:latin typeface="Arial" panose="020B0604020202020204" pitchFamily="34" charset="0"/>
              </a:rPr>
              <a:t>valid</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authenticated</a:t>
            </a:r>
            <a:r>
              <a:rPr kumimoji="0" lang="en-US" altLang="en-US" b="0" i="0" u="none" strike="noStrike" cap="none" normalizeH="0" baseline="0" dirty="0">
                <a:ln>
                  <a:noFill/>
                </a:ln>
                <a:solidFill>
                  <a:schemeClr val="tx1"/>
                </a:solidFill>
                <a:effectLst/>
                <a:latin typeface="Arial" panose="020B0604020202020204" pitchFamily="34" charset="0"/>
              </a:rPr>
              <a:t>, and </a:t>
            </a:r>
            <a:r>
              <a:rPr kumimoji="0" lang="en-US" altLang="en-US" b="1" i="0" u="none" strike="noStrike" cap="none" normalizeH="0" baseline="0" dirty="0">
                <a:ln>
                  <a:noFill/>
                </a:ln>
                <a:solidFill>
                  <a:schemeClr val="tx1"/>
                </a:solidFill>
                <a:effectLst/>
                <a:latin typeface="Arial" panose="020B0604020202020204" pitchFamily="34" charset="0"/>
              </a:rPr>
              <a:t>authorized</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 Step 3: Routing to Backend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Based on the path (like </a:t>
            </a:r>
            <a:r>
              <a:rPr kumimoji="0" lang="en-US" altLang="en-US" b="0" i="0" u="none" strike="noStrike" cap="none" normalizeH="0" baseline="0" dirty="0">
                <a:ln>
                  <a:noFill/>
                </a:ln>
                <a:solidFill>
                  <a:schemeClr val="tx1"/>
                </a:solidFill>
                <a:effectLst/>
                <a:latin typeface="Arial Unicode MS"/>
              </a:rPr>
              <a:t>/users</a:t>
            </a:r>
            <a:r>
              <a:rPr kumimoji="0" lang="en-US" altLang="en-US" b="0" i="0" u="none" strike="noStrike" cap="none" normalizeH="0" baseline="0" dirty="0">
                <a:ln>
                  <a:noFill/>
                </a:ln>
                <a:solidFill>
                  <a:schemeClr val="tx1"/>
                </a:solidFill>
                <a:effectLst/>
              </a:rPr>
              <a:t>), the API Gateway </a:t>
            </a:r>
            <a:r>
              <a:rPr kumimoji="0" lang="en-US" altLang="en-US" b="1" i="0" u="none" strike="noStrike" cap="none" normalizeH="0" baseline="0" dirty="0">
                <a:ln>
                  <a:noFill/>
                </a:ln>
                <a:solidFill>
                  <a:schemeClr val="tx1"/>
                </a:solidFill>
                <a:effectLst/>
                <a:latin typeface="Arial" panose="020B0604020202020204" pitchFamily="34" charset="0"/>
              </a:rPr>
              <a:t>routes</a:t>
            </a:r>
            <a:r>
              <a:rPr kumimoji="0" lang="en-US" altLang="en-US" b="0" i="0" u="none" strike="noStrike" cap="none" normalizeH="0" baseline="0" dirty="0">
                <a:ln>
                  <a:noFill/>
                </a:ln>
                <a:solidFill>
                  <a:schemeClr val="tx1"/>
                </a:solidFill>
                <a:effectLst/>
                <a:latin typeface="Arial" panose="020B0604020202020204" pitchFamily="34" charset="0"/>
              </a:rPr>
              <a:t> the request to:</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AWS Lambda function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EC2 instance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HTTP/HTTPS backend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AWS service like DynamoDB, etc.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 Step 4: Backend Processes and Sends Response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 backend does its job (e.g., fetch data from a database).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It returns a response (e.g., a list of users) to the API Gateway.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 Step 5: API Gateway Sends Response to Client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 API Gateway can modify (transform) the response if needed.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Finally, it returns the result to the client.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828782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1112</TotalTime>
  <Words>6111</Words>
  <Application>Microsoft Office PowerPoint</Application>
  <PresentationFormat>On-screen Show (4:3)</PresentationFormat>
  <Paragraphs>632</Paragraphs>
  <Slides>71</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71</vt:i4>
      </vt:variant>
    </vt:vector>
  </HeadingPairs>
  <TitlesOfParts>
    <vt:vector size="80" baseType="lpstr">
      <vt:lpstr>Arial</vt:lpstr>
      <vt:lpstr>Arial MT</vt:lpstr>
      <vt:lpstr>Arial Unicode MS</vt:lpstr>
      <vt:lpstr>Calibri</vt:lpstr>
      <vt:lpstr>Franklin Gothic Medium</vt:lpstr>
      <vt:lpstr>Segoe UI Symbol</vt:lpstr>
      <vt:lpstr>source-serif-pro</vt:lpstr>
      <vt:lpstr>Times New Roman</vt:lpstr>
      <vt:lpstr>Office Theme</vt:lpstr>
      <vt:lpstr>AWS Cloud Practitioner</vt:lpstr>
      <vt:lpstr>PowerPoint Presentation</vt:lpstr>
      <vt:lpstr>AWS Route 53</vt:lpstr>
      <vt:lpstr>Example</vt:lpstr>
      <vt:lpstr>PowerPoint Presentation</vt:lpstr>
      <vt:lpstr>Route 53 Routing Policies</vt:lpstr>
      <vt:lpstr>1. Simple Routing Policy (Left Side) </vt:lpstr>
      <vt:lpstr>Understand</vt:lpstr>
      <vt:lpstr>PowerPoint Presentation</vt:lpstr>
      <vt:lpstr>PowerPoint Presentation</vt:lpstr>
      <vt:lpstr>How to Set It Up in Route 53: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Route 53</vt:lpstr>
      <vt:lpstr>Components of Route 53</vt:lpstr>
      <vt:lpstr>PowerPoint Presentation</vt:lpstr>
      <vt:lpstr>PowerPoint Presentation</vt:lpstr>
      <vt:lpstr>PowerPoint Presentation</vt:lpstr>
      <vt:lpstr>PowerPoint Presentation</vt:lpstr>
      <vt:lpstr>Breakdown of Components by Layer</vt:lpstr>
      <vt:lpstr>PowerPoint Presentation</vt:lpstr>
      <vt:lpstr>AWS Route 53</vt:lpstr>
      <vt:lpstr>AWS Route 53</vt:lpstr>
      <vt:lpstr>AWS Route 53</vt:lpstr>
      <vt:lpstr>VPC and subnets</vt:lpstr>
      <vt:lpstr>VPC architecture</vt:lpstr>
      <vt:lpstr>PowerPoint Presentation</vt:lpstr>
      <vt:lpstr>Types of VPC</vt:lpstr>
      <vt:lpstr>Virtual Private Cloud (VPC) A VPC (Virtual Private Cloud) is a logically isolated private network in a cloud environment, allowing you to launch and manage cloud resources securely. It functions like a virtual data center within a cloud provider such as AWS, Azure, or Google Cloud.</vt:lpstr>
      <vt:lpstr>Virtual Private Cloud (VPC)</vt:lpstr>
      <vt:lpstr>Virtual Private Cloud (VPC)</vt:lpstr>
      <vt:lpstr>Steps to create VPC in aws</vt:lpstr>
      <vt:lpstr>Subnet</vt:lpstr>
      <vt:lpstr>Subnet</vt:lpstr>
      <vt:lpstr>PowerPoint Presentation</vt:lpstr>
      <vt:lpstr>Security Groups</vt:lpstr>
      <vt:lpstr>Security Groups</vt:lpstr>
      <vt:lpstr>Internet gateway</vt:lpstr>
      <vt:lpstr>PowerPoint Presentation</vt:lpstr>
      <vt:lpstr>Internet Gateway</vt:lpstr>
      <vt:lpstr>Route Tables,</vt:lpstr>
      <vt:lpstr>How Route Tables Work </vt:lpstr>
      <vt:lpstr>Types of Route Tables </vt:lpstr>
      <vt:lpstr>Arcchitecture</vt:lpstr>
      <vt:lpstr>NAT gateways</vt:lpstr>
      <vt:lpstr>VPC and NAT gateways architecture</vt:lpstr>
      <vt:lpstr>Other General Information </vt:lpstr>
      <vt:lpstr>Key Features </vt:lpstr>
      <vt:lpstr>NAT gateways (other general information)</vt:lpstr>
      <vt:lpstr>NAT Gateway</vt:lpstr>
      <vt:lpstr>NAT Gateway</vt:lpstr>
      <vt:lpstr>PowerPoint Presentation</vt:lpstr>
      <vt:lpstr>AWS Identity and Access Management (IAM)</vt:lpstr>
      <vt:lpstr>AWS Identity and Access Management (IAM)</vt:lpstr>
      <vt:lpstr>AWS Identity and Access Management (IAM)</vt:lpstr>
      <vt:lpstr>AWS Certificate Manager (ACM)</vt:lpstr>
      <vt:lpstr>AWS Certificate Manager (ACM)</vt:lpstr>
      <vt:lpstr>AWS Key Management Service (KMS)</vt:lpstr>
      <vt:lpstr>AWS Key Management Service (KMS)</vt:lpstr>
      <vt:lpstr>API Gateway</vt:lpstr>
      <vt:lpstr>Key Features and Benefits  </vt:lpstr>
      <vt:lpstr>PowerPoint Presentation</vt:lpstr>
      <vt:lpstr>PowerPoint Presentation</vt:lpstr>
      <vt:lpstr>PowerPoint Presentation</vt:lpstr>
      <vt:lpstr>AWS API gateway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 Seminar  on  Development of Strategy for Dynamic Load Balancing on Web Server System</dc:title>
  <dc:creator>WELCOME</dc:creator>
  <cp:lastModifiedBy>abha sharma</cp:lastModifiedBy>
  <cp:revision>31</cp:revision>
  <dcterms:created xsi:type="dcterms:W3CDTF">2025-06-23T05:44:44Z</dcterms:created>
  <dcterms:modified xsi:type="dcterms:W3CDTF">2025-08-08T06:58:27Z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2025-03-27T00:00:00Z</vt:filetime>
  </property>
  <property fmtid="{D5CDD505-2E9C-101B-9397-08002B2CF9AE}" pid="3" name="Creator">
    <vt:lpwstr>Microsoft® PowerPoint® 2021</vt:lpwstr>
  </property>
  <property fmtid="{D5CDD505-2E9C-101B-9397-08002B2CF9AE}" pid="4" name="LastSaved">
    <vt:filetime>2025-06-23T00:00:00Z</vt:filetime>
  </property>
  <property fmtid="{D5CDD505-2E9C-101B-9397-08002B2CF9AE}" pid="5" name="Producer">
    <vt:lpwstr>Microsoft® PowerPoint® 2021</vt:lpwstr>
  </property>
</Properties>
</file>